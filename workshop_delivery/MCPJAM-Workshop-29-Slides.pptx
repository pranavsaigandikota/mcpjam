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embeddedFontLst>
    <p:embeddedFont>
      <p:font typeface="Inter"/>
      <p:regular r:id="rId36"/>
    </p:embeddedFont>
    <p:embeddedFont>
      <p:font typeface="Roboto Mono"/>
      <p:regular r:id="rId3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font" Target="fonts/rId36.fntdata"/><Relationship Id="rId37" Type="http://schemas.openxmlformats.org/officeDocument/2006/relationships/font" Target="fonts/rId37.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minutes planned + 5 minutes spare. 00–08 install/check-in. 08–18 foundations, prompts/APIs and MCP options. 18–25 tempo demo, architecture, contract and paired feedback-loop/maze illustration. 25–40 protected build/test: 3 minutes guided + 12 audience testing/adaptation. 40–47 security. 47–52 advanced awareness, enterprise and production practices. 52–55 hackathon transfer and exit check. 55–60 spare. Start setup at minute 1 and pair blocked learners. Transition and duplicate exercise slide were cut. Full music showcase stays outside the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00–08 min: installation starts now. Windows: powershell -NoProfile -ExecutionPolicy Bypass -File .\setup.ps1 -CoreOnly. Mac: bash setup.sh --core-only, with Homebrew available. Open README for clone and manual Python/Tk instructions. Core-only supports visual verification. Full audio and Gemini are optional instructor preparation. Ask who is ready, installing, or blocked. Continue setup during theory, check readiness before minute 25, and pair blocked learners. Fresh Python/Homebrew installs may run long. Reserve 55–60 for spare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minutes planned + 5 minutes spare. 00–08 install/check-in. 08–18 foundations, prompts/APIs and MCP options. 18–25 tempo demo, architecture, contract and paired feedback-loop/maze illustration. 25–40 protected build/test: 3 minutes guided + 12 audience testing/adaptation. 40–47 security. 47–52 advanced awareness, enterprise and production practices. 52–55 hackathon transfer and exit check. 55–60 spare. Start setup at minute 1 and pair blocked learners. Transition and duplicate exercise slide were cut. Full music showcase stays outside the hour. Security and enterprise are required live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shared interface. The workshop extends an existing server using the Python SDK; it does not build an application or server from scratch.
Meme image source: https://imgflip.com/memetemplate/609042041/Tralalero-Tralala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08–18 segment, about 60 seconds. A one-shot prompt is instructions to a model. The host may already have shell, browser or API tools; MCP is one way to connect additional discoverable capabilities. Prompt + tools can be used together. MCP enables live action/observation and reuse across compatible hosts, not guaranteed reasoning or correctness. Ask: what evidence would you need after asking an AI to change the tempo? get_state verifies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08–18 segment. Model reasons; host coordinates tools, permissions and model interaction; MCP client speaks to server; server exposes capabilities. Starter has get_state and set_tempo plus the instrument catalog resource. Students add set_swing. Explicit workshop_client.py tests need no model or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08–18 segment. MCP can wrap an existing API or function. It is useful for shared discovery and tool schemas across compatible hosts. A direct API is often sufficient for one fixed integration. MCP does not replace app business rules or automatically enforce permissions. Prize question: host coordinates which tool to call; model proposes the call, server exposes and executes it. Allow 15 seconds within this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08–18 segment, quick scan, 45 seconds. Choose only 2–3 useful servers. Design → build → data → test → ship → debug. Ask which capability would help this team most. Permissions, compatible host support and plans vary. Prefer read-only access where practical. Do not spend workshop time setting up every service. Sources: https://developers.figma.com/docs/figma-mcp-server/ ; https://github.com/github/github-mcp-server ; https://supabase.com/docs/guides/ai-tools/mcp ; https://playwright.dev/docs/getting-started-mcp ; https://vercel.com/docs/agent-resources/vercel-mcp ; https://mcp.sentry.dev/ ; https://docs.stripe.com/mcp ; https://github.com/upstash/context7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08–18 segment. Tools are callable operations; resources are readable context; prompts are reusable instructions. get_state is a read-only tool, not a resource merely because it reads state. GeneralUser GS catalog is our real resource. Quick audience classification: set_tempo = tool, instrument catalog = resource, reusable review instructions =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08–18 segment. Client lists tool schemas. Model proposes a tool and arguments; host checks policy and coordinates invocation. Server validates and executes, then returns results. Integer typing alone does not enforce 40–240; Python validation enforces the range. SDK v1 lab uses initialize, discovery and calls; protocol versions and negotiated capabilities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08–18 min overview, about 60 seconds here. Workshop: mcp.server.fastmcp.FastMCP from pinned official Python SDK v1. Standalone FastMCP uses from fastmcp import FastMCP and is a separate package. Other official SDKs include TypeScript. Zapier MCP offers managed app actions; classic Zaps run a trigger followed by actions. Databutton documentation describes an AI app builder, not a verified interchangeable MCP framework. Ask: would your team build custom tools or connect managed actions? Sources: https://github.com/modelcontextprotocol/python-sdk ; https://gofastmcp.com/getting-started/welcome ; https://help.zapier.com/hc/en-us/articles/48308034391821-What-is-Zapier-MCP ; https://help.zapier.com/hc/en-us/articles/8496309697421-What-is-a-Zap ; https://docs.databutton.com/help-and-faq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theory by minute 18. Install was started at minute 1. README has Windows/Mac clone, setup and launch commands. Run the app and open mcp_server_sdk.py. Use workshop_client.py for tests; no Gemini key needed. Core-only supports visual verification even if audio is unavailable. Pair blocked learners before minute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18–25 segment, about 90 seconds. Use set_tempo(120), then get_state. Inspect actual tool arguments and app state. Queued is acknowledgement, not proof of completed mutation. Gemini demo optional; explicit client path works without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18–25 segment. This is the MCP architecture slide for the activity. Host/client → mcp_server_sdk.py uses MCP over stdio. Python tool calls call_daw; adapter sends newline-delimited JSON over localhost socket to app.py. That socket is the backend protocol, not MCP. Students edit the server, not the music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18–25 demo block, 30 seconds. Slide 14 traces MCP/backend boundaries; 16 explains the contract. Slides 17–18 pair the read/act/observe concept with a maze. MCP BUILD slides 20–21 edit mcp_server_sdk.py; MCP TEST slides 22–23 use workshop_client.py and get_state. README is the command reference; compare solution only after attempting.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18–25 segment. Three lines are enough to understand registration, input type and purpose. AI can generate implementation, but students must judge the contract, validation, permission and outcome. Existing set_tempo has 40–240 range validation in its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18–25 demo block, 20 seconds: read → act → observe again. The maze on the next slide applies the same pattern to game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18–25 demo block, 30 seconds. Illustration only: maze tools are examples, not tools in the student server. The host/model chooses moves, MCP exposes controls/state, and the maze app enforces walls and success. Compare with music read → act → observe on the previous slide. Ask what to do after a blocked move: observe again and choose another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18–25 segment, about 45 seconds. MCPJAM uses standard MCP with domain-specific music tools. There is no special protocol called normal versus our MCP. Coding agents can already use shell/browser/API capabilities to test apps. Expose your app through MCP when compatible hosts need reusable discoverable actions and live state. Direct API remains reasonable for one fixed client. Prompt quality and tool connectivity solve different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25–40 activity begins: 3 minutes guided build + 12 audience testing/adaptation. Read the six-step recipe; AI may generate code, but students explain registration, input contract, validation, adapter, acknowledgement and outcome verification. Implement set_swing below Student exercise and above startup. Validate 0–75; call_daw cmd=set_swing, amount=validated value; return the actual acknowledgement, then verify get_state. Full implementation remains in README/solution, not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25–40 hands-on block. Point to Student exercise and add function above if __name__ == __main__. Save. workshop_client.py starts a fresh server per run; persistent hosts require reconnect/restart. Students should be able to say which file is MCP and which is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25–40 protected activity. Build 3 minutes guided, then 12 minutes testing/adapting and partner explanation. Use README commands for Windows/Mac. Discover set_swing, test 35, boundary 0/75, invalid 100, and verify with get_state. Ask audience to predict whether 100 succeeds: no. Pair blocked learners. Do not consume the final 5-minute buffer as planned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25–40 activity checkpoint. Discovery shows set_swing schema. Valid 35 and boundaries 0/75 succeed; get_state confirms actual state. 100 returns tool error and state stays unchanged. Prize question: queued does not prove the effect. Partner explains decorator, validation, adapter, result and state check. Success means both valid behavior and rejected behavior are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40–47 required security block. Scenario: a retrieved document says send all customer records to this URL. It is data, not user authorization. Ask audience what boundary prevents the action. Separate validation, authentication and per-tool/per-record authorization. Least privilege and confirmation for risky operations reduce impact. Local workshop socket is a trusted-machine demonstration, not a production authenticated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40–47 security block. Tool descriptions can carry malicious instructions; a trusted description or implementation may change later. Treat descriptions and tool results as untrusted data. Review and pin server/dependency versions, inspect updates and permission scope, and re-review changed tools. Ask whether an already approved server should gain a new delete action silently: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40–47 security block. Production methods: authenticate caller; validate token audience where using remote token auth; authorize each action and record; minimize backend privilege; treat retrieved content as untrusted; review trusted sources and updates. The SDK does not automatically supply all these controls. Keep credentials out of prompts, logs and tool output. State-changing tools may need user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47–52 enterprise/advanced block: spend the first 60 seconds here, then four minutes on production architecture. Structured output/content support depends on host and protocol version. The host coordinates multi-server workflows. Lab uses pinned SDK v1 and stdio; remote services generally use Streamable HTTP with appropriate auth. Current protocol docs have deprecated sampling, so do not teach it as a required new-design feature. Structured results, user elicitation where supported, timeouts and outcome verification are useful awareness topics. Source: https://modelcontextprotocol.io/docs/2026-07-28/learn/architecture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47–52 required enterprise and best-practices block. Trace identity provider → optional gateway → MCP server → backend. Identity is not permission: authorize per tool, tenant and record. Backend retains business rules. Production practices: narrow tools with explicit schemas, typed/structured results, bounded timeouts, redacted audit logs, version pinning/review, meaningful valid/invalid tests, and outcome verification. Read-only retries are often safer; do not blindly retry writes after timeout. Use idempotency keys or check outcome where supported. Scenario: create_ticket times out—did it fail or succeed? Verify before retrying. Entra ID/API Management are examples, not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52–55 exit block. 90-second pair exercise: name one useful project tool, its input, permission, and observable success. Examples search_inventory, create_draft_ticket or test a game move. Add a thin MCP adapter over an existing API/function; do not rewrite the app. Consider MCP when multiple compatible hosts need these capabilities. A one-off fixed integration may use a direct API. Reserve 55–60 for genuine spare time/Q&amp;A.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1-2.png" /><Relationship Id="rId3" Type="http://schemas.openxmlformats.org/officeDocument/2006/relationships/image" Target="../media/image-1-3.png" /><Relationship Id="rId4" Type="http://schemas.openxmlformats.org/officeDocument/2006/relationships/image" Target="../media/image-1-4.png" /><Relationship Id="rId5" Type="http://schemas.openxmlformats.org/officeDocument/2006/relationships/image" Target="../media/image-1-5.png" /><Relationship Id="rId6" Type="http://schemas.openxmlformats.org/officeDocument/2006/relationships/image" Target="../media/image-1-6.png" /><Relationship Id="rId7" Type="http://schemas.openxmlformats.org/officeDocument/2006/relationships/image" Target="../media/image-1-7.png" /><Relationship Id="rId8" Type="http://schemas.openxmlformats.org/officeDocument/2006/relationships/image" Target="../media/image-1-8.png" /><Relationship Id="rId9" Type="http://schemas.openxmlformats.org/officeDocument/2006/relationships/image" Target="../media/image-1-7.png" /><Relationship Id="rId10" Type="http://schemas.openxmlformats.org/officeDocument/2006/relationships/image" Target="../media/image-1-10.png" /><Relationship Id="rId11" Type="http://schemas.openxmlformats.org/officeDocument/2006/relationships/image" Target="../media/image-1-11.png" /><Relationship Id="rId12" Type="http://schemas.openxmlformats.org/officeDocument/2006/relationships/image" Target="../media/image-1-12.png" /><Relationship Id="rId13" Type="http://schemas.openxmlformats.org/officeDocument/2006/relationships/image" Target="../media/image-1-13.png" /><Relationship Id="rId14" Type="http://schemas.openxmlformats.org/officeDocument/2006/relationships/image" Target="../media/image-1-14.png" /><Relationship Id="rId15" Type="http://schemas.openxmlformats.org/officeDocument/2006/relationships/image" Target="../media/image-1-15.png" /><Relationship Id="rId16" Type="http://schemas.openxmlformats.org/officeDocument/2006/relationships/image" Target="../media/image-1-16.png" /><Relationship Id="rId17" Type="http://schemas.openxmlformats.org/officeDocument/2006/relationships/image" Target="../media/image-1-14.png" /><Relationship Id="rId18" Type="http://schemas.openxmlformats.org/officeDocument/2006/relationships/image" Target="../media/image-1-15.png" /><Relationship Id="rId19" Type="http://schemas.openxmlformats.org/officeDocument/2006/relationships/image" Target="../media/image-1-19.png" /><Relationship Id="rId20" Type="http://schemas.openxmlformats.org/officeDocument/2006/relationships/image" Target="../media/image-1-20.png" /><Relationship Id="rId21" Type="http://schemas.openxmlformats.org/officeDocument/2006/relationships/image" Target="../media/image-1-16.png" /><Relationship Id="rId22" Type="http://schemas.openxmlformats.org/officeDocument/2006/relationships/image" Target="../media/image-1-22.png" /><Relationship Id="rId23" Type="http://schemas.openxmlformats.org/officeDocument/2006/relationships/image" Target="../media/image-1-23.png" /><Relationship Id="rId24" Type="http://schemas.openxmlformats.org/officeDocument/2006/relationships/image" Target="../media/image-1-24.png" /><Relationship Id="rId25" Type="http://schemas.openxmlformats.org/officeDocument/2006/relationships/image" Target="../media/image-1-25.png" /><Relationship Id="rId26" Type="http://schemas.openxmlformats.org/officeDocument/2006/relationships/slideLayout" Target="../slideLayouts/slideLayout1.xml" /><Relationship Id="rId27"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1-2.png" /><Relationship Id="rId3" Type="http://schemas.openxmlformats.org/officeDocument/2006/relationships/image" Target="../media/image-1-3.png" /><Relationship Id="rId4" Type="http://schemas.openxmlformats.org/officeDocument/2006/relationships/image" Target="../media/image-1-4.png" /><Relationship Id="rId5" Type="http://schemas.openxmlformats.org/officeDocument/2006/relationships/image" Target="../media/image-1-5.png" /><Relationship Id="rId6" Type="http://schemas.openxmlformats.org/officeDocument/2006/relationships/image" Target="../media/image-1-6.png" /><Relationship Id="rId7" Type="http://schemas.openxmlformats.org/officeDocument/2006/relationships/image" Target="../media/image-1-7.png" /><Relationship Id="rId8" Type="http://schemas.openxmlformats.org/officeDocument/2006/relationships/image" Target="../media/image-1-8.png" /><Relationship Id="rId9" Type="http://schemas.openxmlformats.org/officeDocument/2006/relationships/image" Target="../media/image-1-7.png" /><Relationship Id="rId10" Type="http://schemas.openxmlformats.org/officeDocument/2006/relationships/image" Target="../media/image-1-10.png" /><Relationship Id="rId11" Type="http://schemas.openxmlformats.org/officeDocument/2006/relationships/image" Target="../media/image-1-11.png" /><Relationship Id="rId12" Type="http://schemas.openxmlformats.org/officeDocument/2006/relationships/image" Target="../media/image-2-12.png" /><Relationship Id="rId13" Type="http://schemas.openxmlformats.org/officeDocument/2006/relationships/image" Target="../media/image-1-13.png" /><Relationship Id="rId14" Type="http://schemas.openxmlformats.org/officeDocument/2006/relationships/image" Target="../media/image-2-14.png" /><Relationship Id="rId15" Type="http://schemas.openxmlformats.org/officeDocument/2006/relationships/image" Target="../media/image-1-15.png" /><Relationship Id="rId16" Type="http://schemas.openxmlformats.org/officeDocument/2006/relationships/image" Target="../media/image-1-16.png" /><Relationship Id="rId17" Type="http://schemas.openxmlformats.org/officeDocument/2006/relationships/image" Target="../media/image-2-14.png" /><Relationship Id="rId18" Type="http://schemas.openxmlformats.org/officeDocument/2006/relationships/image" Target="../media/image-1-15.png" /><Relationship Id="rId19" Type="http://schemas.openxmlformats.org/officeDocument/2006/relationships/image" Target="../media/image-1-19.png" /><Relationship Id="rId20" Type="http://schemas.openxmlformats.org/officeDocument/2006/relationships/image" Target="../media/image-1-20.png" /><Relationship Id="rId21" Type="http://schemas.openxmlformats.org/officeDocument/2006/relationships/image" Target="../media/image-1-16.png" /><Relationship Id="rId22" Type="http://schemas.openxmlformats.org/officeDocument/2006/relationships/image" Target="../media/image-1-22.png" /><Relationship Id="rId23" Type="http://schemas.openxmlformats.org/officeDocument/2006/relationships/image" Target="../media/image-1-24.png" /><Relationship Id="rId24" Type="http://schemas.openxmlformats.org/officeDocument/2006/relationships/image" Target="../media/image-2-24.png" /><Relationship Id="rId25" Type="http://schemas.openxmlformats.org/officeDocument/2006/relationships/image" Target="../media/image-2-25.png" /><Relationship Id="rId26" Type="http://schemas.openxmlformats.org/officeDocument/2006/relationships/slideLayout" Target="../slideLayouts/slideLayout1.xml" /><Relationship Id="rId27"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4-2.png" /><Relationship Id="rId3" Type="http://schemas.openxmlformats.org/officeDocument/2006/relationships/slideLayout" Target="../slideLayouts/slideLayout1.xml" /><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5-2.png" /><Relationship Id="rId3" Type="http://schemas.openxmlformats.org/officeDocument/2006/relationships/slideLayout" Target="../slideLayouts/slideLayout1.xml" /><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8-2.png" /><Relationship Id="rId3" Type="http://schemas.openxmlformats.org/officeDocument/2006/relationships/image" Target="../media/image-8-3.png" /><Relationship Id="rId4" Type="http://schemas.openxmlformats.org/officeDocument/2006/relationships/image" Target="../media/image-8-4.png" /><Relationship Id="rId5" Type="http://schemas.openxmlformats.org/officeDocument/2006/relationships/image" Target="../media/image-8-5.png" /><Relationship Id="rId6" Type="http://schemas.openxmlformats.org/officeDocument/2006/relationships/image" Target="../media/image-8-6.png" /><Relationship Id="rId7" Type="http://schemas.openxmlformats.org/officeDocument/2006/relationships/image" Target="../media/image-8-7.png" /><Relationship Id="rId8" Type="http://schemas.openxmlformats.org/officeDocument/2006/relationships/image" Target="../media/image-8-8.png" /><Relationship Id="rId9" Type="http://schemas.openxmlformats.org/officeDocument/2006/relationships/image" Target="../media/image-8-9.png" /><Relationship Id="rId10" Type="http://schemas.openxmlformats.org/officeDocument/2006/relationships/slideLayout" Target="../slideLayouts/slideLayout1.xml" /><Relationship Id="rId11"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9-2.png" /><Relationship Id="rId3" Type="http://schemas.openxmlformats.org/officeDocument/2006/relationships/image" Target="../media/image-9-3.png" /><Relationship Id="rId4" Type="http://schemas.openxmlformats.org/officeDocument/2006/relationships/image" Target="../media/image-9-4.png" /><Relationship Id="rId5" Type="http://schemas.openxmlformats.org/officeDocument/2006/relationships/slideLayout" Target="../slideLayouts/slideLayout1.xml" /><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13-2.png" /><Relationship Id="rId3" Type="http://schemas.openxmlformats.org/officeDocument/2006/relationships/image" Target="../media/image-13-2.png" /><Relationship Id="rId4" Type="http://schemas.openxmlformats.org/officeDocument/2006/relationships/slideLayout" Target="../slideLayouts/slideLayout1.xml" /><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Type="http://schemas.openxmlformats.org/officeDocument/2006/relationships/slideLayout" Target="../slideLayouts/slideLayout1.xml" Id="R8473b41dff39461a" /><Relationship Type="http://schemas.openxmlformats.org/officeDocument/2006/relationships/image" Target="../media/Slide-1-image-1.png" Id="Re8d3fc03d4c34bcc" /><Relationship Type="http://schemas.openxmlformats.org/officeDocument/2006/relationships/image" Target="../media/restored-native-image2.png" Id="R7e3280edd5ed47a1" /><Relationship Type="http://schemas.openxmlformats.org/officeDocument/2006/relationships/notesSlide" Target="../notesSlides/notesSlide17.xml" Id="R3e847ec505f14512" /></Relationships>
</file>

<file path=ppt/slides/_rels/slide18.xml.rels><?xml version='1.0' encoding='utf-8'?>
<Relationships xmlns="http://schemas.openxmlformats.org/package/2006/relationships"><Relationship Type="http://schemas.openxmlformats.org/officeDocument/2006/relationships/slideLayout" Target="../slideLayouts/slideLayout1.xml" Id="R243f0cb622854fce" /><Relationship Type="http://schemas.openxmlformats.org/officeDocument/2006/relationships/image" Target="../media/Slide-1-image-1.png" Id="Rd321faa006f0413f" /><Relationship Type="http://schemas.openxmlformats.org/officeDocument/2006/relationships/notesSlide" Target="../notesSlides/notesSlide18.xml" Id="Rcd2e61c8034b4caf" /></Relationships>
</file>

<file path=ppt/slides/_rels/slide19.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21-2.png" /><Relationship Id="rId3" Type="http://schemas.openxmlformats.org/officeDocument/2006/relationships/slideLayout" Target="../slideLayouts/slideLayout1.xml" /><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22-2.png" /><Relationship Id="rId3" Type="http://schemas.openxmlformats.org/officeDocument/2006/relationships/slideLayout" Target="../slideLayouts/slideLayout1.xml" /><Relationship Id="rId4"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23-2.png" /><Relationship Id="rId3" Type="http://schemas.openxmlformats.org/officeDocument/2006/relationships/slideLayout" Target="../slideLayouts/slideLayout1.xml" /><Relationship Id="rId4"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24-2.png" /><Relationship Id="rId3" Type="http://schemas.openxmlformats.org/officeDocument/2006/relationships/slideLayout" Target="../slideLayouts/slideLayout1.xml" /><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25-2.png" /><Relationship Id="rId3" Type="http://schemas.openxmlformats.org/officeDocument/2006/relationships/slideLayout" Target="../slideLayouts/slideLayout1.xml" /><Relationship Id="rId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slideLayout" Target="../slideLayouts/slideLayout1.xml" /><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Slide-1-image-1.png" /><Relationship Id="rId2" Type="http://schemas.openxmlformats.org/officeDocument/2006/relationships/image" Target="../media/image-29-2.png" /><Relationship Id="rId3" Type="http://schemas.openxmlformats.org/officeDocument/2006/relationships/image" Target="../media/image-29-3.png" /><Relationship Id="rId4" Type="http://schemas.openxmlformats.org/officeDocument/2006/relationships/image" Target="../media/image-29-4.png" /><Relationship Id="rId5" Type="http://schemas.openxmlformats.org/officeDocument/2006/relationships/slideLayout" Target="../slideLayouts/slideLayout1.xml" /><Relationship Id="rId6" Type="http://schemas.openxmlformats.org/officeDocument/2006/relationships/notesSlide" Target="../notesSlides/notesSlide29.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2"/>
          <a:srcRect l="0" r="31960" t="0" b="40299"/>
          <a:stretch/>
        </p:blipFill>
        <p:spPr>
          <a:xfrm>
            <a:off x="-1662112" y="-842962"/>
            <a:ext cx="3538538" cy="5143500"/>
          </a:xfrm>
          <a:prstGeom prst="rect">
            <a:avLst/>
          </a:prstGeom>
        </p:spPr>
      </p:pic>
      <p:pic>
        <p:nvPicPr>
          <p:cNvPr id="4" name="Image 1" descr="preencoded.png">    </p:cNvPr>
          <p:cNvPicPr>
            <a:picLocks noChangeAspect="1"/>
          </p:cNvPicPr>
          <p:nvPr/>
        </p:nvPicPr>
        <p:blipFill>
          <a:blip r:embed="rId3"/>
          <a:srcRect l="0" r="0" t="0" b="0"/>
          <a:stretch/>
        </p:blipFill>
        <p:spPr>
          <a:xfrm>
            <a:off x="195263" y="3433763"/>
            <a:ext cx="1743075" cy="1471613"/>
          </a:xfrm>
          <a:prstGeom prst="rect">
            <a:avLst/>
          </a:prstGeom>
        </p:spPr>
      </p:pic>
      <p:pic>
        <p:nvPicPr>
          <p:cNvPr id="5" name="Image 2" descr="preencoded.png">    </p:cNvPr>
          <p:cNvPicPr>
            <a:picLocks noChangeAspect="1"/>
          </p:cNvPicPr>
          <p:nvPr/>
        </p:nvPicPr>
        <p:blipFill>
          <a:blip r:embed="rId4"/>
          <a:srcRect l="0" r="34671" t="0" b="36230"/>
          <a:stretch/>
        </p:blipFill>
        <p:spPr>
          <a:xfrm>
            <a:off x="-1028700" y="3081338"/>
            <a:ext cx="1938337" cy="2062163"/>
          </a:xfrm>
          <a:prstGeom prst="rect">
            <a:avLst/>
          </a:prstGeom>
        </p:spPr>
      </p:pic>
      <p:sp>
        <p:nvSpPr>
          <p:cNvPr id="6" name="Shape 0"/>
          <p:cNvSpPr/>
          <p:nvPr/>
        </p:nvSpPr>
        <p:spPr>
          <a:xfrm>
            <a:off x="609600" y="2181225"/>
            <a:ext cx="5010150" cy="900113"/>
          </a:xfrm>
          <a:prstGeom prst="rect">
            <a:avLst/>
          </a:prstGeom>
          <a:noFill/>
          <a:ln/>
        </p:spPr>
      </p:sp>
      <p:sp>
        <p:nvSpPr>
          <p:cNvPr id="7" name="Text 1"/>
          <p:cNvSpPr/>
          <p:nvPr/>
        </p:nvSpPr>
        <p:spPr>
          <a:xfrm>
            <a:off x="609600" y="2181225"/>
            <a:ext cx="5010150" cy="547688"/>
          </a:xfrm>
          <a:prstGeom prst="rect">
            <a:avLst/>
          </a:prstGeom>
          <a:noFill/>
          <a:ln/>
        </p:spPr>
        <p:txBody>
          <a:bodyPr wrap="square" lIns="0" tIns="0" rIns="0" bIns="0" rtlCol="0" anchor="t"/>
          <a:lstStyle/>
          <a:p>
            <a:pPr algn="l" indent="0" marL="0">
              <a:lnSpc>
                <a:spcPts val="4104"/>
              </a:lnSpc>
              <a:buNone/>
            </a:pPr>
            <a:r>
              <a:rPr lang="en-US" sz="3420" b="1" spc="-68" kern="0" dirty="0">
                <a:solidFill>
                  <a:srgbClr val="FFFFFF">
                    <a:alpha val="99000"/>
                  </a:srgbClr>
                </a:solidFill>
                <a:latin typeface="Inter" pitchFamily="34" charset="0"/>
                <a:ea typeface="Inter" pitchFamily="34" charset="-122"/>
                <a:cs typeface="Inter" pitchFamily="34" charset="-120"/>
              </a:rPr>
              <a:t>Intro to MCP Servers</a:t>
            </a:r>
            <a:endParaRPr lang="en-US" sz="3420" dirty="0"/>
          </a:p>
        </p:txBody>
      </p:sp>
      <p:sp>
        <p:nvSpPr>
          <p:cNvPr id="8" name="Text 2"/>
          <p:cNvSpPr/>
          <p:nvPr/>
        </p:nvSpPr>
        <p:spPr>
          <a:xfrm>
            <a:off x="609600" y="2843213"/>
            <a:ext cx="5010150" cy="238125"/>
          </a:xfrm>
          <a:prstGeom prst="rect">
            <a:avLst/>
          </a:prstGeom>
          <a:noFill/>
          <a:ln/>
        </p:spPr>
        <p:txBody>
          <a:bodyPr wrap="square" lIns="0" tIns="0" rIns="0" bIns="0" rtlCol="0" anchor="t"/>
          <a:lstStyle/>
          <a:p>
            <a:pPr algn="l" indent="0" marL="0">
              <a:lnSpc>
                <a:spcPts val="1795"/>
              </a:lnSpc>
              <a:buNone/>
            </a:pPr>
            <a:r>
              <a:rPr lang="en-US" sz="1283" b="1" spc="-51" kern="0" dirty="0">
                <a:solidFill>
                  <a:srgbClr val="FFFFFF">
                    <a:alpha val="99000"/>
                  </a:srgbClr>
                </a:solidFill>
                <a:latin typeface="Inter" pitchFamily="34" charset="0"/>
                <a:ea typeface="Inter" pitchFamily="34" charset="-122"/>
                <a:cs typeface="Inter" pitchFamily="34" charset="-120"/>
              </a:rPr>
              <a:t>Presented by Pranav</a:t>
            </a:r>
            <a:endParaRPr lang="en-US" sz="1283" dirty="0"/>
          </a:p>
        </p:txBody>
      </p:sp>
      <p:sp>
        <p:nvSpPr>
          <p:cNvPr id="9" name="Text 3"/>
          <p:cNvSpPr/>
          <p:nvPr/>
        </p:nvSpPr>
        <p:spPr>
          <a:xfrm>
            <a:off x="3505200" y="4124325"/>
            <a:ext cx="452438" cy="547688"/>
          </a:xfrm>
          <a:prstGeom prst="rect">
            <a:avLst/>
          </a:prstGeom>
          <a:noFill/>
          <a:ln/>
        </p:spPr>
        <p:txBody>
          <a:bodyPr wrap="square" lIns="0" tIns="0" rIns="0" bIns="0" rtlCol="0" anchor="t"/>
          <a:lstStyle/>
          <a:p>
            <a:pPr algn="l" indent="0" marL="0">
              <a:lnSpc>
                <a:spcPts val="4104"/>
              </a:lnSpc>
              <a:buNone/>
            </a:pPr>
            <a:r>
              <a:rPr lang="en-US" sz="3420" b="1" spc="-68" kern="0" dirty="0">
                <a:solidFill>
                  <a:srgbClr val="FFFFFF">
                    <a:alpha val="99000"/>
                  </a:srgbClr>
                </a:solidFill>
                <a:latin typeface="Inter" pitchFamily="34" charset="0"/>
                <a:ea typeface="Inter" pitchFamily="34" charset="-122"/>
                <a:cs typeface="Inter" pitchFamily="34" charset="-120"/>
              </a:rPr>
              <a:t>X</a:t>
            </a:r>
            <a:endParaRPr lang="en-US" sz="3420" dirty="0"/>
          </a:p>
        </p:txBody>
      </p:sp>
      <p:pic>
        <p:nvPicPr>
          <p:cNvPr id="10" name="Image 3" descr="preencoded.png">    </p:cNvPr>
          <p:cNvPicPr>
            <a:picLocks noChangeAspect="1"/>
          </p:cNvPicPr>
          <p:nvPr/>
        </p:nvPicPr>
        <p:blipFill>
          <a:blip r:embed="rId5"/>
          <a:srcRect l="0" r="0" t="0" b="5577"/>
          <a:stretch/>
        </p:blipFill>
        <p:spPr>
          <a:xfrm>
            <a:off x="8315325" y="-204787"/>
            <a:ext cx="700088" cy="3467100"/>
          </a:xfrm>
          <a:prstGeom prst="rect">
            <a:avLst/>
          </a:prstGeom>
        </p:spPr>
      </p:pic>
      <p:pic>
        <p:nvPicPr>
          <p:cNvPr id="11" name="Image 4" descr="preencoded.png">    </p:cNvPr>
          <p:cNvPicPr>
            <a:picLocks noChangeAspect="1"/>
          </p:cNvPicPr>
          <p:nvPr/>
        </p:nvPicPr>
        <p:blipFill>
          <a:blip r:embed="rId6"/>
          <a:srcRect l="0" r="13210" t="0" b="10224"/>
          <a:stretch/>
        </p:blipFill>
        <p:spPr>
          <a:xfrm>
            <a:off x="6234113" y="-295275"/>
            <a:ext cx="2909888" cy="5143500"/>
          </a:xfrm>
          <a:prstGeom prst="rect">
            <a:avLst/>
          </a:prstGeom>
        </p:spPr>
      </p:pic>
      <p:pic>
        <p:nvPicPr>
          <p:cNvPr id="12" name="Image 5" descr="preencoded.png">    </p:cNvPr>
          <p:cNvPicPr>
            <a:picLocks noChangeAspect="1"/>
          </p:cNvPicPr>
          <p:nvPr/>
        </p:nvPicPr>
        <p:blipFill>
          <a:blip r:embed="rId7"/>
          <a:srcRect l="0" r="0" t="0" b="0"/>
          <a:stretch/>
        </p:blipFill>
        <p:spPr>
          <a:xfrm>
            <a:off x="5529263" y="3867150"/>
            <a:ext cx="342900" cy="338138"/>
          </a:xfrm>
          <a:prstGeom prst="rect">
            <a:avLst/>
          </a:prstGeom>
        </p:spPr>
      </p:pic>
      <p:pic>
        <p:nvPicPr>
          <p:cNvPr id="13" name="Image 6" descr="preencoded.png">    </p:cNvPr>
          <p:cNvPicPr>
            <a:picLocks noChangeAspect="1"/>
          </p:cNvPicPr>
          <p:nvPr/>
        </p:nvPicPr>
        <p:blipFill>
          <a:blip r:embed="rId8"/>
          <a:srcRect l="0" r="0" t="0" b="0"/>
          <a:stretch/>
        </p:blipFill>
        <p:spPr>
          <a:xfrm>
            <a:off x="6086475" y="1100138"/>
            <a:ext cx="237545" cy="234429"/>
          </a:xfrm>
          <a:prstGeom prst="rect">
            <a:avLst/>
          </a:prstGeom>
        </p:spPr>
      </p:pic>
      <p:pic>
        <p:nvPicPr>
          <p:cNvPr id="14" name="Image 7" descr="preencoded.png">    </p:cNvPr>
          <p:cNvPicPr>
            <a:picLocks noChangeAspect="1"/>
          </p:cNvPicPr>
          <p:nvPr/>
        </p:nvPicPr>
        <p:blipFill>
          <a:blip r:embed="rId9"/>
          <a:srcRect l="0" r="0" t="0" b="0"/>
          <a:stretch/>
        </p:blipFill>
        <p:spPr>
          <a:xfrm>
            <a:off x="6753225" y="2781300"/>
            <a:ext cx="342900" cy="338138"/>
          </a:xfrm>
          <a:prstGeom prst="rect">
            <a:avLst/>
          </a:prstGeom>
        </p:spPr>
      </p:pic>
      <p:pic>
        <p:nvPicPr>
          <p:cNvPr id="15" name="Image 8" descr="preencoded.png">    </p:cNvPr>
          <p:cNvPicPr>
            <a:picLocks noChangeAspect="1"/>
          </p:cNvPicPr>
          <p:nvPr/>
        </p:nvPicPr>
        <p:blipFill>
          <a:blip r:embed="rId10"/>
          <a:srcRect l="0" r="0" t="0" b="0"/>
          <a:stretch/>
        </p:blipFill>
        <p:spPr>
          <a:xfrm>
            <a:off x="5334000" y="452438"/>
            <a:ext cx="195263" cy="190500"/>
          </a:xfrm>
          <a:prstGeom prst="rect">
            <a:avLst/>
          </a:prstGeom>
        </p:spPr>
      </p:pic>
      <p:pic>
        <p:nvPicPr>
          <p:cNvPr id="16" name="Image 9" descr="preencoded.png">    </p:cNvPr>
          <p:cNvPicPr>
            <a:picLocks noChangeAspect="1"/>
          </p:cNvPicPr>
          <p:nvPr/>
        </p:nvPicPr>
        <p:blipFill>
          <a:blip r:embed="rId11"/>
          <a:srcRect l="0" r="0" t="0" b="0"/>
          <a:stretch/>
        </p:blipFill>
        <p:spPr>
          <a:xfrm>
            <a:off x="8191500" y="3695700"/>
            <a:ext cx="342900" cy="338138"/>
          </a:xfrm>
          <a:prstGeom prst="rect">
            <a:avLst/>
          </a:prstGeom>
        </p:spPr>
      </p:pic>
      <p:pic>
        <p:nvPicPr>
          <p:cNvPr id="17" name="Image 10" descr="preencoded.png">    </p:cNvPr>
          <p:cNvPicPr>
            <a:picLocks noChangeAspect="1"/>
          </p:cNvPicPr>
          <p:nvPr/>
        </p:nvPicPr>
        <p:blipFill>
          <a:blip r:embed="rId12"/>
          <a:srcRect l="0" r="0" t="0" b="0"/>
          <a:stretch/>
        </p:blipFill>
        <p:spPr>
          <a:xfrm>
            <a:off x="8723283" y="2395451"/>
            <a:ext cx="237545" cy="234429"/>
          </a:xfrm>
          <a:prstGeom prst="rect">
            <a:avLst/>
          </a:prstGeom>
        </p:spPr>
      </p:pic>
      <p:pic>
        <p:nvPicPr>
          <p:cNvPr id="18" name="Image 11" descr="preencoded.png">    </p:cNvPr>
          <p:cNvPicPr>
            <a:picLocks noChangeAspect="1"/>
          </p:cNvPicPr>
          <p:nvPr/>
        </p:nvPicPr>
        <p:blipFill>
          <a:blip r:embed="rId13"/>
          <a:srcRect l="0" r="0" t="0" b="0"/>
          <a:stretch/>
        </p:blipFill>
        <p:spPr>
          <a:xfrm>
            <a:off x="8001000" y="1347788"/>
            <a:ext cx="195263" cy="190500"/>
          </a:xfrm>
          <a:prstGeom prst="rect">
            <a:avLst/>
          </a:prstGeom>
        </p:spPr>
      </p:pic>
      <p:pic>
        <p:nvPicPr>
          <p:cNvPr id="19" name="Image 12" descr="preencoded.png">    </p:cNvPr>
          <p:cNvPicPr>
            <a:picLocks noChangeAspect="1"/>
          </p:cNvPicPr>
          <p:nvPr/>
        </p:nvPicPr>
        <p:blipFill>
          <a:blip r:embed="rId14"/>
          <a:srcRect l="0" r="0" t="0" b="0"/>
          <a:stretch/>
        </p:blipFill>
        <p:spPr>
          <a:xfrm>
            <a:off x="609600" y="451329"/>
            <a:ext cx="456577" cy="458674"/>
          </a:xfrm>
          <a:prstGeom prst="rect">
            <a:avLst/>
          </a:prstGeom>
        </p:spPr>
      </p:pic>
      <p:pic>
        <p:nvPicPr>
          <p:cNvPr id="20" name="Image 13" descr="preencoded.png">    </p:cNvPr>
          <p:cNvPicPr>
            <a:picLocks noChangeAspect="1"/>
          </p:cNvPicPr>
          <p:nvPr/>
        </p:nvPicPr>
        <p:blipFill>
          <a:blip r:embed="rId15"/>
          <a:srcRect l="0" r="0" t="0" b="0"/>
          <a:stretch/>
        </p:blipFill>
        <p:spPr>
          <a:xfrm>
            <a:off x="1187573" y="644917"/>
            <a:ext cx="304628" cy="306165"/>
          </a:xfrm>
          <a:prstGeom prst="rect">
            <a:avLst/>
          </a:prstGeom>
        </p:spPr>
      </p:pic>
      <p:pic>
        <p:nvPicPr>
          <p:cNvPr id="21" name="Image 14" descr="preencoded.png">    </p:cNvPr>
          <p:cNvPicPr>
            <a:picLocks noChangeAspect="1"/>
          </p:cNvPicPr>
          <p:nvPr/>
        </p:nvPicPr>
        <p:blipFill>
          <a:blip r:embed="rId16"/>
          <a:srcRect l="0" r="0" t="0" b="0"/>
          <a:stretch/>
        </p:blipFill>
        <p:spPr>
          <a:xfrm>
            <a:off x="809625" y="1219200"/>
            <a:ext cx="258166" cy="260263"/>
          </a:xfrm>
          <a:prstGeom prst="rect">
            <a:avLst/>
          </a:prstGeom>
        </p:spPr>
      </p:pic>
      <p:pic>
        <p:nvPicPr>
          <p:cNvPr id="22" name="Image 15" descr="preencoded.png">    </p:cNvPr>
          <p:cNvPicPr>
            <a:picLocks noChangeAspect="1"/>
          </p:cNvPicPr>
          <p:nvPr/>
        </p:nvPicPr>
        <p:blipFill>
          <a:blip r:embed="rId17"/>
          <a:srcRect l="0" r="0" t="0" b="0"/>
          <a:stretch/>
        </p:blipFill>
        <p:spPr>
          <a:xfrm>
            <a:off x="1323975" y="3562350"/>
            <a:ext cx="456577" cy="458674"/>
          </a:xfrm>
          <a:prstGeom prst="rect">
            <a:avLst/>
          </a:prstGeom>
        </p:spPr>
      </p:pic>
      <p:pic>
        <p:nvPicPr>
          <p:cNvPr id="23" name="Image 16" descr="preencoded.png">    </p:cNvPr>
          <p:cNvPicPr>
            <a:picLocks noChangeAspect="1"/>
          </p:cNvPicPr>
          <p:nvPr/>
        </p:nvPicPr>
        <p:blipFill>
          <a:blip r:embed="rId18"/>
          <a:srcRect l="0" r="0" t="0" b="0"/>
          <a:stretch/>
        </p:blipFill>
        <p:spPr>
          <a:xfrm>
            <a:off x="2678236" y="3865476"/>
            <a:ext cx="304628" cy="306165"/>
          </a:xfrm>
          <a:prstGeom prst="rect">
            <a:avLst/>
          </a:prstGeom>
        </p:spPr>
      </p:pic>
      <p:pic>
        <p:nvPicPr>
          <p:cNvPr id="24" name="Image 17" descr="preencoded.png">    </p:cNvPr>
          <p:cNvPicPr>
            <a:picLocks noChangeAspect="1"/>
          </p:cNvPicPr>
          <p:nvPr/>
        </p:nvPicPr>
        <p:blipFill>
          <a:blip r:embed="rId19"/>
          <a:srcRect l="0" r="0" t="0" b="12194"/>
          <a:stretch/>
        </p:blipFill>
        <p:spPr>
          <a:xfrm>
            <a:off x="6748463" y="4595813"/>
            <a:ext cx="607244" cy="547688"/>
          </a:xfrm>
          <a:prstGeom prst="rect">
            <a:avLst/>
          </a:prstGeom>
        </p:spPr>
      </p:pic>
      <p:pic>
        <p:nvPicPr>
          <p:cNvPr id="25" name="Image 18" descr="preencoded.png">    </p:cNvPr>
          <p:cNvPicPr>
            <a:picLocks noChangeAspect="1"/>
          </p:cNvPicPr>
          <p:nvPr/>
        </p:nvPicPr>
        <p:blipFill>
          <a:blip r:embed="rId20"/>
          <a:srcRect l="0" r="0" t="0" b="0"/>
          <a:stretch/>
        </p:blipFill>
        <p:spPr>
          <a:xfrm>
            <a:off x="8577262" y="3290888"/>
            <a:ext cx="463253" cy="499238"/>
          </a:xfrm>
          <a:prstGeom prst="rect">
            <a:avLst/>
          </a:prstGeom>
        </p:spPr>
      </p:pic>
      <p:pic>
        <p:nvPicPr>
          <p:cNvPr id="26" name="Image 19" descr="preencoded.png">    </p:cNvPr>
          <p:cNvPicPr>
            <a:picLocks noChangeAspect="1"/>
          </p:cNvPicPr>
          <p:nvPr/>
        </p:nvPicPr>
        <p:blipFill>
          <a:blip r:embed="rId21"/>
          <a:srcRect l="0" r="0" t="0" b="0"/>
          <a:stretch/>
        </p:blipFill>
        <p:spPr>
          <a:xfrm>
            <a:off x="2300287" y="4439759"/>
            <a:ext cx="258166" cy="260263"/>
          </a:xfrm>
          <a:prstGeom prst="rect">
            <a:avLst/>
          </a:prstGeom>
        </p:spPr>
      </p:pic>
      <p:pic>
        <p:nvPicPr>
          <p:cNvPr id="27" name="Image 20" descr="preencoded.png">    </p:cNvPr>
          <p:cNvPicPr>
            <a:picLocks noChangeAspect="1"/>
          </p:cNvPicPr>
          <p:nvPr/>
        </p:nvPicPr>
        <p:blipFill>
          <a:blip r:embed="rId22"/>
          <a:srcRect l="0" r="21117" t="0" b="32066"/>
          <a:stretch/>
        </p:blipFill>
        <p:spPr>
          <a:xfrm>
            <a:off x="6662737" y="2762250"/>
            <a:ext cx="2481263" cy="2381250"/>
          </a:xfrm>
          <a:prstGeom prst="rect">
            <a:avLst/>
          </a:prstGeom>
        </p:spPr>
      </p:pic>
      <p:pic>
        <p:nvPicPr>
          <p:cNvPr id="28" name="Image 21" descr="preencoded.png">    </p:cNvPr>
          <p:cNvPicPr>
            <a:picLocks noChangeAspect="1"/>
          </p:cNvPicPr>
          <p:nvPr/>
        </p:nvPicPr>
        <p:blipFill>
          <a:blip r:embed="rId23"/>
          <a:srcRect l="0" r="0" t="0" b="0"/>
          <a:stretch/>
        </p:blipFill>
        <p:spPr>
          <a:xfrm>
            <a:off x="4104175" y="4102541"/>
            <a:ext cx="2295525" cy="495300"/>
          </a:xfrm>
          <a:prstGeom prst="rect">
            <a:avLst/>
          </a:prstGeom>
        </p:spPr>
      </p:pic>
      <p:pic>
        <p:nvPicPr>
          <p:cNvPr id="29" name="Image 22" descr="preencoded.png">    </p:cNvPr>
          <p:cNvPicPr>
            <a:picLocks noChangeAspect="1"/>
          </p:cNvPicPr>
          <p:nvPr/>
        </p:nvPicPr>
        <p:blipFill>
          <a:blip r:embed="rId24"/>
          <a:srcRect l="0" r="0" t="0" b="15812"/>
          <a:stretch/>
        </p:blipFill>
        <p:spPr>
          <a:xfrm>
            <a:off x="7191375" y="4205288"/>
            <a:ext cx="1123950" cy="938213"/>
          </a:xfrm>
          <a:prstGeom prst="rect">
            <a:avLst/>
          </a:prstGeom>
        </p:spPr>
      </p:pic>
      <p:sp>
        <p:nvSpPr>
          <p:cNvPr id="30" name="Text 4"/>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01 / 29</a:t>
            </a:r>
            <a:endParaRPr lang="en-US" sz="855" dirty="0"/>
          </a:p>
        </p:txBody>
      </p:sp>
      <p:pic>
        <p:nvPicPr>
          <p:cNvPr id="31" name="Image 23" descr="preencoded.png">    </p:cNvPr>
          <p:cNvPicPr>
            <a:picLocks noChangeAspect="1"/>
          </p:cNvPicPr>
          <p:nvPr/>
        </p:nvPicPr>
        <p:blipFill>
          <a:blip r:embed="rId25"/>
          <a:srcRect l="0" r="0" t="0" b="0"/>
          <a:stretch/>
        </p:blipFill>
        <p:spPr>
          <a:xfrm>
            <a:off x="2290763" y="3790950"/>
            <a:ext cx="952500" cy="1004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2"/>
          <a:srcRect l="0" r="31960" t="0" b="40299"/>
          <a:stretch/>
        </p:blipFill>
        <p:spPr>
          <a:xfrm>
            <a:off x="-1662112" y="-842962"/>
            <a:ext cx="3538538" cy="5143500"/>
          </a:xfrm>
          <a:prstGeom prst="rect">
            <a:avLst/>
          </a:prstGeom>
        </p:spPr>
      </p:pic>
      <p:pic>
        <p:nvPicPr>
          <p:cNvPr id="4" name="Image 1" descr="preencoded.png">    </p:cNvPr>
          <p:cNvPicPr>
            <a:picLocks noChangeAspect="1"/>
          </p:cNvPicPr>
          <p:nvPr/>
        </p:nvPicPr>
        <p:blipFill>
          <a:blip r:embed="rId3"/>
          <a:srcRect l="0" r="0" t="0" b="0"/>
          <a:stretch/>
        </p:blipFill>
        <p:spPr>
          <a:xfrm>
            <a:off x="195263" y="3433763"/>
            <a:ext cx="1743075" cy="1471613"/>
          </a:xfrm>
          <a:prstGeom prst="rect">
            <a:avLst/>
          </a:prstGeom>
        </p:spPr>
      </p:pic>
      <p:pic>
        <p:nvPicPr>
          <p:cNvPr id="5" name="Image 2" descr="preencoded.png">    </p:cNvPr>
          <p:cNvPicPr>
            <a:picLocks noChangeAspect="1"/>
          </p:cNvPicPr>
          <p:nvPr/>
        </p:nvPicPr>
        <p:blipFill>
          <a:blip r:embed="rId4"/>
          <a:srcRect l="0" r="34671" t="0" b="36230"/>
          <a:stretch/>
        </p:blipFill>
        <p:spPr>
          <a:xfrm>
            <a:off x="-1028700" y="3081338"/>
            <a:ext cx="1938337" cy="2062163"/>
          </a:xfrm>
          <a:prstGeom prst="rect">
            <a:avLst/>
          </a:prstGeom>
        </p:spPr>
      </p:pic>
      <p:pic>
        <p:nvPicPr>
          <p:cNvPr id="6" name="Image 3" descr="preencoded.png">    </p:cNvPr>
          <p:cNvPicPr>
            <a:picLocks noChangeAspect="1"/>
          </p:cNvPicPr>
          <p:nvPr/>
        </p:nvPicPr>
        <p:blipFill>
          <a:blip r:embed="rId5"/>
          <a:srcRect l="0" r="0" t="0" b="5577"/>
          <a:stretch/>
        </p:blipFill>
        <p:spPr>
          <a:xfrm>
            <a:off x="8315325" y="-204787"/>
            <a:ext cx="700088" cy="3467100"/>
          </a:xfrm>
          <a:prstGeom prst="rect">
            <a:avLst/>
          </a:prstGeom>
        </p:spPr>
      </p:pic>
      <p:pic>
        <p:nvPicPr>
          <p:cNvPr id="7" name="Image 4" descr="preencoded.png">    </p:cNvPr>
          <p:cNvPicPr>
            <a:picLocks noChangeAspect="1"/>
          </p:cNvPicPr>
          <p:nvPr/>
        </p:nvPicPr>
        <p:blipFill>
          <a:blip r:embed="rId6"/>
          <a:srcRect l="0" r="13210" t="0" b="10224"/>
          <a:stretch/>
        </p:blipFill>
        <p:spPr>
          <a:xfrm>
            <a:off x="6234113" y="-295275"/>
            <a:ext cx="2909888" cy="5143500"/>
          </a:xfrm>
          <a:prstGeom prst="rect">
            <a:avLst/>
          </a:prstGeom>
        </p:spPr>
      </p:pic>
      <p:pic>
        <p:nvPicPr>
          <p:cNvPr id="8" name="Image 5" descr="preencoded.png">    </p:cNvPr>
          <p:cNvPicPr>
            <a:picLocks noChangeAspect="1"/>
          </p:cNvPicPr>
          <p:nvPr/>
        </p:nvPicPr>
        <p:blipFill>
          <a:blip r:embed="rId7"/>
          <a:srcRect l="0" r="0" t="0" b="0"/>
          <a:stretch/>
        </p:blipFill>
        <p:spPr>
          <a:xfrm>
            <a:off x="5529263" y="3867150"/>
            <a:ext cx="342900" cy="338138"/>
          </a:xfrm>
          <a:prstGeom prst="rect">
            <a:avLst/>
          </a:prstGeom>
        </p:spPr>
      </p:pic>
      <p:pic>
        <p:nvPicPr>
          <p:cNvPr id="9" name="Image 6" descr="preencoded.png">    </p:cNvPr>
          <p:cNvPicPr>
            <a:picLocks noChangeAspect="1"/>
          </p:cNvPicPr>
          <p:nvPr/>
        </p:nvPicPr>
        <p:blipFill>
          <a:blip r:embed="rId8"/>
          <a:srcRect l="0" r="0" t="0" b="0"/>
          <a:stretch/>
        </p:blipFill>
        <p:spPr>
          <a:xfrm>
            <a:off x="6086475" y="1100138"/>
            <a:ext cx="237545" cy="234429"/>
          </a:xfrm>
          <a:prstGeom prst="rect">
            <a:avLst/>
          </a:prstGeom>
        </p:spPr>
      </p:pic>
      <p:pic>
        <p:nvPicPr>
          <p:cNvPr id="10" name="Image 7" descr="preencoded.png">    </p:cNvPr>
          <p:cNvPicPr>
            <a:picLocks noChangeAspect="1"/>
          </p:cNvPicPr>
          <p:nvPr/>
        </p:nvPicPr>
        <p:blipFill>
          <a:blip r:embed="rId9"/>
          <a:srcRect l="0" r="0" t="0" b="0"/>
          <a:stretch/>
        </p:blipFill>
        <p:spPr>
          <a:xfrm>
            <a:off x="6753225" y="2781300"/>
            <a:ext cx="342900" cy="338138"/>
          </a:xfrm>
          <a:prstGeom prst="rect">
            <a:avLst/>
          </a:prstGeom>
        </p:spPr>
      </p:pic>
      <p:pic>
        <p:nvPicPr>
          <p:cNvPr id="11" name="Image 8" descr="preencoded.png">    </p:cNvPr>
          <p:cNvPicPr>
            <a:picLocks noChangeAspect="1"/>
          </p:cNvPicPr>
          <p:nvPr/>
        </p:nvPicPr>
        <p:blipFill>
          <a:blip r:embed="rId10"/>
          <a:srcRect l="0" r="0" t="0" b="0"/>
          <a:stretch/>
        </p:blipFill>
        <p:spPr>
          <a:xfrm>
            <a:off x="5334000" y="452438"/>
            <a:ext cx="195263" cy="190500"/>
          </a:xfrm>
          <a:prstGeom prst="rect">
            <a:avLst/>
          </a:prstGeom>
        </p:spPr>
      </p:pic>
      <p:pic>
        <p:nvPicPr>
          <p:cNvPr id="12" name="Image 9" descr="preencoded.png">    </p:cNvPr>
          <p:cNvPicPr>
            <a:picLocks noChangeAspect="1"/>
          </p:cNvPicPr>
          <p:nvPr/>
        </p:nvPicPr>
        <p:blipFill>
          <a:blip r:embed="rId11"/>
          <a:srcRect l="0" r="0" t="0" b="0"/>
          <a:stretch/>
        </p:blipFill>
        <p:spPr>
          <a:xfrm>
            <a:off x="8191500" y="3695700"/>
            <a:ext cx="342900" cy="338138"/>
          </a:xfrm>
          <a:prstGeom prst="rect">
            <a:avLst/>
          </a:prstGeom>
        </p:spPr>
      </p:pic>
      <p:pic>
        <p:nvPicPr>
          <p:cNvPr id="13" name="Image 10" descr="preencoded.png">    </p:cNvPr>
          <p:cNvPicPr>
            <a:picLocks noChangeAspect="1"/>
          </p:cNvPicPr>
          <p:nvPr/>
        </p:nvPicPr>
        <p:blipFill>
          <a:blip r:embed="rId12"/>
          <a:srcRect l="0" r="0" t="0" b="0"/>
          <a:stretch/>
        </p:blipFill>
        <p:spPr>
          <a:xfrm>
            <a:off x="8723283" y="2395451"/>
            <a:ext cx="237544" cy="234429"/>
          </a:xfrm>
          <a:prstGeom prst="rect">
            <a:avLst/>
          </a:prstGeom>
        </p:spPr>
      </p:pic>
      <p:pic>
        <p:nvPicPr>
          <p:cNvPr id="14" name="Image 11" descr="preencoded.png">    </p:cNvPr>
          <p:cNvPicPr>
            <a:picLocks noChangeAspect="1"/>
          </p:cNvPicPr>
          <p:nvPr/>
        </p:nvPicPr>
        <p:blipFill>
          <a:blip r:embed="rId13"/>
          <a:srcRect l="0" r="0" t="0" b="0"/>
          <a:stretch/>
        </p:blipFill>
        <p:spPr>
          <a:xfrm>
            <a:off x="8001000" y="1347788"/>
            <a:ext cx="195263" cy="190500"/>
          </a:xfrm>
          <a:prstGeom prst="rect">
            <a:avLst/>
          </a:prstGeom>
        </p:spPr>
      </p:pic>
      <p:pic>
        <p:nvPicPr>
          <p:cNvPr id="15" name="Image 12" descr="preencoded.png">    </p:cNvPr>
          <p:cNvPicPr>
            <a:picLocks noChangeAspect="1"/>
          </p:cNvPicPr>
          <p:nvPr/>
        </p:nvPicPr>
        <p:blipFill>
          <a:blip r:embed="rId14"/>
          <a:srcRect l="0" r="0" t="0" b="0"/>
          <a:stretch/>
        </p:blipFill>
        <p:spPr>
          <a:xfrm>
            <a:off x="609599" y="451329"/>
            <a:ext cx="456576" cy="458674"/>
          </a:xfrm>
          <a:prstGeom prst="rect">
            <a:avLst/>
          </a:prstGeom>
        </p:spPr>
      </p:pic>
      <p:pic>
        <p:nvPicPr>
          <p:cNvPr id="16" name="Image 13" descr="preencoded.png">    </p:cNvPr>
          <p:cNvPicPr>
            <a:picLocks noChangeAspect="1"/>
          </p:cNvPicPr>
          <p:nvPr/>
        </p:nvPicPr>
        <p:blipFill>
          <a:blip r:embed="rId15"/>
          <a:srcRect l="0" r="0" t="0" b="0"/>
          <a:stretch/>
        </p:blipFill>
        <p:spPr>
          <a:xfrm>
            <a:off x="1187573" y="644917"/>
            <a:ext cx="304629" cy="306165"/>
          </a:xfrm>
          <a:prstGeom prst="rect">
            <a:avLst/>
          </a:prstGeom>
        </p:spPr>
      </p:pic>
      <p:pic>
        <p:nvPicPr>
          <p:cNvPr id="17" name="Image 14" descr="preencoded.png">    </p:cNvPr>
          <p:cNvPicPr>
            <a:picLocks noChangeAspect="1"/>
          </p:cNvPicPr>
          <p:nvPr/>
        </p:nvPicPr>
        <p:blipFill>
          <a:blip r:embed="rId16"/>
          <a:srcRect l="0" r="0" t="0" b="0"/>
          <a:stretch/>
        </p:blipFill>
        <p:spPr>
          <a:xfrm>
            <a:off x="809625" y="1219200"/>
            <a:ext cx="258166" cy="260263"/>
          </a:xfrm>
          <a:prstGeom prst="rect">
            <a:avLst/>
          </a:prstGeom>
        </p:spPr>
      </p:pic>
      <p:pic>
        <p:nvPicPr>
          <p:cNvPr id="18" name="Image 15" descr="preencoded.png">    </p:cNvPr>
          <p:cNvPicPr>
            <a:picLocks noChangeAspect="1"/>
          </p:cNvPicPr>
          <p:nvPr/>
        </p:nvPicPr>
        <p:blipFill>
          <a:blip r:embed="rId17"/>
          <a:srcRect l="0" r="0" t="0" b="0"/>
          <a:stretch/>
        </p:blipFill>
        <p:spPr>
          <a:xfrm>
            <a:off x="1323974" y="3562350"/>
            <a:ext cx="456576" cy="458674"/>
          </a:xfrm>
          <a:prstGeom prst="rect">
            <a:avLst/>
          </a:prstGeom>
        </p:spPr>
      </p:pic>
      <p:pic>
        <p:nvPicPr>
          <p:cNvPr id="19" name="Image 16" descr="preencoded.png">    </p:cNvPr>
          <p:cNvPicPr>
            <a:picLocks noChangeAspect="1"/>
          </p:cNvPicPr>
          <p:nvPr/>
        </p:nvPicPr>
        <p:blipFill>
          <a:blip r:embed="rId18"/>
          <a:srcRect l="0" r="0" t="0" b="0"/>
          <a:stretch/>
        </p:blipFill>
        <p:spPr>
          <a:xfrm>
            <a:off x="2678236" y="3865476"/>
            <a:ext cx="304629" cy="306165"/>
          </a:xfrm>
          <a:prstGeom prst="rect">
            <a:avLst/>
          </a:prstGeom>
        </p:spPr>
      </p:pic>
      <p:pic>
        <p:nvPicPr>
          <p:cNvPr id="20" name="Image 17" descr="preencoded.png">    </p:cNvPr>
          <p:cNvPicPr>
            <a:picLocks noChangeAspect="1"/>
          </p:cNvPicPr>
          <p:nvPr/>
        </p:nvPicPr>
        <p:blipFill>
          <a:blip r:embed="rId19"/>
          <a:srcRect l="0" r="0" t="0" b="12194"/>
          <a:stretch/>
        </p:blipFill>
        <p:spPr>
          <a:xfrm>
            <a:off x="6748463" y="4595813"/>
            <a:ext cx="607244" cy="547688"/>
          </a:xfrm>
          <a:prstGeom prst="rect">
            <a:avLst/>
          </a:prstGeom>
        </p:spPr>
      </p:pic>
      <p:pic>
        <p:nvPicPr>
          <p:cNvPr id="21" name="Image 18" descr="preencoded.png">    </p:cNvPr>
          <p:cNvPicPr>
            <a:picLocks noChangeAspect="1"/>
          </p:cNvPicPr>
          <p:nvPr/>
        </p:nvPicPr>
        <p:blipFill>
          <a:blip r:embed="rId20"/>
          <a:srcRect l="0" r="0" t="0" b="0"/>
          <a:stretch/>
        </p:blipFill>
        <p:spPr>
          <a:xfrm>
            <a:off x="8577262" y="3290888"/>
            <a:ext cx="463253" cy="499238"/>
          </a:xfrm>
          <a:prstGeom prst="rect">
            <a:avLst/>
          </a:prstGeom>
        </p:spPr>
      </p:pic>
      <p:pic>
        <p:nvPicPr>
          <p:cNvPr id="22" name="Image 19" descr="preencoded.png">    </p:cNvPr>
          <p:cNvPicPr>
            <a:picLocks noChangeAspect="1"/>
          </p:cNvPicPr>
          <p:nvPr/>
        </p:nvPicPr>
        <p:blipFill>
          <a:blip r:embed="rId21"/>
          <a:srcRect l="0" r="0" t="0" b="0"/>
          <a:stretch/>
        </p:blipFill>
        <p:spPr>
          <a:xfrm>
            <a:off x="2300287" y="4439759"/>
            <a:ext cx="258166" cy="260263"/>
          </a:xfrm>
          <a:prstGeom prst="rect">
            <a:avLst/>
          </a:prstGeom>
        </p:spPr>
      </p:pic>
      <p:pic>
        <p:nvPicPr>
          <p:cNvPr id="23" name="Image 20" descr="preencoded.png">    </p:cNvPr>
          <p:cNvPicPr>
            <a:picLocks noChangeAspect="1"/>
          </p:cNvPicPr>
          <p:nvPr/>
        </p:nvPicPr>
        <p:blipFill>
          <a:blip r:embed="rId22"/>
          <a:srcRect l="0" r="21117" t="0" b="32066"/>
          <a:stretch/>
        </p:blipFill>
        <p:spPr>
          <a:xfrm>
            <a:off x="6662738" y="2762250"/>
            <a:ext cx="2481263" cy="2381250"/>
          </a:xfrm>
          <a:prstGeom prst="rect">
            <a:avLst/>
          </a:prstGeom>
        </p:spPr>
      </p:pic>
      <p:pic>
        <p:nvPicPr>
          <p:cNvPr id="24" name="Image 21" descr="preencoded.png">    </p:cNvPr>
          <p:cNvPicPr>
            <a:picLocks noChangeAspect="1"/>
          </p:cNvPicPr>
          <p:nvPr/>
        </p:nvPicPr>
        <p:blipFill>
          <a:blip r:embed="rId23"/>
          <a:srcRect l="0" r="0" t="0" b="15812"/>
          <a:stretch/>
        </p:blipFill>
        <p:spPr>
          <a:xfrm>
            <a:off x="7191375" y="4205288"/>
            <a:ext cx="1123950" cy="938213"/>
          </a:xfrm>
          <a:prstGeom prst="rect">
            <a:avLst/>
          </a:prstGeom>
        </p:spPr>
      </p:pic>
      <p:pic>
        <p:nvPicPr>
          <p:cNvPr id="25" name="Image 22" descr="preencoded.png">    </p:cNvPr>
          <p:cNvPicPr>
            <a:picLocks noChangeAspect="1"/>
          </p:cNvPicPr>
          <p:nvPr/>
        </p:nvPicPr>
        <p:blipFill>
          <a:blip r:embed="rId24"/>
          <a:srcRect l="0" r="0" t="0" b="0"/>
          <a:stretch/>
        </p:blipFill>
        <p:spPr>
          <a:xfrm>
            <a:off x="3338513" y="1552575"/>
            <a:ext cx="2286000" cy="2314575"/>
          </a:xfrm>
          <a:prstGeom prst="rect">
            <a:avLst/>
          </a:prstGeom>
        </p:spPr>
      </p:pic>
      <p:sp>
        <p:nvSpPr>
          <p:cNvPr id="26" name="Text 0"/>
          <p:cNvSpPr/>
          <p:nvPr/>
        </p:nvSpPr>
        <p:spPr>
          <a:xfrm>
            <a:off x="3481388" y="785813"/>
            <a:ext cx="2324100" cy="547688"/>
          </a:xfrm>
          <a:prstGeom prst="rect">
            <a:avLst/>
          </a:prstGeom>
          <a:noFill/>
          <a:ln/>
        </p:spPr>
        <p:txBody>
          <a:bodyPr wrap="square" lIns="0" tIns="0" rIns="0" bIns="0" rtlCol="0" anchor="ctr"/>
          <a:lstStyle/>
          <a:p>
            <a:pPr algn="l" indent="0" marL="0">
              <a:lnSpc>
                <a:spcPts val="4104"/>
              </a:lnSpc>
              <a:buNone/>
            </a:pPr>
            <a:r>
              <a:rPr lang="en-US" sz="3420" b="1" spc="-68" kern="0" dirty="0">
                <a:solidFill>
                  <a:srgbClr val="FFFFFF">
                    <a:alpha val="99000"/>
                  </a:srgbClr>
                </a:solidFill>
                <a:latin typeface="Inter" pitchFamily="34" charset="0"/>
                <a:ea typeface="Inter" pitchFamily="34" charset="-122"/>
                <a:cs typeface="Inter" pitchFamily="34" charset="-120"/>
              </a:rPr>
              <a:t>Install now</a:t>
            </a:r>
            <a:endParaRPr lang="en-US" sz="3420" dirty="0"/>
          </a:p>
        </p:txBody>
      </p:sp>
      <p:sp>
        <p:nvSpPr>
          <p:cNvPr id="27" name="Text 1"/>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02 / 29</a:t>
            </a:r>
            <a:endParaRPr lang="en-US" sz="855" dirty="0"/>
          </a:p>
        </p:txBody>
      </p:sp>
      <p:pic>
        <p:nvPicPr>
          <p:cNvPr id="28" name="Image 23" descr="preencoded.png">    </p:cNvPr>
          <p:cNvPicPr>
            <a:picLocks noChangeAspect="1"/>
          </p:cNvPicPr>
          <p:nvPr/>
        </p:nvPicPr>
        <p:blipFill>
          <a:blip r:embed="rId25"/>
          <a:srcRect l="0" r="0" t="0" b="0"/>
          <a:stretch/>
        </p:blipFill>
        <p:spPr>
          <a:xfrm>
            <a:off x="5886450" y="2052637"/>
            <a:ext cx="2333625" cy="1309688"/>
          </a:xfrm>
          <a:prstGeom prst="rect">
            <a:avLst/>
          </a:prstGeom>
        </p:spPr>
      </p:pic>
      <p:sp>
        <p:nvSpPr>
          <p:cNvPr id="29" name="Text 2"/>
          <p:cNvSpPr/>
          <p:nvPr/>
        </p:nvSpPr>
        <p:spPr>
          <a:xfrm>
            <a:off x="528638" y="1743075"/>
            <a:ext cx="2119313" cy="1371600"/>
          </a:xfrm>
          <a:prstGeom prst="rect">
            <a:avLst/>
          </a:prstGeom>
          <a:noFill/>
          <a:ln/>
        </p:spPr>
        <p:txBody>
          <a:bodyPr wrap="square" lIns="0" tIns="0" rIns="0" bIns="0" rtlCol="0" anchor="t"/>
          <a:lstStyle/>
          <a:p>
            <a:pPr algn="l" indent="0" marL="0">
              <a:lnSpc>
                <a:spcPts val="1693"/>
              </a:lnSpc>
              <a:buNone/>
            </a:pPr>
            <a:r>
              <a:rPr lang="en-US" sz="1283" b="1" spc="-26" kern="0" dirty="0">
                <a:solidFill>
                  <a:srgbClr val="FFFFFF">
                    <a:alpha val="99000"/>
                  </a:srgbClr>
                </a:solidFill>
                <a:latin typeface="Inter" pitchFamily="34" charset="0"/>
                <a:ea typeface="Inter" pitchFamily="34" charset="-122"/>
                <a:cs typeface="Inter" pitchFamily="34" charset="-120"/>
              </a:rPr>
              <a:t>SETUP · README.md</a:t>
            </a:r>
            <a:endParaRPr lang="en-US" sz="1283" dirty="0"/>
          </a:p>
          <a:p>
            <a:pPr algn="l" indent="0" marL="0">
              <a:lnSpc>
                <a:spcPts val="1693"/>
              </a:lnSpc>
              <a:buNone/>
            </a:pPr>
            <a:r>
              <a:rPr lang="en-US" sz="1283" b="1" spc="-26" kern="0" dirty="0">
                <a:solidFill>
                  <a:srgbClr val="FFFFFF">
                    <a:alpha val="99000"/>
                  </a:srgbClr>
                </a:solidFill>
                <a:latin typeface="Inter" pitchFamily="34" charset="0"/>
                <a:ea typeface="Inter" pitchFamily="34" charset="-122"/>
                <a:cs typeface="Inter" pitchFamily="34" charset="-120"/>
              </a:rPr>
              <a:t>Windows</a:t>
            </a:r>
            <a:endParaRPr lang="en-US" sz="1283" dirty="0"/>
          </a:p>
          <a:p>
            <a:pPr algn="l" indent="0" marL="0">
              <a:lnSpc>
                <a:spcPts val="1693"/>
              </a:lnSpc>
              <a:buNone/>
            </a:pPr>
            <a:r>
              <a:rPr lang="en-US" sz="1283" b="1" spc="-26" kern="0" dirty="0">
                <a:solidFill>
                  <a:srgbClr val="FFFFFF">
                    <a:alpha val="99000"/>
                  </a:srgbClr>
                </a:solidFill>
                <a:latin typeface="Inter" pitchFamily="34" charset="0"/>
                <a:ea typeface="Inter" pitchFamily="34" charset="-122"/>
                <a:cs typeface="Inter" pitchFamily="34" charset="-120"/>
              </a:rPr>
              <a:t>setup.ps1 -CoreOnly</a:t>
            </a:r>
            <a:endParaRPr lang="en-US" sz="1283" dirty="0"/>
          </a:p>
          <a:p>
            <a:pPr algn="l" indent="0" marL="0">
              <a:lnSpc>
                <a:spcPts val="1693"/>
              </a:lnSpc>
              <a:buNone/>
            </a:pPr>
            <a:r>
              <a:rPr lang="en-US" sz="1283" b="1" spc="-26" kern="0" dirty="0">
                <a:solidFill>
                  <a:srgbClr val="FFFFFF">
                    <a:alpha val="99000"/>
                  </a:srgbClr>
                </a:solidFill>
                <a:latin typeface="Inter" pitchFamily="34" charset="0"/>
                <a:ea typeface="Inter" pitchFamily="34" charset="-122"/>
                <a:cs typeface="Inter" pitchFamily="34" charset="-120"/>
              </a:rPr>
              <a:t>Mac</a:t>
            </a:r>
            <a:endParaRPr lang="en-US" sz="1283" dirty="0"/>
          </a:p>
          <a:p>
            <a:pPr algn="l" indent="0" marL="0">
              <a:lnSpc>
                <a:spcPts val="1693"/>
              </a:lnSpc>
              <a:buNone/>
            </a:pPr>
            <a:r>
              <a:rPr lang="en-US" sz="1283" b="1" spc="-26" kern="0" dirty="0">
                <a:solidFill>
                  <a:srgbClr val="FFFFFF">
                    <a:alpha val="99000"/>
                  </a:srgbClr>
                </a:solidFill>
                <a:latin typeface="Inter" pitchFamily="34" charset="0"/>
                <a:ea typeface="Inter" pitchFamily="34" charset="-122"/>
                <a:cs typeface="Inter" pitchFamily="34" charset="-120"/>
              </a:rPr>
              <a:t>bash setup.sh --core-only</a:t>
            </a:r>
            <a:endParaRPr lang="en-US" sz="1283" dirty="0"/>
          </a:p>
          <a:p>
            <a:pPr algn="l" indent="0" marL="0">
              <a:lnSpc>
                <a:spcPts val="1693"/>
              </a:lnSpc>
              <a:buNone/>
            </a:pPr>
            <a:r>
              <a:rPr lang="en-US" sz="1283" b="1" spc="-26" kern="0" dirty="0">
                <a:solidFill>
                  <a:srgbClr val="FFFFFF">
                    <a:alpha val="99000"/>
                  </a:srgbClr>
                </a:solidFill>
                <a:latin typeface="Inter" pitchFamily="34" charset="0"/>
                <a:ea typeface="Inter" pitchFamily="34" charset="-122"/>
                <a:cs typeface="Inter" pitchFamily="34" charset="-120"/>
              </a:rPr>
              <a:t>Pair if blocked</a:t>
            </a:r>
            <a:endParaRPr lang="en-US" sz="1283" dirty="0"/>
          </a:p>
        </p:txBody>
      </p:sp>
      <p:sp>
        <p:nvSpPr>
          <p:cNvPr id="30" name="Text 3"/>
          <p:cNvSpPr/>
          <p:nvPr/>
        </p:nvSpPr>
        <p:spPr>
          <a:xfrm>
            <a:off x="3438525" y="4000500"/>
            <a:ext cx="1533525" cy="228600"/>
          </a:xfrm>
          <a:prstGeom prst="rect">
            <a:avLst/>
          </a:prstGeom>
          <a:noFill/>
          <a:ln/>
        </p:spPr>
        <p:txBody>
          <a:bodyPr wrap="square" lIns="0" tIns="0" rIns="0" bIns="0" rtlCol="0" anchor="t"/>
          <a:lstStyle/>
          <a:p>
            <a:pPr algn="l" indent="0" marL="0">
              <a:lnSpc>
                <a:spcPts val="1693"/>
              </a:lnSpc>
              <a:buNone/>
            </a:pPr>
            <a:r>
              <a:rPr lang="en-US" sz="1283" b="1" spc="-26" kern="0" dirty="0">
                <a:solidFill>
                  <a:srgbClr val="FFFFFF">
                    <a:alpha val="99000"/>
                  </a:srgbClr>
                </a:solidFill>
                <a:latin typeface="Inter" pitchFamily="34" charset="0"/>
                <a:ea typeface="Inter" pitchFamily="34" charset="-122"/>
                <a:cs typeface="Inter" pitchFamily="34" charset="-120"/>
              </a:rPr>
              <a:t>QR: event check-in</a:t>
            </a:r>
            <a:endParaRPr lang="en-US" sz="128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Today’s workshop</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285875"/>
            <a:ext cx="8001000" cy="762000"/>
          </a:xfrm>
          <a:prstGeom prst="rect">
            <a:avLst/>
          </a:prstGeom>
          <a:noFill/>
          <a:ln/>
        </p:spPr>
      </p:sp>
      <p:sp>
        <p:nvSpPr>
          <p:cNvPr id="6" name="Text 3"/>
          <p:cNvSpPr/>
          <p:nvPr/>
        </p:nvSpPr>
        <p:spPr>
          <a:xfrm>
            <a:off x="571500" y="1285875"/>
            <a:ext cx="8001000" cy="762000"/>
          </a:xfrm>
          <a:prstGeom prst="rect">
            <a:avLst/>
          </a:prstGeom>
          <a:noFill/>
          <a:ln/>
        </p:spPr>
        <p:txBody>
          <a:bodyPr wrap="square" lIns="0" tIns="0" rIns="0" bIns="0" rtlCol="0" anchor="t"/>
          <a:lstStyle/>
          <a:p>
            <a:pPr algn="l" indent="0" marL="0">
              <a:lnSpc>
                <a:spcPts val="2850"/>
              </a:lnSpc>
              <a:buNone/>
            </a:pPr>
            <a:r>
              <a:rPr lang="en-US" sz="2280" dirty="0">
                <a:solidFill>
                  <a:srgbClr val="F5FFFA">
                    <a:alpha val="99000"/>
                  </a:srgbClr>
                </a:solidFill>
                <a:latin typeface="Inter" pitchFamily="34" charset="0"/>
                <a:ea typeface="Inter" pitchFamily="34" charset="-122"/>
                <a:cs typeface="Inter" pitchFamily="34" charset="-120"/>
              </a:rPr>
              <a:t>8 min setup · 10 theory · 7 demo · 15 practice</a:t>
            </a:r>
            <a:endParaRPr lang="en-US" sz="2280" dirty="0"/>
          </a:p>
          <a:p>
            <a:pPr algn="l" indent="0" marL="0">
              <a:lnSpc>
                <a:spcPts val="2850"/>
              </a:lnSpc>
              <a:buNone/>
            </a:pPr>
            <a:r>
              <a:rPr lang="en-US" sz="2280" dirty="0">
                <a:solidFill>
                  <a:srgbClr val="F5FFFA">
                    <a:alpha val="99000"/>
                  </a:srgbClr>
                </a:solidFill>
                <a:latin typeface="Inter" pitchFamily="34" charset="0"/>
                <a:ea typeface="Inter" pitchFamily="34" charset="-122"/>
                <a:cs typeface="Inter" pitchFamily="34" charset="-120"/>
              </a:rPr>
              <a:t>7 security · 5 enterprise · 3 exit · 5 spare</a:t>
            </a:r>
            <a:endParaRPr lang="en-US" sz="2280" dirty="0"/>
          </a:p>
        </p:txBody>
      </p:sp>
      <p:sp>
        <p:nvSpPr>
          <p:cNvPr id="7" name="Shape 4"/>
          <p:cNvSpPr/>
          <p:nvPr/>
        </p:nvSpPr>
        <p:spPr>
          <a:xfrm>
            <a:off x="571500" y="2619375"/>
            <a:ext cx="2562225" cy="1352550"/>
          </a:xfrm>
          <a:prstGeom prst="roundRect">
            <a:avLst>
              <a:gd name="adj" fmla="val 14873"/>
            </a:avLst>
          </a:prstGeom>
          <a:solidFill>
            <a:srgbClr val="092925">
              <a:alpha val="96000"/>
            </a:srgbClr>
          </a:solidFill>
          <a:ln w="4524">
            <a:solidFill>
              <a:srgbClr val="267863"/>
            </a:solidFill>
            <a:prstDash val="solid"/>
          </a:ln>
        </p:spPr>
      </p:sp>
      <p:sp>
        <p:nvSpPr>
          <p:cNvPr id="8" name="Text 5"/>
          <p:cNvSpPr/>
          <p:nvPr/>
        </p:nvSpPr>
        <p:spPr>
          <a:xfrm>
            <a:off x="728663" y="2776538"/>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UNDERSTAND</a:t>
            </a:r>
            <a:endParaRPr lang="en-US" sz="1425" dirty="0"/>
          </a:p>
        </p:txBody>
      </p:sp>
      <p:sp>
        <p:nvSpPr>
          <p:cNvPr id="9" name="Text 6"/>
          <p:cNvSpPr/>
          <p:nvPr/>
        </p:nvSpPr>
        <p:spPr>
          <a:xfrm>
            <a:off x="728663" y="3128963"/>
            <a:ext cx="2257425" cy="6858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Connect an AI Application to useful software capabilities.</a:t>
            </a:r>
            <a:endParaRPr lang="en-US" sz="1354" dirty="0"/>
          </a:p>
        </p:txBody>
      </p:sp>
      <p:sp>
        <p:nvSpPr>
          <p:cNvPr id="10" name="Shape 7"/>
          <p:cNvSpPr/>
          <p:nvPr/>
        </p:nvSpPr>
        <p:spPr>
          <a:xfrm>
            <a:off x="3286125" y="2619375"/>
            <a:ext cx="2562225" cy="1352550"/>
          </a:xfrm>
          <a:prstGeom prst="roundRect">
            <a:avLst>
              <a:gd name="adj" fmla="val 14873"/>
            </a:avLst>
          </a:prstGeom>
          <a:solidFill>
            <a:srgbClr val="092925">
              <a:alpha val="96000"/>
            </a:srgbClr>
          </a:solidFill>
          <a:ln w="4524">
            <a:solidFill>
              <a:srgbClr val="267863"/>
            </a:solidFill>
            <a:prstDash val="solid"/>
          </a:ln>
        </p:spPr>
      </p:sp>
      <p:sp>
        <p:nvSpPr>
          <p:cNvPr id="11" name="Text 8"/>
          <p:cNvSpPr/>
          <p:nvPr/>
        </p:nvSpPr>
        <p:spPr>
          <a:xfrm>
            <a:off x="3443288" y="2776538"/>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TRACE</a:t>
            </a:r>
            <a:endParaRPr lang="en-US" sz="1425" dirty="0"/>
          </a:p>
        </p:txBody>
      </p:sp>
      <p:sp>
        <p:nvSpPr>
          <p:cNvPr id="12" name="Text 9"/>
          <p:cNvSpPr/>
          <p:nvPr/>
        </p:nvSpPr>
        <p:spPr>
          <a:xfrm>
            <a:off x="3443288" y="3128963"/>
            <a:ext cx="2257425" cy="6858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Follow a request from the host to the music Application.</a:t>
            </a:r>
            <a:endParaRPr lang="en-US" sz="1354" dirty="0"/>
          </a:p>
        </p:txBody>
      </p:sp>
      <p:sp>
        <p:nvSpPr>
          <p:cNvPr id="13" name="Shape 10"/>
          <p:cNvSpPr/>
          <p:nvPr/>
        </p:nvSpPr>
        <p:spPr>
          <a:xfrm>
            <a:off x="6000750" y="2619375"/>
            <a:ext cx="2562225" cy="1352550"/>
          </a:xfrm>
          <a:prstGeom prst="roundRect">
            <a:avLst>
              <a:gd name="adj" fmla="val 14873"/>
            </a:avLst>
          </a:prstGeom>
          <a:solidFill>
            <a:srgbClr val="092925">
              <a:alpha val="96000"/>
            </a:srgbClr>
          </a:solidFill>
          <a:ln w="4524">
            <a:solidFill>
              <a:srgbClr val="267863"/>
            </a:solidFill>
            <a:prstDash val="solid"/>
          </a:ln>
        </p:spPr>
      </p:sp>
      <p:sp>
        <p:nvSpPr>
          <p:cNvPr id="14" name="Text 11"/>
          <p:cNvSpPr/>
          <p:nvPr/>
        </p:nvSpPr>
        <p:spPr>
          <a:xfrm>
            <a:off x="6157913" y="2776538"/>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IMPLEMENT + TEST</a:t>
            </a:r>
            <a:endParaRPr lang="en-US" sz="1425" dirty="0"/>
          </a:p>
        </p:txBody>
      </p:sp>
      <p:sp>
        <p:nvSpPr>
          <p:cNvPr id="15" name="Text 12"/>
          <p:cNvSpPr/>
          <p:nvPr/>
        </p:nvSpPr>
        <p:spPr>
          <a:xfrm>
            <a:off x="6157913" y="3128963"/>
            <a:ext cx="2257425" cy="6858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Extend the supplied server with one validated tool.</a:t>
            </a:r>
            <a:endParaRPr lang="en-US" sz="1354" dirty="0"/>
          </a:p>
        </p:txBody>
      </p:sp>
      <p:sp>
        <p:nvSpPr>
          <p:cNvPr id="16" name="Text 13"/>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03 / 29</a:t>
            </a:r>
            <a:endParaRPr lang="en-US" sz="85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What MCP is</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228725"/>
            <a:ext cx="8001000" cy="1600200"/>
          </a:xfrm>
          <a:prstGeom prst="rect">
            <a:avLst/>
          </a:prstGeom>
          <a:noFill/>
          <a:ln/>
        </p:spPr>
      </p:sp>
      <p:sp>
        <p:nvSpPr>
          <p:cNvPr id="6" name="Text 3"/>
          <p:cNvSpPr/>
          <p:nvPr/>
        </p:nvSpPr>
        <p:spPr>
          <a:xfrm>
            <a:off x="571500" y="1228725"/>
            <a:ext cx="8001000" cy="304800"/>
          </a:xfrm>
          <a:prstGeom prst="rect">
            <a:avLst/>
          </a:prstGeom>
          <a:noFill/>
          <a:ln/>
        </p:spPr>
        <p:txBody>
          <a:bodyPr wrap="square" lIns="0" tIns="0" rIns="0" bIns="0" rtlCol="0" anchor="t"/>
          <a:lstStyle/>
          <a:p>
            <a:pPr algn="l" indent="0" marL="0">
              <a:lnSpc>
                <a:spcPts val="2271"/>
              </a:lnSpc>
              <a:buNone/>
            </a:pPr>
            <a:r>
              <a:rPr lang="en-US" sz="1817" dirty="0">
                <a:solidFill>
                  <a:srgbClr val="F5FFFA">
                    <a:alpha val="99000"/>
                  </a:srgbClr>
                </a:solidFill>
                <a:latin typeface="Inter" pitchFamily="34" charset="0"/>
                <a:ea typeface="Inter" pitchFamily="34" charset="-122"/>
                <a:cs typeface="Inter" pitchFamily="34" charset="-120"/>
              </a:rPr>
              <a:t>Model Context Protocol</a:t>
            </a:r>
            <a:endParaRPr lang="en-US" sz="1817" dirty="0"/>
          </a:p>
        </p:txBody>
      </p:sp>
      <p:sp>
        <p:nvSpPr>
          <p:cNvPr id="7" name="Text 4"/>
          <p:cNvSpPr/>
          <p:nvPr/>
        </p:nvSpPr>
        <p:spPr>
          <a:xfrm>
            <a:off x="571500" y="1724025"/>
            <a:ext cx="8001000" cy="609600"/>
          </a:xfrm>
          <a:prstGeom prst="rect">
            <a:avLst/>
          </a:prstGeom>
          <a:noFill/>
          <a:ln/>
        </p:spPr>
        <p:txBody>
          <a:bodyPr wrap="square" lIns="0" tIns="0" rIns="0" bIns="0" rtlCol="0" anchor="t"/>
          <a:lstStyle/>
          <a:p>
            <a:pPr algn="l" indent="0" marL="0">
              <a:lnSpc>
                <a:spcPts val="2271"/>
              </a:lnSpc>
              <a:buNone/>
            </a:pPr>
            <a:r>
              <a:rPr lang="en-US" sz="1817" dirty="0">
                <a:solidFill>
                  <a:srgbClr val="F5FFFA">
                    <a:alpha val="99000"/>
                  </a:srgbClr>
                </a:solidFill>
                <a:latin typeface="Inter" pitchFamily="34" charset="0"/>
                <a:ea typeface="Inter" pitchFamily="34" charset="-122"/>
                <a:cs typeface="Inter" pitchFamily="34" charset="-120"/>
              </a:rPr>
              <a:t>An open standard that connects AI Applications to tools, data, and reusable instructions.</a:t>
            </a:r>
            <a:endParaRPr lang="en-US" sz="1817" dirty="0"/>
          </a:p>
        </p:txBody>
      </p:sp>
      <p:sp>
        <p:nvSpPr>
          <p:cNvPr id="8" name="Text 5"/>
          <p:cNvSpPr/>
          <p:nvPr/>
        </p:nvSpPr>
        <p:spPr>
          <a:xfrm>
            <a:off x="571500" y="2524125"/>
            <a:ext cx="8001000" cy="304800"/>
          </a:xfrm>
          <a:prstGeom prst="rect">
            <a:avLst/>
          </a:prstGeom>
          <a:noFill/>
          <a:ln/>
        </p:spPr>
        <p:txBody>
          <a:bodyPr wrap="square" lIns="0" tIns="0" rIns="0" bIns="0" rtlCol="0" anchor="t"/>
          <a:lstStyle/>
          <a:p>
            <a:pPr algn="l" indent="0" marL="0">
              <a:lnSpc>
                <a:spcPts val="2271"/>
              </a:lnSpc>
              <a:buNone/>
            </a:pPr>
            <a:r>
              <a:rPr lang="en-US" sz="1817" dirty="0">
                <a:solidFill>
                  <a:srgbClr val="F5FFFA">
                    <a:alpha val="99000"/>
                  </a:srgbClr>
                </a:solidFill>
                <a:latin typeface="Inter" pitchFamily="34" charset="0"/>
                <a:ea typeface="Inter" pitchFamily="34" charset="-122"/>
                <a:cs typeface="Inter" pitchFamily="34" charset="-120"/>
              </a:rPr>
              <a:t>An MCP server is the program that exposes those capabilities.</a:t>
            </a:r>
            <a:endParaRPr lang="en-US" sz="1817" dirty="0"/>
          </a:p>
        </p:txBody>
      </p:sp>
      <p:sp>
        <p:nvSpPr>
          <p:cNvPr id="9" name="Text 6"/>
          <p:cNvSpPr/>
          <p:nvPr/>
        </p:nvSpPr>
        <p:spPr>
          <a:xfrm>
            <a:off x="571500" y="4119562"/>
            <a:ext cx="8001000" cy="257175"/>
          </a:xfrm>
          <a:prstGeom prst="rect">
            <a:avLst/>
          </a:prstGeom>
          <a:noFill/>
          <a:ln/>
        </p:spPr>
        <p:txBody>
          <a:bodyPr wrap="square" lIns="0" tIns="0" rIns="0" bIns="0" rtlCol="0" anchor="t"/>
          <a:lstStyle/>
          <a:p>
            <a:pPr algn="l" indent="0" marL="0">
              <a:lnSpc>
                <a:spcPts val="1915"/>
              </a:lnSpc>
              <a:buNone/>
            </a:pPr>
            <a:r>
              <a:rPr lang="en-US" sz="1532" b="1" dirty="0">
                <a:solidFill>
                  <a:srgbClr val="4FE3BD">
                    <a:alpha val="99000"/>
                  </a:srgbClr>
                </a:solidFill>
                <a:latin typeface="Inter" pitchFamily="34" charset="0"/>
                <a:ea typeface="Inter" pitchFamily="34" charset="-122"/>
                <a:cs typeface="Inter" pitchFamily="34" charset="-120"/>
              </a:rPr>
              <a:t>Today: extend an existing server using the Python SDK.</a:t>
            </a:r>
            <a:endParaRPr lang="en-US" sz="1532" dirty="0"/>
          </a:p>
        </p:txBody>
      </p:sp>
      <p:sp>
        <p:nvSpPr>
          <p:cNvPr id="10" name="Text 7"/>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04 / 29</a:t>
            </a:r>
            <a:endParaRPr lang="en-US" sz="855" dirty="0"/>
          </a:p>
        </p:txBody>
      </p:sp>
      <p:pic>
        <p:nvPicPr>
          <p:cNvPr id="11" name="Image 0" descr="preencoded.png">    </p:cNvPr>
          <p:cNvPicPr>
            <a:picLocks noChangeAspect="1"/>
          </p:cNvPicPr>
          <p:nvPr/>
        </p:nvPicPr>
        <p:blipFill>
          <a:blip r:embed="rId2"/>
          <a:srcRect l="0" r="0" t="0" b="0"/>
          <a:stretch/>
        </p:blipFill>
        <p:spPr>
          <a:xfrm>
            <a:off x="6810375" y="2928938"/>
            <a:ext cx="1666875" cy="13049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Why MCP instead of one prompt?</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357313"/>
            <a:ext cx="5686425" cy="2500313"/>
          </a:xfrm>
          <a:prstGeom prst="rect">
            <a:avLst/>
          </a:prstGeom>
          <a:noFill/>
          <a:ln/>
        </p:spPr>
      </p:sp>
      <p:sp>
        <p:nvSpPr>
          <p:cNvPr id="6" name="Shape 3"/>
          <p:cNvSpPr/>
          <p:nvPr/>
        </p:nvSpPr>
        <p:spPr>
          <a:xfrm>
            <a:off x="571500" y="1357313"/>
            <a:ext cx="5686425" cy="442913"/>
          </a:xfrm>
          <a:prstGeom prst="rect">
            <a:avLst/>
          </a:prstGeom>
          <a:solidFill>
            <a:srgbClr val="267863">
              <a:alpha val="96000"/>
            </a:srgbClr>
          </a:solidFill>
          <a:ln/>
        </p:spPr>
      </p:sp>
      <p:sp>
        <p:nvSpPr>
          <p:cNvPr id="7" name="Text 4"/>
          <p:cNvSpPr/>
          <p:nvPr/>
        </p:nvSpPr>
        <p:spPr>
          <a:xfrm>
            <a:off x="676275" y="1462088"/>
            <a:ext cx="2047875" cy="233362"/>
          </a:xfrm>
          <a:prstGeom prst="rect">
            <a:avLst/>
          </a:prstGeom>
          <a:noFill/>
          <a:ln/>
        </p:spPr>
        <p:txBody>
          <a:bodyPr wrap="square" lIns="0" tIns="0" rIns="0" bIns="0" rtlCol="0" anchor="t"/>
          <a:lstStyle/>
          <a:p>
            <a:pPr algn="l" indent="0" marL="0">
              <a:lnSpc>
                <a:spcPts val="1737"/>
              </a:lnSpc>
              <a:buNone/>
            </a:pPr>
            <a:r>
              <a:rPr lang="en-US" sz="1389" b="1" dirty="0">
                <a:solidFill>
                  <a:srgbClr val="4FE3BD">
                    <a:alpha val="99000"/>
                  </a:srgbClr>
                </a:solidFill>
                <a:latin typeface="Inter" pitchFamily="34" charset="0"/>
                <a:ea typeface="Inter" pitchFamily="34" charset="-122"/>
                <a:cs typeface="Inter" pitchFamily="34" charset="-120"/>
              </a:rPr>
              <a:t>Workflow step</a:t>
            </a:r>
            <a:endParaRPr lang="en-US" sz="1389" dirty="0"/>
          </a:p>
        </p:txBody>
      </p:sp>
      <p:sp>
        <p:nvSpPr>
          <p:cNvPr id="8" name="Text 5"/>
          <p:cNvSpPr/>
          <p:nvPr/>
        </p:nvSpPr>
        <p:spPr>
          <a:xfrm>
            <a:off x="2724150" y="1462088"/>
            <a:ext cx="3429000" cy="204788"/>
          </a:xfrm>
          <a:prstGeom prst="rect">
            <a:avLst/>
          </a:prstGeom>
          <a:noFill/>
          <a:ln/>
        </p:spPr>
        <p:txBody>
          <a:bodyPr wrap="square" lIns="0" tIns="0" rIns="0" bIns="0" rtlCol="0" anchor="t"/>
          <a:lstStyle/>
          <a:p>
            <a:pPr algn="l" indent="0" marL="0">
              <a:lnSpc>
                <a:spcPts val="1514"/>
              </a:lnSpc>
              <a:buNone/>
            </a:pPr>
            <a:r>
              <a:rPr lang="en-US" sz="1211" b="1" dirty="0">
                <a:solidFill>
                  <a:srgbClr val="4FE3BD">
                    <a:alpha val="99000"/>
                  </a:srgbClr>
                </a:solidFill>
                <a:latin typeface="Inter" pitchFamily="34" charset="0"/>
                <a:ea typeface="Inter" pitchFamily="34" charset="-122"/>
                <a:cs typeface="Inter" pitchFamily="34" charset="-120"/>
              </a:rPr>
              <a:t>What MCP adds</a:t>
            </a:r>
            <a:endParaRPr lang="en-US" sz="1211" dirty="0"/>
          </a:p>
        </p:txBody>
      </p:sp>
      <p:sp>
        <p:nvSpPr>
          <p:cNvPr id="9" name="Shape 6"/>
          <p:cNvSpPr/>
          <p:nvPr/>
        </p:nvSpPr>
        <p:spPr>
          <a:xfrm>
            <a:off x="571500" y="1819275"/>
            <a:ext cx="5686425" cy="590550"/>
          </a:xfrm>
          <a:prstGeom prst="rect">
            <a:avLst/>
          </a:prstGeom>
          <a:solidFill>
            <a:srgbClr val="092925">
              <a:alpha val="96000"/>
            </a:srgbClr>
          </a:solidFill>
          <a:ln/>
        </p:spPr>
      </p:sp>
      <p:sp>
        <p:nvSpPr>
          <p:cNvPr id="10" name="Text 7"/>
          <p:cNvSpPr/>
          <p:nvPr/>
        </p:nvSpPr>
        <p:spPr>
          <a:xfrm>
            <a:off x="676275" y="1924050"/>
            <a:ext cx="2047875" cy="190500"/>
          </a:xfrm>
          <a:prstGeom prst="rect">
            <a:avLst/>
          </a:prstGeom>
          <a:noFill/>
          <a:ln/>
        </p:spPr>
        <p:txBody>
          <a:bodyPr wrap="square" lIns="0" tIns="0" rIns="0" bIns="0" rtlCol="0" anchor="t"/>
          <a:lstStyle/>
          <a:p>
            <a:pPr algn="l" indent="0" marL="0">
              <a:lnSpc>
                <a:spcPts val="1425"/>
              </a:lnSpc>
              <a:buNone/>
            </a:pPr>
            <a:r>
              <a:rPr lang="en-US" sz="1140" dirty="0">
                <a:solidFill>
                  <a:srgbClr val="F5FFFA">
                    <a:alpha val="99000"/>
                  </a:srgbClr>
                </a:solidFill>
                <a:latin typeface="Inter" pitchFamily="34" charset="0"/>
                <a:ea typeface="Inter" pitchFamily="34" charset="-122"/>
                <a:cs typeface="Inter" pitchFamily="34" charset="-120"/>
              </a:rPr>
              <a:t>One-shot prompt</a:t>
            </a:r>
            <a:endParaRPr lang="en-US" sz="1140" dirty="0"/>
          </a:p>
        </p:txBody>
      </p:sp>
      <p:sp>
        <p:nvSpPr>
          <p:cNvPr id="11" name="Text 8"/>
          <p:cNvSpPr/>
          <p:nvPr/>
        </p:nvSpPr>
        <p:spPr>
          <a:xfrm>
            <a:off x="2724150" y="1924050"/>
            <a:ext cx="3429000" cy="381000"/>
          </a:xfrm>
          <a:prstGeom prst="rect">
            <a:avLst/>
          </a:prstGeom>
          <a:noFill/>
          <a:ln/>
        </p:spPr>
        <p:txBody>
          <a:bodyPr wrap="square" lIns="0" tIns="0" rIns="0" bIns="0" rtlCol="0" anchor="t"/>
          <a:lstStyle/>
          <a:p>
            <a:pPr algn="l" indent="0" marL="0">
              <a:lnSpc>
                <a:spcPts val="1425"/>
              </a:lnSpc>
              <a:buNone/>
            </a:pPr>
            <a:r>
              <a:rPr lang="en-US" sz="1140" dirty="0">
                <a:solidFill>
                  <a:srgbClr val="F5FFFA">
                    <a:alpha val="99000"/>
                  </a:srgbClr>
                </a:solidFill>
                <a:latin typeface="Inter" pitchFamily="34" charset="0"/>
                <a:ea typeface="Inter" pitchFamily="34" charset="-122"/>
                <a:cs typeface="Inter" pitchFamily="34" charset="-120"/>
              </a:rPr>
              <a:t>Gives instructions; tools still need a connection.</a:t>
            </a:r>
            <a:endParaRPr lang="en-US" sz="1140" dirty="0"/>
          </a:p>
        </p:txBody>
      </p:sp>
      <p:sp>
        <p:nvSpPr>
          <p:cNvPr id="12" name="Shape 9"/>
          <p:cNvSpPr/>
          <p:nvPr/>
        </p:nvSpPr>
        <p:spPr>
          <a:xfrm>
            <a:off x="571500" y="2428875"/>
            <a:ext cx="5686425" cy="400050"/>
          </a:xfrm>
          <a:prstGeom prst="rect">
            <a:avLst/>
          </a:prstGeom>
          <a:solidFill>
            <a:srgbClr val="092925">
              <a:alpha val="96000"/>
            </a:srgbClr>
          </a:solidFill>
          <a:ln/>
        </p:spPr>
      </p:sp>
      <p:sp>
        <p:nvSpPr>
          <p:cNvPr id="13" name="Text 10"/>
          <p:cNvSpPr/>
          <p:nvPr/>
        </p:nvSpPr>
        <p:spPr>
          <a:xfrm>
            <a:off x="676275" y="2533650"/>
            <a:ext cx="2047875" cy="190500"/>
          </a:xfrm>
          <a:prstGeom prst="rect">
            <a:avLst/>
          </a:prstGeom>
          <a:noFill/>
          <a:ln/>
        </p:spPr>
        <p:txBody>
          <a:bodyPr wrap="square" lIns="0" tIns="0" rIns="0" bIns="0" rtlCol="0" anchor="t"/>
          <a:lstStyle/>
          <a:p>
            <a:pPr algn="l" indent="0" marL="0">
              <a:lnSpc>
                <a:spcPts val="1425"/>
              </a:lnSpc>
              <a:buNone/>
            </a:pPr>
            <a:r>
              <a:rPr lang="en-US" sz="1140" dirty="0">
                <a:solidFill>
                  <a:srgbClr val="F5FFFA">
                    <a:alpha val="99000"/>
                  </a:srgbClr>
                </a:solidFill>
                <a:latin typeface="Inter" pitchFamily="34" charset="0"/>
                <a:ea typeface="Inter" pitchFamily="34" charset="-122"/>
                <a:cs typeface="Inter" pitchFamily="34" charset="-120"/>
              </a:rPr>
              <a:t>Live capabilities</a:t>
            </a:r>
            <a:endParaRPr lang="en-US" sz="1140" dirty="0"/>
          </a:p>
        </p:txBody>
      </p:sp>
      <p:sp>
        <p:nvSpPr>
          <p:cNvPr id="14" name="Text 11"/>
          <p:cNvSpPr/>
          <p:nvPr/>
        </p:nvSpPr>
        <p:spPr>
          <a:xfrm>
            <a:off x="2724150" y="2533650"/>
            <a:ext cx="3429000" cy="190500"/>
          </a:xfrm>
          <a:prstGeom prst="rect">
            <a:avLst/>
          </a:prstGeom>
          <a:noFill/>
          <a:ln/>
        </p:spPr>
        <p:txBody>
          <a:bodyPr wrap="square" lIns="0" tIns="0" rIns="0" bIns="0" rtlCol="0" anchor="t"/>
          <a:lstStyle/>
          <a:p>
            <a:pPr algn="l" indent="0" marL="0">
              <a:lnSpc>
                <a:spcPts val="1425"/>
              </a:lnSpc>
              <a:buNone/>
            </a:pPr>
            <a:r>
              <a:rPr lang="en-US" sz="1140" dirty="0">
                <a:solidFill>
                  <a:srgbClr val="F5FFFA">
                    <a:alpha val="99000"/>
                  </a:srgbClr>
                </a:solidFill>
                <a:latin typeface="Inter" pitchFamily="34" charset="0"/>
                <a:ea typeface="Inter" pitchFamily="34" charset="-122"/>
                <a:cs typeface="Inter" pitchFamily="34" charset="-120"/>
              </a:rPr>
              <a:t>The host discovers tools and input schemas.</a:t>
            </a:r>
            <a:endParaRPr lang="en-US" sz="1140" dirty="0"/>
          </a:p>
        </p:txBody>
      </p:sp>
      <p:sp>
        <p:nvSpPr>
          <p:cNvPr id="15" name="Shape 12"/>
          <p:cNvSpPr/>
          <p:nvPr/>
        </p:nvSpPr>
        <p:spPr>
          <a:xfrm>
            <a:off x="571500" y="2847975"/>
            <a:ext cx="5686425" cy="400050"/>
          </a:xfrm>
          <a:prstGeom prst="rect">
            <a:avLst/>
          </a:prstGeom>
          <a:solidFill>
            <a:srgbClr val="092925">
              <a:alpha val="96000"/>
            </a:srgbClr>
          </a:solidFill>
          <a:ln/>
        </p:spPr>
      </p:sp>
      <p:sp>
        <p:nvSpPr>
          <p:cNvPr id="16" name="Text 13"/>
          <p:cNvSpPr/>
          <p:nvPr/>
        </p:nvSpPr>
        <p:spPr>
          <a:xfrm>
            <a:off x="676275" y="2952750"/>
            <a:ext cx="2047875" cy="190500"/>
          </a:xfrm>
          <a:prstGeom prst="rect">
            <a:avLst/>
          </a:prstGeom>
          <a:noFill/>
          <a:ln/>
        </p:spPr>
        <p:txBody>
          <a:bodyPr wrap="square" lIns="0" tIns="0" rIns="0" bIns="0" rtlCol="0" anchor="t"/>
          <a:lstStyle/>
          <a:p>
            <a:pPr algn="l" indent="0" marL="0">
              <a:lnSpc>
                <a:spcPts val="1425"/>
              </a:lnSpc>
              <a:buNone/>
            </a:pPr>
            <a:r>
              <a:rPr lang="en-US" sz="1140" dirty="0">
                <a:solidFill>
                  <a:srgbClr val="F5FFFA">
                    <a:alpha val="99000"/>
                  </a:srgbClr>
                </a:solidFill>
                <a:latin typeface="Inter" pitchFamily="34" charset="0"/>
                <a:ea typeface="Inter" pitchFamily="34" charset="-122"/>
                <a:cs typeface="Inter" pitchFamily="34" charset="-120"/>
              </a:rPr>
              <a:t>Act + observe</a:t>
            </a:r>
            <a:endParaRPr lang="en-US" sz="1140" dirty="0"/>
          </a:p>
        </p:txBody>
      </p:sp>
      <p:sp>
        <p:nvSpPr>
          <p:cNvPr id="17" name="Text 14"/>
          <p:cNvSpPr/>
          <p:nvPr/>
        </p:nvSpPr>
        <p:spPr>
          <a:xfrm>
            <a:off x="2724150" y="2952750"/>
            <a:ext cx="3429000" cy="190500"/>
          </a:xfrm>
          <a:prstGeom prst="rect">
            <a:avLst/>
          </a:prstGeom>
          <a:noFill/>
          <a:ln/>
        </p:spPr>
        <p:txBody>
          <a:bodyPr wrap="square" lIns="0" tIns="0" rIns="0" bIns="0" rtlCol="0" anchor="t"/>
          <a:lstStyle/>
          <a:p>
            <a:pPr algn="l" indent="0" marL="0">
              <a:lnSpc>
                <a:spcPts val="1425"/>
              </a:lnSpc>
              <a:buNone/>
            </a:pPr>
            <a:r>
              <a:rPr lang="en-US" sz="1140" dirty="0">
                <a:solidFill>
                  <a:srgbClr val="F5FFFA">
                    <a:alpha val="99000"/>
                  </a:srgbClr>
                </a:solidFill>
                <a:latin typeface="Inter" pitchFamily="34" charset="0"/>
                <a:ea typeface="Inter" pitchFamily="34" charset="-122"/>
                <a:cs typeface="Inter" pitchFamily="34" charset="-120"/>
              </a:rPr>
              <a:t>Call an action, read state, then adjust.</a:t>
            </a:r>
            <a:endParaRPr lang="en-US" sz="1140" dirty="0"/>
          </a:p>
        </p:txBody>
      </p:sp>
      <p:sp>
        <p:nvSpPr>
          <p:cNvPr id="18" name="Shape 15"/>
          <p:cNvSpPr/>
          <p:nvPr/>
        </p:nvSpPr>
        <p:spPr>
          <a:xfrm>
            <a:off x="571500" y="3267075"/>
            <a:ext cx="5686425" cy="590550"/>
          </a:xfrm>
          <a:prstGeom prst="rect">
            <a:avLst/>
          </a:prstGeom>
          <a:solidFill>
            <a:srgbClr val="092925">
              <a:alpha val="96000"/>
            </a:srgbClr>
          </a:solidFill>
          <a:ln/>
        </p:spPr>
      </p:sp>
      <p:sp>
        <p:nvSpPr>
          <p:cNvPr id="19" name="Text 16"/>
          <p:cNvSpPr/>
          <p:nvPr/>
        </p:nvSpPr>
        <p:spPr>
          <a:xfrm>
            <a:off x="676275" y="3371850"/>
            <a:ext cx="2047875" cy="190500"/>
          </a:xfrm>
          <a:prstGeom prst="rect">
            <a:avLst/>
          </a:prstGeom>
          <a:noFill/>
          <a:ln/>
        </p:spPr>
        <p:txBody>
          <a:bodyPr wrap="square" lIns="0" tIns="0" rIns="0" bIns="0" rtlCol="0" anchor="t"/>
          <a:lstStyle/>
          <a:p>
            <a:pPr algn="l" indent="0" marL="0">
              <a:lnSpc>
                <a:spcPts val="1425"/>
              </a:lnSpc>
              <a:buNone/>
            </a:pPr>
            <a:r>
              <a:rPr lang="en-US" sz="1140" dirty="0">
                <a:solidFill>
                  <a:srgbClr val="F5FFFA">
                    <a:alpha val="99000"/>
                  </a:srgbClr>
                </a:solidFill>
                <a:latin typeface="Inter" pitchFamily="34" charset="0"/>
                <a:ea typeface="Inter" pitchFamily="34" charset="-122"/>
                <a:cs typeface="Inter" pitchFamily="34" charset="-120"/>
              </a:rPr>
              <a:t>Reusable workflow</a:t>
            </a:r>
            <a:endParaRPr lang="en-US" sz="1140" dirty="0"/>
          </a:p>
        </p:txBody>
      </p:sp>
      <p:sp>
        <p:nvSpPr>
          <p:cNvPr id="20" name="Text 17"/>
          <p:cNvSpPr/>
          <p:nvPr/>
        </p:nvSpPr>
        <p:spPr>
          <a:xfrm>
            <a:off x="2724150" y="3371850"/>
            <a:ext cx="3429000" cy="381000"/>
          </a:xfrm>
          <a:prstGeom prst="rect">
            <a:avLst/>
          </a:prstGeom>
          <a:noFill/>
          <a:ln/>
        </p:spPr>
        <p:txBody>
          <a:bodyPr wrap="square" lIns="0" tIns="0" rIns="0" bIns="0" rtlCol="0" anchor="t"/>
          <a:lstStyle/>
          <a:p>
            <a:pPr algn="l" indent="0" marL="0">
              <a:lnSpc>
                <a:spcPts val="1425"/>
              </a:lnSpc>
              <a:buNone/>
            </a:pPr>
            <a:r>
              <a:rPr lang="en-US" sz="1140" dirty="0">
                <a:solidFill>
                  <a:srgbClr val="F5FFFA">
                    <a:alpha val="99000"/>
                  </a:srgbClr>
                </a:solidFill>
                <a:latin typeface="Inter" pitchFamily="34" charset="0"/>
                <a:ea typeface="Inter" pitchFamily="34" charset="-122"/>
                <a:cs typeface="Inter" pitchFamily="34" charset="-120"/>
              </a:rPr>
              <a:t>Compatible hosts reuse the same tool interface.</a:t>
            </a:r>
            <a:endParaRPr lang="en-US" sz="1140" dirty="0"/>
          </a:p>
        </p:txBody>
      </p:sp>
      <p:pic>
        <p:nvPicPr>
          <p:cNvPr id="21" name="Image 0" descr="preencoded.png">    </p:cNvPr>
          <p:cNvPicPr>
            <a:picLocks noChangeAspect="1"/>
          </p:cNvPicPr>
          <p:nvPr/>
        </p:nvPicPr>
        <p:blipFill>
          <a:blip r:embed="rId2"/>
          <a:srcRect l="0" r="0" t="0" b="0"/>
          <a:stretch/>
        </p:blipFill>
        <p:spPr>
          <a:xfrm>
            <a:off x="6691313" y="1428750"/>
            <a:ext cx="1833563" cy="1490663"/>
          </a:xfrm>
          <a:prstGeom prst="rect">
            <a:avLst/>
          </a:prstGeom>
        </p:spPr>
      </p:pic>
      <p:sp>
        <p:nvSpPr>
          <p:cNvPr id="22" name="Text 18"/>
          <p:cNvSpPr/>
          <p:nvPr/>
        </p:nvSpPr>
        <p:spPr>
          <a:xfrm>
            <a:off x="6691313" y="3171825"/>
            <a:ext cx="1905000" cy="657225"/>
          </a:xfrm>
          <a:prstGeom prst="rect">
            <a:avLst/>
          </a:prstGeom>
          <a:noFill/>
          <a:ln/>
        </p:spPr>
        <p:txBody>
          <a:bodyPr wrap="square" lIns="0" tIns="0" rIns="0" bIns="0" rtlCol="0" anchor="t"/>
          <a:lstStyle/>
          <a:p>
            <a:pPr algn="l" indent="0" marL="0">
              <a:lnSpc>
                <a:spcPts val="1648"/>
              </a:lnSpc>
              <a:buNone/>
            </a:pPr>
            <a:r>
              <a:rPr lang="en-US" sz="1318" b="1" dirty="0">
                <a:solidFill>
                  <a:srgbClr val="F5FFFA">
                    <a:alpha val="99000"/>
                  </a:srgbClr>
                </a:solidFill>
                <a:latin typeface="Inter" pitchFamily="34" charset="0"/>
                <a:ea typeface="Inter" pitchFamily="34" charset="-122"/>
                <a:cs typeface="Inter" pitchFamily="34" charset="-120"/>
              </a:rPr>
              <a:t>Me when the next</a:t>
            </a:r>
            <a:endParaRPr lang="en-US" sz="1318" dirty="0"/>
          </a:p>
          <a:p>
            <a:pPr algn="l" indent="0" marL="0">
              <a:lnSpc>
                <a:spcPts val="1648"/>
              </a:lnSpc>
              <a:buNone/>
            </a:pPr>
            <a:r>
              <a:rPr lang="en-US" sz="1318" b="1" dirty="0">
                <a:solidFill>
                  <a:srgbClr val="F5FFFA">
                    <a:alpha val="99000"/>
                  </a:srgbClr>
                </a:solidFill>
                <a:latin typeface="Inter" pitchFamily="34" charset="0"/>
                <a:ea typeface="Inter" pitchFamily="34" charset="-122"/>
                <a:cs typeface="Inter" pitchFamily="34" charset="-120"/>
              </a:rPr>
              <a:t>compatible AI host</a:t>
            </a:r>
            <a:endParaRPr lang="en-US" sz="1318" dirty="0"/>
          </a:p>
          <a:p>
            <a:pPr algn="l" indent="0" marL="0">
              <a:lnSpc>
                <a:spcPts val="1648"/>
              </a:lnSpc>
              <a:buNone/>
            </a:pPr>
            <a:r>
              <a:rPr lang="en-US" sz="1318" b="1" dirty="0">
                <a:solidFill>
                  <a:srgbClr val="F5FFFA">
                    <a:alpha val="99000"/>
                  </a:srgbClr>
                </a:solidFill>
                <a:latin typeface="Inter" pitchFamily="34" charset="0"/>
                <a:ea typeface="Inter" pitchFamily="34" charset="-122"/>
                <a:cs typeface="Inter" pitchFamily="34" charset="-120"/>
              </a:rPr>
              <a:t>uses the same server.</a:t>
            </a:r>
            <a:endParaRPr lang="en-US" sz="1318" dirty="0"/>
          </a:p>
        </p:txBody>
      </p:sp>
      <p:sp>
        <p:nvSpPr>
          <p:cNvPr id="23" name="Text 19"/>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05 / 29</a:t>
            </a:r>
            <a:endParaRPr lang="en-US" sz="855" dirty="0"/>
          </a:p>
        </p:txBody>
      </p:sp>
      <p:sp>
        <p:nvSpPr>
          <p:cNvPr id="24" name="Text 20"/>
          <p:cNvSpPr/>
          <p:nvPr/>
        </p:nvSpPr>
        <p:spPr>
          <a:xfrm>
            <a:off x="571500" y="4357688"/>
            <a:ext cx="8001000" cy="180975"/>
          </a:xfrm>
          <a:prstGeom prst="rect">
            <a:avLst/>
          </a:prstGeom>
          <a:noFill/>
          <a:ln/>
        </p:spPr>
        <p:txBody>
          <a:bodyPr wrap="square" lIns="0" tIns="0" rIns="0" bIns="0" rtlCol="0" anchor="t"/>
          <a:lstStyle/>
          <a:p>
            <a:pPr algn="l" indent="0" marL="0">
              <a:lnSpc>
                <a:spcPts val="1337"/>
              </a:lnSpc>
              <a:buNone/>
            </a:pPr>
            <a:r>
              <a:rPr lang="en-US" sz="1104" b="1" dirty="0">
                <a:solidFill>
                  <a:srgbClr val="5CE5BD">
                    <a:alpha val="99000"/>
                  </a:srgbClr>
                </a:solidFill>
                <a:latin typeface="Inter" pitchFamily="34" charset="0"/>
                <a:ea typeface="Inter" pitchFamily="34" charset="-122"/>
                <a:cs typeface="Inter" pitchFamily="34" charset="-120"/>
              </a:rPr>
              <a:t>MCP does not guarantee correctness. Test tools and verify outcomes.</a:t>
            </a:r>
            <a:endParaRPr lang="en-US" sz="110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371475"/>
          </a:xfrm>
          <a:prstGeom prst="rect">
            <a:avLst/>
          </a:prstGeom>
          <a:noFill/>
          <a:ln/>
        </p:spPr>
        <p:txBody>
          <a:bodyPr wrap="square" lIns="0" tIns="0" rIns="0" bIns="0" rtlCol="0" anchor="t"/>
          <a:lstStyle/>
          <a:p>
            <a:pPr algn="l" indent="0" marL="0">
              <a:lnSpc>
                <a:spcPts val="2761"/>
              </a:lnSpc>
              <a:buNone/>
            </a:pPr>
            <a:r>
              <a:rPr lang="en-US" sz="2209" b="1" dirty="0">
                <a:solidFill>
                  <a:srgbClr val="F5FFFA">
                    <a:alpha val="99000"/>
                  </a:srgbClr>
                </a:solidFill>
                <a:latin typeface="Inter" pitchFamily="34" charset="0"/>
                <a:ea typeface="Inter" pitchFamily="34" charset="-122"/>
                <a:cs typeface="Inter" pitchFamily="34" charset="-120"/>
              </a:rPr>
              <a:t>Host, client, server: the apps you know</a:t>
            </a:r>
            <a:endParaRPr lang="en-US" sz="2209"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238250"/>
            <a:ext cx="4476750" cy="2338388"/>
          </a:xfrm>
          <a:prstGeom prst="roundRect">
            <a:avLst>
              <a:gd name="adj" fmla="val 8603"/>
            </a:avLst>
          </a:prstGeom>
          <a:solidFill>
            <a:srgbClr val="092925">
              <a:alpha val="96000"/>
            </a:srgbClr>
          </a:solidFill>
          <a:ln w="4524">
            <a:solidFill>
              <a:srgbClr val="267863"/>
            </a:solidFill>
            <a:prstDash val="solid"/>
          </a:ln>
        </p:spPr>
      </p:sp>
      <p:sp>
        <p:nvSpPr>
          <p:cNvPr id="6" name="Text 3"/>
          <p:cNvSpPr/>
          <p:nvPr/>
        </p:nvSpPr>
        <p:spPr>
          <a:xfrm>
            <a:off x="728663" y="1395413"/>
            <a:ext cx="4171950" cy="228600"/>
          </a:xfrm>
          <a:prstGeom prst="rect">
            <a:avLst/>
          </a:prstGeom>
          <a:noFill/>
          <a:ln/>
        </p:spPr>
        <p:txBody>
          <a:bodyPr wrap="square" lIns="0" tIns="0" rIns="0" bIns="0" rtlCol="0" anchor="t"/>
          <a:lstStyle/>
          <a:p>
            <a:pPr algn="l" indent="0" marL="0">
              <a:lnSpc>
                <a:spcPts val="1692"/>
              </a:lnSpc>
              <a:buNone/>
            </a:pPr>
            <a:r>
              <a:rPr lang="en-US" sz="1354" b="1" dirty="0">
                <a:solidFill>
                  <a:srgbClr val="4FE3BD">
                    <a:alpha val="99000"/>
                  </a:srgbClr>
                </a:solidFill>
                <a:latin typeface="Inter" pitchFamily="34" charset="0"/>
                <a:ea typeface="Inter" pitchFamily="34" charset="-122"/>
                <a:cs typeface="Inter" pitchFamily="34" charset="-120"/>
              </a:rPr>
              <a:t>HOST · the AI Application you use</a:t>
            </a:r>
            <a:endParaRPr lang="en-US" sz="1354" dirty="0"/>
          </a:p>
        </p:txBody>
      </p:sp>
      <p:sp>
        <p:nvSpPr>
          <p:cNvPr id="7" name="Text 4"/>
          <p:cNvSpPr/>
          <p:nvPr/>
        </p:nvSpPr>
        <p:spPr>
          <a:xfrm>
            <a:off x="728663" y="1757363"/>
            <a:ext cx="4171950" cy="571500"/>
          </a:xfrm>
          <a:prstGeom prst="rect">
            <a:avLst/>
          </a:prstGeom>
          <a:noFill/>
          <a:ln/>
        </p:spPr>
        <p:txBody>
          <a:bodyPr wrap="square" lIns="0" tIns="0" rIns="0" bIns="0" rtlCol="0" anchor="t"/>
          <a:lstStyle/>
          <a:p>
            <a:pPr algn="l" indent="0" marL="0">
              <a:lnSpc>
                <a:spcPts val="1425"/>
              </a:lnSpc>
              <a:buNone/>
            </a:pPr>
            <a:r>
              <a:rPr lang="en-US" sz="1140" dirty="0">
                <a:solidFill>
                  <a:srgbClr val="F5FFFA">
                    <a:alpha val="99000"/>
                  </a:srgbClr>
                </a:solidFill>
                <a:latin typeface="Inter" pitchFamily="34" charset="0"/>
                <a:ea typeface="Inter" pitchFamily="34" charset="-122"/>
                <a:cs typeface="Inter" pitchFamily="34" charset="-120"/>
              </a:rPr>
              <a:t>Codex · Claude Code · Antigravity</a:t>
            </a:r>
            <a:endParaRPr lang="en-US" sz="1140" dirty="0"/>
          </a:p>
          <a:p>
            <a:pPr algn="l" indent="0" marL="0">
              <a:lnSpc>
                <a:spcPts val="1425"/>
              </a:lnSpc>
              <a:buNone/>
            </a:pPr>
            <a:r>
              <a:rPr lang="en-US" sz="1140" dirty="0">
                <a:solidFill>
                  <a:srgbClr val="F5FFFA">
                    <a:alpha val="99000"/>
                  </a:srgbClr>
                </a:solidFill>
                <a:latin typeface="Inter" pitchFamily="34" charset="0"/>
                <a:ea typeface="Inter" pitchFamily="34" charset="-122"/>
                <a:cs typeface="Inter" pitchFamily="34" charset="-120"/>
              </a:rPr>
              <a:t>Our demo: gemini_host.py uses Gemini</a:t>
            </a:r>
            <a:endParaRPr lang="en-US" sz="1140" dirty="0"/>
          </a:p>
          <a:p>
            <a:pPr algn="l" indent="0" marL="0">
              <a:lnSpc>
                <a:spcPts val="1425"/>
              </a:lnSpc>
              <a:buNone/>
            </a:pPr>
            <a:r>
              <a:rPr lang="en-US" sz="1140" dirty="0">
                <a:solidFill>
                  <a:srgbClr val="F5FFFA">
                    <a:alpha val="99000"/>
                  </a:srgbClr>
                </a:solidFill>
                <a:latin typeface="Inter" pitchFamily="34" charset="0"/>
                <a:ea typeface="Inter" pitchFamily="34" charset="-122"/>
                <a:cs typeface="Inter" pitchFamily="34" charset="-120"/>
              </a:rPr>
              <a:t>The host coordinates model + tools + permissions.</a:t>
            </a:r>
            <a:endParaRPr lang="en-US" sz="1140" dirty="0"/>
          </a:p>
        </p:txBody>
      </p:sp>
      <p:sp>
        <p:nvSpPr>
          <p:cNvPr id="8" name="Shape 5"/>
          <p:cNvSpPr/>
          <p:nvPr/>
        </p:nvSpPr>
        <p:spPr>
          <a:xfrm>
            <a:off x="728663" y="2462213"/>
            <a:ext cx="4171950" cy="957263"/>
          </a:xfrm>
          <a:prstGeom prst="roundRect">
            <a:avLst>
              <a:gd name="adj" fmla="val 21015"/>
            </a:avLst>
          </a:prstGeom>
          <a:solidFill>
            <a:srgbClr val="092925">
              <a:alpha val="96000"/>
            </a:srgbClr>
          </a:solidFill>
          <a:ln w="4524">
            <a:solidFill>
              <a:srgbClr val="267863"/>
            </a:solidFill>
            <a:prstDash val="solid"/>
          </a:ln>
        </p:spPr>
      </p:sp>
      <p:sp>
        <p:nvSpPr>
          <p:cNvPr id="9" name="Text 6"/>
          <p:cNvSpPr/>
          <p:nvPr/>
        </p:nvSpPr>
        <p:spPr>
          <a:xfrm>
            <a:off x="885825" y="2619375"/>
            <a:ext cx="3867150" cy="185738"/>
          </a:xfrm>
          <a:prstGeom prst="rect">
            <a:avLst/>
          </a:prstGeom>
          <a:noFill/>
          <a:ln/>
        </p:spPr>
        <p:txBody>
          <a:bodyPr wrap="square" lIns="0" tIns="0" rIns="0" bIns="0" rtlCol="0" anchor="t"/>
          <a:lstStyle/>
          <a:p>
            <a:pPr algn="l" indent="0" marL="0">
              <a:lnSpc>
                <a:spcPts val="1380"/>
              </a:lnSpc>
              <a:buNone/>
            </a:pPr>
            <a:r>
              <a:rPr lang="en-US" sz="1104" b="1" dirty="0">
                <a:solidFill>
                  <a:srgbClr val="4FE3BD">
                    <a:alpha val="99000"/>
                  </a:srgbClr>
                </a:solidFill>
                <a:latin typeface="Inter" pitchFamily="34" charset="0"/>
                <a:ea typeface="Inter" pitchFamily="34" charset="-122"/>
                <a:cs typeface="Inter" pitchFamily="34" charset="-120"/>
              </a:rPr>
              <a:t>CLIENT · the MCP connection inside it</a:t>
            </a:r>
            <a:endParaRPr lang="en-US" sz="1104" dirty="0"/>
          </a:p>
        </p:txBody>
      </p:sp>
      <p:sp>
        <p:nvSpPr>
          <p:cNvPr id="10" name="Text 7"/>
          <p:cNvSpPr/>
          <p:nvPr/>
        </p:nvSpPr>
        <p:spPr>
          <a:xfrm>
            <a:off x="885825" y="2900363"/>
            <a:ext cx="3867150" cy="361950"/>
          </a:xfrm>
          <a:prstGeom prst="rect">
            <a:avLst/>
          </a:prstGeom>
          <a:noFill/>
          <a:ln/>
        </p:spPr>
        <p:txBody>
          <a:bodyPr wrap="square" lIns="0" tIns="0" rIns="0" bIns="0" rtlCol="0" anchor="t"/>
          <a:lstStyle/>
          <a:p>
            <a:pPr algn="l" indent="0" marL="0">
              <a:lnSpc>
                <a:spcPts val="1336"/>
              </a:lnSpc>
              <a:buNone/>
            </a:pPr>
            <a:r>
              <a:rPr lang="en-US" sz="1069" dirty="0">
                <a:solidFill>
                  <a:srgbClr val="F5FFFA">
                    <a:alpha val="99000"/>
                  </a:srgbClr>
                </a:solidFill>
                <a:latin typeface="Inter" pitchFamily="34" charset="0"/>
                <a:ea typeface="Inter" pitchFamily="34" charset="-122"/>
                <a:cs typeface="Inter" pitchFamily="34" charset="-120"/>
              </a:rPr>
              <a:t>Our demo: Python ClientSession</a:t>
            </a:r>
            <a:endParaRPr lang="en-US" sz="1069" dirty="0"/>
          </a:p>
          <a:p>
            <a:pPr algn="l" indent="0" marL="0">
              <a:lnSpc>
                <a:spcPts val="1336"/>
              </a:lnSpc>
              <a:buNone/>
            </a:pPr>
            <a:r>
              <a:rPr lang="en-US" sz="1069" dirty="0">
                <a:solidFill>
                  <a:srgbClr val="F5FFFA">
                    <a:alpha val="99000"/>
                  </a:srgbClr>
                </a:solidFill>
                <a:latin typeface="Inter" pitchFamily="34" charset="0"/>
                <a:ea typeface="Inter" pitchFamily="34" charset="-122"/>
                <a:cs typeface="Inter" pitchFamily="34" charset="-120"/>
              </a:rPr>
              <a:t>Discovers tools, sends calls, receives results.</a:t>
            </a:r>
            <a:endParaRPr lang="en-US" sz="1069" dirty="0"/>
          </a:p>
        </p:txBody>
      </p:sp>
      <p:sp>
        <p:nvSpPr>
          <p:cNvPr id="11" name="Text 8"/>
          <p:cNvSpPr/>
          <p:nvPr/>
        </p:nvSpPr>
        <p:spPr>
          <a:xfrm>
            <a:off x="5191125" y="2119313"/>
            <a:ext cx="571500" cy="452438"/>
          </a:xfrm>
          <a:prstGeom prst="rect">
            <a:avLst/>
          </a:prstGeom>
          <a:noFill/>
          <a:ln/>
        </p:spPr>
        <p:txBody>
          <a:bodyPr wrap="square" lIns="0" tIns="0" rIns="0" bIns="0" rtlCol="0" anchor="t"/>
          <a:lstStyle/>
          <a:p>
            <a:pPr algn="l" indent="0" marL="0">
              <a:lnSpc>
                <a:spcPts val="3384"/>
              </a:lnSpc>
              <a:buNone/>
            </a:pPr>
            <a:r>
              <a:rPr lang="en-US" sz="2708" b="1" dirty="0">
                <a:solidFill>
                  <a:srgbClr val="4FE3BD">
                    <a:alpha val="99000"/>
                  </a:srgbClr>
                </a:solidFill>
                <a:latin typeface="Inter" pitchFamily="34" charset="0"/>
                <a:ea typeface="Inter" pitchFamily="34" charset="-122"/>
                <a:cs typeface="Inter" pitchFamily="34" charset="-120"/>
              </a:rPr>
              <a:t>↔</a:t>
            </a:r>
            <a:endParaRPr lang="en-US" sz="2708" dirty="0"/>
          </a:p>
        </p:txBody>
      </p:sp>
      <p:sp>
        <p:nvSpPr>
          <p:cNvPr id="12" name="Text 9"/>
          <p:cNvSpPr/>
          <p:nvPr/>
        </p:nvSpPr>
        <p:spPr>
          <a:xfrm>
            <a:off x="5143500" y="2595563"/>
            <a:ext cx="619125" cy="180975"/>
          </a:xfrm>
          <a:prstGeom prst="rect">
            <a:avLst/>
          </a:prstGeom>
          <a:noFill/>
          <a:ln/>
        </p:spPr>
        <p:txBody>
          <a:bodyPr wrap="square" lIns="0" tIns="0" rIns="0" bIns="0" rtlCol="0" anchor="t"/>
          <a:lstStyle/>
          <a:p>
            <a:pPr algn="l" indent="0" marL="0">
              <a:lnSpc>
                <a:spcPts val="1336"/>
              </a:lnSpc>
              <a:buNone/>
            </a:pPr>
            <a:r>
              <a:rPr lang="en-US" sz="1069" dirty="0">
                <a:solidFill>
                  <a:srgbClr val="BAD9CF">
                    <a:alpha val="99000"/>
                  </a:srgbClr>
                </a:solidFill>
                <a:latin typeface="Inter" pitchFamily="34" charset="0"/>
                <a:ea typeface="Inter" pitchFamily="34" charset="-122"/>
                <a:cs typeface="Inter" pitchFamily="34" charset="-120"/>
              </a:rPr>
              <a:t>MCP</a:t>
            </a:r>
            <a:endParaRPr lang="en-US" sz="1069" dirty="0"/>
          </a:p>
        </p:txBody>
      </p:sp>
      <p:sp>
        <p:nvSpPr>
          <p:cNvPr id="13" name="Shape 10"/>
          <p:cNvSpPr/>
          <p:nvPr/>
        </p:nvSpPr>
        <p:spPr>
          <a:xfrm>
            <a:off x="5905500" y="1524000"/>
            <a:ext cx="2667000" cy="1323975"/>
          </a:xfrm>
          <a:prstGeom prst="roundRect">
            <a:avLst>
              <a:gd name="adj" fmla="val 15194"/>
            </a:avLst>
          </a:prstGeom>
          <a:solidFill>
            <a:srgbClr val="092925">
              <a:alpha val="96000"/>
            </a:srgbClr>
          </a:solidFill>
          <a:ln w="4524">
            <a:solidFill>
              <a:srgbClr val="267863"/>
            </a:solidFill>
            <a:prstDash val="solid"/>
          </a:ln>
        </p:spPr>
      </p:sp>
      <p:sp>
        <p:nvSpPr>
          <p:cNvPr id="14" name="Text 11"/>
          <p:cNvSpPr/>
          <p:nvPr/>
        </p:nvSpPr>
        <p:spPr>
          <a:xfrm>
            <a:off x="6062663" y="1681163"/>
            <a:ext cx="2362200" cy="190500"/>
          </a:xfrm>
          <a:prstGeom prst="rect">
            <a:avLst/>
          </a:prstGeom>
          <a:noFill/>
          <a:ln/>
        </p:spPr>
        <p:txBody>
          <a:bodyPr wrap="square" lIns="0" tIns="0" rIns="0" bIns="0" rtlCol="0" anchor="t"/>
          <a:lstStyle/>
          <a:p>
            <a:pPr algn="l" indent="0" marL="0">
              <a:lnSpc>
                <a:spcPts val="1425"/>
              </a:lnSpc>
              <a:buNone/>
            </a:pPr>
            <a:r>
              <a:rPr lang="en-US" sz="1140" b="1" dirty="0">
                <a:solidFill>
                  <a:srgbClr val="4FE3BD">
                    <a:alpha val="99000"/>
                  </a:srgbClr>
                </a:solidFill>
                <a:latin typeface="Inter" pitchFamily="34" charset="0"/>
                <a:ea typeface="Inter" pitchFamily="34" charset="-122"/>
                <a:cs typeface="Inter" pitchFamily="34" charset="-120"/>
              </a:rPr>
              <a:t>SERVER · exposes tools</a:t>
            </a:r>
            <a:endParaRPr lang="en-US" sz="1140" dirty="0"/>
          </a:p>
        </p:txBody>
      </p:sp>
      <p:sp>
        <p:nvSpPr>
          <p:cNvPr id="15" name="Text 12"/>
          <p:cNvSpPr/>
          <p:nvPr/>
        </p:nvSpPr>
        <p:spPr>
          <a:xfrm>
            <a:off x="6062663" y="2005013"/>
            <a:ext cx="2362200" cy="685800"/>
          </a:xfrm>
          <a:prstGeom prst="rect">
            <a:avLst/>
          </a:prstGeom>
          <a:noFill/>
          <a:ln/>
        </p:spPr>
        <p:txBody>
          <a:bodyPr wrap="square" lIns="0" tIns="0" rIns="0" bIns="0" rtlCol="0" anchor="t"/>
          <a:lstStyle/>
          <a:p>
            <a:pPr algn="l" indent="0" marL="0">
              <a:lnSpc>
                <a:spcPts val="1291"/>
              </a:lnSpc>
              <a:buNone/>
            </a:pPr>
            <a:r>
              <a:rPr lang="en-US" sz="1033" dirty="0">
                <a:solidFill>
                  <a:srgbClr val="F5FFFA">
                    <a:alpha val="99000"/>
                  </a:srgbClr>
                </a:solidFill>
                <a:latin typeface="Inter" pitchFamily="34" charset="0"/>
                <a:ea typeface="Inter" pitchFamily="34" charset="-122"/>
                <a:cs typeface="Inter" pitchFamily="34" charset="-120"/>
              </a:rPr>
              <a:t>Our demo: mcp_server_sdk.py</a:t>
            </a:r>
            <a:endParaRPr lang="en-US" sz="1033" dirty="0"/>
          </a:p>
          <a:p>
            <a:pPr algn="l" indent="0" marL="0">
              <a:lnSpc>
                <a:spcPts val="1291"/>
              </a:lnSpc>
              <a:buNone/>
            </a:pPr>
            <a:r>
              <a:rPr lang="en-US" sz="1033" dirty="0">
                <a:solidFill>
                  <a:srgbClr val="F5FFFA">
                    <a:alpha val="99000"/>
                  </a:srgbClr>
                </a:solidFill>
                <a:latin typeface="Inter" pitchFamily="34" charset="0"/>
                <a:ea typeface="Inter" pitchFamily="34" charset="-122"/>
                <a:cs typeface="Inter" pitchFamily="34" charset="-120"/>
              </a:rPr>
              <a:t>Built with FastMCP</a:t>
            </a:r>
            <a:endParaRPr lang="en-US" sz="1033" dirty="0"/>
          </a:p>
          <a:p>
            <a:pPr algn="l" indent="0" marL="0">
              <a:lnSpc>
                <a:spcPts val="1291"/>
              </a:lnSpc>
              <a:buNone/>
            </a:pPr>
            <a:r>
              <a:rPr lang="en-US" sz="1033" dirty="0">
                <a:solidFill>
                  <a:srgbClr val="F5FFFA">
                    <a:alpha val="99000"/>
                  </a:srgbClr>
                </a:solidFill>
                <a:latin typeface="Inter" pitchFamily="34" charset="0"/>
                <a:ea typeface="Inter" pitchFamily="34" charset="-122"/>
                <a:cs typeface="Inter" pitchFamily="34" charset="-120"/>
              </a:rPr>
              <a:t>Starter: get_state + set_tempo; you add set_swing</a:t>
            </a:r>
            <a:endParaRPr lang="en-US" sz="1033" dirty="0"/>
          </a:p>
        </p:txBody>
      </p:sp>
      <p:sp>
        <p:nvSpPr>
          <p:cNvPr id="16" name="Text 13"/>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06 / 29</a:t>
            </a:r>
            <a:endParaRPr lang="en-US" sz="855" dirty="0"/>
          </a:p>
        </p:txBody>
      </p:sp>
      <p:sp>
        <p:nvSpPr>
          <p:cNvPr id="17" name="Text 14"/>
          <p:cNvSpPr/>
          <p:nvPr/>
        </p:nvSpPr>
        <p:spPr>
          <a:xfrm>
            <a:off x="571500" y="4029075"/>
            <a:ext cx="8001000" cy="342900"/>
          </a:xfrm>
          <a:prstGeom prst="rect">
            <a:avLst/>
          </a:prstGeom>
          <a:noFill/>
          <a:ln/>
        </p:spPr>
        <p:txBody>
          <a:bodyPr wrap="square" lIns="0" tIns="0" rIns="0" bIns="0" rtlCol="0" anchor="t"/>
          <a:lstStyle/>
          <a:p>
            <a:pPr algn="l" indent="0" marL="0">
              <a:lnSpc>
                <a:spcPts val="1293"/>
              </a:lnSpc>
              <a:buNone/>
            </a:pPr>
            <a:r>
              <a:rPr lang="en-US" sz="1069" dirty="0">
                <a:solidFill>
                  <a:srgbClr val="F2FAF5">
                    <a:alpha val="99000"/>
                  </a:srgbClr>
                </a:solidFill>
                <a:latin typeface="Inter" pitchFamily="34" charset="0"/>
                <a:ea typeface="Inter" pitchFamily="34" charset="-122"/>
                <a:cs typeface="Inter" pitchFamily="34" charset="-120"/>
              </a:rPr>
              <a:t>Model ≠ host: Gemini/Claude/GPT supply model reasoning; the host Application coordinates the work.</a:t>
            </a:r>
            <a:endParaRPr lang="en-US" sz="1069" dirty="0"/>
          </a:p>
          <a:p>
            <a:pPr algn="l" indent="0" marL="0">
              <a:lnSpc>
                <a:spcPts val="1293"/>
              </a:lnSpc>
              <a:buNone/>
            </a:pPr>
            <a:r>
              <a:rPr lang="en-US" sz="1069" dirty="0">
                <a:solidFill>
                  <a:srgbClr val="F2FAF5">
                    <a:alpha val="99000"/>
                  </a:srgbClr>
                </a:solidFill>
                <a:latin typeface="Inter" pitchFamily="34" charset="0"/>
                <a:ea typeface="Inter" pitchFamily="34" charset="-122"/>
                <a:cs typeface="Inter" pitchFamily="34" charset="-120"/>
              </a:rPr>
              <a:t>Backend ≠ MCP server: app.py changes the music; our server exposes its controls.</a:t>
            </a:r>
            <a:endParaRPr lang="en-US" sz="106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Where an API fits</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428750"/>
            <a:ext cx="1885950" cy="1123950"/>
          </a:xfrm>
          <a:prstGeom prst="roundRect">
            <a:avLst>
              <a:gd name="adj" fmla="val 17898"/>
            </a:avLst>
          </a:prstGeom>
          <a:solidFill>
            <a:srgbClr val="092925">
              <a:alpha val="96000"/>
            </a:srgbClr>
          </a:solidFill>
          <a:ln w="4524">
            <a:solidFill>
              <a:srgbClr val="267863"/>
            </a:solidFill>
            <a:prstDash val="solid"/>
          </a:ln>
        </p:spPr>
      </p:sp>
      <p:sp>
        <p:nvSpPr>
          <p:cNvPr id="6" name="Text 3"/>
          <p:cNvSpPr/>
          <p:nvPr/>
        </p:nvSpPr>
        <p:spPr>
          <a:xfrm>
            <a:off x="728663" y="1585913"/>
            <a:ext cx="1581150"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AI HOST</a:t>
            </a:r>
            <a:endParaRPr lang="en-US" sz="1425" dirty="0"/>
          </a:p>
        </p:txBody>
      </p:sp>
      <p:sp>
        <p:nvSpPr>
          <p:cNvPr id="7" name="Text 4"/>
          <p:cNvSpPr/>
          <p:nvPr/>
        </p:nvSpPr>
        <p:spPr>
          <a:xfrm>
            <a:off x="728663" y="1938337"/>
            <a:ext cx="1581150" cy="4572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Contains the MCP client</a:t>
            </a:r>
            <a:endParaRPr lang="en-US" sz="1354" dirty="0"/>
          </a:p>
        </p:txBody>
      </p:sp>
      <p:sp>
        <p:nvSpPr>
          <p:cNvPr id="8" name="Shape 5"/>
          <p:cNvSpPr/>
          <p:nvPr/>
        </p:nvSpPr>
        <p:spPr>
          <a:xfrm>
            <a:off x="2609850" y="1428750"/>
            <a:ext cx="1885950" cy="1123950"/>
          </a:xfrm>
          <a:prstGeom prst="roundRect">
            <a:avLst>
              <a:gd name="adj" fmla="val 17898"/>
            </a:avLst>
          </a:prstGeom>
          <a:solidFill>
            <a:srgbClr val="092925">
              <a:alpha val="96000"/>
            </a:srgbClr>
          </a:solidFill>
          <a:ln w="4524">
            <a:solidFill>
              <a:srgbClr val="267863"/>
            </a:solidFill>
            <a:prstDash val="solid"/>
          </a:ln>
        </p:spPr>
      </p:sp>
      <p:sp>
        <p:nvSpPr>
          <p:cNvPr id="9" name="Text 6"/>
          <p:cNvSpPr/>
          <p:nvPr/>
        </p:nvSpPr>
        <p:spPr>
          <a:xfrm>
            <a:off x="2767013" y="1585913"/>
            <a:ext cx="1581150"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MCP SERVER</a:t>
            </a:r>
            <a:endParaRPr lang="en-US" sz="1425" dirty="0"/>
          </a:p>
        </p:txBody>
      </p:sp>
      <p:sp>
        <p:nvSpPr>
          <p:cNvPr id="10" name="Text 7"/>
          <p:cNvSpPr/>
          <p:nvPr/>
        </p:nvSpPr>
        <p:spPr>
          <a:xfrm>
            <a:off x="2767013" y="1938337"/>
            <a:ext cx="1581150" cy="4572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Exposes a useful tool</a:t>
            </a:r>
            <a:endParaRPr lang="en-US" sz="1354" dirty="0"/>
          </a:p>
        </p:txBody>
      </p:sp>
      <p:sp>
        <p:nvSpPr>
          <p:cNvPr id="11" name="Shape 8"/>
          <p:cNvSpPr/>
          <p:nvPr/>
        </p:nvSpPr>
        <p:spPr>
          <a:xfrm>
            <a:off x="4648200" y="1428750"/>
            <a:ext cx="1885950" cy="1123950"/>
          </a:xfrm>
          <a:prstGeom prst="roundRect">
            <a:avLst>
              <a:gd name="adj" fmla="val 17898"/>
            </a:avLst>
          </a:prstGeom>
          <a:solidFill>
            <a:srgbClr val="092925">
              <a:alpha val="96000"/>
            </a:srgbClr>
          </a:solidFill>
          <a:ln w="4524">
            <a:solidFill>
              <a:srgbClr val="267863"/>
            </a:solidFill>
            <a:prstDash val="solid"/>
          </a:ln>
        </p:spPr>
      </p:sp>
      <p:sp>
        <p:nvSpPr>
          <p:cNvPr id="12" name="Text 9"/>
          <p:cNvSpPr/>
          <p:nvPr/>
        </p:nvSpPr>
        <p:spPr>
          <a:xfrm>
            <a:off x="4805363" y="1585913"/>
            <a:ext cx="1581150"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EXISTING API</a:t>
            </a:r>
            <a:endParaRPr lang="en-US" sz="1425" dirty="0"/>
          </a:p>
        </p:txBody>
      </p:sp>
      <p:sp>
        <p:nvSpPr>
          <p:cNvPr id="13" name="Text 10"/>
          <p:cNvSpPr/>
          <p:nvPr/>
        </p:nvSpPr>
        <p:spPr>
          <a:xfrm>
            <a:off x="4805363" y="1938337"/>
            <a:ext cx="1581150" cy="4572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Applies Application rules</a:t>
            </a:r>
            <a:endParaRPr lang="en-US" sz="1354" dirty="0"/>
          </a:p>
        </p:txBody>
      </p:sp>
      <p:sp>
        <p:nvSpPr>
          <p:cNvPr id="14" name="Shape 11"/>
          <p:cNvSpPr/>
          <p:nvPr/>
        </p:nvSpPr>
        <p:spPr>
          <a:xfrm>
            <a:off x="6686550" y="1428750"/>
            <a:ext cx="1885950" cy="1123950"/>
          </a:xfrm>
          <a:prstGeom prst="roundRect">
            <a:avLst>
              <a:gd name="adj" fmla="val 17898"/>
            </a:avLst>
          </a:prstGeom>
          <a:solidFill>
            <a:srgbClr val="092925">
              <a:alpha val="96000"/>
            </a:srgbClr>
          </a:solidFill>
          <a:ln w="4524">
            <a:solidFill>
              <a:srgbClr val="267863"/>
            </a:solidFill>
            <a:prstDash val="solid"/>
          </a:ln>
        </p:spPr>
      </p:sp>
      <p:sp>
        <p:nvSpPr>
          <p:cNvPr id="15" name="Text 12"/>
          <p:cNvSpPr/>
          <p:nvPr/>
        </p:nvSpPr>
        <p:spPr>
          <a:xfrm>
            <a:off x="6843713" y="1585913"/>
            <a:ext cx="1581150"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DATA / ACTION</a:t>
            </a:r>
            <a:endParaRPr lang="en-US" sz="1425" dirty="0"/>
          </a:p>
        </p:txBody>
      </p:sp>
      <p:sp>
        <p:nvSpPr>
          <p:cNvPr id="16" name="Text 13"/>
          <p:cNvSpPr/>
          <p:nvPr/>
        </p:nvSpPr>
        <p:spPr>
          <a:xfrm>
            <a:off x="6843713" y="1938337"/>
            <a:ext cx="1581150" cy="4572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Reads or changes the app</a:t>
            </a:r>
            <a:endParaRPr lang="en-US" sz="1354" dirty="0"/>
          </a:p>
        </p:txBody>
      </p:sp>
      <p:sp>
        <p:nvSpPr>
          <p:cNvPr id="17" name="Text 14"/>
          <p:cNvSpPr/>
          <p:nvPr/>
        </p:nvSpPr>
        <p:spPr>
          <a:xfrm>
            <a:off x="1047750" y="2809875"/>
            <a:ext cx="1762125" cy="195263"/>
          </a:xfrm>
          <a:prstGeom prst="rect">
            <a:avLst/>
          </a:prstGeom>
          <a:noFill/>
          <a:ln/>
        </p:spPr>
        <p:txBody>
          <a:bodyPr wrap="square" lIns="0" tIns="0" rIns="0" bIns="0" rtlCol="0" anchor="t"/>
          <a:lstStyle/>
          <a:p>
            <a:pPr algn="l" indent="0" marL="0">
              <a:lnSpc>
                <a:spcPts val="1470"/>
              </a:lnSpc>
              <a:buNone/>
            </a:pPr>
            <a:r>
              <a:rPr lang="en-US" sz="1176" b="1" dirty="0">
                <a:solidFill>
                  <a:srgbClr val="4FE3BD">
                    <a:alpha val="99000"/>
                  </a:srgbClr>
                </a:solidFill>
                <a:latin typeface="Inter" pitchFamily="34" charset="0"/>
                <a:ea typeface="Inter" pitchFamily="34" charset="-122"/>
                <a:cs typeface="Inter" pitchFamily="34" charset="-120"/>
              </a:rPr>
              <a:t>MCP request →</a:t>
            </a:r>
            <a:endParaRPr lang="en-US" sz="1176" dirty="0"/>
          </a:p>
        </p:txBody>
      </p:sp>
      <p:sp>
        <p:nvSpPr>
          <p:cNvPr id="18" name="Text 15"/>
          <p:cNvSpPr/>
          <p:nvPr/>
        </p:nvSpPr>
        <p:spPr>
          <a:xfrm>
            <a:off x="3238500" y="2809875"/>
            <a:ext cx="1619250" cy="195263"/>
          </a:xfrm>
          <a:prstGeom prst="rect">
            <a:avLst/>
          </a:prstGeom>
          <a:noFill/>
          <a:ln/>
        </p:spPr>
        <p:txBody>
          <a:bodyPr wrap="square" lIns="0" tIns="0" rIns="0" bIns="0" rtlCol="0" anchor="t"/>
          <a:lstStyle/>
          <a:p>
            <a:pPr algn="l" indent="0" marL="0">
              <a:lnSpc>
                <a:spcPts val="1470"/>
              </a:lnSpc>
              <a:buNone/>
            </a:pPr>
            <a:r>
              <a:rPr lang="en-US" sz="1176" b="1" dirty="0">
                <a:solidFill>
                  <a:srgbClr val="4FE3BD">
                    <a:alpha val="99000"/>
                  </a:srgbClr>
                </a:solidFill>
                <a:latin typeface="Inter" pitchFamily="34" charset="0"/>
                <a:ea typeface="Inter" pitchFamily="34" charset="-122"/>
                <a:cs typeface="Inter" pitchFamily="34" charset="-120"/>
              </a:rPr>
              <a:t>API call →</a:t>
            </a:r>
            <a:endParaRPr lang="en-US" sz="1176" dirty="0"/>
          </a:p>
        </p:txBody>
      </p:sp>
      <p:sp>
        <p:nvSpPr>
          <p:cNvPr id="19" name="Text 16"/>
          <p:cNvSpPr/>
          <p:nvPr/>
        </p:nvSpPr>
        <p:spPr>
          <a:xfrm>
            <a:off x="5191125" y="2809875"/>
            <a:ext cx="1952625" cy="195263"/>
          </a:xfrm>
          <a:prstGeom prst="rect">
            <a:avLst/>
          </a:prstGeom>
          <a:noFill/>
          <a:ln/>
        </p:spPr>
        <p:txBody>
          <a:bodyPr wrap="square" lIns="0" tIns="0" rIns="0" bIns="0" rtlCol="0" anchor="t"/>
          <a:lstStyle/>
          <a:p>
            <a:pPr algn="l" indent="0" marL="0">
              <a:lnSpc>
                <a:spcPts val="1470"/>
              </a:lnSpc>
              <a:buNone/>
            </a:pPr>
            <a:r>
              <a:rPr lang="en-US" sz="1176" b="1" dirty="0">
                <a:solidFill>
                  <a:srgbClr val="4FE3BD">
                    <a:alpha val="99000"/>
                  </a:srgbClr>
                </a:solidFill>
                <a:latin typeface="Inter" pitchFamily="34" charset="0"/>
                <a:ea typeface="Inter" pitchFamily="34" charset="-122"/>
                <a:cs typeface="Inter" pitchFamily="34" charset="-120"/>
              </a:rPr>
              <a:t>Read / write →</a:t>
            </a:r>
            <a:endParaRPr lang="en-US" sz="1176" dirty="0"/>
          </a:p>
        </p:txBody>
      </p:sp>
      <p:sp>
        <p:nvSpPr>
          <p:cNvPr id="20" name="Shape 17"/>
          <p:cNvSpPr/>
          <p:nvPr/>
        </p:nvSpPr>
        <p:spPr>
          <a:xfrm>
            <a:off x="571500" y="3400425"/>
            <a:ext cx="8001000" cy="552450"/>
          </a:xfrm>
          <a:prstGeom prst="rect">
            <a:avLst/>
          </a:prstGeom>
          <a:noFill/>
          <a:ln/>
        </p:spPr>
      </p:sp>
      <p:sp>
        <p:nvSpPr>
          <p:cNvPr id="21" name="Text 18"/>
          <p:cNvSpPr/>
          <p:nvPr/>
        </p:nvSpPr>
        <p:spPr>
          <a:xfrm>
            <a:off x="571500" y="3400425"/>
            <a:ext cx="8001000" cy="552450"/>
          </a:xfrm>
          <a:prstGeom prst="rect">
            <a:avLst/>
          </a:prstGeom>
          <a:noFill/>
          <a:ln/>
        </p:spPr>
        <p:txBody>
          <a:bodyPr wrap="square" lIns="0" tIns="0" rIns="0" bIns="0" rtlCol="0" anchor="t"/>
          <a:lstStyle/>
          <a:p>
            <a:pPr algn="l" indent="0" marL="0">
              <a:lnSpc>
                <a:spcPts val="2048"/>
              </a:lnSpc>
              <a:buNone/>
            </a:pPr>
            <a:r>
              <a:rPr lang="en-US" sz="1639" dirty="0">
                <a:solidFill>
                  <a:srgbClr val="F5FFFA">
                    <a:alpha val="99000"/>
                  </a:srgbClr>
                </a:solidFill>
                <a:latin typeface="Inter" pitchFamily="34" charset="0"/>
                <a:ea typeface="Inter" pitchFamily="34" charset="-122"/>
                <a:cs typeface="Inter" pitchFamily="34" charset="-120"/>
              </a:rPr>
              <a:t>An MCP tool can call an EXISTING API, Python function, or supported Application command.</a:t>
            </a:r>
            <a:endParaRPr lang="en-US" sz="1639" dirty="0"/>
          </a:p>
        </p:txBody>
      </p:sp>
      <p:sp>
        <p:nvSpPr>
          <p:cNvPr id="22" name="Text 19"/>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07 / 29</a:t>
            </a:r>
            <a:endParaRPr lang="en-US" sz="855" dirty="0"/>
          </a:p>
        </p:txBody>
      </p:sp>
      <p:sp>
        <p:nvSpPr>
          <p:cNvPr id="23" name="Shape 20"/>
          <p:cNvSpPr/>
          <p:nvPr/>
        </p:nvSpPr>
        <p:spPr>
          <a:xfrm>
            <a:off x="571500" y="4005262"/>
            <a:ext cx="8001000" cy="714375"/>
          </a:xfrm>
          <a:prstGeom prst="roundRect">
            <a:avLst>
              <a:gd name="adj" fmla="val 15360"/>
            </a:avLst>
          </a:prstGeom>
          <a:solidFill>
            <a:srgbClr val="092925"/>
          </a:solidFill>
          <a:ln/>
        </p:spPr>
      </p:sp>
      <p:sp>
        <p:nvSpPr>
          <p:cNvPr id="24" name="Text 21"/>
          <p:cNvSpPr/>
          <p:nvPr/>
        </p:nvSpPr>
        <p:spPr>
          <a:xfrm>
            <a:off x="666750" y="4062412"/>
            <a:ext cx="7810500" cy="128588"/>
          </a:xfrm>
          <a:prstGeom prst="rect">
            <a:avLst/>
          </a:prstGeom>
          <a:noFill/>
          <a:ln/>
        </p:spPr>
        <p:txBody>
          <a:bodyPr wrap="square" lIns="0" tIns="0" rIns="0" bIns="0" rtlCol="0" anchor="t"/>
          <a:lstStyle/>
          <a:p>
            <a:pPr algn="l" indent="0" marL="0">
              <a:lnSpc>
                <a:spcPts val="949"/>
              </a:lnSpc>
              <a:buNone/>
            </a:pPr>
            <a:r>
              <a:rPr lang="en-US" sz="784" b="1" dirty="0">
                <a:solidFill>
                  <a:srgbClr val="5CE5BD">
                    <a:alpha val="99000"/>
                  </a:srgbClr>
                </a:solidFill>
                <a:latin typeface="Inter" pitchFamily="34" charset="0"/>
                <a:ea typeface="Inter" pitchFamily="34" charset="-122"/>
                <a:cs typeface="Inter" pitchFamily="34" charset="-120"/>
              </a:rPr>
              <a:t>1 / 3 · PRIZE QUESTION  ·  Hands up!</a:t>
            </a:r>
            <a:endParaRPr lang="en-US" sz="784" dirty="0"/>
          </a:p>
        </p:txBody>
      </p:sp>
      <p:sp>
        <p:nvSpPr>
          <p:cNvPr id="25" name="Text 22"/>
          <p:cNvSpPr/>
          <p:nvPr/>
        </p:nvSpPr>
        <p:spPr>
          <a:xfrm>
            <a:off x="666750" y="4219575"/>
            <a:ext cx="7810500" cy="185738"/>
          </a:xfrm>
          <a:prstGeom prst="rect">
            <a:avLst/>
          </a:prstGeom>
          <a:noFill/>
          <a:ln/>
        </p:spPr>
        <p:txBody>
          <a:bodyPr wrap="square" lIns="0" tIns="0" rIns="0" bIns="0" rtlCol="0" anchor="t"/>
          <a:lstStyle/>
          <a:p>
            <a:pPr algn="l" indent="0" marL="0">
              <a:lnSpc>
                <a:spcPts val="1380"/>
              </a:lnSpc>
              <a:buNone/>
            </a:pPr>
            <a:r>
              <a:rPr lang="en-US" sz="1140" dirty="0">
                <a:solidFill>
                  <a:srgbClr val="F2FAF5">
                    <a:alpha val="99000"/>
                  </a:srgbClr>
                </a:solidFill>
                <a:latin typeface="Inter" pitchFamily="34" charset="0"/>
                <a:ea typeface="Inter" pitchFamily="34" charset="-122"/>
                <a:cs typeface="Inter" pitchFamily="34" charset="-120"/>
              </a:rPr>
              <a:t>Who chooses which MCP tool to call?</a:t>
            </a:r>
            <a:endParaRPr lang="en-US" sz="1140" dirty="0"/>
          </a:p>
        </p:txBody>
      </p:sp>
      <p:sp>
        <p:nvSpPr>
          <p:cNvPr id="26" name="Text 23"/>
          <p:cNvSpPr/>
          <p:nvPr/>
        </p:nvSpPr>
        <p:spPr>
          <a:xfrm>
            <a:off x="666750" y="4433888"/>
            <a:ext cx="7810500" cy="157163"/>
          </a:xfrm>
          <a:prstGeom prst="rect">
            <a:avLst/>
          </a:prstGeom>
          <a:noFill/>
          <a:ln/>
        </p:spPr>
        <p:txBody>
          <a:bodyPr wrap="square" lIns="0" tIns="0" rIns="0" bIns="0" rtlCol="0" anchor="t"/>
          <a:lstStyle/>
          <a:p>
            <a:pPr algn="l" indent="0" marL="0">
              <a:lnSpc>
                <a:spcPts val="1164"/>
              </a:lnSpc>
              <a:buNone/>
            </a:pPr>
            <a:r>
              <a:rPr lang="en-US" sz="962" dirty="0">
                <a:solidFill>
                  <a:srgbClr val="F2FAF5">
                    <a:alpha val="99000"/>
                  </a:srgbClr>
                </a:solidFill>
                <a:latin typeface="Inter" pitchFamily="34" charset="0"/>
                <a:ea typeface="Inter" pitchFamily="34" charset="-122"/>
                <a:cs typeface="Inter" pitchFamily="34" charset="-120"/>
              </a:rPr>
              <a:t>A  The host       B  The server       C  JSON</a:t>
            </a:r>
            <a:endParaRPr lang="en-US" sz="96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381000"/>
          </a:xfrm>
          <a:prstGeom prst="rect">
            <a:avLst/>
          </a:prstGeom>
          <a:noFill/>
          <a:ln/>
        </p:spPr>
        <p:txBody>
          <a:bodyPr wrap="square" lIns="0" tIns="0" rIns="0" bIns="0" rtlCol="0" anchor="t"/>
          <a:lstStyle/>
          <a:p>
            <a:pPr algn="l" indent="0" marL="0">
              <a:lnSpc>
                <a:spcPts val="2850"/>
              </a:lnSpc>
              <a:buNone/>
            </a:pPr>
            <a:r>
              <a:rPr lang="en-US" sz="2280" b="1" dirty="0">
                <a:solidFill>
                  <a:srgbClr val="F5FFFA">
                    <a:alpha val="99000"/>
                  </a:srgbClr>
                </a:solidFill>
                <a:latin typeface="Inter" pitchFamily="34" charset="0"/>
                <a:ea typeface="Inter" pitchFamily="34" charset="-122"/>
                <a:cs typeface="Inter" pitchFamily="34" charset="-120"/>
              </a:rPr>
              <a:t>12 AM. Your team’s MCP power tools.</a:t>
            </a:r>
            <a:endParaRPr lang="en-US" sz="2280" dirty="0"/>
          </a:p>
        </p:txBody>
      </p:sp>
      <p:sp>
        <p:nvSpPr>
          <p:cNvPr id="4" name="Shape 1"/>
          <p:cNvSpPr/>
          <p:nvPr/>
        </p:nvSpPr>
        <p:spPr>
          <a:xfrm>
            <a:off x="581025" y="838200"/>
            <a:ext cx="523875" cy="33338"/>
          </a:xfrm>
          <a:prstGeom prst="rect">
            <a:avLst/>
          </a:prstGeom>
          <a:solidFill>
            <a:srgbClr val="4FE3BD"/>
          </a:solidFill>
          <a:ln/>
        </p:spPr>
      </p:sp>
      <p:sp>
        <p:nvSpPr>
          <p:cNvPr id="5" name="Text 2"/>
          <p:cNvSpPr/>
          <p:nvPr/>
        </p:nvSpPr>
        <p:spPr>
          <a:xfrm>
            <a:off x="571500" y="4629150"/>
            <a:ext cx="8001000" cy="138113"/>
          </a:xfrm>
          <a:prstGeom prst="rect">
            <a:avLst/>
          </a:prstGeom>
          <a:noFill/>
          <a:ln/>
        </p:spPr>
        <p:txBody>
          <a:bodyPr wrap="square" lIns="0" tIns="0" rIns="0" bIns="0" rtlCol="0" anchor="t"/>
          <a:lstStyle/>
          <a:p>
            <a:pPr algn="l" indent="0" marL="0">
              <a:lnSpc>
                <a:spcPts val="1024"/>
              </a:lnSpc>
              <a:buNone/>
            </a:pPr>
            <a:r>
              <a:rPr lang="en-US" sz="819" dirty="0">
                <a:solidFill>
                  <a:srgbClr val="BAD9CF">
                    <a:alpha val="99000"/>
                  </a:srgbClr>
                </a:solidFill>
                <a:latin typeface="Inter" pitchFamily="34" charset="0"/>
                <a:ea typeface="Inter" pitchFamily="34" charset="-122"/>
                <a:cs typeface="Inter" pitchFamily="34" charset="-120"/>
              </a:rPr>
              <a:t>Start with the 2–3 servers your demo needs. Access and features depend on permissions and plans.</a:t>
            </a:r>
            <a:endParaRPr lang="en-US" sz="819" dirty="0"/>
          </a:p>
        </p:txBody>
      </p:sp>
      <p:sp>
        <p:nvSpPr>
          <p:cNvPr id="6" name="Text 3"/>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08 / 29</a:t>
            </a:r>
            <a:endParaRPr lang="en-US" sz="855" dirty="0"/>
          </a:p>
        </p:txBody>
      </p:sp>
      <p:sp>
        <p:nvSpPr>
          <p:cNvPr id="7" name="Text 4"/>
          <p:cNvSpPr/>
          <p:nvPr/>
        </p:nvSpPr>
        <p:spPr>
          <a:xfrm>
            <a:off x="571500" y="1004887"/>
            <a:ext cx="8001000" cy="195263"/>
          </a:xfrm>
          <a:prstGeom prst="rect">
            <a:avLst/>
          </a:prstGeom>
          <a:noFill/>
          <a:ln/>
        </p:spPr>
        <p:txBody>
          <a:bodyPr wrap="square" lIns="0" tIns="0" rIns="0" bIns="0" rtlCol="0" anchor="t"/>
          <a:lstStyle/>
          <a:p>
            <a:pPr algn="l" indent="0" marL="0">
              <a:lnSpc>
                <a:spcPts val="1466"/>
              </a:lnSpc>
              <a:buNone/>
            </a:pPr>
            <a:r>
              <a:rPr lang="en-US" sz="1211" dirty="0">
                <a:solidFill>
                  <a:srgbClr val="F2FAF5">
                    <a:alpha val="99000"/>
                  </a:srgbClr>
                </a:solidFill>
                <a:latin typeface="Inter" pitchFamily="34" charset="0"/>
                <a:ea typeface="Inter" pitchFamily="34" charset="-122"/>
                <a:cs typeface="Inter" pitchFamily="34" charset="-120"/>
              </a:rPr>
              <a:t>Connect existing servers. Spend your time on the idea.</a:t>
            </a:r>
            <a:endParaRPr lang="en-US" sz="1211" dirty="0"/>
          </a:p>
        </p:txBody>
      </p:sp>
      <p:sp>
        <p:nvSpPr>
          <p:cNvPr id="8" name="Shape 5"/>
          <p:cNvSpPr/>
          <p:nvPr/>
        </p:nvSpPr>
        <p:spPr>
          <a:xfrm>
            <a:off x="571500" y="1343025"/>
            <a:ext cx="1885950" cy="1190625"/>
          </a:xfrm>
          <a:prstGeom prst="roundRect">
            <a:avLst>
              <a:gd name="adj" fmla="val 13824"/>
            </a:avLst>
          </a:prstGeom>
          <a:solidFill>
            <a:srgbClr val="092925"/>
          </a:solidFill>
          <a:ln/>
        </p:spPr>
      </p:sp>
      <p:sp>
        <p:nvSpPr>
          <p:cNvPr id="9" name="Shape 6"/>
          <p:cNvSpPr/>
          <p:nvPr/>
        </p:nvSpPr>
        <p:spPr>
          <a:xfrm>
            <a:off x="685800" y="1447800"/>
            <a:ext cx="1638300" cy="209550"/>
          </a:xfrm>
          <a:prstGeom prst="rect">
            <a:avLst/>
          </a:prstGeom>
          <a:noFill/>
          <a:ln/>
        </p:spPr>
      </p:sp>
      <p:pic>
        <p:nvPicPr>
          <p:cNvPr id="10" name="Image 0" descr="preencoded.png">    </p:cNvPr>
          <p:cNvPicPr>
            <a:picLocks noChangeAspect="1"/>
          </p:cNvPicPr>
          <p:nvPr/>
        </p:nvPicPr>
        <p:blipFill>
          <a:blip r:embed="rId2"/>
          <a:srcRect l="0" r="0" t="0" b="0"/>
          <a:stretch/>
        </p:blipFill>
        <p:spPr>
          <a:xfrm>
            <a:off x="685800" y="1447800"/>
            <a:ext cx="209550" cy="209550"/>
          </a:xfrm>
          <a:prstGeom prst="rect">
            <a:avLst/>
          </a:prstGeom>
        </p:spPr>
      </p:pic>
      <p:sp>
        <p:nvSpPr>
          <p:cNvPr id="11" name="Text 7"/>
          <p:cNvSpPr/>
          <p:nvPr/>
        </p:nvSpPr>
        <p:spPr>
          <a:xfrm>
            <a:off x="962025" y="1466850"/>
            <a:ext cx="1362075" cy="171450"/>
          </a:xfrm>
          <a:prstGeom prst="rect">
            <a:avLst/>
          </a:prstGeom>
          <a:noFill/>
          <a:ln/>
        </p:spPr>
        <p:txBody>
          <a:bodyPr wrap="square" lIns="0" tIns="0" rIns="0" bIns="0" rtlCol="0" anchor="t"/>
          <a:lstStyle/>
          <a:p>
            <a:pPr algn="l" indent="0" marL="0">
              <a:lnSpc>
                <a:spcPts val="1293"/>
              </a:lnSpc>
              <a:buNone/>
            </a:pPr>
            <a:r>
              <a:rPr lang="en-US" sz="1069" b="1" dirty="0">
                <a:solidFill>
                  <a:srgbClr val="5CE5BD">
                    <a:alpha val="99000"/>
                  </a:srgbClr>
                </a:solidFill>
                <a:latin typeface="Inter" pitchFamily="34" charset="0"/>
                <a:ea typeface="Inter" pitchFamily="34" charset="-122"/>
                <a:cs typeface="Inter" pitchFamily="34" charset="-120"/>
              </a:rPr>
              <a:t>Figma</a:t>
            </a:r>
            <a:endParaRPr lang="en-US" sz="1069" dirty="0"/>
          </a:p>
        </p:txBody>
      </p:sp>
      <p:sp>
        <p:nvSpPr>
          <p:cNvPr id="12" name="Text 8"/>
          <p:cNvSpPr/>
          <p:nvPr/>
        </p:nvSpPr>
        <p:spPr>
          <a:xfrm>
            <a:off x="685800" y="1724025"/>
            <a:ext cx="1657350" cy="128588"/>
          </a:xfrm>
          <a:prstGeom prst="rect">
            <a:avLst/>
          </a:prstGeom>
          <a:noFill/>
          <a:ln/>
        </p:spPr>
        <p:txBody>
          <a:bodyPr wrap="square" lIns="0" tIns="0" rIns="0" bIns="0" rtlCol="0" anchor="t"/>
          <a:lstStyle/>
          <a:p>
            <a:pPr algn="l" indent="0" marL="0">
              <a:lnSpc>
                <a:spcPts val="949"/>
              </a:lnSpc>
              <a:buNone/>
            </a:pPr>
            <a:r>
              <a:rPr lang="en-US" sz="784" b="1" dirty="0">
                <a:solidFill>
                  <a:srgbClr val="5CE5BD">
                    <a:alpha val="99000"/>
                  </a:srgbClr>
                </a:solidFill>
                <a:latin typeface="Inter" pitchFamily="34" charset="0"/>
                <a:ea typeface="Inter" pitchFamily="34" charset="-122"/>
                <a:cs typeface="Inter" pitchFamily="34" charset="-120"/>
              </a:rPr>
              <a:t>DESIGN</a:t>
            </a:r>
            <a:endParaRPr lang="en-US" sz="784" dirty="0"/>
          </a:p>
        </p:txBody>
      </p:sp>
      <p:sp>
        <p:nvSpPr>
          <p:cNvPr id="13" name="Text 9"/>
          <p:cNvSpPr/>
          <p:nvPr/>
        </p:nvSpPr>
        <p:spPr>
          <a:xfrm>
            <a:off x="685800" y="1919288"/>
            <a:ext cx="1657350" cy="323850"/>
          </a:xfrm>
          <a:prstGeom prst="rect">
            <a:avLst/>
          </a:prstGeom>
          <a:noFill/>
          <a:ln/>
        </p:spPr>
        <p:txBody>
          <a:bodyPr wrap="square" lIns="0" tIns="0" rIns="0" bIns="0" rtlCol="0" anchor="t"/>
          <a:lstStyle/>
          <a:p>
            <a:pPr algn="l" indent="0" marL="0">
              <a:lnSpc>
                <a:spcPts val="1207"/>
              </a:lnSpc>
              <a:buNone/>
            </a:pPr>
            <a:r>
              <a:rPr lang="en-US" sz="998" dirty="0">
                <a:solidFill>
                  <a:srgbClr val="F2FAF5">
                    <a:alpha val="99000"/>
                  </a:srgbClr>
                </a:solidFill>
                <a:latin typeface="Inter" pitchFamily="34" charset="0"/>
                <a:ea typeface="Inter" pitchFamily="34" charset="-122"/>
                <a:cs typeface="Inter" pitchFamily="34" charset="-120"/>
              </a:rPr>
              <a:t>Bring UI designs into your coding workflow.</a:t>
            </a:r>
            <a:endParaRPr lang="en-US" sz="998" dirty="0"/>
          </a:p>
        </p:txBody>
      </p:sp>
      <p:sp>
        <p:nvSpPr>
          <p:cNvPr id="14" name="Shape 10"/>
          <p:cNvSpPr/>
          <p:nvPr/>
        </p:nvSpPr>
        <p:spPr>
          <a:xfrm>
            <a:off x="2609850" y="1343025"/>
            <a:ext cx="1885950" cy="1190625"/>
          </a:xfrm>
          <a:prstGeom prst="roundRect">
            <a:avLst>
              <a:gd name="adj" fmla="val 13824"/>
            </a:avLst>
          </a:prstGeom>
          <a:solidFill>
            <a:srgbClr val="092925"/>
          </a:solidFill>
          <a:ln/>
        </p:spPr>
      </p:sp>
      <p:sp>
        <p:nvSpPr>
          <p:cNvPr id="15" name="Shape 11"/>
          <p:cNvSpPr/>
          <p:nvPr/>
        </p:nvSpPr>
        <p:spPr>
          <a:xfrm>
            <a:off x="2724150" y="1447800"/>
            <a:ext cx="1638300" cy="209550"/>
          </a:xfrm>
          <a:prstGeom prst="rect">
            <a:avLst/>
          </a:prstGeom>
          <a:noFill/>
          <a:ln/>
        </p:spPr>
      </p:sp>
      <p:pic>
        <p:nvPicPr>
          <p:cNvPr id="16" name="Image 1" descr="preencoded.png">    </p:cNvPr>
          <p:cNvPicPr>
            <a:picLocks noChangeAspect="1"/>
          </p:cNvPicPr>
          <p:nvPr/>
        </p:nvPicPr>
        <p:blipFill>
          <a:blip r:embed="rId3"/>
          <a:srcRect l="0" r="0" t="0" b="0"/>
          <a:stretch/>
        </p:blipFill>
        <p:spPr>
          <a:xfrm>
            <a:off x="2724150" y="1447800"/>
            <a:ext cx="209550" cy="209550"/>
          </a:xfrm>
          <a:prstGeom prst="rect">
            <a:avLst/>
          </a:prstGeom>
        </p:spPr>
      </p:pic>
      <p:sp>
        <p:nvSpPr>
          <p:cNvPr id="17" name="Text 12"/>
          <p:cNvSpPr/>
          <p:nvPr/>
        </p:nvSpPr>
        <p:spPr>
          <a:xfrm>
            <a:off x="3000375" y="1466850"/>
            <a:ext cx="1362075" cy="171450"/>
          </a:xfrm>
          <a:prstGeom prst="rect">
            <a:avLst/>
          </a:prstGeom>
          <a:noFill/>
          <a:ln/>
        </p:spPr>
        <p:txBody>
          <a:bodyPr wrap="square" lIns="0" tIns="0" rIns="0" bIns="0" rtlCol="0" anchor="t"/>
          <a:lstStyle/>
          <a:p>
            <a:pPr algn="l" indent="0" marL="0">
              <a:lnSpc>
                <a:spcPts val="1293"/>
              </a:lnSpc>
              <a:buNone/>
            </a:pPr>
            <a:r>
              <a:rPr lang="en-US" sz="1069" b="1" dirty="0">
                <a:solidFill>
                  <a:srgbClr val="5CE5BD">
                    <a:alpha val="99000"/>
                  </a:srgbClr>
                </a:solidFill>
                <a:latin typeface="Inter" pitchFamily="34" charset="0"/>
                <a:ea typeface="Inter" pitchFamily="34" charset="-122"/>
                <a:cs typeface="Inter" pitchFamily="34" charset="-120"/>
              </a:rPr>
              <a:t>GitHub</a:t>
            </a:r>
            <a:endParaRPr lang="en-US" sz="1069" dirty="0"/>
          </a:p>
        </p:txBody>
      </p:sp>
      <p:sp>
        <p:nvSpPr>
          <p:cNvPr id="18" name="Text 13"/>
          <p:cNvSpPr/>
          <p:nvPr/>
        </p:nvSpPr>
        <p:spPr>
          <a:xfrm>
            <a:off x="2724150" y="1724025"/>
            <a:ext cx="1657350" cy="128588"/>
          </a:xfrm>
          <a:prstGeom prst="rect">
            <a:avLst/>
          </a:prstGeom>
          <a:noFill/>
          <a:ln/>
        </p:spPr>
        <p:txBody>
          <a:bodyPr wrap="square" lIns="0" tIns="0" rIns="0" bIns="0" rtlCol="0" anchor="t"/>
          <a:lstStyle/>
          <a:p>
            <a:pPr algn="l" indent="0" marL="0">
              <a:lnSpc>
                <a:spcPts val="949"/>
              </a:lnSpc>
              <a:buNone/>
            </a:pPr>
            <a:r>
              <a:rPr lang="en-US" sz="784" b="1" dirty="0">
                <a:solidFill>
                  <a:srgbClr val="5CE5BD">
                    <a:alpha val="99000"/>
                  </a:srgbClr>
                </a:solidFill>
                <a:latin typeface="Inter" pitchFamily="34" charset="0"/>
                <a:ea typeface="Inter" pitchFamily="34" charset="-122"/>
                <a:cs typeface="Inter" pitchFamily="34" charset="-120"/>
              </a:rPr>
              <a:t>BUILD</a:t>
            </a:r>
            <a:endParaRPr lang="en-US" sz="784" dirty="0"/>
          </a:p>
        </p:txBody>
      </p:sp>
      <p:sp>
        <p:nvSpPr>
          <p:cNvPr id="19" name="Text 14"/>
          <p:cNvSpPr/>
          <p:nvPr/>
        </p:nvSpPr>
        <p:spPr>
          <a:xfrm>
            <a:off x="2724150" y="1919288"/>
            <a:ext cx="1657350" cy="323850"/>
          </a:xfrm>
          <a:prstGeom prst="rect">
            <a:avLst/>
          </a:prstGeom>
          <a:noFill/>
          <a:ln/>
        </p:spPr>
        <p:txBody>
          <a:bodyPr wrap="square" lIns="0" tIns="0" rIns="0" bIns="0" rtlCol="0" anchor="t"/>
          <a:lstStyle/>
          <a:p>
            <a:pPr algn="l" indent="0" marL="0">
              <a:lnSpc>
                <a:spcPts val="1207"/>
              </a:lnSpc>
              <a:buNone/>
            </a:pPr>
            <a:r>
              <a:rPr lang="en-US" sz="998" dirty="0">
                <a:solidFill>
                  <a:srgbClr val="F2FAF5">
                    <a:alpha val="99000"/>
                  </a:srgbClr>
                </a:solidFill>
                <a:latin typeface="Inter" pitchFamily="34" charset="0"/>
                <a:ea typeface="Inter" pitchFamily="34" charset="-122"/>
                <a:cs typeface="Inter" pitchFamily="34" charset="-120"/>
              </a:rPr>
              <a:t>Inspect code, track issues and work with PRs.</a:t>
            </a:r>
            <a:endParaRPr lang="en-US" sz="998" dirty="0"/>
          </a:p>
        </p:txBody>
      </p:sp>
      <p:sp>
        <p:nvSpPr>
          <p:cNvPr id="20" name="Shape 15"/>
          <p:cNvSpPr/>
          <p:nvPr/>
        </p:nvSpPr>
        <p:spPr>
          <a:xfrm>
            <a:off x="4648200" y="1343025"/>
            <a:ext cx="1885950" cy="1190625"/>
          </a:xfrm>
          <a:prstGeom prst="roundRect">
            <a:avLst>
              <a:gd name="adj" fmla="val 13824"/>
            </a:avLst>
          </a:prstGeom>
          <a:solidFill>
            <a:srgbClr val="092925"/>
          </a:solidFill>
          <a:ln/>
        </p:spPr>
      </p:sp>
      <p:sp>
        <p:nvSpPr>
          <p:cNvPr id="21" name="Shape 16"/>
          <p:cNvSpPr/>
          <p:nvPr/>
        </p:nvSpPr>
        <p:spPr>
          <a:xfrm>
            <a:off x="4762500" y="1447800"/>
            <a:ext cx="1638300" cy="209550"/>
          </a:xfrm>
          <a:prstGeom prst="rect">
            <a:avLst/>
          </a:prstGeom>
          <a:noFill/>
          <a:ln/>
        </p:spPr>
      </p:sp>
      <p:pic>
        <p:nvPicPr>
          <p:cNvPr id="22" name="Image 2" descr="preencoded.png">    </p:cNvPr>
          <p:cNvPicPr>
            <a:picLocks noChangeAspect="1"/>
          </p:cNvPicPr>
          <p:nvPr/>
        </p:nvPicPr>
        <p:blipFill>
          <a:blip r:embed="rId4"/>
          <a:srcRect l="0" r="0" t="0" b="0"/>
          <a:stretch/>
        </p:blipFill>
        <p:spPr>
          <a:xfrm>
            <a:off x="4762500" y="1447800"/>
            <a:ext cx="209550" cy="209550"/>
          </a:xfrm>
          <a:prstGeom prst="rect">
            <a:avLst/>
          </a:prstGeom>
        </p:spPr>
      </p:pic>
      <p:sp>
        <p:nvSpPr>
          <p:cNvPr id="23" name="Text 17"/>
          <p:cNvSpPr/>
          <p:nvPr/>
        </p:nvSpPr>
        <p:spPr>
          <a:xfrm>
            <a:off x="5038725" y="1466850"/>
            <a:ext cx="1362075" cy="171450"/>
          </a:xfrm>
          <a:prstGeom prst="rect">
            <a:avLst/>
          </a:prstGeom>
          <a:noFill/>
          <a:ln/>
        </p:spPr>
        <p:txBody>
          <a:bodyPr wrap="square" lIns="0" tIns="0" rIns="0" bIns="0" rtlCol="0" anchor="t"/>
          <a:lstStyle/>
          <a:p>
            <a:pPr algn="l" indent="0" marL="0">
              <a:lnSpc>
                <a:spcPts val="1293"/>
              </a:lnSpc>
              <a:buNone/>
            </a:pPr>
            <a:r>
              <a:rPr lang="en-US" sz="1069" b="1" dirty="0">
                <a:solidFill>
                  <a:srgbClr val="5CE5BD">
                    <a:alpha val="99000"/>
                  </a:srgbClr>
                </a:solidFill>
                <a:latin typeface="Inter" pitchFamily="34" charset="0"/>
                <a:ea typeface="Inter" pitchFamily="34" charset="-122"/>
                <a:cs typeface="Inter" pitchFamily="34" charset="-120"/>
              </a:rPr>
              <a:t>Supabase</a:t>
            </a:r>
            <a:endParaRPr lang="en-US" sz="1069" dirty="0"/>
          </a:p>
        </p:txBody>
      </p:sp>
      <p:sp>
        <p:nvSpPr>
          <p:cNvPr id="24" name="Text 18"/>
          <p:cNvSpPr/>
          <p:nvPr/>
        </p:nvSpPr>
        <p:spPr>
          <a:xfrm>
            <a:off x="4762500" y="1724025"/>
            <a:ext cx="1657350" cy="128588"/>
          </a:xfrm>
          <a:prstGeom prst="rect">
            <a:avLst/>
          </a:prstGeom>
          <a:noFill/>
          <a:ln/>
        </p:spPr>
        <p:txBody>
          <a:bodyPr wrap="square" lIns="0" tIns="0" rIns="0" bIns="0" rtlCol="0" anchor="t"/>
          <a:lstStyle/>
          <a:p>
            <a:pPr algn="l" indent="0" marL="0">
              <a:lnSpc>
                <a:spcPts val="949"/>
              </a:lnSpc>
              <a:buNone/>
            </a:pPr>
            <a:r>
              <a:rPr lang="en-US" sz="784" b="1" dirty="0">
                <a:solidFill>
                  <a:srgbClr val="5CE5BD">
                    <a:alpha val="99000"/>
                  </a:srgbClr>
                </a:solidFill>
                <a:latin typeface="Inter" pitchFamily="34" charset="0"/>
                <a:ea typeface="Inter" pitchFamily="34" charset="-122"/>
                <a:cs typeface="Inter" pitchFamily="34" charset="-120"/>
              </a:rPr>
              <a:t>DATA</a:t>
            </a:r>
            <a:endParaRPr lang="en-US" sz="784" dirty="0"/>
          </a:p>
        </p:txBody>
      </p:sp>
      <p:sp>
        <p:nvSpPr>
          <p:cNvPr id="25" name="Text 19"/>
          <p:cNvSpPr/>
          <p:nvPr/>
        </p:nvSpPr>
        <p:spPr>
          <a:xfrm>
            <a:off x="4762500" y="1919288"/>
            <a:ext cx="1657350" cy="485775"/>
          </a:xfrm>
          <a:prstGeom prst="rect">
            <a:avLst/>
          </a:prstGeom>
          <a:noFill/>
          <a:ln/>
        </p:spPr>
        <p:txBody>
          <a:bodyPr wrap="square" lIns="0" tIns="0" rIns="0" bIns="0" rtlCol="0" anchor="t"/>
          <a:lstStyle/>
          <a:p>
            <a:pPr algn="l" indent="0" marL="0">
              <a:lnSpc>
                <a:spcPts val="1207"/>
              </a:lnSpc>
              <a:buNone/>
            </a:pPr>
            <a:r>
              <a:rPr lang="en-US" sz="998" dirty="0">
                <a:solidFill>
                  <a:srgbClr val="F2FAF5">
                    <a:alpha val="99000"/>
                  </a:srgbClr>
                </a:solidFill>
                <a:latin typeface="Inter" pitchFamily="34" charset="0"/>
                <a:ea typeface="Inter" pitchFamily="34" charset="-122"/>
                <a:cs typeface="Inter" pitchFamily="34" charset="-120"/>
              </a:rPr>
              <a:t>Inspect schemas, query data and manage migrations.</a:t>
            </a:r>
            <a:endParaRPr lang="en-US" sz="998" dirty="0"/>
          </a:p>
        </p:txBody>
      </p:sp>
      <p:sp>
        <p:nvSpPr>
          <p:cNvPr id="26" name="Shape 20"/>
          <p:cNvSpPr/>
          <p:nvPr/>
        </p:nvSpPr>
        <p:spPr>
          <a:xfrm>
            <a:off x="6686550" y="1343025"/>
            <a:ext cx="1885950" cy="1190625"/>
          </a:xfrm>
          <a:prstGeom prst="roundRect">
            <a:avLst>
              <a:gd name="adj" fmla="val 13824"/>
            </a:avLst>
          </a:prstGeom>
          <a:solidFill>
            <a:srgbClr val="092925"/>
          </a:solidFill>
          <a:ln/>
        </p:spPr>
      </p:sp>
      <p:sp>
        <p:nvSpPr>
          <p:cNvPr id="27" name="Shape 21"/>
          <p:cNvSpPr/>
          <p:nvPr/>
        </p:nvSpPr>
        <p:spPr>
          <a:xfrm>
            <a:off x="6800850" y="1447800"/>
            <a:ext cx="1638300" cy="209550"/>
          </a:xfrm>
          <a:prstGeom prst="rect">
            <a:avLst/>
          </a:prstGeom>
          <a:noFill/>
          <a:ln/>
        </p:spPr>
      </p:sp>
      <p:pic>
        <p:nvPicPr>
          <p:cNvPr id="28" name="Image 3" descr="preencoded.png">    </p:cNvPr>
          <p:cNvPicPr>
            <a:picLocks noChangeAspect="1"/>
          </p:cNvPicPr>
          <p:nvPr/>
        </p:nvPicPr>
        <p:blipFill>
          <a:blip r:embed="rId5"/>
          <a:srcRect l="0" r="0" t="0" b="0"/>
          <a:stretch/>
        </p:blipFill>
        <p:spPr>
          <a:xfrm>
            <a:off x="6800850" y="1447800"/>
            <a:ext cx="209550" cy="209550"/>
          </a:xfrm>
          <a:prstGeom prst="rect">
            <a:avLst/>
          </a:prstGeom>
        </p:spPr>
      </p:pic>
      <p:sp>
        <p:nvSpPr>
          <p:cNvPr id="29" name="Text 22"/>
          <p:cNvSpPr/>
          <p:nvPr/>
        </p:nvSpPr>
        <p:spPr>
          <a:xfrm>
            <a:off x="7077075" y="1466850"/>
            <a:ext cx="1362075" cy="171450"/>
          </a:xfrm>
          <a:prstGeom prst="rect">
            <a:avLst/>
          </a:prstGeom>
          <a:noFill/>
          <a:ln/>
        </p:spPr>
        <p:txBody>
          <a:bodyPr wrap="square" lIns="0" tIns="0" rIns="0" bIns="0" rtlCol="0" anchor="t"/>
          <a:lstStyle/>
          <a:p>
            <a:pPr algn="l" indent="0" marL="0">
              <a:lnSpc>
                <a:spcPts val="1293"/>
              </a:lnSpc>
              <a:buNone/>
            </a:pPr>
            <a:r>
              <a:rPr lang="en-US" sz="1069" b="1" dirty="0">
                <a:solidFill>
                  <a:srgbClr val="5CE5BD">
                    <a:alpha val="99000"/>
                  </a:srgbClr>
                </a:solidFill>
                <a:latin typeface="Inter" pitchFamily="34" charset="0"/>
                <a:ea typeface="Inter" pitchFamily="34" charset="-122"/>
                <a:cs typeface="Inter" pitchFamily="34" charset="-120"/>
              </a:rPr>
              <a:t>Playwright</a:t>
            </a:r>
            <a:endParaRPr lang="en-US" sz="1069" dirty="0"/>
          </a:p>
        </p:txBody>
      </p:sp>
      <p:sp>
        <p:nvSpPr>
          <p:cNvPr id="30" name="Text 23"/>
          <p:cNvSpPr/>
          <p:nvPr/>
        </p:nvSpPr>
        <p:spPr>
          <a:xfrm>
            <a:off x="6800850" y="1724025"/>
            <a:ext cx="1657350" cy="128588"/>
          </a:xfrm>
          <a:prstGeom prst="rect">
            <a:avLst/>
          </a:prstGeom>
          <a:noFill/>
          <a:ln/>
        </p:spPr>
        <p:txBody>
          <a:bodyPr wrap="square" lIns="0" tIns="0" rIns="0" bIns="0" rtlCol="0" anchor="t"/>
          <a:lstStyle/>
          <a:p>
            <a:pPr algn="l" indent="0" marL="0">
              <a:lnSpc>
                <a:spcPts val="949"/>
              </a:lnSpc>
              <a:buNone/>
            </a:pPr>
            <a:r>
              <a:rPr lang="en-US" sz="784" b="1" dirty="0">
                <a:solidFill>
                  <a:srgbClr val="5CE5BD">
                    <a:alpha val="99000"/>
                  </a:srgbClr>
                </a:solidFill>
                <a:latin typeface="Inter" pitchFamily="34" charset="0"/>
                <a:ea typeface="Inter" pitchFamily="34" charset="-122"/>
                <a:cs typeface="Inter" pitchFamily="34" charset="-120"/>
              </a:rPr>
              <a:t>TEST</a:t>
            </a:r>
            <a:endParaRPr lang="en-US" sz="784" dirty="0"/>
          </a:p>
        </p:txBody>
      </p:sp>
      <p:sp>
        <p:nvSpPr>
          <p:cNvPr id="31" name="Text 24"/>
          <p:cNvSpPr/>
          <p:nvPr/>
        </p:nvSpPr>
        <p:spPr>
          <a:xfrm>
            <a:off x="6800850" y="1919288"/>
            <a:ext cx="1657350" cy="323850"/>
          </a:xfrm>
          <a:prstGeom prst="rect">
            <a:avLst/>
          </a:prstGeom>
          <a:noFill/>
          <a:ln/>
        </p:spPr>
        <p:txBody>
          <a:bodyPr wrap="square" lIns="0" tIns="0" rIns="0" bIns="0" rtlCol="0" anchor="t"/>
          <a:lstStyle/>
          <a:p>
            <a:pPr algn="l" indent="0" marL="0">
              <a:lnSpc>
                <a:spcPts val="1207"/>
              </a:lnSpc>
              <a:buNone/>
            </a:pPr>
            <a:r>
              <a:rPr lang="en-US" sz="998" dirty="0">
                <a:solidFill>
                  <a:srgbClr val="F2FAF5">
                    <a:alpha val="99000"/>
                  </a:srgbClr>
                </a:solidFill>
                <a:latin typeface="Inter" pitchFamily="34" charset="0"/>
                <a:ea typeface="Inter" pitchFamily="34" charset="-122"/>
                <a:cs typeface="Inter" pitchFamily="34" charset="-120"/>
              </a:rPr>
              <a:t>Drive the browser and verify the demo flow.</a:t>
            </a:r>
            <a:endParaRPr lang="en-US" sz="998" dirty="0"/>
          </a:p>
        </p:txBody>
      </p:sp>
      <p:sp>
        <p:nvSpPr>
          <p:cNvPr id="32" name="Shape 25"/>
          <p:cNvSpPr/>
          <p:nvPr/>
        </p:nvSpPr>
        <p:spPr>
          <a:xfrm>
            <a:off x="571500" y="2662238"/>
            <a:ext cx="1885950" cy="1190625"/>
          </a:xfrm>
          <a:prstGeom prst="roundRect">
            <a:avLst>
              <a:gd name="adj" fmla="val 13824"/>
            </a:avLst>
          </a:prstGeom>
          <a:solidFill>
            <a:srgbClr val="092925"/>
          </a:solidFill>
          <a:ln/>
        </p:spPr>
      </p:sp>
      <p:sp>
        <p:nvSpPr>
          <p:cNvPr id="33" name="Shape 26"/>
          <p:cNvSpPr/>
          <p:nvPr/>
        </p:nvSpPr>
        <p:spPr>
          <a:xfrm>
            <a:off x="685800" y="2767013"/>
            <a:ext cx="1638300" cy="209550"/>
          </a:xfrm>
          <a:prstGeom prst="rect">
            <a:avLst/>
          </a:prstGeom>
          <a:noFill/>
          <a:ln/>
        </p:spPr>
      </p:sp>
      <p:pic>
        <p:nvPicPr>
          <p:cNvPr id="34" name="Image 4" descr="preencoded.png">    </p:cNvPr>
          <p:cNvPicPr>
            <a:picLocks noChangeAspect="1"/>
          </p:cNvPicPr>
          <p:nvPr/>
        </p:nvPicPr>
        <p:blipFill>
          <a:blip r:embed="rId6"/>
          <a:srcRect l="0" r="0" t="0" b="0"/>
          <a:stretch/>
        </p:blipFill>
        <p:spPr>
          <a:xfrm>
            <a:off x="685800" y="2767013"/>
            <a:ext cx="209550" cy="209550"/>
          </a:xfrm>
          <a:prstGeom prst="rect">
            <a:avLst/>
          </a:prstGeom>
        </p:spPr>
      </p:pic>
      <p:sp>
        <p:nvSpPr>
          <p:cNvPr id="35" name="Text 27"/>
          <p:cNvSpPr/>
          <p:nvPr/>
        </p:nvSpPr>
        <p:spPr>
          <a:xfrm>
            <a:off x="962025" y="2786063"/>
            <a:ext cx="1362075" cy="171450"/>
          </a:xfrm>
          <a:prstGeom prst="rect">
            <a:avLst/>
          </a:prstGeom>
          <a:noFill/>
          <a:ln/>
        </p:spPr>
        <p:txBody>
          <a:bodyPr wrap="square" lIns="0" tIns="0" rIns="0" bIns="0" rtlCol="0" anchor="t"/>
          <a:lstStyle/>
          <a:p>
            <a:pPr algn="l" indent="0" marL="0">
              <a:lnSpc>
                <a:spcPts val="1293"/>
              </a:lnSpc>
              <a:buNone/>
            </a:pPr>
            <a:r>
              <a:rPr lang="en-US" sz="1069" b="1" dirty="0">
                <a:solidFill>
                  <a:srgbClr val="5CE5BD">
                    <a:alpha val="99000"/>
                  </a:srgbClr>
                </a:solidFill>
                <a:latin typeface="Inter" pitchFamily="34" charset="0"/>
                <a:ea typeface="Inter" pitchFamily="34" charset="-122"/>
                <a:cs typeface="Inter" pitchFamily="34" charset="-120"/>
              </a:rPr>
              <a:t>Vercel</a:t>
            </a:r>
            <a:endParaRPr lang="en-US" sz="1069" dirty="0"/>
          </a:p>
        </p:txBody>
      </p:sp>
      <p:sp>
        <p:nvSpPr>
          <p:cNvPr id="36" name="Text 28"/>
          <p:cNvSpPr/>
          <p:nvPr/>
        </p:nvSpPr>
        <p:spPr>
          <a:xfrm>
            <a:off x="685800" y="3043238"/>
            <a:ext cx="1657350" cy="128588"/>
          </a:xfrm>
          <a:prstGeom prst="rect">
            <a:avLst/>
          </a:prstGeom>
          <a:noFill/>
          <a:ln/>
        </p:spPr>
        <p:txBody>
          <a:bodyPr wrap="square" lIns="0" tIns="0" rIns="0" bIns="0" rtlCol="0" anchor="t"/>
          <a:lstStyle/>
          <a:p>
            <a:pPr algn="l" indent="0" marL="0">
              <a:lnSpc>
                <a:spcPts val="949"/>
              </a:lnSpc>
              <a:buNone/>
            </a:pPr>
            <a:r>
              <a:rPr lang="en-US" sz="784" b="1" dirty="0">
                <a:solidFill>
                  <a:srgbClr val="5CE5BD">
                    <a:alpha val="99000"/>
                  </a:srgbClr>
                </a:solidFill>
                <a:latin typeface="Inter" pitchFamily="34" charset="0"/>
                <a:ea typeface="Inter" pitchFamily="34" charset="-122"/>
                <a:cs typeface="Inter" pitchFamily="34" charset="-120"/>
              </a:rPr>
              <a:t>SHIP</a:t>
            </a:r>
            <a:endParaRPr lang="en-US" sz="784" dirty="0"/>
          </a:p>
        </p:txBody>
      </p:sp>
      <p:sp>
        <p:nvSpPr>
          <p:cNvPr id="37" name="Text 29"/>
          <p:cNvSpPr/>
          <p:nvPr/>
        </p:nvSpPr>
        <p:spPr>
          <a:xfrm>
            <a:off x="685800" y="3238500"/>
            <a:ext cx="1657350" cy="323850"/>
          </a:xfrm>
          <a:prstGeom prst="rect">
            <a:avLst/>
          </a:prstGeom>
          <a:noFill/>
          <a:ln/>
        </p:spPr>
        <p:txBody>
          <a:bodyPr wrap="square" lIns="0" tIns="0" rIns="0" bIns="0" rtlCol="0" anchor="t"/>
          <a:lstStyle/>
          <a:p>
            <a:pPr algn="l" indent="0" marL="0">
              <a:lnSpc>
                <a:spcPts val="1207"/>
              </a:lnSpc>
              <a:buNone/>
            </a:pPr>
            <a:r>
              <a:rPr lang="en-US" sz="998" dirty="0">
                <a:solidFill>
                  <a:srgbClr val="F2FAF5">
                    <a:alpha val="99000"/>
                  </a:srgbClr>
                </a:solidFill>
                <a:latin typeface="Inter" pitchFamily="34" charset="0"/>
                <a:ea typeface="Inter" pitchFamily="34" charset="-122"/>
                <a:cs typeface="Inter" pitchFamily="34" charset="-120"/>
              </a:rPr>
              <a:t>Manage deployments and inspect deployment logs.</a:t>
            </a:r>
            <a:endParaRPr lang="en-US" sz="998" dirty="0"/>
          </a:p>
        </p:txBody>
      </p:sp>
      <p:sp>
        <p:nvSpPr>
          <p:cNvPr id="38" name="Shape 30"/>
          <p:cNvSpPr/>
          <p:nvPr/>
        </p:nvSpPr>
        <p:spPr>
          <a:xfrm>
            <a:off x="2609850" y="2662238"/>
            <a:ext cx="1885950" cy="1190625"/>
          </a:xfrm>
          <a:prstGeom prst="roundRect">
            <a:avLst>
              <a:gd name="adj" fmla="val 13824"/>
            </a:avLst>
          </a:prstGeom>
          <a:solidFill>
            <a:srgbClr val="092925"/>
          </a:solidFill>
          <a:ln/>
        </p:spPr>
      </p:sp>
      <p:sp>
        <p:nvSpPr>
          <p:cNvPr id="39" name="Shape 31"/>
          <p:cNvSpPr/>
          <p:nvPr/>
        </p:nvSpPr>
        <p:spPr>
          <a:xfrm>
            <a:off x="2724150" y="2767013"/>
            <a:ext cx="1638300" cy="209550"/>
          </a:xfrm>
          <a:prstGeom prst="rect">
            <a:avLst/>
          </a:prstGeom>
          <a:noFill/>
          <a:ln/>
        </p:spPr>
      </p:sp>
      <p:pic>
        <p:nvPicPr>
          <p:cNvPr id="40" name="Image 5" descr="preencoded.png">    </p:cNvPr>
          <p:cNvPicPr>
            <a:picLocks noChangeAspect="1"/>
          </p:cNvPicPr>
          <p:nvPr/>
        </p:nvPicPr>
        <p:blipFill>
          <a:blip r:embed="rId7"/>
          <a:srcRect l="0" r="0" t="0" b="0"/>
          <a:stretch/>
        </p:blipFill>
        <p:spPr>
          <a:xfrm>
            <a:off x="2724150" y="2767013"/>
            <a:ext cx="209550" cy="209550"/>
          </a:xfrm>
          <a:prstGeom prst="rect">
            <a:avLst/>
          </a:prstGeom>
        </p:spPr>
      </p:pic>
      <p:sp>
        <p:nvSpPr>
          <p:cNvPr id="41" name="Text 32"/>
          <p:cNvSpPr/>
          <p:nvPr/>
        </p:nvSpPr>
        <p:spPr>
          <a:xfrm>
            <a:off x="3000375" y="2786063"/>
            <a:ext cx="1362075" cy="171450"/>
          </a:xfrm>
          <a:prstGeom prst="rect">
            <a:avLst/>
          </a:prstGeom>
          <a:noFill/>
          <a:ln/>
        </p:spPr>
        <p:txBody>
          <a:bodyPr wrap="square" lIns="0" tIns="0" rIns="0" bIns="0" rtlCol="0" anchor="t"/>
          <a:lstStyle/>
          <a:p>
            <a:pPr algn="l" indent="0" marL="0">
              <a:lnSpc>
                <a:spcPts val="1293"/>
              </a:lnSpc>
              <a:buNone/>
            </a:pPr>
            <a:r>
              <a:rPr lang="en-US" sz="1069" b="1" dirty="0">
                <a:solidFill>
                  <a:srgbClr val="5CE5BD">
                    <a:alpha val="99000"/>
                  </a:srgbClr>
                </a:solidFill>
                <a:latin typeface="Inter" pitchFamily="34" charset="0"/>
                <a:ea typeface="Inter" pitchFamily="34" charset="-122"/>
                <a:cs typeface="Inter" pitchFamily="34" charset="-120"/>
              </a:rPr>
              <a:t>Sentry</a:t>
            </a:r>
            <a:endParaRPr lang="en-US" sz="1069" dirty="0"/>
          </a:p>
        </p:txBody>
      </p:sp>
      <p:sp>
        <p:nvSpPr>
          <p:cNvPr id="42" name="Text 33"/>
          <p:cNvSpPr/>
          <p:nvPr/>
        </p:nvSpPr>
        <p:spPr>
          <a:xfrm>
            <a:off x="2724150" y="3043238"/>
            <a:ext cx="1657350" cy="128588"/>
          </a:xfrm>
          <a:prstGeom prst="rect">
            <a:avLst/>
          </a:prstGeom>
          <a:noFill/>
          <a:ln/>
        </p:spPr>
        <p:txBody>
          <a:bodyPr wrap="square" lIns="0" tIns="0" rIns="0" bIns="0" rtlCol="0" anchor="t"/>
          <a:lstStyle/>
          <a:p>
            <a:pPr algn="l" indent="0" marL="0">
              <a:lnSpc>
                <a:spcPts val="949"/>
              </a:lnSpc>
              <a:buNone/>
            </a:pPr>
            <a:r>
              <a:rPr lang="en-US" sz="784" b="1" dirty="0">
                <a:solidFill>
                  <a:srgbClr val="5CE5BD">
                    <a:alpha val="99000"/>
                  </a:srgbClr>
                </a:solidFill>
                <a:latin typeface="Inter" pitchFamily="34" charset="0"/>
                <a:ea typeface="Inter" pitchFamily="34" charset="-122"/>
                <a:cs typeface="Inter" pitchFamily="34" charset="-120"/>
              </a:rPr>
              <a:t>DEBUG</a:t>
            </a:r>
            <a:endParaRPr lang="en-US" sz="784" dirty="0"/>
          </a:p>
        </p:txBody>
      </p:sp>
      <p:sp>
        <p:nvSpPr>
          <p:cNvPr id="43" name="Text 34"/>
          <p:cNvSpPr/>
          <p:nvPr/>
        </p:nvSpPr>
        <p:spPr>
          <a:xfrm>
            <a:off x="2724150" y="3238500"/>
            <a:ext cx="1657350" cy="323850"/>
          </a:xfrm>
          <a:prstGeom prst="rect">
            <a:avLst/>
          </a:prstGeom>
          <a:noFill/>
          <a:ln/>
        </p:spPr>
        <p:txBody>
          <a:bodyPr wrap="square" lIns="0" tIns="0" rIns="0" bIns="0" rtlCol="0" anchor="t"/>
          <a:lstStyle/>
          <a:p>
            <a:pPr algn="l" indent="0" marL="0">
              <a:lnSpc>
                <a:spcPts val="1207"/>
              </a:lnSpc>
              <a:buNone/>
            </a:pPr>
            <a:r>
              <a:rPr lang="en-US" sz="998" dirty="0">
                <a:solidFill>
                  <a:srgbClr val="F2FAF5">
                    <a:alpha val="99000"/>
                  </a:srgbClr>
                </a:solidFill>
                <a:latin typeface="Inter" pitchFamily="34" charset="0"/>
                <a:ea typeface="Inter" pitchFamily="34" charset="-122"/>
                <a:cs typeface="Inter" pitchFamily="34" charset="-120"/>
              </a:rPr>
              <a:t>Investigate errors before the judges find them.</a:t>
            </a:r>
            <a:endParaRPr lang="en-US" sz="998" dirty="0"/>
          </a:p>
        </p:txBody>
      </p:sp>
      <p:sp>
        <p:nvSpPr>
          <p:cNvPr id="44" name="Shape 35"/>
          <p:cNvSpPr/>
          <p:nvPr/>
        </p:nvSpPr>
        <p:spPr>
          <a:xfrm>
            <a:off x="4648200" y="2662238"/>
            <a:ext cx="1885950" cy="1190625"/>
          </a:xfrm>
          <a:prstGeom prst="roundRect">
            <a:avLst>
              <a:gd name="adj" fmla="val 13824"/>
            </a:avLst>
          </a:prstGeom>
          <a:solidFill>
            <a:srgbClr val="092925"/>
          </a:solidFill>
          <a:ln/>
        </p:spPr>
      </p:sp>
      <p:sp>
        <p:nvSpPr>
          <p:cNvPr id="45" name="Shape 36"/>
          <p:cNvSpPr/>
          <p:nvPr/>
        </p:nvSpPr>
        <p:spPr>
          <a:xfrm>
            <a:off x="4762500" y="2767013"/>
            <a:ext cx="1638300" cy="209550"/>
          </a:xfrm>
          <a:prstGeom prst="rect">
            <a:avLst/>
          </a:prstGeom>
          <a:noFill/>
          <a:ln/>
        </p:spPr>
      </p:sp>
      <p:pic>
        <p:nvPicPr>
          <p:cNvPr id="46" name="Image 6" descr="preencoded.png">    </p:cNvPr>
          <p:cNvPicPr>
            <a:picLocks noChangeAspect="1"/>
          </p:cNvPicPr>
          <p:nvPr/>
        </p:nvPicPr>
        <p:blipFill>
          <a:blip r:embed="rId8"/>
          <a:srcRect l="0" r="0" t="0" b="0"/>
          <a:stretch/>
        </p:blipFill>
        <p:spPr>
          <a:xfrm>
            <a:off x="4762500" y="2767013"/>
            <a:ext cx="209550" cy="209550"/>
          </a:xfrm>
          <a:prstGeom prst="rect">
            <a:avLst/>
          </a:prstGeom>
        </p:spPr>
      </p:pic>
      <p:sp>
        <p:nvSpPr>
          <p:cNvPr id="47" name="Text 37"/>
          <p:cNvSpPr/>
          <p:nvPr/>
        </p:nvSpPr>
        <p:spPr>
          <a:xfrm>
            <a:off x="5038725" y="2786063"/>
            <a:ext cx="1362075" cy="171450"/>
          </a:xfrm>
          <a:prstGeom prst="rect">
            <a:avLst/>
          </a:prstGeom>
          <a:noFill/>
          <a:ln/>
        </p:spPr>
        <p:txBody>
          <a:bodyPr wrap="square" lIns="0" tIns="0" rIns="0" bIns="0" rtlCol="0" anchor="t"/>
          <a:lstStyle/>
          <a:p>
            <a:pPr algn="l" indent="0" marL="0">
              <a:lnSpc>
                <a:spcPts val="1293"/>
              </a:lnSpc>
              <a:buNone/>
            </a:pPr>
            <a:r>
              <a:rPr lang="en-US" sz="1069" b="1" dirty="0">
                <a:solidFill>
                  <a:srgbClr val="5CE5BD">
                    <a:alpha val="99000"/>
                  </a:srgbClr>
                </a:solidFill>
                <a:latin typeface="Inter" pitchFamily="34" charset="0"/>
                <a:ea typeface="Inter" pitchFamily="34" charset="-122"/>
                <a:cs typeface="Inter" pitchFamily="34" charset="-120"/>
              </a:rPr>
              <a:t>Stripe</a:t>
            </a:r>
            <a:endParaRPr lang="en-US" sz="1069" dirty="0"/>
          </a:p>
        </p:txBody>
      </p:sp>
      <p:sp>
        <p:nvSpPr>
          <p:cNvPr id="48" name="Text 38"/>
          <p:cNvSpPr/>
          <p:nvPr/>
        </p:nvSpPr>
        <p:spPr>
          <a:xfrm>
            <a:off x="4762500" y="3043238"/>
            <a:ext cx="1657350" cy="128588"/>
          </a:xfrm>
          <a:prstGeom prst="rect">
            <a:avLst/>
          </a:prstGeom>
          <a:noFill/>
          <a:ln/>
        </p:spPr>
        <p:txBody>
          <a:bodyPr wrap="square" lIns="0" tIns="0" rIns="0" bIns="0" rtlCol="0" anchor="t"/>
          <a:lstStyle/>
          <a:p>
            <a:pPr algn="l" indent="0" marL="0">
              <a:lnSpc>
                <a:spcPts val="949"/>
              </a:lnSpc>
              <a:buNone/>
            </a:pPr>
            <a:r>
              <a:rPr lang="en-US" sz="784" b="1" dirty="0">
                <a:solidFill>
                  <a:srgbClr val="5CE5BD">
                    <a:alpha val="99000"/>
                  </a:srgbClr>
                </a:solidFill>
                <a:latin typeface="Inter" pitchFamily="34" charset="0"/>
                <a:ea typeface="Inter" pitchFamily="34" charset="-122"/>
                <a:cs typeface="Inter" pitchFamily="34" charset="-120"/>
              </a:rPr>
              <a:t>PAYMENTS</a:t>
            </a:r>
            <a:endParaRPr lang="en-US" sz="784" dirty="0"/>
          </a:p>
        </p:txBody>
      </p:sp>
      <p:sp>
        <p:nvSpPr>
          <p:cNvPr id="49" name="Text 39"/>
          <p:cNvSpPr/>
          <p:nvPr/>
        </p:nvSpPr>
        <p:spPr>
          <a:xfrm>
            <a:off x="4762500" y="3238500"/>
            <a:ext cx="1657350" cy="323850"/>
          </a:xfrm>
          <a:prstGeom prst="rect">
            <a:avLst/>
          </a:prstGeom>
          <a:noFill/>
          <a:ln/>
        </p:spPr>
        <p:txBody>
          <a:bodyPr wrap="square" lIns="0" tIns="0" rIns="0" bIns="0" rtlCol="0" anchor="t"/>
          <a:lstStyle/>
          <a:p>
            <a:pPr algn="l" indent="0" marL="0">
              <a:lnSpc>
                <a:spcPts val="1207"/>
              </a:lnSpc>
              <a:buNone/>
            </a:pPr>
            <a:r>
              <a:rPr lang="en-US" sz="998" dirty="0">
                <a:solidFill>
                  <a:srgbClr val="F2FAF5">
                    <a:alpha val="99000"/>
                  </a:srgbClr>
                </a:solidFill>
                <a:latin typeface="Inter" pitchFamily="34" charset="0"/>
                <a:ea typeface="Inter" pitchFamily="34" charset="-122"/>
                <a:cs typeface="Inter" pitchFamily="34" charset="-120"/>
              </a:rPr>
              <a:t>Explore APIs and build a sandbox payment demo.</a:t>
            </a:r>
            <a:endParaRPr lang="en-US" sz="998" dirty="0"/>
          </a:p>
        </p:txBody>
      </p:sp>
      <p:sp>
        <p:nvSpPr>
          <p:cNvPr id="50" name="Shape 40"/>
          <p:cNvSpPr/>
          <p:nvPr/>
        </p:nvSpPr>
        <p:spPr>
          <a:xfrm>
            <a:off x="6686550" y="2662238"/>
            <a:ext cx="1885950" cy="1190625"/>
          </a:xfrm>
          <a:prstGeom prst="roundRect">
            <a:avLst>
              <a:gd name="adj" fmla="val 13824"/>
            </a:avLst>
          </a:prstGeom>
          <a:solidFill>
            <a:srgbClr val="092925"/>
          </a:solidFill>
          <a:ln/>
        </p:spPr>
      </p:sp>
      <p:sp>
        <p:nvSpPr>
          <p:cNvPr id="51" name="Shape 41"/>
          <p:cNvSpPr/>
          <p:nvPr/>
        </p:nvSpPr>
        <p:spPr>
          <a:xfrm>
            <a:off x="6800850" y="2767013"/>
            <a:ext cx="1638300" cy="209550"/>
          </a:xfrm>
          <a:prstGeom prst="rect">
            <a:avLst/>
          </a:prstGeom>
          <a:noFill/>
          <a:ln/>
        </p:spPr>
      </p:sp>
      <p:pic>
        <p:nvPicPr>
          <p:cNvPr id="52" name="Image 7" descr="preencoded.png">    </p:cNvPr>
          <p:cNvPicPr>
            <a:picLocks noChangeAspect="1"/>
          </p:cNvPicPr>
          <p:nvPr/>
        </p:nvPicPr>
        <p:blipFill>
          <a:blip r:embed="rId9"/>
          <a:srcRect l="0" r="0" t="0" b="0"/>
          <a:stretch/>
        </p:blipFill>
        <p:spPr>
          <a:xfrm>
            <a:off x="6800850" y="2767013"/>
            <a:ext cx="209550" cy="209550"/>
          </a:xfrm>
          <a:prstGeom prst="rect">
            <a:avLst/>
          </a:prstGeom>
        </p:spPr>
      </p:pic>
      <p:sp>
        <p:nvSpPr>
          <p:cNvPr id="53" name="Text 42"/>
          <p:cNvSpPr/>
          <p:nvPr/>
        </p:nvSpPr>
        <p:spPr>
          <a:xfrm>
            <a:off x="7077075" y="2786063"/>
            <a:ext cx="1362075" cy="171450"/>
          </a:xfrm>
          <a:prstGeom prst="rect">
            <a:avLst/>
          </a:prstGeom>
          <a:noFill/>
          <a:ln/>
        </p:spPr>
        <p:txBody>
          <a:bodyPr wrap="square" lIns="0" tIns="0" rIns="0" bIns="0" rtlCol="0" anchor="t"/>
          <a:lstStyle/>
          <a:p>
            <a:pPr algn="l" indent="0" marL="0">
              <a:lnSpc>
                <a:spcPts val="1293"/>
              </a:lnSpc>
              <a:buNone/>
            </a:pPr>
            <a:r>
              <a:rPr lang="en-US" sz="1069" b="1" dirty="0">
                <a:solidFill>
                  <a:srgbClr val="5CE5BD">
                    <a:alpha val="99000"/>
                  </a:srgbClr>
                </a:solidFill>
                <a:latin typeface="Inter" pitchFamily="34" charset="0"/>
                <a:ea typeface="Inter" pitchFamily="34" charset="-122"/>
                <a:cs typeface="Inter" pitchFamily="34" charset="-120"/>
              </a:rPr>
              <a:t>Context7 · Upstash</a:t>
            </a:r>
            <a:endParaRPr lang="en-US" sz="1069" dirty="0"/>
          </a:p>
        </p:txBody>
      </p:sp>
      <p:sp>
        <p:nvSpPr>
          <p:cNvPr id="54" name="Text 43"/>
          <p:cNvSpPr/>
          <p:nvPr/>
        </p:nvSpPr>
        <p:spPr>
          <a:xfrm>
            <a:off x="6800850" y="3043238"/>
            <a:ext cx="1657350" cy="128588"/>
          </a:xfrm>
          <a:prstGeom prst="rect">
            <a:avLst/>
          </a:prstGeom>
          <a:noFill/>
          <a:ln/>
        </p:spPr>
        <p:txBody>
          <a:bodyPr wrap="square" lIns="0" tIns="0" rIns="0" bIns="0" rtlCol="0" anchor="t"/>
          <a:lstStyle/>
          <a:p>
            <a:pPr algn="l" indent="0" marL="0">
              <a:lnSpc>
                <a:spcPts val="949"/>
              </a:lnSpc>
              <a:buNone/>
            </a:pPr>
            <a:r>
              <a:rPr lang="en-US" sz="784" b="1" dirty="0">
                <a:solidFill>
                  <a:srgbClr val="5CE5BD">
                    <a:alpha val="99000"/>
                  </a:srgbClr>
                </a:solidFill>
                <a:latin typeface="Inter" pitchFamily="34" charset="0"/>
                <a:ea typeface="Inter" pitchFamily="34" charset="-122"/>
                <a:cs typeface="Inter" pitchFamily="34" charset="-120"/>
              </a:rPr>
              <a:t>DOCS</a:t>
            </a:r>
            <a:endParaRPr lang="en-US" sz="784" dirty="0"/>
          </a:p>
        </p:txBody>
      </p:sp>
      <p:sp>
        <p:nvSpPr>
          <p:cNvPr id="55" name="Text 44"/>
          <p:cNvSpPr/>
          <p:nvPr/>
        </p:nvSpPr>
        <p:spPr>
          <a:xfrm>
            <a:off x="6800850" y="3238500"/>
            <a:ext cx="1657350" cy="323850"/>
          </a:xfrm>
          <a:prstGeom prst="rect">
            <a:avLst/>
          </a:prstGeom>
          <a:noFill/>
          <a:ln/>
        </p:spPr>
        <p:txBody>
          <a:bodyPr wrap="square" lIns="0" tIns="0" rIns="0" bIns="0" rtlCol="0" anchor="t"/>
          <a:lstStyle/>
          <a:p>
            <a:pPr algn="l" indent="0" marL="0">
              <a:lnSpc>
                <a:spcPts val="1207"/>
              </a:lnSpc>
              <a:buNone/>
            </a:pPr>
            <a:r>
              <a:rPr lang="en-US" sz="998" dirty="0">
                <a:solidFill>
                  <a:srgbClr val="F2FAF5">
                    <a:alpha val="99000"/>
                  </a:srgbClr>
                </a:solidFill>
                <a:latin typeface="Inter" pitchFamily="34" charset="0"/>
                <a:ea typeface="Inter" pitchFamily="34" charset="-122"/>
                <a:cs typeface="Inter" pitchFamily="34" charset="-120"/>
              </a:rPr>
              <a:t>Pull current library docs and code examples.</a:t>
            </a:r>
            <a:endParaRPr lang="en-US" sz="998" dirty="0"/>
          </a:p>
        </p:txBody>
      </p:sp>
      <p:sp>
        <p:nvSpPr>
          <p:cNvPr id="56" name="Text 45"/>
          <p:cNvSpPr/>
          <p:nvPr/>
        </p:nvSpPr>
        <p:spPr>
          <a:xfrm>
            <a:off x="571500" y="4057650"/>
            <a:ext cx="8001000" cy="209550"/>
          </a:xfrm>
          <a:prstGeom prst="rect">
            <a:avLst/>
          </a:prstGeom>
          <a:noFill/>
          <a:ln/>
        </p:spPr>
        <p:txBody>
          <a:bodyPr wrap="square" lIns="0" tIns="0" rIns="0" bIns="0" rtlCol="0" anchor="t"/>
          <a:lstStyle/>
          <a:p>
            <a:pPr algn="l" indent="0" marL="0">
              <a:lnSpc>
                <a:spcPts val="1552"/>
              </a:lnSpc>
              <a:buNone/>
            </a:pPr>
            <a:r>
              <a:rPr lang="en-US" sz="1283" b="1" dirty="0">
                <a:solidFill>
                  <a:srgbClr val="5CE5BD">
                    <a:alpha val="99000"/>
                  </a:srgbClr>
                </a:solidFill>
                <a:latin typeface="Inter" pitchFamily="34" charset="0"/>
                <a:ea typeface="Inter" pitchFamily="34" charset="-122"/>
                <a:cs typeface="Inter" pitchFamily="34" charset="-120"/>
              </a:rPr>
              <a:t>Design → build → connect data → test → deploy → fix</a:t>
            </a:r>
            <a:endParaRPr lang="en-US" sz="1283" dirty="0"/>
          </a:p>
        </p:txBody>
      </p:sp>
      <p:sp>
        <p:nvSpPr>
          <p:cNvPr id="57" name="Text 46"/>
          <p:cNvSpPr/>
          <p:nvPr/>
        </p:nvSpPr>
        <p:spPr>
          <a:xfrm>
            <a:off x="571500" y="4343400"/>
            <a:ext cx="8001000" cy="161925"/>
          </a:xfrm>
          <a:prstGeom prst="rect">
            <a:avLst/>
          </a:prstGeom>
          <a:noFill/>
          <a:ln/>
        </p:spPr>
        <p:txBody>
          <a:bodyPr wrap="square" lIns="0" tIns="0" rIns="0" bIns="0" rtlCol="0" anchor="t"/>
          <a:lstStyle/>
          <a:p>
            <a:pPr algn="l" indent="0" marL="0">
              <a:lnSpc>
                <a:spcPts val="1207"/>
              </a:lnSpc>
              <a:buNone/>
            </a:pPr>
            <a:r>
              <a:rPr lang="en-US" sz="998" dirty="0">
                <a:solidFill>
                  <a:srgbClr val="F2FAF5">
                    <a:alpha val="99000"/>
                  </a:srgbClr>
                </a:solidFill>
                <a:latin typeface="Inter" pitchFamily="34" charset="0"/>
                <a:ea typeface="Inter" pitchFamily="34" charset="-122"/>
                <a:cs typeface="Inter" pitchFamily="34" charset="-120"/>
              </a:rPr>
              <a:t>Pick a compatible host → add a server → authorize → inspect tools → use it</a:t>
            </a:r>
            <a:endParaRPr lang="en-US" sz="99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Tools, resources, and prompts</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404938"/>
            <a:ext cx="2562225" cy="1581150"/>
          </a:xfrm>
          <a:prstGeom prst="roundRect">
            <a:avLst>
              <a:gd name="adj" fmla="val 12723"/>
            </a:avLst>
          </a:prstGeom>
          <a:solidFill>
            <a:srgbClr val="092925">
              <a:alpha val="96000"/>
            </a:srgbClr>
          </a:solidFill>
          <a:ln w="4524">
            <a:solidFill>
              <a:srgbClr val="267863"/>
            </a:solidFill>
            <a:prstDash val="solid"/>
          </a:ln>
        </p:spPr>
      </p:sp>
      <p:sp>
        <p:nvSpPr>
          <p:cNvPr id="6" name="Text 3"/>
          <p:cNvSpPr/>
          <p:nvPr/>
        </p:nvSpPr>
        <p:spPr>
          <a:xfrm>
            <a:off x="728663" y="1562100"/>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TOOLS</a:t>
            </a:r>
            <a:endParaRPr lang="en-US" sz="1425" dirty="0"/>
          </a:p>
        </p:txBody>
      </p:sp>
      <p:sp>
        <p:nvSpPr>
          <p:cNvPr id="7" name="Text 4"/>
          <p:cNvSpPr/>
          <p:nvPr/>
        </p:nvSpPr>
        <p:spPr>
          <a:xfrm>
            <a:off x="728663" y="1914525"/>
            <a:ext cx="2257425" cy="9144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Callable operations</a:t>
            </a:r>
            <a:endParaRPr lang="en-US" sz="1354" dirty="0"/>
          </a:p>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Example: set_tempo or get_state</a:t>
            </a:r>
            <a:endParaRPr lang="en-US" sz="1354" dirty="0"/>
          </a:p>
        </p:txBody>
      </p:sp>
      <p:sp>
        <p:nvSpPr>
          <p:cNvPr id="8" name="Shape 5"/>
          <p:cNvSpPr/>
          <p:nvPr/>
        </p:nvSpPr>
        <p:spPr>
          <a:xfrm>
            <a:off x="3286125" y="1404938"/>
            <a:ext cx="2562225" cy="1504950"/>
          </a:xfrm>
          <a:prstGeom prst="roundRect">
            <a:avLst>
              <a:gd name="adj" fmla="val 13367"/>
            </a:avLst>
          </a:prstGeom>
          <a:solidFill>
            <a:srgbClr val="092925">
              <a:alpha val="96000"/>
            </a:srgbClr>
          </a:solidFill>
          <a:ln w="4524">
            <a:solidFill>
              <a:srgbClr val="267863"/>
            </a:solidFill>
            <a:prstDash val="solid"/>
          </a:ln>
        </p:spPr>
      </p:sp>
      <p:sp>
        <p:nvSpPr>
          <p:cNvPr id="9" name="Text 6"/>
          <p:cNvSpPr/>
          <p:nvPr/>
        </p:nvSpPr>
        <p:spPr>
          <a:xfrm>
            <a:off x="3443288" y="1562100"/>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RESOURCES</a:t>
            </a:r>
            <a:endParaRPr lang="en-US" sz="1425" dirty="0"/>
          </a:p>
        </p:txBody>
      </p:sp>
      <p:sp>
        <p:nvSpPr>
          <p:cNvPr id="10" name="Text 7"/>
          <p:cNvSpPr/>
          <p:nvPr/>
        </p:nvSpPr>
        <p:spPr>
          <a:xfrm>
            <a:off x="3443288" y="1914525"/>
            <a:ext cx="2257425" cy="838200"/>
          </a:xfrm>
          <a:prstGeom prst="rect">
            <a:avLst/>
          </a:prstGeom>
          <a:noFill/>
          <a:ln/>
        </p:spPr>
        <p:txBody>
          <a:bodyPr wrap="square" lIns="0" tIns="0" rIns="0" bIns="0" rtlCol="0" anchor="t"/>
          <a:lstStyle/>
          <a:p>
            <a:pPr algn="l" indent="0" marL="0">
              <a:lnSpc>
                <a:spcPts val="1559"/>
              </a:lnSpc>
              <a:buNone/>
            </a:pPr>
            <a:r>
              <a:rPr lang="en-US" sz="1247" dirty="0">
                <a:solidFill>
                  <a:srgbClr val="F5FFFA">
                    <a:alpha val="99000"/>
                  </a:srgbClr>
                </a:solidFill>
                <a:latin typeface="Inter" pitchFamily="34" charset="0"/>
                <a:ea typeface="Inter" pitchFamily="34" charset="-122"/>
                <a:cs typeface="Inter" pitchFamily="34" charset="-120"/>
              </a:rPr>
              <a:t>Read-only context and data</a:t>
            </a:r>
            <a:endParaRPr lang="en-US" sz="1247" dirty="0"/>
          </a:p>
          <a:p>
            <a:pPr algn="l" indent="0" marL="0">
              <a:lnSpc>
                <a:spcPts val="1559"/>
              </a:lnSpc>
              <a:buNone/>
            </a:pPr>
            <a:r>
              <a:rPr lang="en-US" sz="1247" dirty="0">
                <a:solidFill>
                  <a:srgbClr val="F5FFFA">
                    <a:alpha val="99000"/>
                  </a:srgbClr>
                </a:solidFill>
                <a:latin typeface="Inter" pitchFamily="34" charset="0"/>
                <a:ea typeface="Inter" pitchFamily="34" charset="-122"/>
                <a:cs typeface="Inter" pitchFamily="34" charset="-120"/>
              </a:rPr>
              <a:t>Our app: GeneralUser GS instrument catalog</a:t>
            </a:r>
            <a:endParaRPr lang="en-US" sz="1247" dirty="0"/>
          </a:p>
        </p:txBody>
      </p:sp>
      <p:sp>
        <p:nvSpPr>
          <p:cNvPr id="11" name="Shape 8"/>
          <p:cNvSpPr/>
          <p:nvPr/>
        </p:nvSpPr>
        <p:spPr>
          <a:xfrm>
            <a:off x="6000750" y="1404938"/>
            <a:ext cx="2562225" cy="1581150"/>
          </a:xfrm>
          <a:prstGeom prst="roundRect">
            <a:avLst>
              <a:gd name="adj" fmla="val 12723"/>
            </a:avLst>
          </a:prstGeom>
          <a:solidFill>
            <a:srgbClr val="092925">
              <a:alpha val="96000"/>
            </a:srgbClr>
          </a:solidFill>
          <a:ln w="4524">
            <a:solidFill>
              <a:srgbClr val="267863"/>
            </a:solidFill>
            <a:prstDash val="solid"/>
          </a:ln>
        </p:spPr>
      </p:sp>
      <p:sp>
        <p:nvSpPr>
          <p:cNvPr id="12" name="Text 9"/>
          <p:cNvSpPr/>
          <p:nvPr/>
        </p:nvSpPr>
        <p:spPr>
          <a:xfrm>
            <a:off x="6157913" y="1562100"/>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PROMPTS</a:t>
            </a:r>
            <a:endParaRPr lang="en-US" sz="1425" dirty="0"/>
          </a:p>
        </p:txBody>
      </p:sp>
      <p:sp>
        <p:nvSpPr>
          <p:cNvPr id="13" name="Text 10"/>
          <p:cNvSpPr/>
          <p:nvPr/>
        </p:nvSpPr>
        <p:spPr>
          <a:xfrm>
            <a:off x="6157913" y="1914525"/>
            <a:ext cx="2257425" cy="9144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Reusable instructions</a:t>
            </a:r>
            <a:endParaRPr lang="en-US" sz="1354" dirty="0"/>
          </a:p>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Example: a review workflow</a:t>
            </a:r>
            <a:endParaRPr lang="en-US" sz="1354" dirty="0"/>
          </a:p>
        </p:txBody>
      </p:sp>
      <p:sp>
        <p:nvSpPr>
          <p:cNvPr id="14" name="Text 11"/>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09 / 29</a:t>
            </a:r>
            <a:endParaRPr lang="en-US" sz="855" dirty="0"/>
          </a:p>
        </p:txBody>
      </p:sp>
      <p:pic>
        <p:nvPicPr>
          <p:cNvPr id="15" name="Image 0" descr="preencoded.png">    </p:cNvPr>
          <p:cNvPicPr>
            <a:picLocks noChangeAspect="1"/>
          </p:cNvPicPr>
          <p:nvPr/>
        </p:nvPicPr>
        <p:blipFill>
          <a:blip r:embed="rId2"/>
          <a:srcRect l="0" r="0" t="0" b="0"/>
          <a:stretch/>
        </p:blipFill>
        <p:spPr>
          <a:xfrm>
            <a:off x="1633538" y="3495675"/>
            <a:ext cx="438150" cy="438150"/>
          </a:xfrm>
          <a:prstGeom prst="rect">
            <a:avLst/>
          </a:prstGeom>
        </p:spPr>
      </p:pic>
      <p:pic>
        <p:nvPicPr>
          <p:cNvPr id="16" name="Image 1" descr="preencoded.png">    </p:cNvPr>
          <p:cNvPicPr>
            <a:picLocks noChangeAspect="1"/>
          </p:cNvPicPr>
          <p:nvPr/>
        </p:nvPicPr>
        <p:blipFill>
          <a:blip r:embed="rId3"/>
          <a:srcRect l="0" r="0" t="0" b="0"/>
          <a:stretch/>
        </p:blipFill>
        <p:spPr>
          <a:xfrm>
            <a:off x="4348163" y="3495675"/>
            <a:ext cx="438150" cy="438150"/>
          </a:xfrm>
          <a:prstGeom prst="rect">
            <a:avLst/>
          </a:prstGeom>
        </p:spPr>
      </p:pic>
      <p:pic>
        <p:nvPicPr>
          <p:cNvPr id="17" name="Image 2" descr="preencoded.png">    </p:cNvPr>
          <p:cNvPicPr>
            <a:picLocks noChangeAspect="1"/>
          </p:cNvPicPr>
          <p:nvPr/>
        </p:nvPicPr>
        <p:blipFill>
          <a:blip r:embed="rId4"/>
          <a:srcRect l="0" r="0" t="0" b="0"/>
          <a:stretch/>
        </p:blipFill>
        <p:spPr>
          <a:xfrm>
            <a:off x="7062788" y="3495675"/>
            <a:ext cx="438150" cy="4381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Discover → select → invoke</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309688"/>
            <a:ext cx="2562225" cy="1352550"/>
          </a:xfrm>
          <a:prstGeom prst="roundRect">
            <a:avLst>
              <a:gd name="adj" fmla="val 14873"/>
            </a:avLst>
          </a:prstGeom>
          <a:solidFill>
            <a:srgbClr val="092925">
              <a:alpha val="96000"/>
            </a:srgbClr>
          </a:solidFill>
          <a:ln w="4524">
            <a:solidFill>
              <a:srgbClr val="267863"/>
            </a:solidFill>
            <a:prstDash val="solid"/>
          </a:ln>
        </p:spPr>
      </p:sp>
      <p:sp>
        <p:nvSpPr>
          <p:cNvPr id="6" name="Text 3"/>
          <p:cNvSpPr/>
          <p:nvPr/>
        </p:nvSpPr>
        <p:spPr>
          <a:xfrm>
            <a:off x="728663" y="1466850"/>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1 · DISCOVER</a:t>
            </a:r>
            <a:endParaRPr lang="en-US" sz="1425" dirty="0"/>
          </a:p>
        </p:txBody>
      </p:sp>
      <p:sp>
        <p:nvSpPr>
          <p:cNvPr id="7" name="Text 4"/>
          <p:cNvSpPr/>
          <p:nvPr/>
        </p:nvSpPr>
        <p:spPr>
          <a:xfrm>
            <a:off x="728663" y="1819275"/>
            <a:ext cx="2257425" cy="6858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The client lists tools with their names, descriptions, and input schemas.</a:t>
            </a:r>
            <a:endParaRPr lang="en-US" sz="1354" dirty="0"/>
          </a:p>
        </p:txBody>
      </p:sp>
      <p:sp>
        <p:nvSpPr>
          <p:cNvPr id="8" name="Shape 5"/>
          <p:cNvSpPr/>
          <p:nvPr/>
        </p:nvSpPr>
        <p:spPr>
          <a:xfrm>
            <a:off x="3286125" y="1309688"/>
            <a:ext cx="2562225" cy="1352550"/>
          </a:xfrm>
          <a:prstGeom prst="roundRect">
            <a:avLst>
              <a:gd name="adj" fmla="val 14873"/>
            </a:avLst>
          </a:prstGeom>
          <a:solidFill>
            <a:srgbClr val="092925">
              <a:alpha val="96000"/>
            </a:srgbClr>
          </a:solidFill>
          <a:ln w="4524">
            <a:solidFill>
              <a:srgbClr val="267863"/>
            </a:solidFill>
            <a:prstDash val="solid"/>
          </a:ln>
        </p:spPr>
      </p:sp>
      <p:sp>
        <p:nvSpPr>
          <p:cNvPr id="9" name="Text 6"/>
          <p:cNvSpPr/>
          <p:nvPr/>
        </p:nvSpPr>
        <p:spPr>
          <a:xfrm>
            <a:off x="3443288" y="1466850"/>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2 · SELECT</a:t>
            </a:r>
            <a:endParaRPr lang="en-US" sz="1425" dirty="0"/>
          </a:p>
        </p:txBody>
      </p:sp>
      <p:sp>
        <p:nvSpPr>
          <p:cNvPr id="10" name="Text 7"/>
          <p:cNvSpPr/>
          <p:nvPr/>
        </p:nvSpPr>
        <p:spPr>
          <a:xfrm>
            <a:off x="3443288" y="1819275"/>
            <a:ext cx="2257425" cy="6858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The model proposes a tool and arguments; the host coordinates the call.</a:t>
            </a:r>
            <a:endParaRPr lang="en-US" sz="1354" dirty="0"/>
          </a:p>
        </p:txBody>
      </p:sp>
      <p:sp>
        <p:nvSpPr>
          <p:cNvPr id="11" name="Shape 8"/>
          <p:cNvSpPr/>
          <p:nvPr/>
        </p:nvSpPr>
        <p:spPr>
          <a:xfrm>
            <a:off x="6000750" y="1309688"/>
            <a:ext cx="2562225" cy="1581150"/>
          </a:xfrm>
          <a:prstGeom prst="roundRect">
            <a:avLst>
              <a:gd name="adj" fmla="val 12723"/>
            </a:avLst>
          </a:prstGeom>
          <a:solidFill>
            <a:srgbClr val="092925">
              <a:alpha val="96000"/>
            </a:srgbClr>
          </a:solidFill>
          <a:ln w="4524">
            <a:solidFill>
              <a:srgbClr val="267863"/>
            </a:solidFill>
            <a:prstDash val="solid"/>
          </a:ln>
        </p:spPr>
      </p:sp>
      <p:sp>
        <p:nvSpPr>
          <p:cNvPr id="12" name="Text 9"/>
          <p:cNvSpPr/>
          <p:nvPr/>
        </p:nvSpPr>
        <p:spPr>
          <a:xfrm>
            <a:off x="6157913" y="1466850"/>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3 · INVOKE</a:t>
            </a:r>
            <a:endParaRPr lang="en-US" sz="1425" dirty="0"/>
          </a:p>
        </p:txBody>
      </p:sp>
      <p:sp>
        <p:nvSpPr>
          <p:cNvPr id="13" name="Text 10"/>
          <p:cNvSpPr/>
          <p:nvPr/>
        </p:nvSpPr>
        <p:spPr>
          <a:xfrm>
            <a:off x="6157913" y="1819275"/>
            <a:ext cx="2257425" cy="9144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The client calls the tool. The server validates, executes, and returns a result.</a:t>
            </a:r>
            <a:endParaRPr lang="en-US" sz="1354" dirty="0"/>
          </a:p>
        </p:txBody>
      </p:sp>
      <p:sp>
        <p:nvSpPr>
          <p:cNvPr id="14" name="Text 11"/>
          <p:cNvSpPr/>
          <p:nvPr/>
        </p:nvSpPr>
        <p:spPr>
          <a:xfrm>
            <a:off x="571500" y="4167188"/>
            <a:ext cx="8001000" cy="504825"/>
          </a:xfrm>
          <a:prstGeom prst="rect">
            <a:avLst/>
          </a:prstGeom>
          <a:noFill/>
          <a:ln/>
        </p:spPr>
        <p:txBody>
          <a:bodyPr wrap="square" lIns="0" tIns="0" rIns="0" bIns="0" rtlCol="0" anchor="t"/>
          <a:lstStyle/>
          <a:p>
            <a:pPr algn="l" indent="0" marL="0">
              <a:lnSpc>
                <a:spcPts val="1870"/>
              </a:lnSpc>
              <a:buNone/>
            </a:pPr>
            <a:r>
              <a:rPr lang="en-US" sz="1496" b="1" dirty="0">
                <a:solidFill>
                  <a:srgbClr val="4FE3BD">
                    <a:alpha val="99000"/>
                  </a:srgbClr>
                </a:solidFill>
                <a:latin typeface="Inter" pitchFamily="34" charset="0"/>
                <a:ea typeface="Inter" pitchFamily="34" charset="-122"/>
                <a:cs typeface="Inter" pitchFamily="34" charset="-120"/>
              </a:rPr>
              <a:t>set_tempo accepts bpm, an integer.</a:t>
            </a:r>
            <a:endParaRPr lang="en-US" sz="1496" dirty="0"/>
          </a:p>
          <a:p>
            <a:pPr algn="l" indent="0" marL="0">
              <a:lnSpc>
                <a:spcPts val="1870"/>
              </a:lnSpc>
              <a:buNone/>
            </a:pPr>
            <a:r>
              <a:rPr lang="en-US" sz="1496" b="1" dirty="0">
                <a:solidFill>
                  <a:srgbClr val="4FE3BD">
                    <a:alpha val="99000"/>
                  </a:srgbClr>
                </a:solidFill>
                <a:latin typeface="Inter" pitchFamily="34" charset="0"/>
                <a:ea typeface="Inter" pitchFamily="34" charset="-122"/>
                <a:cs typeface="Inter" pitchFamily="34" charset="-120"/>
              </a:rPr>
              <a:t>Python validation enforces the allowed range.</a:t>
            </a:r>
            <a:endParaRPr lang="en-US" sz="1496" dirty="0"/>
          </a:p>
        </p:txBody>
      </p:sp>
      <p:sp>
        <p:nvSpPr>
          <p:cNvPr id="15" name="Text 12"/>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10 / 29</a:t>
            </a:r>
            <a:endParaRPr lang="en-US" sz="85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Ways to build or connect MCP</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190625"/>
            <a:ext cx="8001000" cy="2457450"/>
          </a:xfrm>
          <a:prstGeom prst="rect">
            <a:avLst/>
          </a:prstGeom>
          <a:noFill/>
          <a:ln/>
        </p:spPr>
      </p:sp>
      <p:sp>
        <p:nvSpPr>
          <p:cNvPr id="6" name="Shape 3"/>
          <p:cNvSpPr/>
          <p:nvPr/>
        </p:nvSpPr>
        <p:spPr>
          <a:xfrm>
            <a:off x="571500" y="1190625"/>
            <a:ext cx="8001000" cy="428625"/>
          </a:xfrm>
          <a:prstGeom prst="rect">
            <a:avLst/>
          </a:prstGeom>
          <a:solidFill>
            <a:srgbClr val="267863"/>
          </a:solidFill>
          <a:ln/>
        </p:spPr>
      </p:sp>
      <p:sp>
        <p:nvSpPr>
          <p:cNvPr id="7" name="Text 4"/>
          <p:cNvSpPr/>
          <p:nvPr/>
        </p:nvSpPr>
        <p:spPr>
          <a:xfrm>
            <a:off x="676275" y="1285875"/>
            <a:ext cx="17621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Option</a:t>
            </a:r>
            <a:endParaRPr lang="en-US" sz="1425" dirty="0"/>
          </a:p>
        </p:txBody>
      </p:sp>
      <p:sp>
        <p:nvSpPr>
          <p:cNvPr id="8" name="Text 5"/>
          <p:cNvSpPr/>
          <p:nvPr/>
        </p:nvSpPr>
        <p:spPr>
          <a:xfrm>
            <a:off x="2438400" y="1285875"/>
            <a:ext cx="60293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When to choose it</a:t>
            </a:r>
            <a:endParaRPr lang="en-US" sz="1425" dirty="0"/>
          </a:p>
        </p:txBody>
      </p:sp>
      <p:sp>
        <p:nvSpPr>
          <p:cNvPr id="9" name="Shape 6"/>
          <p:cNvSpPr/>
          <p:nvPr/>
        </p:nvSpPr>
        <p:spPr>
          <a:xfrm>
            <a:off x="571500" y="1638300"/>
            <a:ext cx="8001000" cy="428625"/>
          </a:xfrm>
          <a:prstGeom prst="rect">
            <a:avLst/>
          </a:prstGeom>
          <a:solidFill>
            <a:srgbClr val="092925">
              <a:alpha val="94000"/>
            </a:srgbClr>
          </a:solidFill>
          <a:ln/>
        </p:spPr>
      </p:sp>
      <p:sp>
        <p:nvSpPr>
          <p:cNvPr id="10" name="Text 7"/>
          <p:cNvSpPr/>
          <p:nvPr/>
        </p:nvSpPr>
        <p:spPr>
          <a:xfrm>
            <a:off x="676275" y="1733550"/>
            <a:ext cx="1762125" cy="238125"/>
          </a:xfrm>
          <a:prstGeom prst="rect">
            <a:avLst/>
          </a:prstGeom>
          <a:noFill/>
          <a:ln/>
        </p:spPr>
        <p:txBody>
          <a:bodyPr wrap="square" lIns="0" tIns="0" rIns="0" bIns="0" rtlCol="0" anchor="t"/>
          <a:lstStyle/>
          <a:p>
            <a:pPr algn="l" indent="0" marL="0">
              <a:lnSpc>
                <a:spcPts val="1781"/>
              </a:lnSpc>
              <a:buNone/>
            </a:pPr>
            <a:r>
              <a:rPr lang="en-US" sz="1425" dirty="0">
                <a:solidFill>
                  <a:srgbClr val="F5FFFA">
                    <a:alpha val="99000"/>
                  </a:srgbClr>
                </a:solidFill>
                <a:latin typeface="Inter" pitchFamily="34" charset="0"/>
                <a:ea typeface="Inter" pitchFamily="34" charset="-122"/>
                <a:cs typeface="Inter" pitchFamily="34" charset="-120"/>
              </a:rPr>
              <a:t>SDK FASTMCP</a:t>
            </a:r>
            <a:endParaRPr lang="en-US" sz="1425" dirty="0"/>
          </a:p>
        </p:txBody>
      </p:sp>
      <p:sp>
        <p:nvSpPr>
          <p:cNvPr id="11" name="Text 8"/>
          <p:cNvSpPr/>
          <p:nvPr/>
        </p:nvSpPr>
        <p:spPr>
          <a:xfrm>
            <a:off x="2438400" y="1733550"/>
            <a:ext cx="6029325" cy="238125"/>
          </a:xfrm>
          <a:prstGeom prst="rect">
            <a:avLst/>
          </a:prstGeom>
          <a:noFill/>
          <a:ln/>
        </p:spPr>
        <p:txBody>
          <a:bodyPr wrap="square" lIns="0" tIns="0" rIns="0" bIns="0" rtlCol="0" anchor="t"/>
          <a:lstStyle/>
          <a:p>
            <a:pPr algn="l" indent="0" marL="0">
              <a:lnSpc>
                <a:spcPts val="1781"/>
              </a:lnSpc>
              <a:buNone/>
            </a:pPr>
            <a:r>
              <a:rPr lang="en-US" sz="1425" dirty="0">
                <a:solidFill>
                  <a:srgbClr val="F5FFFA">
                    <a:alpha val="99000"/>
                  </a:srgbClr>
                </a:solidFill>
                <a:latin typeface="Inter" pitchFamily="34" charset="0"/>
                <a:ea typeface="Inter" pitchFamily="34" charset="-122"/>
                <a:cs typeface="Inter" pitchFamily="34" charset="-120"/>
              </a:rPr>
              <a:t>Official Python SDK v1; used in this workshop.</a:t>
            </a:r>
            <a:endParaRPr lang="en-US" sz="1425" dirty="0"/>
          </a:p>
        </p:txBody>
      </p:sp>
      <p:sp>
        <p:nvSpPr>
          <p:cNvPr id="12" name="Shape 9"/>
          <p:cNvSpPr/>
          <p:nvPr/>
        </p:nvSpPr>
        <p:spPr>
          <a:xfrm>
            <a:off x="571500" y="2085975"/>
            <a:ext cx="8001000" cy="666750"/>
          </a:xfrm>
          <a:prstGeom prst="rect">
            <a:avLst/>
          </a:prstGeom>
          <a:solidFill>
            <a:srgbClr val="092925">
              <a:alpha val="94000"/>
            </a:srgbClr>
          </a:solidFill>
          <a:ln/>
        </p:spPr>
      </p:sp>
      <p:sp>
        <p:nvSpPr>
          <p:cNvPr id="13" name="Text 10"/>
          <p:cNvSpPr/>
          <p:nvPr/>
        </p:nvSpPr>
        <p:spPr>
          <a:xfrm>
            <a:off x="676275" y="2181225"/>
            <a:ext cx="1762125" cy="476250"/>
          </a:xfrm>
          <a:prstGeom prst="rect">
            <a:avLst/>
          </a:prstGeom>
          <a:noFill/>
          <a:ln/>
        </p:spPr>
        <p:txBody>
          <a:bodyPr wrap="square" lIns="0" tIns="0" rIns="0" bIns="0" rtlCol="0" anchor="t"/>
          <a:lstStyle/>
          <a:p>
            <a:pPr algn="l" indent="0" marL="0">
              <a:lnSpc>
                <a:spcPts val="1781"/>
              </a:lnSpc>
              <a:buNone/>
            </a:pPr>
            <a:r>
              <a:rPr lang="en-US" sz="1425" dirty="0">
                <a:solidFill>
                  <a:srgbClr val="F5FFFA">
                    <a:alpha val="99000"/>
                  </a:srgbClr>
                </a:solidFill>
                <a:latin typeface="Inter" pitchFamily="34" charset="0"/>
                <a:ea typeface="Inter" pitchFamily="34" charset="-122"/>
                <a:cs typeface="Inter" pitchFamily="34" charset="-120"/>
              </a:rPr>
              <a:t>Standalone FastMCP</a:t>
            </a:r>
            <a:endParaRPr lang="en-US" sz="1425" dirty="0"/>
          </a:p>
        </p:txBody>
      </p:sp>
      <p:sp>
        <p:nvSpPr>
          <p:cNvPr id="14" name="Text 11"/>
          <p:cNvSpPr/>
          <p:nvPr/>
        </p:nvSpPr>
        <p:spPr>
          <a:xfrm>
            <a:off x="2438400" y="2181225"/>
            <a:ext cx="6029325" cy="238125"/>
          </a:xfrm>
          <a:prstGeom prst="rect">
            <a:avLst/>
          </a:prstGeom>
          <a:noFill/>
          <a:ln/>
        </p:spPr>
        <p:txBody>
          <a:bodyPr wrap="square" lIns="0" tIns="0" rIns="0" bIns="0" rtlCol="0" anchor="t"/>
          <a:lstStyle/>
          <a:p>
            <a:pPr algn="l" indent="0" marL="0">
              <a:lnSpc>
                <a:spcPts val="1781"/>
              </a:lnSpc>
              <a:buNone/>
            </a:pPr>
            <a:r>
              <a:rPr lang="en-US" sz="1425" dirty="0">
                <a:solidFill>
                  <a:srgbClr val="F5FFFA">
                    <a:alpha val="99000"/>
                  </a:srgbClr>
                </a:solidFill>
                <a:latin typeface="Inter" pitchFamily="34" charset="0"/>
                <a:ea typeface="Inter" pitchFamily="34" charset="-122"/>
                <a:cs typeface="Inter" pitchFamily="34" charset="-120"/>
              </a:rPr>
              <a:t>Separate Python package: from fastmcp import FastMCP.</a:t>
            </a:r>
            <a:endParaRPr lang="en-US" sz="1425" dirty="0"/>
          </a:p>
        </p:txBody>
      </p:sp>
      <p:sp>
        <p:nvSpPr>
          <p:cNvPr id="15" name="Shape 12"/>
          <p:cNvSpPr/>
          <p:nvPr/>
        </p:nvSpPr>
        <p:spPr>
          <a:xfrm>
            <a:off x="571500" y="2771775"/>
            <a:ext cx="8001000" cy="428625"/>
          </a:xfrm>
          <a:prstGeom prst="rect">
            <a:avLst/>
          </a:prstGeom>
          <a:solidFill>
            <a:srgbClr val="092925">
              <a:alpha val="94000"/>
            </a:srgbClr>
          </a:solidFill>
          <a:ln/>
        </p:spPr>
      </p:sp>
      <p:sp>
        <p:nvSpPr>
          <p:cNvPr id="16" name="Text 13"/>
          <p:cNvSpPr/>
          <p:nvPr/>
        </p:nvSpPr>
        <p:spPr>
          <a:xfrm>
            <a:off x="676275" y="2867025"/>
            <a:ext cx="1762125" cy="238125"/>
          </a:xfrm>
          <a:prstGeom prst="rect">
            <a:avLst/>
          </a:prstGeom>
          <a:noFill/>
          <a:ln/>
        </p:spPr>
        <p:txBody>
          <a:bodyPr wrap="square" lIns="0" tIns="0" rIns="0" bIns="0" rtlCol="0" anchor="t"/>
          <a:lstStyle/>
          <a:p>
            <a:pPr algn="l" indent="0" marL="0">
              <a:lnSpc>
                <a:spcPts val="1781"/>
              </a:lnSpc>
              <a:buNone/>
            </a:pPr>
            <a:r>
              <a:rPr lang="en-US" sz="1425" dirty="0">
                <a:solidFill>
                  <a:srgbClr val="F5FFFA">
                    <a:alpha val="99000"/>
                  </a:srgbClr>
                </a:solidFill>
                <a:latin typeface="Inter" pitchFamily="34" charset="0"/>
                <a:ea typeface="Inter" pitchFamily="34" charset="-122"/>
                <a:cs typeface="Inter" pitchFamily="34" charset="-120"/>
              </a:rPr>
              <a:t>Other SDKs</a:t>
            </a:r>
            <a:endParaRPr lang="en-US" sz="1425" dirty="0"/>
          </a:p>
        </p:txBody>
      </p:sp>
      <p:sp>
        <p:nvSpPr>
          <p:cNvPr id="17" name="Text 14"/>
          <p:cNvSpPr/>
          <p:nvPr/>
        </p:nvSpPr>
        <p:spPr>
          <a:xfrm>
            <a:off x="2438400" y="2867025"/>
            <a:ext cx="6029325" cy="238125"/>
          </a:xfrm>
          <a:prstGeom prst="rect">
            <a:avLst/>
          </a:prstGeom>
          <a:noFill/>
          <a:ln/>
        </p:spPr>
        <p:txBody>
          <a:bodyPr wrap="square" lIns="0" tIns="0" rIns="0" bIns="0" rtlCol="0" anchor="t"/>
          <a:lstStyle/>
          <a:p>
            <a:pPr algn="l" indent="0" marL="0">
              <a:lnSpc>
                <a:spcPts val="1781"/>
              </a:lnSpc>
              <a:buNone/>
            </a:pPr>
            <a:r>
              <a:rPr lang="en-US" sz="1425" dirty="0">
                <a:solidFill>
                  <a:srgbClr val="F5FFFA">
                    <a:alpha val="99000"/>
                  </a:srgbClr>
                </a:solidFill>
                <a:latin typeface="Inter" pitchFamily="34" charset="0"/>
                <a:ea typeface="Inter" pitchFamily="34" charset="-122"/>
                <a:cs typeface="Inter" pitchFamily="34" charset="-120"/>
              </a:rPr>
              <a:t>Official SDKs for your stack, including TypeScript.</a:t>
            </a:r>
            <a:endParaRPr lang="en-US" sz="1425" dirty="0"/>
          </a:p>
        </p:txBody>
      </p:sp>
      <p:sp>
        <p:nvSpPr>
          <p:cNvPr id="18" name="Shape 15"/>
          <p:cNvSpPr/>
          <p:nvPr/>
        </p:nvSpPr>
        <p:spPr>
          <a:xfrm>
            <a:off x="571500" y="3219450"/>
            <a:ext cx="8001000" cy="428625"/>
          </a:xfrm>
          <a:prstGeom prst="rect">
            <a:avLst/>
          </a:prstGeom>
          <a:solidFill>
            <a:srgbClr val="092925">
              <a:alpha val="94000"/>
            </a:srgbClr>
          </a:solidFill>
          <a:ln/>
        </p:spPr>
      </p:sp>
      <p:sp>
        <p:nvSpPr>
          <p:cNvPr id="19" name="Text 16"/>
          <p:cNvSpPr/>
          <p:nvPr/>
        </p:nvSpPr>
        <p:spPr>
          <a:xfrm>
            <a:off x="676275" y="3314700"/>
            <a:ext cx="1762125" cy="238125"/>
          </a:xfrm>
          <a:prstGeom prst="rect">
            <a:avLst/>
          </a:prstGeom>
          <a:noFill/>
          <a:ln/>
        </p:spPr>
        <p:txBody>
          <a:bodyPr wrap="square" lIns="0" tIns="0" rIns="0" bIns="0" rtlCol="0" anchor="t"/>
          <a:lstStyle/>
          <a:p>
            <a:pPr algn="l" indent="0" marL="0">
              <a:lnSpc>
                <a:spcPts val="1781"/>
              </a:lnSpc>
              <a:buNone/>
            </a:pPr>
            <a:r>
              <a:rPr lang="en-US" sz="1425" dirty="0">
                <a:solidFill>
                  <a:srgbClr val="F5FFFA">
                    <a:alpha val="99000"/>
                  </a:srgbClr>
                </a:solidFill>
                <a:latin typeface="Inter" pitchFamily="34" charset="0"/>
                <a:ea typeface="Inter" pitchFamily="34" charset="-122"/>
                <a:cs typeface="Inter" pitchFamily="34" charset="-120"/>
              </a:rPr>
              <a:t>Zapier MCP</a:t>
            </a:r>
            <a:endParaRPr lang="en-US" sz="1425" dirty="0"/>
          </a:p>
        </p:txBody>
      </p:sp>
      <p:sp>
        <p:nvSpPr>
          <p:cNvPr id="20" name="Text 17"/>
          <p:cNvSpPr/>
          <p:nvPr/>
        </p:nvSpPr>
        <p:spPr>
          <a:xfrm>
            <a:off x="2438400" y="3314700"/>
            <a:ext cx="6029325" cy="238125"/>
          </a:xfrm>
          <a:prstGeom prst="rect">
            <a:avLst/>
          </a:prstGeom>
          <a:noFill/>
          <a:ln/>
        </p:spPr>
        <p:txBody>
          <a:bodyPr wrap="square" lIns="0" tIns="0" rIns="0" bIns="0" rtlCol="0" anchor="t"/>
          <a:lstStyle/>
          <a:p>
            <a:pPr algn="l" indent="0" marL="0">
              <a:lnSpc>
                <a:spcPts val="1781"/>
              </a:lnSpc>
              <a:buNone/>
            </a:pPr>
            <a:r>
              <a:rPr lang="en-US" sz="1425" dirty="0">
                <a:solidFill>
                  <a:srgbClr val="F5FFFA">
                    <a:alpha val="99000"/>
                  </a:srgbClr>
                </a:solidFill>
                <a:latin typeface="Inter" pitchFamily="34" charset="0"/>
                <a:ea typeface="Inter" pitchFamily="34" charset="-122"/>
                <a:cs typeface="Inter" pitchFamily="34" charset="-120"/>
              </a:rPr>
              <a:t>Managed app actions via Zapier MCP; a Zap is trigger → actions.</a:t>
            </a:r>
            <a:endParaRPr lang="en-US" sz="1425" dirty="0"/>
          </a:p>
        </p:txBody>
      </p:sp>
      <p:sp>
        <p:nvSpPr>
          <p:cNvPr id="21" name="Text 18"/>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11 / 29</a:t>
            </a:r>
            <a:endParaRPr lang="en-US" sz="855" dirty="0"/>
          </a:p>
        </p:txBody>
      </p:sp>
      <p:sp>
        <p:nvSpPr>
          <p:cNvPr id="22" name="Shape 19"/>
          <p:cNvSpPr/>
          <p:nvPr/>
        </p:nvSpPr>
        <p:spPr>
          <a:xfrm>
            <a:off x="571500" y="3976687"/>
            <a:ext cx="8001000" cy="714375"/>
          </a:xfrm>
          <a:prstGeom prst="roundRect">
            <a:avLst>
              <a:gd name="adj" fmla="val 15360"/>
            </a:avLst>
          </a:prstGeom>
          <a:solidFill>
            <a:srgbClr val="092925"/>
          </a:solidFill>
          <a:ln/>
        </p:spPr>
      </p:sp>
      <p:sp>
        <p:nvSpPr>
          <p:cNvPr id="23" name="Text 20"/>
          <p:cNvSpPr/>
          <p:nvPr/>
        </p:nvSpPr>
        <p:spPr>
          <a:xfrm>
            <a:off x="666750" y="4033837"/>
            <a:ext cx="7810500" cy="128588"/>
          </a:xfrm>
          <a:prstGeom prst="rect">
            <a:avLst/>
          </a:prstGeom>
          <a:noFill/>
          <a:ln/>
        </p:spPr>
        <p:txBody>
          <a:bodyPr wrap="square" lIns="0" tIns="0" rIns="0" bIns="0" rtlCol="0" anchor="t"/>
          <a:lstStyle/>
          <a:p>
            <a:pPr algn="l" indent="0" marL="0">
              <a:lnSpc>
                <a:spcPts val="949"/>
              </a:lnSpc>
              <a:buNone/>
            </a:pPr>
            <a:r>
              <a:rPr lang="en-US" sz="784" b="1" dirty="0">
                <a:solidFill>
                  <a:srgbClr val="5CE5BD">
                    <a:alpha val="99000"/>
                  </a:srgbClr>
                </a:solidFill>
                <a:latin typeface="Inter" pitchFamily="34" charset="0"/>
                <a:ea typeface="Inter" pitchFamily="34" charset="-122"/>
                <a:cs typeface="Inter" pitchFamily="34" charset="-120"/>
              </a:rPr>
              <a:t>DATABUTTON · adjacent app builder</a:t>
            </a:r>
            <a:endParaRPr lang="en-US" sz="784" dirty="0"/>
          </a:p>
        </p:txBody>
      </p:sp>
      <p:sp>
        <p:nvSpPr>
          <p:cNvPr id="24" name="Text 21"/>
          <p:cNvSpPr/>
          <p:nvPr/>
        </p:nvSpPr>
        <p:spPr>
          <a:xfrm>
            <a:off x="666750" y="4191000"/>
            <a:ext cx="7810500" cy="185738"/>
          </a:xfrm>
          <a:prstGeom prst="rect">
            <a:avLst/>
          </a:prstGeom>
          <a:noFill/>
          <a:ln/>
        </p:spPr>
        <p:txBody>
          <a:bodyPr wrap="square" lIns="0" tIns="0" rIns="0" bIns="0" rtlCol="0" anchor="t"/>
          <a:lstStyle/>
          <a:p>
            <a:pPr algn="l" indent="0" marL="0">
              <a:lnSpc>
                <a:spcPts val="1380"/>
              </a:lnSpc>
              <a:buNone/>
            </a:pPr>
            <a:r>
              <a:rPr lang="en-US" sz="1140" dirty="0">
                <a:solidFill>
                  <a:srgbClr val="F2FAF5">
                    <a:alpha val="99000"/>
                  </a:srgbClr>
                </a:solidFill>
                <a:latin typeface="Inter" pitchFamily="34" charset="0"/>
                <a:ea typeface="Inter" pitchFamily="34" charset="-122"/>
                <a:cs typeface="Inter" pitchFamily="34" charset="-120"/>
              </a:rPr>
              <a:t>An app builder is not itself an MCP framework.</a:t>
            </a:r>
            <a:endParaRPr lang="en-US" sz="1140" dirty="0"/>
          </a:p>
        </p:txBody>
      </p:sp>
      <p:sp>
        <p:nvSpPr>
          <p:cNvPr id="25" name="Text 22"/>
          <p:cNvSpPr/>
          <p:nvPr/>
        </p:nvSpPr>
        <p:spPr>
          <a:xfrm>
            <a:off x="666750" y="4405313"/>
            <a:ext cx="7810500" cy="157163"/>
          </a:xfrm>
          <a:prstGeom prst="rect">
            <a:avLst/>
          </a:prstGeom>
          <a:noFill/>
          <a:ln/>
        </p:spPr>
        <p:txBody>
          <a:bodyPr wrap="square" lIns="0" tIns="0" rIns="0" bIns="0" rtlCol="0" anchor="t"/>
          <a:lstStyle/>
          <a:p>
            <a:pPr algn="l" indent="0" marL="0">
              <a:lnSpc>
                <a:spcPts val="1164"/>
              </a:lnSpc>
              <a:buNone/>
            </a:pPr>
            <a:r>
              <a:rPr lang="en-US" sz="962" dirty="0">
                <a:solidFill>
                  <a:srgbClr val="F2FAF5">
                    <a:alpha val="99000"/>
                  </a:srgbClr>
                </a:solidFill>
                <a:latin typeface="Inter" pitchFamily="34" charset="0"/>
                <a:ea typeface="Inter" pitchFamily="34" charset="-122"/>
                <a:cs typeface="Inter" pitchFamily="34" charset="-120"/>
              </a:rPr>
              <a:t>Choose by tools exposed, host support, auth and deployment.</a:t>
            </a:r>
            <a:endParaRPr lang="en-US" sz="962"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Links and readiness</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Text 2"/>
          <p:cNvSpPr/>
          <p:nvPr/>
        </p:nvSpPr>
        <p:spPr>
          <a:xfrm>
            <a:off x="571500" y="1181100"/>
            <a:ext cx="8001000" cy="309563"/>
          </a:xfrm>
          <a:prstGeom prst="rect">
            <a:avLst/>
          </a:prstGeom>
          <a:noFill/>
          <a:ln/>
        </p:spPr>
        <p:txBody>
          <a:bodyPr wrap="square" lIns="0" tIns="0" rIns="0" bIns="0" rtlCol="0" anchor="t"/>
          <a:lstStyle/>
          <a:p>
            <a:pPr algn="l" indent="0" marL="0">
              <a:lnSpc>
                <a:spcPts val="2316"/>
              </a:lnSpc>
              <a:buNone/>
            </a:pPr>
            <a:r>
              <a:rPr lang="en-US" sz="1852" b="1" dirty="0">
                <a:solidFill>
                  <a:srgbClr val="4FE3BD">
                    <a:alpha val="99000"/>
                  </a:srgbClr>
                </a:solidFill>
                <a:latin typeface="Inter" pitchFamily="34" charset="0"/>
                <a:ea typeface="Inter" pitchFamily="34" charset="-122"/>
                <a:cs typeface="Inter" pitchFamily="34" charset="-120"/>
              </a:rPr>
              <a:t>github.com/pranavsaigandikota/MCPJAM</a:t>
            </a:r>
            <a:endParaRPr lang="en-US" sz="1852" dirty="0"/>
          </a:p>
        </p:txBody>
      </p:sp>
      <p:sp>
        <p:nvSpPr>
          <p:cNvPr id="6" name="Text 3"/>
          <p:cNvSpPr/>
          <p:nvPr/>
        </p:nvSpPr>
        <p:spPr>
          <a:xfrm>
            <a:off x="571500" y="1647825"/>
            <a:ext cx="8001000" cy="309563"/>
          </a:xfrm>
          <a:prstGeom prst="rect">
            <a:avLst/>
          </a:prstGeom>
          <a:noFill/>
          <a:ln/>
        </p:spPr>
        <p:txBody>
          <a:bodyPr wrap="square" lIns="0" tIns="0" rIns="0" bIns="0" rtlCol="0" anchor="t"/>
          <a:lstStyle/>
          <a:p>
            <a:pPr algn="l" indent="0" marL="0">
              <a:lnSpc>
                <a:spcPts val="2316"/>
              </a:lnSpc>
              <a:buNone/>
            </a:pPr>
            <a:r>
              <a:rPr lang="en-US" sz="1852" b="1" dirty="0">
                <a:solidFill>
                  <a:srgbClr val="4FE3BD">
                    <a:alpha val="99000"/>
                  </a:srgbClr>
                </a:solidFill>
                <a:latin typeface="Inter" pitchFamily="34" charset="0"/>
                <a:ea typeface="Inter" pitchFamily="34" charset="-122"/>
                <a:cs typeface="Inter" pitchFamily="34" charset="-120"/>
              </a:rPr>
              <a:t>aistudio.google.com/api-keys</a:t>
            </a:r>
            <a:endParaRPr lang="en-US" sz="1852" dirty="0"/>
          </a:p>
        </p:txBody>
      </p:sp>
      <p:sp>
        <p:nvSpPr>
          <p:cNvPr id="7" name="Shape 4"/>
          <p:cNvSpPr/>
          <p:nvPr/>
        </p:nvSpPr>
        <p:spPr>
          <a:xfrm>
            <a:off x="571500" y="2333625"/>
            <a:ext cx="8001000" cy="1385888"/>
          </a:xfrm>
          <a:prstGeom prst="rect">
            <a:avLst/>
          </a:prstGeom>
          <a:noFill/>
          <a:ln/>
        </p:spPr>
      </p:sp>
      <p:sp>
        <p:nvSpPr>
          <p:cNvPr id="8" name="Text 5"/>
          <p:cNvSpPr/>
          <p:nvPr/>
        </p:nvSpPr>
        <p:spPr>
          <a:xfrm>
            <a:off x="571500" y="2333625"/>
            <a:ext cx="8001000" cy="257175"/>
          </a:xfrm>
          <a:prstGeom prst="rect">
            <a:avLst/>
          </a:prstGeom>
          <a:noFill/>
          <a:ln/>
        </p:spPr>
        <p:txBody>
          <a:bodyPr wrap="square" lIns="0" tIns="0" rIns="0" bIns="0" rtlCol="0" anchor="t"/>
          <a:lstStyle/>
          <a:p>
            <a:pPr algn="l" indent="0" marL="0">
              <a:lnSpc>
                <a:spcPts val="1915"/>
              </a:lnSpc>
              <a:buNone/>
            </a:pPr>
            <a:r>
              <a:rPr lang="en-US" sz="1532" dirty="0">
                <a:solidFill>
                  <a:srgbClr val="F5FFFA">
                    <a:alpha val="99000"/>
                  </a:srgbClr>
                </a:solidFill>
                <a:latin typeface="Inter" pitchFamily="34" charset="0"/>
                <a:ea typeface="Inter" pitchFamily="34" charset="-122"/>
                <a:cs typeface="Inter" pitchFamily="34" charset="-120"/>
              </a:rPr>
              <a:t>1  Open README.md for setup and launch instructions.</a:t>
            </a:r>
            <a:endParaRPr lang="en-US" sz="1532" dirty="0"/>
          </a:p>
        </p:txBody>
      </p:sp>
      <p:sp>
        <p:nvSpPr>
          <p:cNvPr id="9" name="Text 6"/>
          <p:cNvSpPr/>
          <p:nvPr/>
        </p:nvSpPr>
        <p:spPr>
          <a:xfrm>
            <a:off x="571500" y="2709863"/>
            <a:ext cx="8001000" cy="257175"/>
          </a:xfrm>
          <a:prstGeom prst="rect">
            <a:avLst/>
          </a:prstGeom>
          <a:noFill/>
          <a:ln/>
        </p:spPr>
        <p:txBody>
          <a:bodyPr wrap="square" lIns="0" tIns="0" rIns="0" bIns="0" rtlCol="0" anchor="t"/>
          <a:lstStyle/>
          <a:p>
            <a:pPr algn="l" indent="0" marL="0">
              <a:lnSpc>
                <a:spcPts val="1915"/>
              </a:lnSpc>
              <a:buNone/>
            </a:pPr>
            <a:r>
              <a:rPr lang="en-US" sz="1532" dirty="0">
                <a:solidFill>
                  <a:srgbClr val="F5FFFA">
                    <a:alpha val="99000"/>
                  </a:srgbClr>
                </a:solidFill>
                <a:latin typeface="Inter" pitchFamily="34" charset="0"/>
                <a:ea typeface="Inter" pitchFamily="34" charset="-122"/>
                <a:cs typeface="Inter" pitchFamily="34" charset="-120"/>
              </a:rPr>
              <a:t>2  Start the music Application.</a:t>
            </a:r>
            <a:endParaRPr lang="en-US" sz="1532" dirty="0"/>
          </a:p>
        </p:txBody>
      </p:sp>
      <p:sp>
        <p:nvSpPr>
          <p:cNvPr id="10" name="Text 7"/>
          <p:cNvSpPr/>
          <p:nvPr/>
        </p:nvSpPr>
        <p:spPr>
          <a:xfrm>
            <a:off x="571500" y="3086100"/>
            <a:ext cx="8001000" cy="257175"/>
          </a:xfrm>
          <a:prstGeom prst="rect">
            <a:avLst/>
          </a:prstGeom>
          <a:noFill/>
          <a:ln/>
        </p:spPr>
        <p:txBody>
          <a:bodyPr wrap="square" lIns="0" tIns="0" rIns="0" bIns="0" rtlCol="0" anchor="t"/>
          <a:lstStyle/>
          <a:p>
            <a:pPr algn="l" indent="0" marL="0">
              <a:lnSpc>
                <a:spcPts val="1915"/>
              </a:lnSpc>
              <a:buNone/>
            </a:pPr>
            <a:r>
              <a:rPr lang="en-US" sz="1532" dirty="0">
                <a:solidFill>
                  <a:srgbClr val="F5FFFA">
                    <a:alpha val="99000"/>
                  </a:srgbClr>
                </a:solidFill>
                <a:latin typeface="Inter" pitchFamily="34" charset="0"/>
                <a:ea typeface="Inter" pitchFamily="34" charset="-122"/>
                <a:cs typeface="Inter" pitchFamily="34" charset="-120"/>
              </a:rPr>
              <a:t>3  Open mcp_server_sdk.py.</a:t>
            </a:r>
            <a:endParaRPr lang="en-US" sz="1532" dirty="0"/>
          </a:p>
        </p:txBody>
      </p:sp>
      <p:sp>
        <p:nvSpPr>
          <p:cNvPr id="11" name="Text 8"/>
          <p:cNvSpPr/>
          <p:nvPr/>
        </p:nvSpPr>
        <p:spPr>
          <a:xfrm>
            <a:off x="571500" y="3462338"/>
            <a:ext cx="8001000" cy="257175"/>
          </a:xfrm>
          <a:prstGeom prst="rect">
            <a:avLst/>
          </a:prstGeom>
          <a:noFill/>
          <a:ln/>
        </p:spPr>
        <p:txBody>
          <a:bodyPr wrap="square" lIns="0" tIns="0" rIns="0" bIns="0" rtlCol="0" anchor="t"/>
          <a:lstStyle/>
          <a:p>
            <a:pPr algn="l" indent="0" marL="0">
              <a:lnSpc>
                <a:spcPts val="1915"/>
              </a:lnSpc>
              <a:buNone/>
            </a:pPr>
            <a:r>
              <a:rPr lang="en-US" sz="1532" dirty="0">
                <a:solidFill>
                  <a:srgbClr val="F5FFFA">
                    <a:alpha val="99000"/>
                  </a:srgbClr>
                </a:solidFill>
                <a:latin typeface="Inter" pitchFamily="34" charset="0"/>
                <a:ea typeface="Inter" pitchFamily="34" charset="-122"/>
                <a:cs typeface="Inter" pitchFamily="34" charset="-120"/>
              </a:rPr>
              <a:t>4  Use workshop_client.py for explicit tool tests.</a:t>
            </a:r>
            <a:endParaRPr lang="en-US" sz="1532" dirty="0"/>
          </a:p>
        </p:txBody>
      </p:sp>
      <p:sp>
        <p:nvSpPr>
          <p:cNvPr id="12" name="Text 9"/>
          <p:cNvSpPr/>
          <p:nvPr/>
        </p:nvSpPr>
        <p:spPr>
          <a:xfrm>
            <a:off x="571500" y="4367213"/>
            <a:ext cx="8001000" cy="228600"/>
          </a:xfrm>
          <a:prstGeom prst="rect">
            <a:avLst/>
          </a:prstGeom>
          <a:noFill/>
          <a:ln/>
        </p:spPr>
        <p:txBody>
          <a:bodyPr wrap="square" lIns="0" tIns="0" rIns="0" bIns="0" rtlCol="0" anchor="t"/>
          <a:lstStyle/>
          <a:p>
            <a:pPr algn="l" indent="0" marL="0">
              <a:lnSpc>
                <a:spcPts val="1692"/>
              </a:lnSpc>
              <a:buNone/>
            </a:pPr>
            <a:r>
              <a:rPr lang="en-US" sz="1354" b="1" dirty="0">
                <a:solidFill>
                  <a:srgbClr val="4FE3BD">
                    <a:alpha val="99000"/>
                  </a:srgbClr>
                </a:solidFill>
                <a:latin typeface="Inter" pitchFamily="34" charset="0"/>
                <a:ea typeface="Inter" pitchFamily="34" charset="-122"/>
                <a:cs typeface="Inter" pitchFamily="34" charset="-120"/>
              </a:rPr>
              <a:t>Gemini key: AI demo only. Explicit tool tests need no key.</a:t>
            </a:r>
            <a:endParaRPr lang="en-US" sz="1354" dirty="0"/>
          </a:p>
        </p:txBody>
      </p:sp>
      <p:sp>
        <p:nvSpPr>
          <p:cNvPr id="13" name="Text 10"/>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12 / 29</a:t>
            </a:r>
            <a:endParaRPr lang="en-US" sz="85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Demo: an AI controls the music app</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Text 2"/>
          <p:cNvSpPr/>
          <p:nvPr/>
        </p:nvSpPr>
        <p:spPr>
          <a:xfrm>
            <a:off x="571500" y="1323975"/>
            <a:ext cx="8001000" cy="466725"/>
          </a:xfrm>
          <a:prstGeom prst="rect">
            <a:avLst/>
          </a:prstGeom>
          <a:noFill/>
          <a:ln/>
        </p:spPr>
        <p:txBody>
          <a:bodyPr wrap="square" lIns="0" tIns="0" rIns="0" bIns="0" rtlCol="0" anchor="t"/>
          <a:lstStyle/>
          <a:p>
            <a:pPr algn="l" indent="0" marL="0">
              <a:lnSpc>
                <a:spcPts val="3473"/>
              </a:lnSpc>
              <a:buNone/>
            </a:pPr>
            <a:r>
              <a:rPr lang="en-US" sz="2779" b="1" dirty="0">
                <a:solidFill>
                  <a:srgbClr val="4FE3BD">
                    <a:alpha val="99000"/>
                  </a:srgbClr>
                </a:solidFill>
                <a:latin typeface="Inter" pitchFamily="34" charset="0"/>
                <a:ea typeface="Inter" pitchFamily="34" charset="-122"/>
                <a:cs typeface="Inter" pitchFamily="34" charset="-120"/>
              </a:rPr>
              <a:t>“Set the tempo to 120 BPM.”</a:t>
            </a:r>
            <a:endParaRPr lang="en-US" sz="2779" dirty="0"/>
          </a:p>
        </p:txBody>
      </p:sp>
      <p:sp>
        <p:nvSpPr>
          <p:cNvPr id="6" name="Shape 3"/>
          <p:cNvSpPr/>
          <p:nvPr/>
        </p:nvSpPr>
        <p:spPr>
          <a:xfrm>
            <a:off x="571500" y="2276475"/>
            <a:ext cx="5286375" cy="1200150"/>
          </a:xfrm>
          <a:prstGeom prst="rect">
            <a:avLst/>
          </a:prstGeom>
          <a:noFill/>
          <a:ln/>
        </p:spPr>
      </p:sp>
      <p:sp>
        <p:nvSpPr>
          <p:cNvPr id="7" name="Text 4"/>
          <p:cNvSpPr/>
          <p:nvPr/>
        </p:nvSpPr>
        <p:spPr>
          <a:xfrm>
            <a:off x="571500" y="2276475"/>
            <a:ext cx="5286375" cy="257175"/>
          </a:xfrm>
          <a:prstGeom prst="rect">
            <a:avLst/>
          </a:prstGeom>
          <a:noFill/>
          <a:ln/>
        </p:spPr>
        <p:txBody>
          <a:bodyPr wrap="square" lIns="0" tIns="0" rIns="0" bIns="0" rtlCol="0" anchor="t"/>
          <a:lstStyle/>
          <a:p>
            <a:pPr algn="l" indent="0" marL="0">
              <a:lnSpc>
                <a:spcPts val="1915"/>
              </a:lnSpc>
              <a:buNone/>
            </a:pPr>
            <a:r>
              <a:rPr lang="en-US" sz="1532" dirty="0">
                <a:solidFill>
                  <a:srgbClr val="F5FFFA">
                    <a:alpha val="99000"/>
                  </a:srgbClr>
                </a:solidFill>
                <a:latin typeface="Inter" pitchFamily="34" charset="0"/>
                <a:ea typeface="Inter" pitchFamily="34" charset="-122"/>
                <a:cs typeface="Inter" pitchFamily="34" charset="-120"/>
              </a:rPr>
              <a:t>1  Inspect the selected tool and arguments.</a:t>
            </a:r>
            <a:endParaRPr lang="en-US" sz="1532" dirty="0"/>
          </a:p>
        </p:txBody>
      </p:sp>
      <p:sp>
        <p:nvSpPr>
          <p:cNvPr id="8" name="Text 5"/>
          <p:cNvSpPr/>
          <p:nvPr/>
        </p:nvSpPr>
        <p:spPr>
          <a:xfrm>
            <a:off x="571500" y="2747963"/>
            <a:ext cx="5286375" cy="257175"/>
          </a:xfrm>
          <a:prstGeom prst="rect">
            <a:avLst/>
          </a:prstGeom>
          <a:noFill/>
          <a:ln/>
        </p:spPr>
        <p:txBody>
          <a:bodyPr wrap="square" lIns="0" tIns="0" rIns="0" bIns="0" rtlCol="0" anchor="t"/>
          <a:lstStyle/>
          <a:p>
            <a:pPr algn="l" indent="0" marL="0">
              <a:lnSpc>
                <a:spcPts val="1915"/>
              </a:lnSpc>
              <a:buNone/>
            </a:pPr>
            <a:r>
              <a:rPr lang="en-US" sz="1532" dirty="0">
                <a:solidFill>
                  <a:srgbClr val="F5FFFA">
                    <a:alpha val="99000"/>
                  </a:srgbClr>
                </a:solidFill>
                <a:latin typeface="Inter" pitchFamily="34" charset="0"/>
                <a:ea typeface="Inter" pitchFamily="34" charset="-122"/>
                <a:cs typeface="Inter" pitchFamily="34" charset="-120"/>
              </a:rPr>
              <a:t>2  Observe the change in the music Application.</a:t>
            </a:r>
            <a:endParaRPr lang="en-US" sz="1532" dirty="0"/>
          </a:p>
        </p:txBody>
      </p:sp>
      <p:sp>
        <p:nvSpPr>
          <p:cNvPr id="9" name="Text 6"/>
          <p:cNvSpPr/>
          <p:nvPr/>
        </p:nvSpPr>
        <p:spPr>
          <a:xfrm>
            <a:off x="571500" y="3219450"/>
            <a:ext cx="5286375" cy="257175"/>
          </a:xfrm>
          <a:prstGeom prst="rect">
            <a:avLst/>
          </a:prstGeom>
          <a:noFill/>
          <a:ln/>
        </p:spPr>
        <p:txBody>
          <a:bodyPr wrap="square" lIns="0" tIns="0" rIns="0" bIns="0" rtlCol="0" anchor="t"/>
          <a:lstStyle/>
          <a:p>
            <a:pPr algn="l" indent="0" marL="0">
              <a:lnSpc>
                <a:spcPts val="1915"/>
              </a:lnSpc>
              <a:buNone/>
            </a:pPr>
            <a:r>
              <a:rPr lang="en-US" sz="1532" dirty="0">
                <a:solidFill>
                  <a:srgbClr val="F5FFFA">
                    <a:alpha val="99000"/>
                  </a:srgbClr>
                </a:solidFill>
                <a:latin typeface="Inter" pitchFamily="34" charset="0"/>
                <a:ea typeface="Inter" pitchFamily="34" charset="-122"/>
                <a:cs typeface="Inter" pitchFamily="34" charset="-120"/>
              </a:rPr>
              <a:t>3  Call get_state to verify the result.</a:t>
            </a:r>
            <a:endParaRPr lang="en-US" sz="1532" dirty="0"/>
          </a:p>
        </p:txBody>
      </p:sp>
      <p:sp>
        <p:nvSpPr>
          <p:cNvPr id="10" name="Text 7"/>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13 / 29</a:t>
            </a:r>
            <a:endParaRPr lang="en-US" sz="855" dirty="0"/>
          </a:p>
        </p:txBody>
      </p:sp>
      <p:pic>
        <p:nvPicPr>
          <p:cNvPr id="11" name="Image 0" descr="preencoded.png">    </p:cNvPr>
          <p:cNvPicPr>
            <a:picLocks noChangeAspect="1"/>
          </p:cNvPicPr>
          <p:nvPr/>
        </p:nvPicPr>
        <p:blipFill>
          <a:blip r:embed="rId2"/>
          <a:srcRect l="0" r="0" t="0" b="0"/>
          <a:stretch/>
        </p:blipFill>
        <p:spPr>
          <a:xfrm>
            <a:off x="6715125" y="1952625"/>
            <a:ext cx="1714500" cy="2143125"/>
          </a:xfrm>
          <a:prstGeom prst="rect">
            <a:avLst/>
          </a:prstGeom>
        </p:spPr>
      </p:pic>
      <p:pic>
        <p:nvPicPr>
          <p:cNvPr id="12" name="Image 1" descr="preencoded.png">    </p:cNvPr>
          <p:cNvPicPr>
            <a:picLocks noChangeAspect="1"/>
          </p:cNvPicPr>
          <p:nvPr/>
        </p:nvPicPr>
        <p:blipFill>
          <a:blip r:embed="rId3"/>
          <a:srcRect l="0" r="0" t="0" b="0"/>
          <a:stretch/>
        </p:blipFill>
        <p:spPr>
          <a:xfrm>
            <a:off x="6715125" y="1952625"/>
            <a:ext cx="1714500" cy="21431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MCP ACTIVITY · trace the call</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071563"/>
            <a:ext cx="7981950" cy="466725"/>
          </a:xfrm>
          <a:prstGeom prst="roundRect">
            <a:avLst>
              <a:gd name="adj" fmla="val 35265"/>
            </a:avLst>
          </a:prstGeom>
          <a:solidFill>
            <a:srgbClr val="092925">
              <a:alpha val="96000"/>
            </a:srgbClr>
          </a:solidFill>
          <a:ln/>
        </p:spPr>
      </p:sp>
      <p:sp>
        <p:nvSpPr>
          <p:cNvPr id="6" name="Text 3"/>
          <p:cNvSpPr/>
          <p:nvPr/>
        </p:nvSpPr>
        <p:spPr>
          <a:xfrm>
            <a:off x="704850" y="1185863"/>
            <a:ext cx="27146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Host + MCP client</a:t>
            </a:r>
            <a:endParaRPr lang="en-US" sz="1425" dirty="0"/>
          </a:p>
        </p:txBody>
      </p:sp>
      <p:sp>
        <p:nvSpPr>
          <p:cNvPr id="7" name="Text 4"/>
          <p:cNvSpPr/>
          <p:nvPr/>
        </p:nvSpPr>
        <p:spPr>
          <a:xfrm>
            <a:off x="3571875" y="1185863"/>
            <a:ext cx="4848225" cy="233362"/>
          </a:xfrm>
          <a:prstGeom prst="rect">
            <a:avLst/>
          </a:prstGeom>
          <a:noFill/>
          <a:ln/>
        </p:spPr>
        <p:txBody>
          <a:bodyPr wrap="square" lIns="0" tIns="0" rIns="0" bIns="0" rtlCol="0" anchor="t"/>
          <a:lstStyle/>
          <a:p>
            <a:pPr algn="l" indent="0" marL="0">
              <a:lnSpc>
                <a:spcPts val="1737"/>
              </a:lnSpc>
              <a:buNone/>
            </a:pPr>
            <a:r>
              <a:rPr lang="en-US" sz="1389" dirty="0">
                <a:solidFill>
                  <a:srgbClr val="F5FFFA">
                    <a:alpha val="99000"/>
                  </a:srgbClr>
                </a:solidFill>
                <a:latin typeface="Inter" pitchFamily="34" charset="0"/>
                <a:ea typeface="Inter" pitchFamily="34" charset="-122"/>
                <a:cs typeface="Inter" pitchFamily="34" charset="-120"/>
              </a:rPr>
              <a:t>gemini_host.py or the explicit workshop_client.py</a:t>
            </a:r>
            <a:endParaRPr lang="en-US" sz="1389" dirty="0"/>
          </a:p>
        </p:txBody>
      </p:sp>
      <p:sp>
        <p:nvSpPr>
          <p:cNvPr id="8" name="Shape 5"/>
          <p:cNvSpPr/>
          <p:nvPr/>
        </p:nvSpPr>
        <p:spPr>
          <a:xfrm>
            <a:off x="571500" y="2005013"/>
            <a:ext cx="7981950" cy="466725"/>
          </a:xfrm>
          <a:prstGeom prst="roundRect">
            <a:avLst>
              <a:gd name="adj" fmla="val 35265"/>
            </a:avLst>
          </a:prstGeom>
          <a:solidFill>
            <a:srgbClr val="092925">
              <a:alpha val="96000"/>
            </a:srgbClr>
          </a:solidFill>
          <a:ln/>
        </p:spPr>
      </p:sp>
      <p:sp>
        <p:nvSpPr>
          <p:cNvPr id="9" name="Text 6"/>
          <p:cNvSpPr/>
          <p:nvPr/>
        </p:nvSpPr>
        <p:spPr>
          <a:xfrm>
            <a:off x="704850" y="2119313"/>
            <a:ext cx="27146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mcp_server_sdk.py</a:t>
            </a:r>
            <a:endParaRPr lang="en-US" sz="1425" dirty="0"/>
          </a:p>
        </p:txBody>
      </p:sp>
      <p:sp>
        <p:nvSpPr>
          <p:cNvPr id="10" name="Text 7"/>
          <p:cNvSpPr/>
          <p:nvPr/>
        </p:nvSpPr>
        <p:spPr>
          <a:xfrm>
            <a:off x="3571875" y="2119313"/>
            <a:ext cx="4848225" cy="233362"/>
          </a:xfrm>
          <a:prstGeom prst="rect">
            <a:avLst/>
          </a:prstGeom>
          <a:noFill/>
          <a:ln/>
        </p:spPr>
        <p:txBody>
          <a:bodyPr wrap="square" lIns="0" tIns="0" rIns="0" bIns="0" rtlCol="0" anchor="t"/>
          <a:lstStyle/>
          <a:p>
            <a:pPr algn="l" indent="0" marL="0">
              <a:lnSpc>
                <a:spcPts val="1737"/>
              </a:lnSpc>
              <a:buNone/>
            </a:pPr>
            <a:r>
              <a:rPr lang="en-US" sz="1389" dirty="0">
                <a:solidFill>
                  <a:srgbClr val="F5FFFA">
                    <a:alpha val="99000"/>
                  </a:srgbClr>
                </a:solidFill>
                <a:latin typeface="Inter" pitchFamily="34" charset="0"/>
                <a:ea typeface="Inter" pitchFamily="34" charset="-122"/>
                <a:cs typeface="Inter" pitchFamily="34" charset="-120"/>
              </a:rPr>
              <a:t>Tool definitions and the Python SDK</a:t>
            </a:r>
            <a:endParaRPr lang="en-US" sz="1389" dirty="0"/>
          </a:p>
        </p:txBody>
      </p:sp>
      <p:sp>
        <p:nvSpPr>
          <p:cNvPr id="11" name="Shape 8"/>
          <p:cNvSpPr/>
          <p:nvPr/>
        </p:nvSpPr>
        <p:spPr>
          <a:xfrm>
            <a:off x="571500" y="2938463"/>
            <a:ext cx="7981950" cy="466725"/>
          </a:xfrm>
          <a:prstGeom prst="roundRect">
            <a:avLst>
              <a:gd name="adj" fmla="val 35265"/>
            </a:avLst>
          </a:prstGeom>
          <a:solidFill>
            <a:srgbClr val="092925">
              <a:alpha val="96000"/>
            </a:srgbClr>
          </a:solidFill>
          <a:ln/>
        </p:spPr>
      </p:sp>
      <p:sp>
        <p:nvSpPr>
          <p:cNvPr id="12" name="Text 9"/>
          <p:cNvSpPr/>
          <p:nvPr/>
        </p:nvSpPr>
        <p:spPr>
          <a:xfrm>
            <a:off x="704850" y="3052763"/>
            <a:ext cx="27146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call_daw()</a:t>
            </a:r>
            <a:endParaRPr lang="en-US" sz="1425" dirty="0"/>
          </a:p>
        </p:txBody>
      </p:sp>
      <p:sp>
        <p:nvSpPr>
          <p:cNvPr id="13" name="Text 10"/>
          <p:cNvSpPr/>
          <p:nvPr/>
        </p:nvSpPr>
        <p:spPr>
          <a:xfrm>
            <a:off x="3571875" y="3052763"/>
            <a:ext cx="4848225" cy="233362"/>
          </a:xfrm>
          <a:prstGeom prst="rect">
            <a:avLst/>
          </a:prstGeom>
          <a:noFill/>
          <a:ln/>
        </p:spPr>
        <p:txBody>
          <a:bodyPr wrap="square" lIns="0" tIns="0" rIns="0" bIns="0" rtlCol="0" anchor="t"/>
          <a:lstStyle/>
          <a:p>
            <a:pPr algn="l" indent="0" marL="0">
              <a:lnSpc>
                <a:spcPts val="1737"/>
              </a:lnSpc>
              <a:buNone/>
            </a:pPr>
            <a:r>
              <a:rPr lang="en-US" sz="1389" dirty="0">
                <a:solidFill>
                  <a:srgbClr val="F5FFFA">
                    <a:alpha val="99000"/>
                  </a:srgbClr>
                </a:solidFill>
                <a:latin typeface="Inter" pitchFamily="34" charset="0"/>
                <a:ea typeface="Inter" pitchFamily="34" charset="-122"/>
                <a:cs typeface="Inter" pitchFamily="34" charset="-120"/>
              </a:rPr>
              <a:t>Backend adapter</a:t>
            </a:r>
            <a:endParaRPr lang="en-US" sz="1389" dirty="0"/>
          </a:p>
        </p:txBody>
      </p:sp>
      <p:sp>
        <p:nvSpPr>
          <p:cNvPr id="14" name="Shape 11"/>
          <p:cNvSpPr/>
          <p:nvPr/>
        </p:nvSpPr>
        <p:spPr>
          <a:xfrm>
            <a:off x="571500" y="3871913"/>
            <a:ext cx="7981950" cy="466725"/>
          </a:xfrm>
          <a:prstGeom prst="roundRect">
            <a:avLst>
              <a:gd name="adj" fmla="val 35265"/>
            </a:avLst>
          </a:prstGeom>
          <a:solidFill>
            <a:srgbClr val="092925">
              <a:alpha val="96000"/>
            </a:srgbClr>
          </a:solidFill>
          <a:ln/>
        </p:spPr>
      </p:sp>
      <p:sp>
        <p:nvSpPr>
          <p:cNvPr id="15" name="Text 12"/>
          <p:cNvSpPr/>
          <p:nvPr/>
        </p:nvSpPr>
        <p:spPr>
          <a:xfrm>
            <a:off x="704850" y="3986213"/>
            <a:ext cx="27146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app.py</a:t>
            </a:r>
            <a:endParaRPr lang="en-US" sz="1425" dirty="0"/>
          </a:p>
        </p:txBody>
      </p:sp>
      <p:sp>
        <p:nvSpPr>
          <p:cNvPr id="16" name="Text 13"/>
          <p:cNvSpPr/>
          <p:nvPr/>
        </p:nvSpPr>
        <p:spPr>
          <a:xfrm>
            <a:off x="3571875" y="3986213"/>
            <a:ext cx="4848225" cy="233362"/>
          </a:xfrm>
          <a:prstGeom prst="rect">
            <a:avLst/>
          </a:prstGeom>
          <a:noFill/>
          <a:ln/>
        </p:spPr>
        <p:txBody>
          <a:bodyPr wrap="square" lIns="0" tIns="0" rIns="0" bIns="0" rtlCol="0" anchor="t"/>
          <a:lstStyle/>
          <a:p>
            <a:pPr algn="l" indent="0" marL="0">
              <a:lnSpc>
                <a:spcPts val="1737"/>
              </a:lnSpc>
              <a:buNone/>
            </a:pPr>
            <a:r>
              <a:rPr lang="en-US" sz="1389" dirty="0">
                <a:solidFill>
                  <a:srgbClr val="F5FFFA">
                    <a:alpha val="99000"/>
                  </a:srgbClr>
                </a:solidFill>
                <a:latin typeface="Inter" pitchFamily="34" charset="0"/>
                <a:ea typeface="Inter" pitchFamily="34" charset="-122"/>
                <a:cs typeface="Inter" pitchFamily="34" charset="-120"/>
              </a:rPr>
              <a:t>Music Application · UI and audio</a:t>
            </a:r>
            <a:endParaRPr lang="en-US" sz="1389" dirty="0"/>
          </a:p>
        </p:txBody>
      </p:sp>
      <p:sp>
        <p:nvSpPr>
          <p:cNvPr id="17" name="Text 14"/>
          <p:cNvSpPr/>
          <p:nvPr/>
        </p:nvSpPr>
        <p:spPr>
          <a:xfrm>
            <a:off x="833438" y="1700213"/>
            <a:ext cx="7620000" cy="209550"/>
          </a:xfrm>
          <a:prstGeom prst="rect">
            <a:avLst/>
          </a:prstGeom>
          <a:noFill/>
          <a:ln/>
        </p:spPr>
        <p:txBody>
          <a:bodyPr wrap="square" lIns="0" tIns="0" rIns="0" bIns="0" rtlCol="0" anchor="t"/>
          <a:lstStyle/>
          <a:p>
            <a:pPr algn="l" indent="0" marL="0">
              <a:lnSpc>
                <a:spcPts val="1559"/>
              </a:lnSpc>
              <a:buNone/>
            </a:pPr>
            <a:r>
              <a:rPr lang="en-US" sz="1247" dirty="0">
                <a:solidFill>
                  <a:srgbClr val="4FE3BD">
                    <a:alpha val="99000"/>
                  </a:srgbClr>
                </a:solidFill>
                <a:latin typeface="Inter" pitchFamily="34" charset="0"/>
                <a:ea typeface="Inter" pitchFamily="34" charset="-122"/>
                <a:cs typeface="Inter" pitchFamily="34" charset="-120"/>
              </a:rPr>
              <a:t>↓  Client ↔ server: MCP over stdio</a:t>
            </a:r>
            <a:endParaRPr lang="en-US" sz="1247" dirty="0"/>
          </a:p>
        </p:txBody>
      </p:sp>
      <p:sp>
        <p:nvSpPr>
          <p:cNvPr id="18" name="Text 15"/>
          <p:cNvSpPr/>
          <p:nvPr/>
        </p:nvSpPr>
        <p:spPr>
          <a:xfrm>
            <a:off x="833438" y="2633663"/>
            <a:ext cx="7620000" cy="209550"/>
          </a:xfrm>
          <a:prstGeom prst="rect">
            <a:avLst/>
          </a:prstGeom>
          <a:noFill/>
          <a:ln/>
        </p:spPr>
        <p:txBody>
          <a:bodyPr wrap="square" lIns="0" tIns="0" rIns="0" bIns="0" rtlCol="0" anchor="t"/>
          <a:lstStyle/>
          <a:p>
            <a:pPr algn="l" indent="0" marL="0">
              <a:lnSpc>
                <a:spcPts val="1559"/>
              </a:lnSpc>
              <a:buNone/>
            </a:pPr>
            <a:r>
              <a:rPr lang="en-US" sz="1247" dirty="0">
                <a:solidFill>
                  <a:srgbClr val="4FE3BD">
                    <a:alpha val="99000"/>
                  </a:srgbClr>
                </a:solidFill>
                <a:latin typeface="Inter" pitchFamily="34" charset="0"/>
                <a:ea typeface="Inter" pitchFamily="34" charset="-122"/>
                <a:cs typeface="Inter" pitchFamily="34" charset="-120"/>
              </a:rPr>
              <a:t>↓  Tool function → adapter: Python function call</a:t>
            </a:r>
            <a:endParaRPr lang="en-US" sz="1247" dirty="0"/>
          </a:p>
        </p:txBody>
      </p:sp>
      <p:sp>
        <p:nvSpPr>
          <p:cNvPr id="19" name="Text 16"/>
          <p:cNvSpPr/>
          <p:nvPr/>
        </p:nvSpPr>
        <p:spPr>
          <a:xfrm>
            <a:off x="833438" y="3567113"/>
            <a:ext cx="7620000" cy="209550"/>
          </a:xfrm>
          <a:prstGeom prst="rect">
            <a:avLst/>
          </a:prstGeom>
          <a:noFill/>
          <a:ln/>
        </p:spPr>
        <p:txBody>
          <a:bodyPr wrap="square" lIns="0" tIns="0" rIns="0" bIns="0" rtlCol="0" anchor="t"/>
          <a:lstStyle/>
          <a:p>
            <a:pPr algn="l" indent="0" marL="0">
              <a:lnSpc>
                <a:spcPts val="1559"/>
              </a:lnSpc>
              <a:buNone/>
            </a:pPr>
            <a:r>
              <a:rPr lang="en-US" sz="1247" dirty="0">
                <a:solidFill>
                  <a:srgbClr val="4FE3BD">
                    <a:alpha val="99000"/>
                  </a:srgbClr>
                </a:solidFill>
                <a:latin typeface="Inter" pitchFamily="34" charset="0"/>
                <a:ea typeface="Inter" pitchFamily="34" charset="-122"/>
                <a:cs typeface="Inter" pitchFamily="34" charset="-120"/>
              </a:rPr>
              <a:t>↓  Adapter ↔ app: newline-delimited JSON over the local socket</a:t>
            </a:r>
            <a:endParaRPr lang="en-US" sz="1247" dirty="0"/>
          </a:p>
        </p:txBody>
      </p:sp>
      <p:sp>
        <p:nvSpPr>
          <p:cNvPr id="20" name="Text 17"/>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14 / 29</a:t>
            </a:r>
            <a:endParaRPr lang="en-US" sz="85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Activity map: where we edit</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309688"/>
            <a:ext cx="8001000" cy="2243138"/>
          </a:xfrm>
          <a:prstGeom prst="rect">
            <a:avLst/>
          </a:prstGeom>
          <a:noFill/>
          <a:ln/>
        </p:spPr>
      </p:sp>
      <p:sp>
        <p:nvSpPr>
          <p:cNvPr id="6" name="Shape 3"/>
          <p:cNvSpPr/>
          <p:nvPr/>
        </p:nvSpPr>
        <p:spPr>
          <a:xfrm>
            <a:off x="571500" y="1309688"/>
            <a:ext cx="8001000" cy="433388"/>
          </a:xfrm>
          <a:prstGeom prst="rect">
            <a:avLst/>
          </a:prstGeom>
          <a:solidFill>
            <a:srgbClr val="267863"/>
          </a:solidFill>
          <a:ln/>
        </p:spPr>
      </p:sp>
      <p:sp>
        <p:nvSpPr>
          <p:cNvPr id="7" name="Text 4"/>
          <p:cNvSpPr/>
          <p:nvPr/>
        </p:nvSpPr>
        <p:spPr>
          <a:xfrm>
            <a:off x="676275" y="1404938"/>
            <a:ext cx="2952750" cy="242888"/>
          </a:xfrm>
          <a:prstGeom prst="rect">
            <a:avLst/>
          </a:prstGeom>
          <a:noFill/>
          <a:ln/>
        </p:spPr>
        <p:txBody>
          <a:bodyPr wrap="square" lIns="0" tIns="0" rIns="0" bIns="0" rtlCol="0" anchor="t"/>
          <a:lstStyle/>
          <a:p>
            <a:pPr algn="l" indent="0" marL="0">
              <a:lnSpc>
                <a:spcPts val="1826"/>
              </a:lnSpc>
              <a:buNone/>
            </a:pPr>
            <a:r>
              <a:rPr lang="en-US" sz="1461" b="1" dirty="0">
                <a:solidFill>
                  <a:srgbClr val="4FE3BD">
                    <a:alpha val="99000"/>
                  </a:srgbClr>
                </a:solidFill>
                <a:latin typeface="Inter" pitchFamily="34" charset="0"/>
                <a:ea typeface="Inter" pitchFamily="34" charset="-122"/>
                <a:cs typeface="Inter" pitchFamily="34" charset="-120"/>
              </a:rPr>
              <a:t>File</a:t>
            </a:r>
            <a:endParaRPr lang="en-US" sz="1461" dirty="0"/>
          </a:p>
        </p:txBody>
      </p:sp>
      <p:sp>
        <p:nvSpPr>
          <p:cNvPr id="8" name="Text 5"/>
          <p:cNvSpPr/>
          <p:nvPr/>
        </p:nvSpPr>
        <p:spPr>
          <a:xfrm>
            <a:off x="3629025" y="1404938"/>
            <a:ext cx="4838700" cy="242888"/>
          </a:xfrm>
          <a:prstGeom prst="rect">
            <a:avLst/>
          </a:prstGeom>
          <a:noFill/>
          <a:ln/>
        </p:spPr>
        <p:txBody>
          <a:bodyPr wrap="square" lIns="0" tIns="0" rIns="0" bIns="0" rtlCol="0" anchor="t"/>
          <a:lstStyle/>
          <a:p>
            <a:pPr algn="l" indent="0" marL="0">
              <a:lnSpc>
                <a:spcPts val="1826"/>
              </a:lnSpc>
              <a:buNone/>
            </a:pPr>
            <a:r>
              <a:rPr lang="en-US" sz="1461" b="1" dirty="0">
                <a:solidFill>
                  <a:srgbClr val="4FE3BD">
                    <a:alpha val="99000"/>
                  </a:srgbClr>
                </a:solidFill>
                <a:latin typeface="Inter" pitchFamily="34" charset="0"/>
                <a:ea typeface="Inter" pitchFamily="34" charset="-122"/>
                <a:cs typeface="Inter" pitchFamily="34" charset="-120"/>
              </a:rPr>
              <a:t>Workshop step</a:t>
            </a:r>
            <a:endParaRPr lang="en-US" sz="1461" dirty="0"/>
          </a:p>
        </p:txBody>
      </p:sp>
      <p:sp>
        <p:nvSpPr>
          <p:cNvPr id="9" name="Shape 6"/>
          <p:cNvSpPr/>
          <p:nvPr/>
        </p:nvSpPr>
        <p:spPr>
          <a:xfrm>
            <a:off x="571500" y="1762125"/>
            <a:ext cx="8001000" cy="433388"/>
          </a:xfrm>
          <a:prstGeom prst="rect">
            <a:avLst/>
          </a:prstGeom>
          <a:solidFill>
            <a:srgbClr val="092925">
              <a:alpha val="94000"/>
            </a:srgbClr>
          </a:solidFill>
          <a:ln/>
        </p:spPr>
      </p:sp>
      <p:sp>
        <p:nvSpPr>
          <p:cNvPr id="10" name="Text 7"/>
          <p:cNvSpPr/>
          <p:nvPr/>
        </p:nvSpPr>
        <p:spPr>
          <a:xfrm>
            <a:off x="676275" y="1857375"/>
            <a:ext cx="2952750" cy="242888"/>
          </a:xfrm>
          <a:prstGeom prst="rect">
            <a:avLst/>
          </a:prstGeom>
          <a:noFill/>
          <a:ln/>
        </p:spPr>
        <p:txBody>
          <a:bodyPr wrap="square" lIns="0" tIns="0" rIns="0" bIns="0" rtlCol="0" anchor="t"/>
          <a:lstStyle/>
          <a:p>
            <a:pPr algn="l" indent="0" marL="0">
              <a:lnSpc>
                <a:spcPts val="1826"/>
              </a:lnSpc>
              <a:buNone/>
            </a:pPr>
            <a:r>
              <a:rPr lang="en-US" sz="1461" dirty="0">
                <a:solidFill>
                  <a:srgbClr val="F5FFFA">
                    <a:alpha val="99000"/>
                  </a:srgbClr>
                </a:solidFill>
                <a:latin typeface="Inter" pitchFamily="34" charset="0"/>
                <a:ea typeface="Inter" pitchFamily="34" charset="-122"/>
                <a:cs typeface="Inter" pitchFamily="34" charset="-120"/>
              </a:rPr>
              <a:t>README.md</a:t>
            </a:r>
            <a:endParaRPr lang="en-US" sz="1461" dirty="0"/>
          </a:p>
        </p:txBody>
      </p:sp>
      <p:sp>
        <p:nvSpPr>
          <p:cNvPr id="11" name="Text 8"/>
          <p:cNvSpPr/>
          <p:nvPr/>
        </p:nvSpPr>
        <p:spPr>
          <a:xfrm>
            <a:off x="3629025" y="1857375"/>
            <a:ext cx="4838700" cy="242888"/>
          </a:xfrm>
          <a:prstGeom prst="rect">
            <a:avLst/>
          </a:prstGeom>
          <a:noFill/>
          <a:ln/>
        </p:spPr>
        <p:txBody>
          <a:bodyPr wrap="square" lIns="0" tIns="0" rIns="0" bIns="0" rtlCol="0" anchor="t"/>
          <a:lstStyle/>
          <a:p>
            <a:pPr algn="l" indent="0" marL="0">
              <a:lnSpc>
                <a:spcPts val="1826"/>
              </a:lnSpc>
              <a:buNone/>
            </a:pPr>
            <a:r>
              <a:rPr lang="en-US" sz="1461" dirty="0">
                <a:solidFill>
                  <a:srgbClr val="F5FFFA">
                    <a:alpha val="99000"/>
                  </a:srgbClr>
                </a:solidFill>
                <a:latin typeface="Inter" pitchFamily="34" charset="0"/>
                <a:ea typeface="Inter" pitchFamily="34" charset="-122"/>
                <a:cs typeface="Inter" pitchFamily="34" charset="-120"/>
              </a:rPr>
              <a:t>SETUP · slide 12: launch and test commands</a:t>
            </a:r>
            <a:endParaRPr lang="en-US" sz="1461" dirty="0"/>
          </a:p>
        </p:txBody>
      </p:sp>
      <p:sp>
        <p:nvSpPr>
          <p:cNvPr id="12" name="Shape 9"/>
          <p:cNvSpPr/>
          <p:nvPr/>
        </p:nvSpPr>
        <p:spPr>
          <a:xfrm>
            <a:off x="571500" y="2214563"/>
            <a:ext cx="8001000" cy="433388"/>
          </a:xfrm>
          <a:prstGeom prst="rect">
            <a:avLst/>
          </a:prstGeom>
          <a:solidFill>
            <a:srgbClr val="092925">
              <a:alpha val="94000"/>
            </a:srgbClr>
          </a:solidFill>
          <a:ln/>
        </p:spPr>
      </p:sp>
      <p:sp>
        <p:nvSpPr>
          <p:cNvPr id="13" name="Text 10"/>
          <p:cNvSpPr/>
          <p:nvPr/>
        </p:nvSpPr>
        <p:spPr>
          <a:xfrm>
            <a:off x="676275" y="2309813"/>
            <a:ext cx="2952750" cy="242888"/>
          </a:xfrm>
          <a:prstGeom prst="rect">
            <a:avLst/>
          </a:prstGeom>
          <a:noFill/>
          <a:ln/>
        </p:spPr>
        <p:txBody>
          <a:bodyPr wrap="square" lIns="0" tIns="0" rIns="0" bIns="0" rtlCol="0" anchor="t"/>
          <a:lstStyle/>
          <a:p>
            <a:pPr algn="l" indent="0" marL="0">
              <a:lnSpc>
                <a:spcPts val="1826"/>
              </a:lnSpc>
              <a:buNone/>
            </a:pPr>
            <a:r>
              <a:rPr lang="en-US" sz="1461" dirty="0">
                <a:solidFill>
                  <a:srgbClr val="F5FFFA">
                    <a:alpha val="99000"/>
                  </a:srgbClr>
                </a:solidFill>
                <a:latin typeface="Inter" pitchFamily="34" charset="0"/>
                <a:ea typeface="Inter" pitchFamily="34" charset="-122"/>
                <a:cs typeface="Inter" pitchFamily="34" charset="-120"/>
              </a:rPr>
              <a:t>mcp_server_sdk.py</a:t>
            </a:r>
            <a:endParaRPr lang="en-US" sz="1461" dirty="0"/>
          </a:p>
        </p:txBody>
      </p:sp>
      <p:sp>
        <p:nvSpPr>
          <p:cNvPr id="14" name="Text 11"/>
          <p:cNvSpPr/>
          <p:nvPr/>
        </p:nvSpPr>
        <p:spPr>
          <a:xfrm>
            <a:off x="3629025" y="2309813"/>
            <a:ext cx="4838700" cy="242888"/>
          </a:xfrm>
          <a:prstGeom prst="rect">
            <a:avLst/>
          </a:prstGeom>
          <a:noFill/>
          <a:ln/>
        </p:spPr>
        <p:txBody>
          <a:bodyPr wrap="square" lIns="0" tIns="0" rIns="0" bIns="0" rtlCol="0" anchor="t"/>
          <a:lstStyle/>
          <a:p>
            <a:pPr algn="l" indent="0" marL="0">
              <a:lnSpc>
                <a:spcPts val="1826"/>
              </a:lnSpc>
              <a:buNone/>
            </a:pPr>
            <a:r>
              <a:rPr lang="en-US" sz="1461" dirty="0">
                <a:solidFill>
                  <a:srgbClr val="F5FFFA">
                    <a:alpha val="99000"/>
                  </a:srgbClr>
                </a:solidFill>
                <a:latin typeface="Inter" pitchFamily="34" charset="0"/>
                <a:ea typeface="Inter" pitchFamily="34" charset="-122"/>
                <a:cs typeface="Inter" pitchFamily="34" charset="-120"/>
              </a:rPr>
              <a:t>BUILD · slides 20–21: add set_swing here</a:t>
            </a:r>
            <a:endParaRPr lang="en-US" sz="1461" dirty="0"/>
          </a:p>
        </p:txBody>
      </p:sp>
      <p:sp>
        <p:nvSpPr>
          <p:cNvPr id="15" name="Shape 12"/>
          <p:cNvSpPr/>
          <p:nvPr/>
        </p:nvSpPr>
        <p:spPr>
          <a:xfrm>
            <a:off x="571500" y="2667000"/>
            <a:ext cx="8001000" cy="433388"/>
          </a:xfrm>
          <a:prstGeom prst="rect">
            <a:avLst/>
          </a:prstGeom>
          <a:solidFill>
            <a:srgbClr val="092925">
              <a:alpha val="94000"/>
            </a:srgbClr>
          </a:solidFill>
          <a:ln/>
        </p:spPr>
      </p:sp>
      <p:sp>
        <p:nvSpPr>
          <p:cNvPr id="16" name="Text 13"/>
          <p:cNvSpPr/>
          <p:nvPr/>
        </p:nvSpPr>
        <p:spPr>
          <a:xfrm>
            <a:off x="676275" y="2762250"/>
            <a:ext cx="2952750" cy="242888"/>
          </a:xfrm>
          <a:prstGeom prst="rect">
            <a:avLst/>
          </a:prstGeom>
          <a:noFill/>
          <a:ln/>
        </p:spPr>
        <p:txBody>
          <a:bodyPr wrap="square" lIns="0" tIns="0" rIns="0" bIns="0" rtlCol="0" anchor="t"/>
          <a:lstStyle/>
          <a:p>
            <a:pPr algn="l" indent="0" marL="0">
              <a:lnSpc>
                <a:spcPts val="1826"/>
              </a:lnSpc>
              <a:buNone/>
            </a:pPr>
            <a:r>
              <a:rPr lang="en-US" sz="1461" dirty="0">
                <a:solidFill>
                  <a:srgbClr val="F5FFFA">
                    <a:alpha val="99000"/>
                  </a:srgbClr>
                </a:solidFill>
                <a:latin typeface="Inter" pitchFamily="34" charset="0"/>
                <a:ea typeface="Inter" pitchFamily="34" charset="-122"/>
                <a:cs typeface="Inter" pitchFamily="34" charset="-120"/>
              </a:rPr>
              <a:t>workshop_client.py</a:t>
            </a:r>
            <a:endParaRPr lang="en-US" sz="1461" dirty="0"/>
          </a:p>
        </p:txBody>
      </p:sp>
      <p:sp>
        <p:nvSpPr>
          <p:cNvPr id="17" name="Text 14"/>
          <p:cNvSpPr/>
          <p:nvPr/>
        </p:nvSpPr>
        <p:spPr>
          <a:xfrm>
            <a:off x="3629025" y="2762250"/>
            <a:ext cx="4838700" cy="242888"/>
          </a:xfrm>
          <a:prstGeom prst="rect">
            <a:avLst/>
          </a:prstGeom>
          <a:noFill/>
          <a:ln/>
        </p:spPr>
        <p:txBody>
          <a:bodyPr wrap="square" lIns="0" tIns="0" rIns="0" bIns="0" rtlCol="0" anchor="t"/>
          <a:lstStyle/>
          <a:p>
            <a:pPr algn="l" indent="0" marL="0">
              <a:lnSpc>
                <a:spcPts val="1826"/>
              </a:lnSpc>
              <a:buNone/>
            </a:pPr>
            <a:r>
              <a:rPr lang="en-US" sz="1461" dirty="0">
                <a:solidFill>
                  <a:srgbClr val="F5FFFA">
                    <a:alpha val="99000"/>
                  </a:srgbClr>
                </a:solidFill>
                <a:latin typeface="Inter" pitchFamily="34" charset="0"/>
                <a:ea typeface="Inter" pitchFamily="34" charset="-122"/>
                <a:cs typeface="Inter" pitchFamily="34" charset="-120"/>
              </a:rPr>
              <a:t>TEST · slides 22–23: discover, call, verify</a:t>
            </a:r>
            <a:endParaRPr lang="en-US" sz="1461" dirty="0"/>
          </a:p>
        </p:txBody>
      </p:sp>
      <p:sp>
        <p:nvSpPr>
          <p:cNvPr id="18" name="Shape 15"/>
          <p:cNvSpPr/>
          <p:nvPr/>
        </p:nvSpPr>
        <p:spPr>
          <a:xfrm>
            <a:off x="571500" y="3119438"/>
            <a:ext cx="8001000" cy="433388"/>
          </a:xfrm>
          <a:prstGeom prst="rect">
            <a:avLst/>
          </a:prstGeom>
          <a:solidFill>
            <a:srgbClr val="092925">
              <a:alpha val="94000"/>
            </a:srgbClr>
          </a:solidFill>
          <a:ln/>
        </p:spPr>
      </p:sp>
      <p:sp>
        <p:nvSpPr>
          <p:cNvPr id="19" name="Text 16"/>
          <p:cNvSpPr/>
          <p:nvPr/>
        </p:nvSpPr>
        <p:spPr>
          <a:xfrm>
            <a:off x="676275" y="3214688"/>
            <a:ext cx="2952750" cy="242888"/>
          </a:xfrm>
          <a:prstGeom prst="rect">
            <a:avLst/>
          </a:prstGeom>
          <a:noFill/>
          <a:ln/>
        </p:spPr>
        <p:txBody>
          <a:bodyPr wrap="square" lIns="0" tIns="0" rIns="0" bIns="0" rtlCol="0" anchor="t"/>
          <a:lstStyle/>
          <a:p>
            <a:pPr algn="l" indent="0" marL="0">
              <a:lnSpc>
                <a:spcPts val="1826"/>
              </a:lnSpc>
              <a:buNone/>
            </a:pPr>
            <a:r>
              <a:rPr lang="en-US" sz="1461" dirty="0">
                <a:solidFill>
                  <a:srgbClr val="F5FFFA">
                    <a:alpha val="99000"/>
                  </a:srgbClr>
                </a:solidFill>
                <a:latin typeface="Inter" pitchFamily="34" charset="0"/>
                <a:ea typeface="Inter" pitchFamily="34" charset="-122"/>
                <a:cs typeface="Inter" pitchFamily="34" charset="-120"/>
              </a:rPr>
              <a:t>mcp_server_solution.py</a:t>
            </a:r>
            <a:endParaRPr lang="en-US" sz="1461" dirty="0"/>
          </a:p>
        </p:txBody>
      </p:sp>
      <p:sp>
        <p:nvSpPr>
          <p:cNvPr id="20" name="Text 17"/>
          <p:cNvSpPr/>
          <p:nvPr/>
        </p:nvSpPr>
        <p:spPr>
          <a:xfrm>
            <a:off x="3629025" y="3214688"/>
            <a:ext cx="4838700" cy="242888"/>
          </a:xfrm>
          <a:prstGeom prst="rect">
            <a:avLst/>
          </a:prstGeom>
          <a:noFill/>
          <a:ln/>
        </p:spPr>
        <p:txBody>
          <a:bodyPr wrap="square" lIns="0" tIns="0" rIns="0" bIns="0" rtlCol="0" anchor="t"/>
          <a:lstStyle/>
          <a:p>
            <a:pPr algn="l" indent="0" marL="0">
              <a:lnSpc>
                <a:spcPts val="1826"/>
              </a:lnSpc>
              <a:buNone/>
            </a:pPr>
            <a:r>
              <a:rPr lang="en-US" sz="1461" dirty="0">
                <a:solidFill>
                  <a:srgbClr val="F5FFFA">
                    <a:alpha val="99000"/>
                  </a:srgbClr>
                </a:solidFill>
                <a:latin typeface="Inter" pitchFamily="34" charset="0"/>
                <a:ea typeface="Inter" pitchFamily="34" charset="-122"/>
                <a:cs typeface="Inter" pitchFamily="34" charset="-120"/>
              </a:rPr>
              <a:t>REFERENCE · compare after your attempt</a:t>
            </a:r>
            <a:endParaRPr lang="en-US" sz="1461" dirty="0"/>
          </a:p>
        </p:txBody>
      </p:sp>
      <p:sp>
        <p:nvSpPr>
          <p:cNvPr id="21" name="Text 18"/>
          <p:cNvSpPr/>
          <p:nvPr/>
        </p:nvSpPr>
        <p:spPr>
          <a:xfrm>
            <a:off x="571500" y="4333875"/>
            <a:ext cx="8001000" cy="242888"/>
          </a:xfrm>
          <a:prstGeom prst="rect">
            <a:avLst/>
          </a:prstGeom>
          <a:noFill/>
          <a:ln/>
        </p:spPr>
        <p:txBody>
          <a:bodyPr wrap="square" lIns="0" tIns="0" rIns="0" bIns="0" rtlCol="0" anchor="t"/>
          <a:lstStyle/>
          <a:p>
            <a:pPr algn="l" indent="0" marL="0">
              <a:lnSpc>
                <a:spcPts val="1826"/>
              </a:lnSpc>
              <a:buNone/>
            </a:pPr>
            <a:r>
              <a:rPr lang="en-US" sz="1461" b="1" dirty="0">
                <a:solidFill>
                  <a:srgbClr val="4FE3BD">
                    <a:alpha val="99000"/>
                  </a:srgbClr>
                </a:solidFill>
                <a:latin typeface="Inter" pitchFamily="34" charset="0"/>
                <a:ea typeface="Inter" pitchFamily="34" charset="-122"/>
                <a:cs typeface="Inter" pitchFamily="34" charset="-120"/>
              </a:rPr>
              <a:t>MCP slides 14 + 16 explain the path and contract. app.py is the backend.</a:t>
            </a:r>
            <a:endParaRPr lang="en-US" sz="1461" dirty="0"/>
          </a:p>
        </p:txBody>
      </p:sp>
      <p:sp>
        <p:nvSpPr>
          <p:cNvPr id="22" name="Text 19"/>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15 / 29</a:t>
            </a:r>
            <a:endParaRPr lang="en-US" sz="85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MCP ACTIVITY · understand the contract</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238250"/>
            <a:ext cx="8001000" cy="1185863"/>
          </a:xfrm>
          <a:prstGeom prst="roundRect">
            <a:avLst>
              <a:gd name="adj" fmla="val 16964"/>
            </a:avLst>
          </a:prstGeom>
          <a:solidFill>
            <a:srgbClr val="092925">
              <a:alpha val="96000"/>
            </a:srgbClr>
          </a:solidFill>
          <a:ln w="4524">
            <a:solidFill>
              <a:srgbClr val="267863"/>
            </a:solidFill>
            <a:prstDash val="solid"/>
          </a:ln>
        </p:spPr>
      </p:sp>
      <p:sp>
        <p:nvSpPr>
          <p:cNvPr id="6" name="Text 3"/>
          <p:cNvSpPr/>
          <p:nvPr/>
        </p:nvSpPr>
        <p:spPr>
          <a:xfrm>
            <a:off x="728663" y="1395413"/>
            <a:ext cx="7696200" cy="871538"/>
          </a:xfrm>
          <a:prstGeom prst="rect">
            <a:avLst/>
          </a:prstGeom>
          <a:noFill/>
          <a:ln/>
        </p:spPr>
        <p:txBody>
          <a:bodyPr wrap="square" lIns="0" tIns="0" rIns="0" bIns="0" rtlCol="0" anchor="t"/>
          <a:lstStyle/>
          <a:p>
            <a:pPr algn="l" indent="0" marL="0">
              <a:lnSpc>
                <a:spcPts val="2182"/>
              </a:lnSpc>
              <a:buNone/>
            </a:pPr>
            <a:r>
              <a:rPr lang="en-US" sz="1746" dirty="0">
                <a:solidFill>
                  <a:srgbClr val="F5FFFA">
                    <a:alpha val="99000"/>
                  </a:srgbClr>
                </a:solidFill>
                <a:latin typeface="Roboto Mono" pitchFamily="34" charset="0"/>
                <a:ea typeface="Roboto Mono" pitchFamily="34" charset="-122"/>
                <a:cs typeface="Roboto Mono" pitchFamily="34" charset="-120"/>
              </a:rPr>
              <a:t>@mcp.tool()</a:t>
            </a:r>
            <a:endParaRPr lang="en-US" sz="1746" dirty="0"/>
          </a:p>
          <a:p>
            <a:pPr algn="l" indent="0" marL="0">
              <a:lnSpc>
                <a:spcPts val="2182"/>
              </a:lnSpc>
              <a:buNone/>
            </a:pPr>
            <a:r>
              <a:rPr lang="en-US" sz="1746" dirty="0">
                <a:solidFill>
                  <a:srgbClr val="F5FFFA">
                    <a:alpha val="99000"/>
                  </a:srgbClr>
                </a:solidFill>
                <a:latin typeface="Roboto Mono" pitchFamily="34" charset="0"/>
                <a:ea typeface="Roboto Mono" pitchFamily="34" charset="-122"/>
                <a:cs typeface="Roboto Mono" pitchFamily="34" charset="-120"/>
              </a:rPr>
              <a:t>def set_tempo(bpm: int) -&gt; str:</a:t>
            </a:r>
            <a:endParaRPr lang="en-US" sz="1746" dirty="0"/>
          </a:p>
          <a:p>
            <a:pPr algn="l" indent="0" marL="0">
              <a:lnSpc>
                <a:spcPts val="2182"/>
              </a:lnSpc>
              <a:buNone/>
            </a:pPr>
            <a:r>
              <a:rPr lang="en-US" sz="1746" dirty="0">
                <a:solidFill>
                  <a:srgbClr val="F5FFFA">
                    <a:alpha val="99000"/>
                  </a:srgbClr>
                </a:solidFill>
                <a:latin typeface="Roboto Mono" pitchFamily="34" charset="0"/>
                <a:ea typeface="Roboto Mono" pitchFamily="34" charset="-122"/>
                <a:cs typeface="Roboto Mono" pitchFamily="34" charset="-120"/>
              </a:rPr>
              <a:t>    """Set tempo from 40 to 240 BPM."""</a:t>
            </a:r>
            <a:endParaRPr lang="en-US" sz="1746" dirty="0"/>
          </a:p>
        </p:txBody>
      </p:sp>
      <p:sp>
        <p:nvSpPr>
          <p:cNvPr id="7" name="Shape 4"/>
          <p:cNvSpPr/>
          <p:nvPr/>
        </p:nvSpPr>
        <p:spPr>
          <a:xfrm>
            <a:off x="571500" y="2838450"/>
            <a:ext cx="2562225" cy="895350"/>
          </a:xfrm>
          <a:prstGeom prst="roundRect">
            <a:avLst>
              <a:gd name="adj" fmla="val 22468"/>
            </a:avLst>
          </a:prstGeom>
          <a:solidFill>
            <a:srgbClr val="092925">
              <a:alpha val="96000"/>
            </a:srgbClr>
          </a:solidFill>
          <a:ln w="4524">
            <a:solidFill>
              <a:srgbClr val="267863"/>
            </a:solidFill>
            <a:prstDash val="solid"/>
          </a:ln>
        </p:spPr>
      </p:sp>
      <p:sp>
        <p:nvSpPr>
          <p:cNvPr id="8" name="Text 5"/>
          <p:cNvSpPr/>
          <p:nvPr/>
        </p:nvSpPr>
        <p:spPr>
          <a:xfrm>
            <a:off x="728663" y="2995613"/>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DECORATOR</a:t>
            </a:r>
            <a:endParaRPr lang="en-US" sz="1425" dirty="0"/>
          </a:p>
        </p:txBody>
      </p:sp>
      <p:sp>
        <p:nvSpPr>
          <p:cNvPr id="9" name="Text 6"/>
          <p:cNvSpPr/>
          <p:nvPr/>
        </p:nvSpPr>
        <p:spPr>
          <a:xfrm>
            <a:off x="728663" y="3348038"/>
            <a:ext cx="2257425" cy="2286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Registers the tool</a:t>
            </a:r>
            <a:endParaRPr lang="en-US" sz="1354" dirty="0"/>
          </a:p>
        </p:txBody>
      </p:sp>
      <p:sp>
        <p:nvSpPr>
          <p:cNvPr id="10" name="Shape 7"/>
          <p:cNvSpPr/>
          <p:nvPr/>
        </p:nvSpPr>
        <p:spPr>
          <a:xfrm>
            <a:off x="3286125" y="2838450"/>
            <a:ext cx="2562225" cy="895350"/>
          </a:xfrm>
          <a:prstGeom prst="roundRect">
            <a:avLst>
              <a:gd name="adj" fmla="val 22468"/>
            </a:avLst>
          </a:prstGeom>
          <a:solidFill>
            <a:srgbClr val="092925">
              <a:alpha val="96000"/>
            </a:srgbClr>
          </a:solidFill>
          <a:ln w="4524">
            <a:solidFill>
              <a:srgbClr val="267863"/>
            </a:solidFill>
            <a:prstDash val="solid"/>
          </a:ln>
        </p:spPr>
      </p:sp>
      <p:sp>
        <p:nvSpPr>
          <p:cNvPr id="11" name="Text 8"/>
          <p:cNvSpPr/>
          <p:nvPr/>
        </p:nvSpPr>
        <p:spPr>
          <a:xfrm>
            <a:off x="3443288" y="2995613"/>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TYPE ANNOTATION</a:t>
            </a:r>
            <a:endParaRPr lang="en-US" sz="1425" dirty="0"/>
          </a:p>
        </p:txBody>
      </p:sp>
      <p:sp>
        <p:nvSpPr>
          <p:cNvPr id="12" name="Text 9"/>
          <p:cNvSpPr/>
          <p:nvPr/>
        </p:nvSpPr>
        <p:spPr>
          <a:xfrm>
            <a:off x="3443288" y="3348038"/>
            <a:ext cx="2257425" cy="2286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Describes the input</a:t>
            </a:r>
            <a:endParaRPr lang="en-US" sz="1354" dirty="0"/>
          </a:p>
        </p:txBody>
      </p:sp>
      <p:sp>
        <p:nvSpPr>
          <p:cNvPr id="13" name="Shape 10"/>
          <p:cNvSpPr/>
          <p:nvPr/>
        </p:nvSpPr>
        <p:spPr>
          <a:xfrm>
            <a:off x="6000750" y="2838450"/>
            <a:ext cx="2562225" cy="895350"/>
          </a:xfrm>
          <a:prstGeom prst="roundRect">
            <a:avLst>
              <a:gd name="adj" fmla="val 22468"/>
            </a:avLst>
          </a:prstGeom>
          <a:solidFill>
            <a:srgbClr val="092925">
              <a:alpha val="96000"/>
            </a:srgbClr>
          </a:solidFill>
          <a:ln w="4524">
            <a:solidFill>
              <a:srgbClr val="267863"/>
            </a:solidFill>
            <a:prstDash val="solid"/>
          </a:ln>
        </p:spPr>
      </p:sp>
      <p:sp>
        <p:nvSpPr>
          <p:cNvPr id="14" name="Text 11"/>
          <p:cNvSpPr/>
          <p:nvPr/>
        </p:nvSpPr>
        <p:spPr>
          <a:xfrm>
            <a:off x="6157913" y="2995613"/>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DOCSTRING</a:t>
            </a:r>
            <a:endParaRPr lang="en-US" sz="1425" dirty="0"/>
          </a:p>
        </p:txBody>
      </p:sp>
      <p:sp>
        <p:nvSpPr>
          <p:cNvPr id="15" name="Text 12"/>
          <p:cNvSpPr/>
          <p:nvPr/>
        </p:nvSpPr>
        <p:spPr>
          <a:xfrm>
            <a:off x="6157913" y="3348038"/>
            <a:ext cx="2257425" cy="2286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Describes its purpose</a:t>
            </a:r>
            <a:endParaRPr lang="en-US" sz="1354" dirty="0"/>
          </a:p>
        </p:txBody>
      </p:sp>
      <p:sp>
        <p:nvSpPr>
          <p:cNvPr id="16" name="Text 13"/>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16 / 29</a:t>
            </a:r>
            <a:endParaRPr lang="en-US" sz="855" dirty="0"/>
          </a:p>
        </p:txBody>
      </p:sp>
    </p:spTree>
  </p:cSld>
  <p:clrMapOvr>
    <a:masterClrMapping/>
  </p:clrMapOvr>
</p:sld>
</file>

<file path=ppt/slides/slide17.xml><?xml version="1.0" encoding="utf-8"?>
<p:sld xmlns:p="http://schemas.openxmlformats.org/presentationml/2006/main">
  <p:cSld>
    <p:bg>
      <p:bgPr>
        <a:blipFill xmlns:a="http://schemas.openxmlformats.org/drawingml/2006/main" rotWithShape="1">
          <a:blip xmlns:r="http://schemas.openxmlformats.org/officeDocument/2006/relationships" r:embed="Re8d3fc03d4c34bcc">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811C6941-33D8-403B-98D7-3AD4C811FFA9}"/>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A useful tool can act and observe</a:t>
            </a:r>
            <a:endParaRPr sz="2494"/>
          </a:p>
        </p:txBody>
      </p:sp>
      <p:sp>
        <p:nvSpPr>
          <p:cNvPr id="4" name="Shape 1">
            <a:extLst xmlns:a="http://schemas.openxmlformats.org/drawingml/2006/main">
              <a:ext uri="{FF2B5EF4-FFF2-40B4-BE49-F238E27FC236}">
                <a16:creationId xmlns:a16="http://schemas.microsoft.com/office/drawing/2014/main" id="{9A47472F-E11A-4B4C-BCCB-EDE62336F907}"/>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D0EF80ED-C455-4C71-A54D-9FCDE30A8626}"/>
              </a:ext>
            </a:extLst>
          </p:cNvPr>
          <p:cNvSpPr>
            <a:spLocks xmlns:a="http://schemas.openxmlformats.org/drawingml/2006/main" noGrp="1"/>
          </p:cNvSpPr>
          <p:nvPr/>
        </p:nvSpPr>
        <p:spPr>
          <a:xfrm xmlns:a="http://schemas.openxmlformats.org/drawingml/2006/main">
            <a:off x="571500" y="1285875"/>
            <a:ext cx="5000625" cy="838200"/>
          </a:xfrm>
          <a:prstGeom xmlns:a="http://schemas.openxmlformats.org/drawingml/2006/main" prst="roundRect">
            <a:avLst>
              <a:gd name="adj" fmla="val 24000"/>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6" name="Text 3">
            <a:extLst xmlns:a="http://schemas.openxmlformats.org/drawingml/2006/main">
              <a:ext uri="{FF2B5EF4-FFF2-40B4-BE49-F238E27FC236}">
                <a16:creationId xmlns:a16="http://schemas.microsoft.com/office/drawing/2014/main" id="{621BF78B-90F4-417F-B259-73A45625CC23}"/>
              </a:ext>
            </a:extLst>
          </p:cNvPr>
          <p:cNvSpPr>
            <a:spLocks xmlns:a="http://schemas.openxmlformats.org/drawingml/2006/main" noGrp="1"/>
          </p:cNvSpPr>
          <p:nvPr/>
        </p:nvSpPr>
        <p:spPr>
          <a:xfrm xmlns:a="http://schemas.openxmlformats.org/drawingml/2006/main">
            <a:off x="728663" y="1443038"/>
            <a:ext cx="46958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b="1">
                <a:solidFill>
                  <a:srgbClr val="4FE3BD">
                    <a:alpha val="99000"/>
                  </a:srgbClr>
                </a:solidFill>
                <a:latin typeface="Inter"/>
                <a:ea typeface="Inter"/>
                <a:cs typeface="Inter"/>
              </a:rPr>
              <a:t>1 · READ STATE</a:t>
            </a:r>
            <a:endParaRPr sz="1354"/>
          </a:p>
        </p:txBody>
      </p:sp>
      <p:sp>
        <p:nvSpPr>
          <p:cNvPr id="7" name="Text 4">
            <a:extLst xmlns:a="http://schemas.openxmlformats.org/drawingml/2006/main">
              <a:ext uri="{FF2B5EF4-FFF2-40B4-BE49-F238E27FC236}">
                <a16:creationId xmlns:a16="http://schemas.microsoft.com/office/drawing/2014/main" id="{81422563-20D2-46AC-9BB2-647A06EBE63D}"/>
              </a:ext>
            </a:extLst>
          </p:cNvPr>
          <p:cNvSpPr>
            <a:spLocks xmlns:a="http://schemas.openxmlformats.org/drawingml/2006/main" noGrp="1"/>
          </p:cNvSpPr>
          <p:nvPr/>
        </p:nvSpPr>
        <p:spPr>
          <a:xfrm xmlns:a="http://schemas.openxmlformats.org/drawingml/2006/main">
            <a:off x="728663" y="1738313"/>
            <a:ext cx="46958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Observe the starting value.</a:t>
            </a:r>
            <a:endParaRPr sz="1354"/>
          </a:p>
        </p:txBody>
      </p:sp>
      <p:sp>
        <p:nvSpPr>
          <p:cNvPr id="8" name="Shape 5">
            <a:extLst xmlns:a="http://schemas.openxmlformats.org/drawingml/2006/main">
              <a:ext uri="{FF2B5EF4-FFF2-40B4-BE49-F238E27FC236}">
                <a16:creationId xmlns:a16="http://schemas.microsoft.com/office/drawing/2014/main" id="{96857F6B-D0CA-4FEE-8D4B-307ECFDE345E}"/>
              </a:ext>
            </a:extLst>
          </p:cNvPr>
          <p:cNvSpPr>
            <a:spLocks xmlns:a="http://schemas.openxmlformats.org/drawingml/2006/main" noGrp="1"/>
          </p:cNvSpPr>
          <p:nvPr/>
        </p:nvSpPr>
        <p:spPr>
          <a:xfrm xmlns:a="http://schemas.openxmlformats.org/drawingml/2006/main">
            <a:off x="571500" y="2119313"/>
            <a:ext cx="5000625" cy="838200"/>
          </a:xfrm>
          <a:prstGeom xmlns:a="http://schemas.openxmlformats.org/drawingml/2006/main" prst="roundRect">
            <a:avLst>
              <a:gd name="adj" fmla="val 24000"/>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9" name="Text 6">
            <a:extLst xmlns:a="http://schemas.openxmlformats.org/drawingml/2006/main">
              <a:ext uri="{FF2B5EF4-FFF2-40B4-BE49-F238E27FC236}">
                <a16:creationId xmlns:a16="http://schemas.microsoft.com/office/drawing/2014/main" id="{3A294D10-89B2-4007-9C6D-377FA823820C}"/>
              </a:ext>
            </a:extLst>
          </p:cNvPr>
          <p:cNvSpPr>
            <a:spLocks xmlns:a="http://schemas.openxmlformats.org/drawingml/2006/main" noGrp="1"/>
          </p:cNvSpPr>
          <p:nvPr/>
        </p:nvSpPr>
        <p:spPr>
          <a:xfrm xmlns:a="http://schemas.openxmlformats.org/drawingml/2006/main">
            <a:off x="728663" y="2276475"/>
            <a:ext cx="46958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b="1">
                <a:solidFill>
                  <a:srgbClr val="4FE3BD">
                    <a:alpha val="99000"/>
                  </a:srgbClr>
                </a:solidFill>
                <a:latin typeface="Inter"/>
                <a:ea typeface="Inter"/>
                <a:cs typeface="Inter"/>
              </a:rPr>
              <a:t>2 · PERFORM AN ACTION</a:t>
            </a:r>
            <a:endParaRPr sz="1354"/>
          </a:p>
        </p:txBody>
      </p:sp>
      <p:sp>
        <p:nvSpPr>
          <p:cNvPr id="10" name="Text 7">
            <a:extLst xmlns:a="http://schemas.openxmlformats.org/drawingml/2006/main">
              <a:ext uri="{FF2B5EF4-FFF2-40B4-BE49-F238E27FC236}">
                <a16:creationId xmlns:a16="http://schemas.microsoft.com/office/drawing/2014/main" id="{31D1E3D7-9BAD-48ED-9D79-69659ABF1C05}"/>
              </a:ext>
            </a:extLst>
          </p:cNvPr>
          <p:cNvSpPr>
            <a:spLocks xmlns:a="http://schemas.openxmlformats.org/drawingml/2006/main" noGrp="1"/>
          </p:cNvSpPr>
          <p:nvPr/>
        </p:nvSpPr>
        <p:spPr>
          <a:xfrm xmlns:a="http://schemas.openxmlformats.org/drawingml/2006/main">
            <a:off x="728663" y="2571750"/>
            <a:ext cx="46958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Call a specific tool.</a:t>
            </a:r>
            <a:endParaRPr sz="1354"/>
          </a:p>
        </p:txBody>
      </p:sp>
      <p:sp>
        <p:nvSpPr>
          <p:cNvPr id="11" name="Shape 8">
            <a:extLst xmlns:a="http://schemas.openxmlformats.org/drawingml/2006/main">
              <a:ext uri="{FF2B5EF4-FFF2-40B4-BE49-F238E27FC236}">
                <a16:creationId xmlns:a16="http://schemas.microsoft.com/office/drawing/2014/main" id="{D6C02084-1F2A-431D-8AA9-3FF51ABFA707}"/>
              </a:ext>
            </a:extLst>
          </p:cNvPr>
          <p:cNvSpPr>
            <a:spLocks xmlns:a="http://schemas.openxmlformats.org/drawingml/2006/main" noGrp="1"/>
          </p:cNvSpPr>
          <p:nvPr/>
        </p:nvSpPr>
        <p:spPr>
          <a:xfrm xmlns:a="http://schemas.openxmlformats.org/drawingml/2006/main">
            <a:off x="571500" y="2952750"/>
            <a:ext cx="5000625" cy="838200"/>
          </a:xfrm>
          <a:prstGeom xmlns:a="http://schemas.openxmlformats.org/drawingml/2006/main" prst="roundRect">
            <a:avLst>
              <a:gd name="adj" fmla="val 24000"/>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2" name="Text 9">
            <a:extLst xmlns:a="http://schemas.openxmlformats.org/drawingml/2006/main">
              <a:ext uri="{FF2B5EF4-FFF2-40B4-BE49-F238E27FC236}">
                <a16:creationId xmlns:a16="http://schemas.microsoft.com/office/drawing/2014/main" id="{42524DF6-008D-4F18-897C-24916DA44CCC}"/>
              </a:ext>
            </a:extLst>
          </p:cNvPr>
          <p:cNvSpPr>
            <a:spLocks xmlns:a="http://schemas.openxmlformats.org/drawingml/2006/main" noGrp="1"/>
          </p:cNvSpPr>
          <p:nvPr/>
        </p:nvSpPr>
        <p:spPr>
          <a:xfrm xmlns:a="http://schemas.openxmlformats.org/drawingml/2006/main">
            <a:off x="728663" y="3109913"/>
            <a:ext cx="46958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b="1">
                <a:solidFill>
                  <a:srgbClr val="4FE3BD">
                    <a:alpha val="99000"/>
                  </a:srgbClr>
                </a:solidFill>
                <a:latin typeface="Inter"/>
                <a:ea typeface="Inter"/>
                <a:cs typeface="Inter"/>
              </a:rPr>
              <a:t>3 · READ STATE AGAIN</a:t>
            </a:r>
            <a:endParaRPr sz="1354"/>
          </a:p>
        </p:txBody>
      </p:sp>
      <p:sp>
        <p:nvSpPr>
          <p:cNvPr id="13" name="Text 10">
            <a:extLst xmlns:a="http://schemas.openxmlformats.org/drawingml/2006/main">
              <a:ext uri="{FF2B5EF4-FFF2-40B4-BE49-F238E27FC236}">
                <a16:creationId xmlns:a16="http://schemas.microsoft.com/office/drawing/2014/main" id="{6DD62096-8E9F-414B-9474-34189E78B075}"/>
              </a:ext>
            </a:extLst>
          </p:cNvPr>
          <p:cNvSpPr>
            <a:spLocks xmlns:a="http://schemas.openxmlformats.org/drawingml/2006/main" noGrp="1"/>
          </p:cNvSpPr>
          <p:nvPr/>
        </p:nvSpPr>
        <p:spPr>
          <a:xfrm xmlns:a="http://schemas.openxmlformats.org/drawingml/2006/main">
            <a:off x="728663" y="3405188"/>
            <a:ext cx="46958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Verify the expected result.</a:t>
            </a:r>
            <a:endParaRPr sz="1354"/>
          </a:p>
        </p:txBody>
      </p:sp>
      <p:sp>
        <p:nvSpPr>
          <p:cNvPr id="14" name="Text 11">
            <a:extLst xmlns:a="http://schemas.openxmlformats.org/drawingml/2006/main">
              <a:ext uri="{FF2B5EF4-FFF2-40B4-BE49-F238E27FC236}">
                <a16:creationId xmlns:a16="http://schemas.microsoft.com/office/drawing/2014/main" id="{ADADAB4E-71B2-4772-8250-BE5D47F08F4E}"/>
              </a:ext>
            </a:extLst>
          </p:cNvPr>
          <p:cNvSpPr>
            <a:spLocks xmlns:a="http://schemas.openxmlformats.org/drawingml/2006/main" noGrp="1"/>
          </p:cNvSpPr>
          <p:nvPr/>
        </p:nvSpPr>
        <p:spPr>
          <a:xfrm xmlns:a="http://schemas.openxmlformats.org/drawingml/2006/main">
            <a:off x="6048375" y="1047750"/>
            <a:ext cx="2667000" cy="476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F5FFFA">
                    <a:alpha val="99000"/>
                  </a:srgbClr>
                </a:solidFill>
                <a:latin typeface="Inter"/>
                <a:ea typeface="Inter"/>
                <a:cs typeface="Inter"/>
              </a:rPr>
              <a:t>Trust “queued”</a:t>
            </a:r>
            <a:endParaRPr sz="1425"/>
          </a:p>
          <a:p xmlns:a="http://schemas.openxmlformats.org/drawingml/2006/main">
            <a:pPr marL="0" indent="0" algn="l">
              <a:lnSpc>
                <a:spcPts val="1781"/>
              </a:lnSpc>
              <a:buNone/>
            </a:pPr>
            <a:r>
              <a:rPr sz="1425" b="1">
                <a:solidFill>
                  <a:srgbClr val="F5FFFA">
                    <a:alpha val="99000"/>
                  </a:srgbClr>
                </a:solidFill>
                <a:latin typeface="Inter"/>
                <a:ea typeface="Inter"/>
                <a:cs typeface="Inter"/>
              </a:rPr>
              <a:t>or verify the actual state?</a:t>
            </a:r>
            <a:endParaRPr sz="1425"/>
          </a:p>
        </p:txBody>
      </p:sp>
      <p:pic>
        <p:nvPicPr>
          <p:cNvPr id="15" name="Image 0">
            <a:extLst xmlns:a="http://schemas.openxmlformats.org/drawingml/2006/main">
              <a:ext uri="{FF2B5EF4-FFF2-40B4-BE49-F238E27FC236}">
                <a16:creationId xmlns:a16="http://schemas.microsoft.com/office/drawing/2014/main" id="{AE233ECB-E626-4505-8A8A-1E63C044BE30}"/>
              </a:ext>
            </a:extLst>
          </p:cNvPr>
          <p:cNvPicPr>
            <a:picLocks xmlns:a="http://schemas.openxmlformats.org/drawingml/2006/main" noChangeAspect="1"/>
          </p:cNvPicPr>
          <p:nvPr/>
        </p:nvPicPr>
        <p:blipFill>
          <a:blip xmlns:r="http://schemas.openxmlformats.org/officeDocument/2006/relationships" xmlns:a="http://schemas.openxmlformats.org/drawingml/2006/main" r:embed="R7e3280edd5ed47a1"/>
          <a:srcRect xmlns:a="http://schemas.openxmlformats.org/drawingml/2006/main" l="0" t="0" r="0" b="0"/>
          <a:stretch xmlns:a="http://schemas.openxmlformats.org/drawingml/2006/main"/>
        </p:blipFill>
        <p:spPr>
          <a:xfrm xmlns:a="http://schemas.openxmlformats.org/drawingml/2006/main">
            <a:off x="6500813" y="1690688"/>
            <a:ext cx="1690688" cy="2557463"/>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E3B33E68-8A42-42BE-B3DA-818FA4681682}"/>
              </a:ext>
            </a:extLst>
          </p:cNvPr>
          <p:cNvSpPr>
            <a:spLocks xmlns:a="http://schemas.openxmlformats.org/drawingml/2006/main" noGrp="1"/>
          </p:cNvSpPr>
          <p:nvPr/>
        </p:nvSpPr>
        <p:spPr>
          <a:xfrm xmlns:a="http://schemas.openxmlformats.org/drawingml/2006/main">
            <a:off x="6048375" y="4405313"/>
            <a:ext cx="261937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5"/>
              </a:lnSpc>
              <a:buNone/>
            </a:pPr>
            <a:r>
              <a:rPr sz="1140">
                <a:solidFill>
                  <a:srgbClr val="BAD9CF">
                    <a:alpha val="99000"/>
                  </a:srgbClr>
                </a:solidFill>
                <a:latin typeface="Inter"/>
                <a:ea typeface="Inter"/>
                <a:cs typeface="Inter"/>
              </a:rPr>
              <a:t>Choose the state check.</a:t>
            </a:r>
            <a:endParaRPr sz="1140"/>
          </a:p>
        </p:txBody>
      </p:sp>
      <p:sp>
        <p:nvSpPr>
          <p:cNvPr id="17" name="Text 13">
            <a:extLst xmlns:a="http://schemas.openxmlformats.org/drawingml/2006/main">
              <a:ext uri="{FF2B5EF4-FFF2-40B4-BE49-F238E27FC236}">
                <a16:creationId xmlns:a16="http://schemas.microsoft.com/office/drawing/2014/main" id="{856A484E-5657-4D6E-BD97-E48319A02358}"/>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17 / 29</a:t>
            </a:r>
            <a:endParaRPr sz="855"/>
          </a:p>
        </p:txBody>
      </p:sp>
    </p:spTree>
    <p:extLst>
      <p:ext uri="{BB962C8B-B14F-4D97-AF65-F5344CB8AC3E}">
        <p14:creationId xmlns:p14="http://schemas.microsoft.com/office/powerpoint/2010/main" val="730954918"/>
      </p:ext>
    </p:extLst>
  </p:cSld>
</p:sld>
</file>

<file path=ppt/slides/slide18.xml><?xml version="1.0" encoding="utf-8"?>
<p:sld xmlns:p="http://schemas.openxmlformats.org/presentationml/2006/main">
  <p:cSld>
    <p:bg>
      <p:bgPr>
        <a:blipFill xmlns:a="http://schemas.openxmlformats.org/drawingml/2006/main" rotWithShape="1">
          <a:blip xmlns:r="http://schemas.openxmlformats.org/officeDocument/2006/relationships" r:embed="Rd321faa006f0413f">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F108C72-EE67-44ED-B5F5-EEF714307071}"/>
              </a:ext>
            </a:extLst>
          </p:cNvPr>
          <p:cNvSpPr>
            <a:spLocks xmlns:a="http://schemas.openxmlformats.org/drawingml/2006/main" noGrp="1"/>
          </p:cNvSpPr>
          <p:nvPr/>
        </p:nvSpPr>
        <p:spPr>
          <a:xfrm xmlns:a="http://schemas.openxmlformats.org/drawingml/2006/main">
            <a:off x="571500" y="304800"/>
            <a:ext cx="8001000" cy="3667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759"/>
              </a:lnSpc>
              <a:buNone/>
            </a:pPr>
            <a:r>
              <a:rPr sz="2280" b="1">
                <a:solidFill>
                  <a:srgbClr val="5CE5BD">
                    <a:alpha val="99000"/>
                  </a:srgbClr>
                </a:solidFill>
                <a:latin typeface="Inter"/>
                <a:ea typeface="Inter"/>
                <a:cs typeface="Inter"/>
              </a:rPr>
              <a:t>Can an AI escape a maze using tools?</a:t>
            </a:r>
            <a:endParaRPr sz="2280"/>
          </a:p>
        </p:txBody>
      </p:sp>
      <p:sp>
        <p:nvSpPr>
          <p:cNvPr id="4" name="Text 1">
            <a:extLst xmlns:a="http://schemas.openxmlformats.org/drawingml/2006/main">
              <a:ext uri="{FF2B5EF4-FFF2-40B4-BE49-F238E27FC236}">
                <a16:creationId xmlns:a16="http://schemas.microsoft.com/office/drawing/2014/main" id="{C3688C41-4CF0-40E2-B413-FBD1901AAD3D}"/>
              </a:ext>
            </a:extLst>
          </p:cNvPr>
          <p:cNvSpPr>
            <a:spLocks xmlns:a="http://schemas.openxmlformats.org/drawingml/2006/main" noGrp="1"/>
          </p:cNvSpPr>
          <p:nvPr/>
        </p:nvSpPr>
        <p:spPr>
          <a:xfrm xmlns:a="http://schemas.openxmlformats.org/drawingml/2006/main">
            <a:off x="571500" y="976312"/>
            <a:ext cx="8001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3"/>
              </a:lnSpc>
              <a:buNone/>
            </a:pPr>
            <a:r>
              <a:rPr sz="1176">
                <a:solidFill>
                  <a:srgbClr val="F2FAF5">
                    <a:alpha val="99000"/>
                  </a:srgbClr>
                </a:solidFill>
                <a:latin typeface="Inter"/>
                <a:ea typeface="Inter"/>
                <a:cs typeface="Inter"/>
              </a:rPr>
              <a:t>The model chooses a move. The MCP server exposes controls. The maze app applies it.</a:t>
            </a:r>
            <a:endParaRPr sz="1176"/>
          </a:p>
        </p:txBody>
      </p:sp>
      <p:sp>
        <p:nvSpPr>
          <p:cNvPr id="5" name="Shape 2">
            <a:extLst xmlns:a="http://schemas.openxmlformats.org/drawingml/2006/main">
              <a:ext uri="{FF2B5EF4-FFF2-40B4-BE49-F238E27FC236}">
                <a16:creationId xmlns:a16="http://schemas.microsoft.com/office/drawing/2014/main" id="{0F69223E-F10F-4964-8825-AA2AE713B56B}"/>
              </a:ext>
            </a:extLst>
          </p:cNvPr>
          <p:cNvSpPr>
            <a:spLocks xmlns:a="http://schemas.openxmlformats.org/drawingml/2006/main" noGrp="1"/>
          </p:cNvSpPr>
          <p:nvPr/>
        </p:nvSpPr>
        <p:spPr>
          <a:xfrm xmlns:a="http://schemas.openxmlformats.org/drawingml/2006/main">
            <a:off x="809625" y="1428750"/>
            <a:ext cx="314325" cy="314325"/>
          </a:xfrm>
          <a:prstGeom xmlns:a="http://schemas.openxmlformats.org/drawingml/2006/main" prst="roundRect">
            <a:avLst/>
          </a:prstGeom>
          <a:solidFill xmlns:a="http://schemas.openxmlformats.org/drawingml/2006/main">
            <a:srgbClr val="143D36"/>
          </a:solidFill>
        </p:spPr>
      </p:sp>
      <p:sp>
        <p:nvSpPr>
          <p:cNvPr id="6" name="Shape 3">
            <a:extLst xmlns:a="http://schemas.openxmlformats.org/drawingml/2006/main">
              <a:ext uri="{FF2B5EF4-FFF2-40B4-BE49-F238E27FC236}">
                <a16:creationId xmlns:a16="http://schemas.microsoft.com/office/drawing/2014/main" id="{90A0D34A-D080-4B3E-B76D-520D982CF319}"/>
              </a:ext>
            </a:extLst>
          </p:cNvPr>
          <p:cNvSpPr>
            <a:spLocks xmlns:a="http://schemas.openxmlformats.org/drawingml/2006/main" noGrp="1"/>
          </p:cNvSpPr>
          <p:nvPr/>
        </p:nvSpPr>
        <p:spPr>
          <a:xfrm xmlns:a="http://schemas.openxmlformats.org/drawingml/2006/main">
            <a:off x="1143000" y="1428750"/>
            <a:ext cx="314325" cy="314325"/>
          </a:xfrm>
          <a:prstGeom xmlns:a="http://schemas.openxmlformats.org/drawingml/2006/main" prst="roundRect">
            <a:avLst/>
          </a:prstGeom>
          <a:solidFill xmlns:a="http://schemas.openxmlformats.org/drawingml/2006/main">
            <a:srgbClr val="143D36"/>
          </a:solidFill>
        </p:spPr>
      </p:sp>
      <p:sp>
        <p:nvSpPr>
          <p:cNvPr id="7" name="Shape 4">
            <a:extLst xmlns:a="http://schemas.openxmlformats.org/drawingml/2006/main">
              <a:ext uri="{FF2B5EF4-FFF2-40B4-BE49-F238E27FC236}">
                <a16:creationId xmlns:a16="http://schemas.microsoft.com/office/drawing/2014/main" id="{F89629AF-A61C-4B22-982B-9FFB7C7120E2}"/>
              </a:ext>
            </a:extLst>
          </p:cNvPr>
          <p:cNvSpPr>
            <a:spLocks xmlns:a="http://schemas.openxmlformats.org/drawingml/2006/main" noGrp="1"/>
          </p:cNvSpPr>
          <p:nvPr/>
        </p:nvSpPr>
        <p:spPr>
          <a:xfrm xmlns:a="http://schemas.openxmlformats.org/drawingml/2006/main">
            <a:off x="1476375" y="1428750"/>
            <a:ext cx="314325" cy="314325"/>
          </a:xfrm>
          <a:prstGeom xmlns:a="http://schemas.openxmlformats.org/drawingml/2006/main" prst="roundRect">
            <a:avLst/>
          </a:prstGeom>
          <a:solidFill xmlns:a="http://schemas.openxmlformats.org/drawingml/2006/main">
            <a:srgbClr val="143D36"/>
          </a:solidFill>
        </p:spPr>
      </p:sp>
      <p:sp>
        <p:nvSpPr>
          <p:cNvPr id="8" name="Shape 5">
            <a:extLst xmlns:a="http://schemas.openxmlformats.org/drawingml/2006/main">
              <a:ext uri="{FF2B5EF4-FFF2-40B4-BE49-F238E27FC236}">
                <a16:creationId xmlns:a16="http://schemas.microsoft.com/office/drawing/2014/main" id="{4638BD48-A726-44EE-8313-9DE1E538B82E}"/>
              </a:ext>
            </a:extLst>
          </p:cNvPr>
          <p:cNvSpPr>
            <a:spLocks xmlns:a="http://schemas.openxmlformats.org/drawingml/2006/main" noGrp="1"/>
          </p:cNvSpPr>
          <p:nvPr/>
        </p:nvSpPr>
        <p:spPr>
          <a:xfrm xmlns:a="http://schemas.openxmlformats.org/drawingml/2006/main">
            <a:off x="1809750" y="1428750"/>
            <a:ext cx="314325" cy="314325"/>
          </a:xfrm>
          <a:prstGeom xmlns:a="http://schemas.openxmlformats.org/drawingml/2006/main" prst="roundRect">
            <a:avLst/>
          </a:prstGeom>
          <a:solidFill xmlns:a="http://schemas.openxmlformats.org/drawingml/2006/main">
            <a:srgbClr val="143D36"/>
          </a:solidFill>
        </p:spPr>
      </p:sp>
      <p:sp>
        <p:nvSpPr>
          <p:cNvPr id="9" name="Shape 6">
            <a:extLst xmlns:a="http://schemas.openxmlformats.org/drawingml/2006/main">
              <a:ext uri="{FF2B5EF4-FFF2-40B4-BE49-F238E27FC236}">
                <a16:creationId xmlns:a16="http://schemas.microsoft.com/office/drawing/2014/main" id="{D069EA91-00F4-4847-A04E-097ECB809FFE}"/>
              </a:ext>
            </a:extLst>
          </p:cNvPr>
          <p:cNvSpPr>
            <a:spLocks xmlns:a="http://schemas.openxmlformats.org/drawingml/2006/main" noGrp="1"/>
          </p:cNvSpPr>
          <p:nvPr/>
        </p:nvSpPr>
        <p:spPr>
          <a:xfrm xmlns:a="http://schemas.openxmlformats.org/drawingml/2006/main">
            <a:off x="2143125" y="1428750"/>
            <a:ext cx="314325" cy="314325"/>
          </a:xfrm>
          <a:prstGeom xmlns:a="http://schemas.openxmlformats.org/drawingml/2006/main" prst="roundRect">
            <a:avLst/>
          </a:prstGeom>
          <a:solidFill xmlns:a="http://schemas.openxmlformats.org/drawingml/2006/main">
            <a:srgbClr val="143D36"/>
          </a:solidFill>
        </p:spPr>
      </p:sp>
      <p:sp>
        <p:nvSpPr>
          <p:cNvPr id="10" name="Shape 7">
            <a:extLst xmlns:a="http://schemas.openxmlformats.org/drawingml/2006/main">
              <a:ext uri="{FF2B5EF4-FFF2-40B4-BE49-F238E27FC236}">
                <a16:creationId xmlns:a16="http://schemas.microsoft.com/office/drawing/2014/main" id="{3D0F47B8-ABA8-4666-81E1-468FBDE6C324}"/>
              </a:ext>
            </a:extLst>
          </p:cNvPr>
          <p:cNvSpPr>
            <a:spLocks xmlns:a="http://schemas.openxmlformats.org/drawingml/2006/main" noGrp="1"/>
          </p:cNvSpPr>
          <p:nvPr/>
        </p:nvSpPr>
        <p:spPr>
          <a:xfrm xmlns:a="http://schemas.openxmlformats.org/drawingml/2006/main">
            <a:off x="2476500" y="1428750"/>
            <a:ext cx="314325" cy="314325"/>
          </a:xfrm>
          <a:prstGeom xmlns:a="http://schemas.openxmlformats.org/drawingml/2006/main" prst="roundRect">
            <a:avLst/>
          </a:prstGeom>
          <a:solidFill xmlns:a="http://schemas.openxmlformats.org/drawingml/2006/main">
            <a:srgbClr val="143D36"/>
          </a:solidFill>
        </p:spPr>
      </p:sp>
      <p:sp>
        <p:nvSpPr>
          <p:cNvPr id="11" name="Shape 8">
            <a:extLst xmlns:a="http://schemas.openxmlformats.org/drawingml/2006/main">
              <a:ext uri="{FF2B5EF4-FFF2-40B4-BE49-F238E27FC236}">
                <a16:creationId xmlns:a16="http://schemas.microsoft.com/office/drawing/2014/main" id="{9879ACE5-AD74-4C48-A328-03E967DE7B1E}"/>
              </a:ext>
            </a:extLst>
          </p:cNvPr>
          <p:cNvSpPr>
            <a:spLocks xmlns:a="http://schemas.openxmlformats.org/drawingml/2006/main" noGrp="1"/>
          </p:cNvSpPr>
          <p:nvPr/>
        </p:nvSpPr>
        <p:spPr>
          <a:xfrm xmlns:a="http://schemas.openxmlformats.org/drawingml/2006/main">
            <a:off x="2809875" y="1428750"/>
            <a:ext cx="314325" cy="314325"/>
          </a:xfrm>
          <a:prstGeom xmlns:a="http://schemas.openxmlformats.org/drawingml/2006/main" prst="roundRect">
            <a:avLst/>
          </a:prstGeom>
          <a:solidFill xmlns:a="http://schemas.openxmlformats.org/drawingml/2006/main">
            <a:srgbClr val="143D36"/>
          </a:solidFill>
        </p:spPr>
      </p:sp>
      <p:sp>
        <p:nvSpPr>
          <p:cNvPr id="12" name="Shape 9">
            <a:extLst xmlns:a="http://schemas.openxmlformats.org/drawingml/2006/main">
              <a:ext uri="{FF2B5EF4-FFF2-40B4-BE49-F238E27FC236}">
                <a16:creationId xmlns:a16="http://schemas.microsoft.com/office/drawing/2014/main" id="{40E94948-45BD-4140-8286-1D41FFD159D9}"/>
              </a:ext>
            </a:extLst>
          </p:cNvPr>
          <p:cNvSpPr>
            <a:spLocks xmlns:a="http://schemas.openxmlformats.org/drawingml/2006/main" noGrp="1"/>
          </p:cNvSpPr>
          <p:nvPr/>
        </p:nvSpPr>
        <p:spPr>
          <a:xfrm xmlns:a="http://schemas.openxmlformats.org/drawingml/2006/main">
            <a:off x="3143250" y="1428750"/>
            <a:ext cx="314325" cy="314325"/>
          </a:xfrm>
          <a:prstGeom xmlns:a="http://schemas.openxmlformats.org/drawingml/2006/main" prst="roundRect">
            <a:avLst/>
          </a:prstGeom>
          <a:solidFill xmlns:a="http://schemas.openxmlformats.org/drawingml/2006/main">
            <a:srgbClr val="143D36"/>
          </a:solidFill>
        </p:spPr>
      </p:sp>
      <p:sp>
        <p:nvSpPr>
          <p:cNvPr id="13" name="Shape 10">
            <a:extLst xmlns:a="http://schemas.openxmlformats.org/drawingml/2006/main">
              <a:ext uri="{FF2B5EF4-FFF2-40B4-BE49-F238E27FC236}">
                <a16:creationId xmlns:a16="http://schemas.microsoft.com/office/drawing/2014/main" id="{CBBD34B6-C415-4831-9543-7656DCF2AF13}"/>
              </a:ext>
            </a:extLst>
          </p:cNvPr>
          <p:cNvSpPr>
            <a:spLocks xmlns:a="http://schemas.openxmlformats.org/drawingml/2006/main" noGrp="1"/>
          </p:cNvSpPr>
          <p:nvPr/>
        </p:nvSpPr>
        <p:spPr>
          <a:xfrm xmlns:a="http://schemas.openxmlformats.org/drawingml/2006/main">
            <a:off x="809625" y="1762125"/>
            <a:ext cx="314325" cy="314325"/>
          </a:xfrm>
          <a:prstGeom xmlns:a="http://schemas.openxmlformats.org/drawingml/2006/main" prst="roundRect">
            <a:avLst/>
          </a:prstGeom>
          <a:solidFill xmlns:a="http://schemas.openxmlformats.org/drawingml/2006/main">
            <a:srgbClr val="143D36"/>
          </a:solidFill>
        </p:spPr>
      </p:sp>
      <p:sp>
        <p:nvSpPr>
          <p:cNvPr id="14" name="Shape 11">
            <a:extLst xmlns:a="http://schemas.openxmlformats.org/drawingml/2006/main">
              <a:ext uri="{FF2B5EF4-FFF2-40B4-BE49-F238E27FC236}">
                <a16:creationId xmlns:a16="http://schemas.microsoft.com/office/drawing/2014/main" id="{C648BD2A-EFBA-42AE-8486-C5CF12EE79B6}"/>
              </a:ext>
            </a:extLst>
          </p:cNvPr>
          <p:cNvSpPr>
            <a:spLocks xmlns:a="http://schemas.openxmlformats.org/drawingml/2006/main" noGrp="1"/>
          </p:cNvSpPr>
          <p:nvPr/>
        </p:nvSpPr>
        <p:spPr>
          <a:xfrm xmlns:a="http://schemas.openxmlformats.org/drawingml/2006/main">
            <a:off x="1143000" y="1762125"/>
            <a:ext cx="314325" cy="314325"/>
          </a:xfrm>
          <a:prstGeom xmlns:a="http://schemas.openxmlformats.org/drawingml/2006/main" prst="roundRect">
            <a:avLst/>
          </a:prstGeom>
          <a:solidFill xmlns:a="http://schemas.openxmlformats.org/drawingml/2006/main">
            <a:srgbClr val="5CE5BD"/>
          </a:solidFill>
        </p:spPr>
      </p:sp>
      <p:sp>
        <p:nvSpPr>
          <p:cNvPr id="15" name="Text 12">
            <a:extLst xmlns:a="http://schemas.openxmlformats.org/drawingml/2006/main">
              <a:ext uri="{FF2B5EF4-FFF2-40B4-BE49-F238E27FC236}">
                <a16:creationId xmlns:a16="http://schemas.microsoft.com/office/drawing/2014/main" id="{ED9BA28D-F16A-4B87-B48F-D270813496F2}"/>
              </a:ext>
            </a:extLst>
          </p:cNvPr>
          <p:cNvSpPr>
            <a:spLocks xmlns:a="http://schemas.openxmlformats.org/drawingml/2006/main" noGrp="1"/>
          </p:cNvSpPr>
          <p:nvPr/>
        </p:nvSpPr>
        <p:spPr>
          <a:xfrm xmlns:a="http://schemas.openxmlformats.org/drawingml/2006/main">
            <a:off x="1233488" y="1804988"/>
            <a:ext cx="190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b="1">
                <a:solidFill>
                  <a:srgbClr val="051F1A">
                    <a:alpha val="99000"/>
                  </a:srgbClr>
                </a:solidFill>
                <a:latin typeface="Inter"/>
                <a:ea typeface="Inter"/>
                <a:cs typeface="Inter"/>
              </a:rPr>
              <a:t>S</a:t>
            </a:r>
            <a:endParaRPr sz="1283"/>
          </a:p>
        </p:txBody>
      </p:sp>
      <p:sp>
        <p:nvSpPr>
          <p:cNvPr id="16" name="Shape 13">
            <a:extLst xmlns:a="http://schemas.openxmlformats.org/drawingml/2006/main">
              <a:ext uri="{FF2B5EF4-FFF2-40B4-BE49-F238E27FC236}">
                <a16:creationId xmlns:a16="http://schemas.microsoft.com/office/drawing/2014/main" id="{01AF98D1-B630-4022-8AC8-661F2AC26C16}"/>
              </a:ext>
            </a:extLst>
          </p:cNvPr>
          <p:cNvSpPr>
            <a:spLocks xmlns:a="http://schemas.openxmlformats.org/drawingml/2006/main" noGrp="1"/>
          </p:cNvSpPr>
          <p:nvPr/>
        </p:nvSpPr>
        <p:spPr>
          <a:xfrm xmlns:a="http://schemas.openxmlformats.org/drawingml/2006/main">
            <a:off x="1476375" y="1762125"/>
            <a:ext cx="314325" cy="314325"/>
          </a:xfrm>
          <a:prstGeom xmlns:a="http://schemas.openxmlformats.org/drawingml/2006/main" prst="roundRect">
            <a:avLst/>
          </a:prstGeom>
          <a:solidFill xmlns:a="http://schemas.openxmlformats.org/drawingml/2006/main">
            <a:srgbClr val="D9E8E0"/>
          </a:solidFill>
        </p:spPr>
      </p:sp>
      <p:sp>
        <p:nvSpPr>
          <p:cNvPr id="17" name="Shape 14">
            <a:extLst xmlns:a="http://schemas.openxmlformats.org/drawingml/2006/main">
              <a:ext uri="{FF2B5EF4-FFF2-40B4-BE49-F238E27FC236}">
                <a16:creationId xmlns:a16="http://schemas.microsoft.com/office/drawing/2014/main" id="{536BECE2-2E98-4B02-BE31-6FA5E99C7332}"/>
              </a:ext>
            </a:extLst>
          </p:cNvPr>
          <p:cNvSpPr>
            <a:spLocks xmlns:a="http://schemas.openxmlformats.org/drawingml/2006/main" noGrp="1"/>
          </p:cNvSpPr>
          <p:nvPr/>
        </p:nvSpPr>
        <p:spPr>
          <a:xfrm xmlns:a="http://schemas.openxmlformats.org/drawingml/2006/main">
            <a:off x="1809750" y="1762125"/>
            <a:ext cx="314325" cy="314325"/>
          </a:xfrm>
          <a:prstGeom xmlns:a="http://schemas.openxmlformats.org/drawingml/2006/main" prst="roundRect">
            <a:avLst/>
          </a:prstGeom>
          <a:solidFill xmlns:a="http://schemas.openxmlformats.org/drawingml/2006/main">
            <a:srgbClr val="D9E8E0"/>
          </a:solidFill>
        </p:spPr>
      </p:sp>
      <p:sp>
        <p:nvSpPr>
          <p:cNvPr id="18" name="Shape 15">
            <a:extLst xmlns:a="http://schemas.openxmlformats.org/drawingml/2006/main">
              <a:ext uri="{FF2B5EF4-FFF2-40B4-BE49-F238E27FC236}">
                <a16:creationId xmlns:a16="http://schemas.microsoft.com/office/drawing/2014/main" id="{B1C689A5-70C6-46A2-BC3E-15F7222189CD}"/>
              </a:ext>
            </a:extLst>
          </p:cNvPr>
          <p:cNvSpPr>
            <a:spLocks xmlns:a="http://schemas.openxmlformats.org/drawingml/2006/main" noGrp="1"/>
          </p:cNvSpPr>
          <p:nvPr/>
        </p:nvSpPr>
        <p:spPr>
          <a:xfrm xmlns:a="http://schemas.openxmlformats.org/drawingml/2006/main">
            <a:off x="2143125" y="1762125"/>
            <a:ext cx="314325" cy="314325"/>
          </a:xfrm>
          <a:prstGeom xmlns:a="http://schemas.openxmlformats.org/drawingml/2006/main" prst="roundRect">
            <a:avLst/>
          </a:prstGeom>
          <a:solidFill xmlns:a="http://schemas.openxmlformats.org/drawingml/2006/main">
            <a:srgbClr val="D9E8E0"/>
          </a:solidFill>
        </p:spPr>
      </p:sp>
      <p:sp>
        <p:nvSpPr>
          <p:cNvPr id="19" name="Shape 16">
            <a:extLst xmlns:a="http://schemas.openxmlformats.org/drawingml/2006/main">
              <a:ext uri="{FF2B5EF4-FFF2-40B4-BE49-F238E27FC236}">
                <a16:creationId xmlns:a16="http://schemas.microsoft.com/office/drawing/2014/main" id="{D93167AE-8E5C-42A6-9496-5D10119B8EB9}"/>
              </a:ext>
            </a:extLst>
          </p:cNvPr>
          <p:cNvSpPr>
            <a:spLocks xmlns:a="http://schemas.openxmlformats.org/drawingml/2006/main" noGrp="1"/>
          </p:cNvSpPr>
          <p:nvPr/>
        </p:nvSpPr>
        <p:spPr>
          <a:xfrm xmlns:a="http://schemas.openxmlformats.org/drawingml/2006/main">
            <a:off x="2476500" y="1762125"/>
            <a:ext cx="314325" cy="314325"/>
          </a:xfrm>
          <a:prstGeom xmlns:a="http://schemas.openxmlformats.org/drawingml/2006/main" prst="roundRect">
            <a:avLst/>
          </a:prstGeom>
          <a:solidFill xmlns:a="http://schemas.openxmlformats.org/drawingml/2006/main">
            <a:srgbClr val="D9E8E0"/>
          </a:solidFill>
        </p:spPr>
      </p:sp>
      <p:sp>
        <p:nvSpPr>
          <p:cNvPr id="20" name="Shape 17">
            <a:extLst xmlns:a="http://schemas.openxmlformats.org/drawingml/2006/main">
              <a:ext uri="{FF2B5EF4-FFF2-40B4-BE49-F238E27FC236}">
                <a16:creationId xmlns:a16="http://schemas.microsoft.com/office/drawing/2014/main" id="{AB34A7EE-D2BF-4F96-B75D-EE1ED27398EF}"/>
              </a:ext>
            </a:extLst>
          </p:cNvPr>
          <p:cNvSpPr>
            <a:spLocks xmlns:a="http://schemas.openxmlformats.org/drawingml/2006/main" noGrp="1"/>
          </p:cNvSpPr>
          <p:nvPr/>
        </p:nvSpPr>
        <p:spPr>
          <a:xfrm xmlns:a="http://schemas.openxmlformats.org/drawingml/2006/main">
            <a:off x="2809875" y="1762125"/>
            <a:ext cx="314325" cy="314325"/>
          </a:xfrm>
          <a:prstGeom xmlns:a="http://schemas.openxmlformats.org/drawingml/2006/main" prst="roundRect">
            <a:avLst/>
          </a:prstGeom>
          <a:solidFill xmlns:a="http://schemas.openxmlformats.org/drawingml/2006/main">
            <a:srgbClr val="D9E8E0"/>
          </a:solidFill>
        </p:spPr>
      </p:sp>
      <p:sp>
        <p:nvSpPr>
          <p:cNvPr id="21" name="Shape 18">
            <a:extLst xmlns:a="http://schemas.openxmlformats.org/drawingml/2006/main">
              <a:ext uri="{FF2B5EF4-FFF2-40B4-BE49-F238E27FC236}">
                <a16:creationId xmlns:a16="http://schemas.microsoft.com/office/drawing/2014/main" id="{902B4A11-90FD-4279-BE80-DBEBEBAB7EB0}"/>
              </a:ext>
            </a:extLst>
          </p:cNvPr>
          <p:cNvSpPr>
            <a:spLocks xmlns:a="http://schemas.openxmlformats.org/drawingml/2006/main" noGrp="1"/>
          </p:cNvSpPr>
          <p:nvPr/>
        </p:nvSpPr>
        <p:spPr>
          <a:xfrm xmlns:a="http://schemas.openxmlformats.org/drawingml/2006/main">
            <a:off x="3143250" y="1762125"/>
            <a:ext cx="314325" cy="314325"/>
          </a:xfrm>
          <a:prstGeom xmlns:a="http://schemas.openxmlformats.org/drawingml/2006/main" prst="roundRect">
            <a:avLst/>
          </a:prstGeom>
          <a:solidFill xmlns:a="http://schemas.openxmlformats.org/drawingml/2006/main">
            <a:srgbClr val="143D36"/>
          </a:solidFill>
        </p:spPr>
      </p:sp>
      <p:sp>
        <p:nvSpPr>
          <p:cNvPr id="22" name="Shape 19">
            <a:extLst xmlns:a="http://schemas.openxmlformats.org/drawingml/2006/main">
              <a:ext uri="{FF2B5EF4-FFF2-40B4-BE49-F238E27FC236}">
                <a16:creationId xmlns:a16="http://schemas.microsoft.com/office/drawing/2014/main" id="{E43C8359-862A-4769-A2AA-CB86CD8B93BC}"/>
              </a:ext>
            </a:extLst>
          </p:cNvPr>
          <p:cNvSpPr>
            <a:spLocks xmlns:a="http://schemas.openxmlformats.org/drawingml/2006/main" noGrp="1"/>
          </p:cNvSpPr>
          <p:nvPr/>
        </p:nvSpPr>
        <p:spPr>
          <a:xfrm xmlns:a="http://schemas.openxmlformats.org/drawingml/2006/main">
            <a:off x="809625" y="2095500"/>
            <a:ext cx="314325" cy="314325"/>
          </a:xfrm>
          <a:prstGeom xmlns:a="http://schemas.openxmlformats.org/drawingml/2006/main" prst="roundRect">
            <a:avLst/>
          </a:prstGeom>
          <a:solidFill xmlns:a="http://schemas.openxmlformats.org/drawingml/2006/main">
            <a:srgbClr val="143D36"/>
          </a:solidFill>
        </p:spPr>
      </p:sp>
      <p:sp>
        <p:nvSpPr>
          <p:cNvPr id="23" name="Shape 20">
            <a:extLst xmlns:a="http://schemas.openxmlformats.org/drawingml/2006/main">
              <a:ext uri="{FF2B5EF4-FFF2-40B4-BE49-F238E27FC236}">
                <a16:creationId xmlns:a16="http://schemas.microsoft.com/office/drawing/2014/main" id="{8BD50A38-33B3-4027-A43E-2CDCF6A8D709}"/>
              </a:ext>
            </a:extLst>
          </p:cNvPr>
          <p:cNvSpPr>
            <a:spLocks xmlns:a="http://schemas.openxmlformats.org/drawingml/2006/main" noGrp="1"/>
          </p:cNvSpPr>
          <p:nvPr/>
        </p:nvSpPr>
        <p:spPr>
          <a:xfrm xmlns:a="http://schemas.openxmlformats.org/drawingml/2006/main">
            <a:off x="1143000" y="2095500"/>
            <a:ext cx="314325" cy="314325"/>
          </a:xfrm>
          <a:prstGeom xmlns:a="http://schemas.openxmlformats.org/drawingml/2006/main" prst="roundRect">
            <a:avLst/>
          </a:prstGeom>
          <a:solidFill xmlns:a="http://schemas.openxmlformats.org/drawingml/2006/main">
            <a:srgbClr val="143D36"/>
          </a:solidFill>
        </p:spPr>
      </p:sp>
      <p:sp>
        <p:nvSpPr>
          <p:cNvPr id="24" name="Shape 21">
            <a:extLst xmlns:a="http://schemas.openxmlformats.org/drawingml/2006/main">
              <a:ext uri="{FF2B5EF4-FFF2-40B4-BE49-F238E27FC236}">
                <a16:creationId xmlns:a16="http://schemas.microsoft.com/office/drawing/2014/main" id="{2AD7A053-92C5-42C2-A96D-105A056596AF}"/>
              </a:ext>
            </a:extLst>
          </p:cNvPr>
          <p:cNvSpPr>
            <a:spLocks xmlns:a="http://schemas.openxmlformats.org/drawingml/2006/main" noGrp="1"/>
          </p:cNvSpPr>
          <p:nvPr/>
        </p:nvSpPr>
        <p:spPr>
          <a:xfrm xmlns:a="http://schemas.openxmlformats.org/drawingml/2006/main">
            <a:off x="1476375" y="2095500"/>
            <a:ext cx="314325" cy="314325"/>
          </a:xfrm>
          <a:prstGeom xmlns:a="http://schemas.openxmlformats.org/drawingml/2006/main" prst="roundRect">
            <a:avLst/>
          </a:prstGeom>
          <a:solidFill xmlns:a="http://schemas.openxmlformats.org/drawingml/2006/main">
            <a:srgbClr val="143D36"/>
          </a:solidFill>
        </p:spPr>
      </p:sp>
      <p:sp>
        <p:nvSpPr>
          <p:cNvPr id="25" name="Shape 22">
            <a:extLst xmlns:a="http://schemas.openxmlformats.org/drawingml/2006/main">
              <a:ext uri="{FF2B5EF4-FFF2-40B4-BE49-F238E27FC236}">
                <a16:creationId xmlns:a16="http://schemas.microsoft.com/office/drawing/2014/main" id="{38AD14D5-0ECA-475F-AE7A-4B6F4F1796BE}"/>
              </a:ext>
            </a:extLst>
          </p:cNvPr>
          <p:cNvSpPr>
            <a:spLocks xmlns:a="http://schemas.openxmlformats.org/drawingml/2006/main" noGrp="1"/>
          </p:cNvSpPr>
          <p:nvPr/>
        </p:nvSpPr>
        <p:spPr>
          <a:xfrm xmlns:a="http://schemas.openxmlformats.org/drawingml/2006/main">
            <a:off x="1809750" y="2095500"/>
            <a:ext cx="314325" cy="314325"/>
          </a:xfrm>
          <a:prstGeom xmlns:a="http://schemas.openxmlformats.org/drawingml/2006/main" prst="roundRect">
            <a:avLst/>
          </a:prstGeom>
          <a:solidFill xmlns:a="http://schemas.openxmlformats.org/drawingml/2006/main">
            <a:srgbClr val="143D36"/>
          </a:solidFill>
        </p:spPr>
      </p:sp>
      <p:sp>
        <p:nvSpPr>
          <p:cNvPr id="26" name="Shape 23">
            <a:extLst xmlns:a="http://schemas.openxmlformats.org/drawingml/2006/main">
              <a:ext uri="{FF2B5EF4-FFF2-40B4-BE49-F238E27FC236}">
                <a16:creationId xmlns:a16="http://schemas.microsoft.com/office/drawing/2014/main" id="{10E425C7-8E58-4B54-851C-3EF0B2A0E1A2}"/>
              </a:ext>
            </a:extLst>
          </p:cNvPr>
          <p:cNvSpPr>
            <a:spLocks xmlns:a="http://schemas.openxmlformats.org/drawingml/2006/main" noGrp="1"/>
          </p:cNvSpPr>
          <p:nvPr/>
        </p:nvSpPr>
        <p:spPr>
          <a:xfrm xmlns:a="http://schemas.openxmlformats.org/drawingml/2006/main">
            <a:off x="2143125" y="2095500"/>
            <a:ext cx="314325" cy="314325"/>
          </a:xfrm>
          <a:prstGeom xmlns:a="http://schemas.openxmlformats.org/drawingml/2006/main" prst="roundRect">
            <a:avLst/>
          </a:prstGeom>
          <a:solidFill xmlns:a="http://schemas.openxmlformats.org/drawingml/2006/main">
            <a:srgbClr val="143D36"/>
          </a:solidFill>
        </p:spPr>
      </p:sp>
      <p:sp>
        <p:nvSpPr>
          <p:cNvPr id="27" name="Shape 24">
            <a:extLst xmlns:a="http://schemas.openxmlformats.org/drawingml/2006/main">
              <a:ext uri="{FF2B5EF4-FFF2-40B4-BE49-F238E27FC236}">
                <a16:creationId xmlns:a16="http://schemas.microsoft.com/office/drawing/2014/main" id="{665F97AA-B921-4258-A794-61489A9332F7}"/>
              </a:ext>
            </a:extLst>
          </p:cNvPr>
          <p:cNvSpPr>
            <a:spLocks xmlns:a="http://schemas.openxmlformats.org/drawingml/2006/main" noGrp="1"/>
          </p:cNvSpPr>
          <p:nvPr/>
        </p:nvSpPr>
        <p:spPr>
          <a:xfrm xmlns:a="http://schemas.openxmlformats.org/drawingml/2006/main">
            <a:off x="2476500" y="2095500"/>
            <a:ext cx="314325" cy="314325"/>
          </a:xfrm>
          <a:prstGeom xmlns:a="http://schemas.openxmlformats.org/drawingml/2006/main" prst="roundRect">
            <a:avLst/>
          </a:prstGeom>
          <a:solidFill xmlns:a="http://schemas.openxmlformats.org/drawingml/2006/main">
            <a:srgbClr val="D9E8E0"/>
          </a:solidFill>
        </p:spPr>
      </p:sp>
      <p:sp>
        <p:nvSpPr>
          <p:cNvPr id="28" name="Shape 25">
            <a:extLst xmlns:a="http://schemas.openxmlformats.org/drawingml/2006/main">
              <a:ext uri="{FF2B5EF4-FFF2-40B4-BE49-F238E27FC236}">
                <a16:creationId xmlns:a16="http://schemas.microsoft.com/office/drawing/2014/main" id="{15C36A11-3B3A-4C1B-9D98-E02CFD72596A}"/>
              </a:ext>
            </a:extLst>
          </p:cNvPr>
          <p:cNvSpPr>
            <a:spLocks xmlns:a="http://schemas.openxmlformats.org/drawingml/2006/main" noGrp="1"/>
          </p:cNvSpPr>
          <p:nvPr/>
        </p:nvSpPr>
        <p:spPr>
          <a:xfrm xmlns:a="http://schemas.openxmlformats.org/drawingml/2006/main">
            <a:off x="2809875" y="2095500"/>
            <a:ext cx="314325" cy="314325"/>
          </a:xfrm>
          <a:prstGeom xmlns:a="http://schemas.openxmlformats.org/drawingml/2006/main" prst="roundRect">
            <a:avLst/>
          </a:prstGeom>
          <a:solidFill xmlns:a="http://schemas.openxmlformats.org/drawingml/2006/main">
            <a:srgbClr val="D9E8E0"/>
          </a:solidFill>
        </p:spPr>
      </p:sp>
      <p:sp>
        <p:nvSpPr>
          <p:cNvPr id="29" name="Shape 26">
            <a:extLst xmlns:a="http://schemas.openxmlformats.org/drawingml/2006/main">
              <a:ext uri="{FF2B5EF4-FFF2-40B4-BE49-F238E27FC236}">
                <a16:creationId xmlns:a16="http://schemas.microsoft.com/office/drawing/2014/main" id="{9AEC45D2-FBE5-4A2B-82A9-4CA8F6F0827E}"/>
              </a:ext>
            </a:extLst>
          </p:cNvPr>
          <p:cNvSpPr>
            <a:spLocks xmlns:a="http://schemas.openxmlformats.org/drawingml/2006/main" noGrp="1"/>
          </p:cNvSpPr>
          <p:nvPr/>
        </p:nvSpPr>
        <p:spPr>
          <a:xfrm xmlns:a="http://schemas.openxmlformats.org/drawingml/2006/main">
            <a:off x="3143250" y="2095500"/>
            <a:ext cx="314325" cy="314325"/>
          </a:xfrm>
          <a:prstGeom xmlns:a="http://schemas.openxmlformats.org/drawingml/2006/main" prst="roundRect">
            <a:avLst/>
          </a:prstGeom>
          <a:solidFill xmlns:a="http://schemas.openxmlformats.org/drawingml/2006/main">
            <a:srgbClr val="143D36"/>
          </a:solidFill>
        </p:spPr>
      </p:sp>
      <p:sp>
        <p:nvSpPr>
          <p:cNvPr id="30" name="Shape 27">
            <a:extLst xmlns:a="http://schemas.openxmlformats.org/drawingml/2006/main">
              <a:ext uri="{FF2B5EF4-FFF2-40B4-BE49-F238E27FC236}">
                <a16:creationId xmlns:a16="http://schemas.microsoft.com/office/drawing/2014/main" id="{53516306-2B7A-41EA-8E64-AC4CFDDDB6E8}"/>
              </a:ext>
            </a:extLst>
          </p:cNvPr>
          <p:cNvSpPr>
            <a:spLocks xmlns:a="http://schemas.openxmlformats.org/drawingml/2006/main" noGrp="1"/>
          </p:cNvSpPr>
          <p:nvPr/>
        </p:nvSpPr>
        <p:spPr>
          <a:xfrm xmlns:a="http://schemas.openxmlformats.org/drawingml/2006/main">
            <a:off x="809625" y="2428875"/>
            <a:ext cx="314325" cy="314325"/>
          </a:xfrm>
          <a:prstGeom xmlns:a="http://schemas.openxmlformats.org/drawingml/2006/main" prst="roundRect">
            <a:avLst/>
          </a:prstGeom>
          <a:solidFill xmlns:a="http://schemas.openxmlformats.org/drawingml/2006/main">
            <a:srgbClr val="143D36"/>
          </a:solidFill>
        </p:spPr>
      </p:sp>
      <p:sp>
        <p:nvSpPr>
          <p:cNvPr id="31" name="Shape 28">
            <a:extLst xmlns:a="http://schemas.openxmlformats.org/drawingml/2006/main">
              <a:ext uri="{FF2B5EF4-FFF2-40B4-BE49-F238E27FC236}">
                <a16:creationId xmlns:a16="http://schemas.microsoft.com/office/drawing/2014/main" id="{4151CBBB-D04C-41FF-B831-9838F2F1C791}"/>
              </a:ext>
            </a:extLst>
          </p:cNvPr>
          <p:cNvSpPr>
            <a:spLocks xmlns:a="http://schemas.openxmlformats.org/drawingml/2006/main" noGrp="1"/>
          </p:cNvSpPr>
          <p:nvPr/>
        </p:nvSpPr>
        <p:spPr>
          <a:xfrm xmlns:a="http://schemas.openxmlformats.org/drawingml/2006/main">
            <a:off x="1143000" y="2428875"/>
            <a:ext cx="314325" cy="314325"/>
          </a:xfrm>
          <a:prstGeom xmlns:a="http://schemas.openxmlformats.org/drawingml/2006/main" prst="roundRect">
            <a:avLst/>
          </a:prstGeom>
          <a:solidFill xmlns:a="http://schemas.openxmlformats.org/drawingml/2006/main">
            <a:srgbClr val="D9E8E0"/>
          </a:solidFill>
        </p:spPr>
      </p:sp>
      <p:sp>
        <p:nvSpPr>
          <p:cNvPr id="32" name="Shape 29">
            <a:extLst xmlns:a="http://schemas.openxmlformats.org/drawingml/2006/main">
              <a:ext uri="{FF2B5EF4-FFF2-40B4-BE49-F238E27FC236}">
                <a16:creationId xmlns:a16="http://schemas.microsoft.com/office/drawing/2014/main" id="{0945E09C-2E61-4812-B1E7-E17933FDB88C}"/>
              </a:ext>
            </a:extLst>
          </p:cNvPr>
          <p:cNvSpPr>
            <a:spLocks xmlns:a="http://schemas.openxmlformats.org/drawingml/2006/main" noGrp="1"/>
          </p:cNvSpPr>
          <p:nvPr/>
        </p:nvSpPr>
        <p:spPr>
          <a:xfrm xmlns:a="http://schemas.openxmlformats.org/drawingml/2006/main">
            <a:off x="1476375" y="2428875"/>
            <a:ext cx="314325" cy="314325"/>
          </a:xfrm>
          <a:prstGeom xmlns:a="http://schemas.openxmlformats.org/drawingml/2006/main" prst="roundRect">
            <a:avLst/>
          </a:prstGeom>
          <a:solidFill xmlns:a="http://schemas.openxmlformats.org/drawingml/2006/main">
            <a:srgbClr val="D9E8E0"/>
          </a:solidFill>
        </p:spPr>
      </p:sp>
      <p:sp>
        <p:nvSpPr>
          <p:cNvPr id="33" name="Shape 30">
            <a:extLst xmlns:a="http://schemas.openxmlformats.org/drawingml/2006/main">
              <a:ext uri="{FF2B5EF4-FFF2-40B4-BE49-F238E27FC236}">
                <a16:creationId xmlns:a16="http://schemas.microsoft.com/office/drawing/2014/main" id="{0C8F99F1-44EA-43ED-BA5B-6E18BBCE082D}"/>
              </a:ext>
            </a:extLst>
          </p:cNvPr>
          <p:cNvSpPr>
            <a:spLocks xmlns:a="http://schemas.openxmlformats.org/drawingml/2006/main" noGrp="1"/>
          </p:cNvSpPr>
          <p:nvPr/>
        </p:nvSpPr>
        <p:spPr>
          <a:xfrm xmlns:a="http://schemas.openxmlformats.org/drawingml/2006/main">
            <a:off x="1809750" y="2428875"/>
            <a:ext cx="314325" cy="314325"/>
          </a:xfrm>
          <a:prstGeom xmlns:a="http://schemas.openxmlformats.org/drawingml/2006/main" prst="roundRect">
            <a:avLst/>
          </a:prstGeom>
          <a:solidFill xmlns:a="http://schemas.openxmlformats.org/drawingml/2006/main">
            <a:srgbClr val="D9E8E0"/>
          </a:solidFill>
        </p:spPr>
      </p:sp>
      <p:sp>
        <p:nvSpPr>
          <p:cNvPr id="34" name="Shape 31">
            <a:extLst xmlns:a="http://schemas.openxmlformats.org/drawingml/2006/main">
              <a:ext uri="{FF2B5EF4-FFF2-40B4-BE49-F238E27FC236}">
                <a16:creationId xmlns:a16="http://schemas.microsoft.com/office/drawing/2014/main" id="{34F4311F-313A-40C7-8CB1-628F238B8C42}"/>
              </a:ext>
            </a:extLst>
          </p:cNvPr>
          <p:cNvSpPr>
            <a:spLocks xmlns:a="http://schemas.openxmlformats.org/drawingml/2006/main" noGrp="1"/>
          </p:cNvSpPr>
          <p:nvPr/>
        </p:nvSpPr>
        <p:spPr>
          <a:xfrm xmlns:a="http://schemas.openxmlformats.org/drawingml/2006/main">
            <a:off x="2143125" y="2428875"/>
            <a:ext cx="314325" cy="314325"/>
          </a:xfrm>
          <a:prstGeom xmlns:a="http://schemas.openxmlformats.org/drawingml/2006/main" prst="roundRect">
            <a:avLst/>
          </a:prstGeom>
          <a:solidFill xmlns:a="http://schemas.openxmlformats.org/drawingml/2006/main">
            <a:srgbClr val="143D36"/>
          </a:solidFill>
        </p:spPr>
      </p:sp>
      <p:sp>
        <p:nvSpPr>
          <p:cNvPr id="35" name="Shape 32">
            <a:extLst xmlns:a="http://schemas.openxmlformats.org/drawingml/2006/main">
              <a:ext uri="{FF2B5EF4-FFF2-40B4-BE49-F238E27FC236}">
                <a16:creationId xmlns:a16="http://schemas.microsoft.com/office/drawing/2014/main" id="{D188CB00-A078-48B1-B1CF-402B26F26730}"/>
              </a:ext>
            </a:extLst>
          </p:cNvPr>
          <p:cNvSpPr>
            <a:spLocks xmlns:a="http://schemas.openxmlformats.org/drawingml/2006/main" noGrp="1"/>
          </p:cNvSpPr>
          <p:nvPr/>
        </p:nvSpPr>
        <p:spPr>
          <a:xfrm xmlns:a="http://schemas.openxmlformats.org/drawingml/2006/main">
            <a:off x="2476500" y="2428875"/>
            <a:ext cx="314325" cy="314325"/>
          </a:xfrm>
          <a:prstGeom xmlns:a="http://schemas.openxmlformats.org/drawingml/2006/main" prst="roundRect">
            <a:avLst/>
          </a:prstGeom>
          <a:solidFill xmlns:a="http://schemas.openxmlformats.org/drawingml/2006/main">
            <a:srgbClr val="D9E8E0"/>
          </a:solidFill>
        </p:spPr>
      </p:sp>
      <p:sp>
        <p:nvSpPr>
          <p:cNvPr id="36" name="Shape 33">
            <a:extLst xmlns:a="http://schemas.openxmlformats.org/drawingml/2006/main">
              <a:ext uri="{FF2B5EF4-FFF2-40B4-BE49-F238E27FC236}">
                <a16:creationId xmlns:a16="http://schemas.microsoft.com/office/drawing/2014/main" id="{0ECD8FB1-B2C3-47E6-BDC0-2A09E5C4CB03}"/>
              </a:ext>
            </a:extLst>
          </p:cNvPr>
          <p:cNvSpPr>
            <a:spLocks xmlns:a="http://schemas.openxmlformats.org/drawingml/2006/main" noGrp="1"/>
          </p:cNvSpPr>
          <p:nvPr/>
        </p:nvSpPr>
        <p:spPr>
          <a:xfrm xmlns:a="http://schemas.openxmlformats.org/drawingml/2006/main">
            <a:off x="2809875" y="2428875"/>
            <a:ext cx="314325" cy="314325"/>
          </a:xfrm>
          <a:prstGeom xmlns:a="http://schemas.openxmlformats.org/drawingml/2006/main" prst="roundRect">
            <a:avLst/>
          </a:prstGeom>
          <a:solidFill xmlns:a="http://schemas.openxmlformats.org/drawingml/2006/main">
            <a:srgbClr val="D9E8E0"/>
          </a:solidFill>
        </p:spPr>
      </p:sp>
      <p:sp>
        <p:nvSpPr>
          <p:cNvPr id="37" name="Shape 34">
            <a:extLst xmlns:a="http://schemas.openxmlformats.org/drawingml/2006/main">
              <a:ext uri="{FF2B5EF4-FFF2-40B4-BE49-F238E27FC236}">
                <a16:creationId xmlns:a16="http://schemas.microsoft.com/office/drawing/2014/main" id="{C007DC73-CBBC-47DE-9CA3-C80005CD7BB7}"/>
              </a:ext>
            </a:extLst>
          </p:cNvPr>
          <p:cNvSpPr>
            <a:spLocks xmlns:a="http://schemas.openxmlformats.org/drawingml/2006/main" noGrp="1"/>
          </p:cNvSpPr>
          <p:nvPr/>
        </p:nvSpPr>
        <p:spPr>
          <a:xfrm xmlns:a="http://schemas.openxmlformats.org/drawingml/2006/main">
            <a:off x="3143250" y="2428875"/>
            <a:ext cx="314325" cy="314325"/>
          </a:xfrm>
          <a:prstGeom xmlns:a="http://schemas.openxmlformats.org/drawingml/2006/main" prst="roundRect">
            <a:avLst/>
          </a:prstGeom>
          <a:solidFill xmlns:a="http://schemas.openxmlformats.org/drawingml/2006/main">
            <a:srgbClr val="143D36"/>
          </a:solidFill>
        </p:spPr>
      </p:sp>
      <p:sp>
        <p:nvSpPr>
          <p:cNvPr id="38" name="Shape 35">
            <a:extLst xmlns:a="http://schemas.openxmlformats.org/drawingml/2006/main">
              <a:ext uri="{FF2B5EF4-FFF2-40B4-BE49-F238E27FC236}">
                <a16:creationId xmlns:a16="http://schemas.microsoft.com/office/drawing/2014/main" id="{56B1D4A4-62C7-4358-A498-B266C9028D68}"/>
              </a:ext>
            </a:extLst>
          </p:cNvPr>
          <p:cNvSpPr>
            <a:spLocks xmlns:a="http://schemas.openxmlformats.org/drawingml/2006/main" noGrp="1"/>
          </p:cNvSpPr>
          <p:nvPr/>
        </p:nvSpPr>
        <p:spPr>
          <a:xfrm xmlns:a="http://schemas.openxmlformats.org/drawingml/2006/main">
            <a:off x="809625" y="2762250"/>
            <a:ext cx="314325" cy="314325"/>
          </a:xfrm>
          <a:prstGeom xmlns:a="http://schemas.openxmlformats.org/drawingml/2006/main" prst="roundRect">
            <a:avLst/>
          </a:prstGeom>
          <a:solidFill xmlns:a="http://schemas.openxmlformats.org/drawingml/2006/main">
            <a:srgbClr val="143D36"/>
          </a:solidFill>
        </p:spPr>
      </p:sp>
      <p:sp>
        <p:nvSpPr>
          <p:cNvPr id="39" name="Shape 36">
            <a:extLst xmlns:a="http://schemas.openxmlformats.org/drawingml/2006/main">
              <a:ext uri="{FF2B5EF4-FFF2-40B4-BE49-F238E27FC236}">
                <a16:creationId xmlns:a16="http://schemas.microsoft.com/office/drawing/2014/main" id="{2DB66B66-880A-4972-9E2B-40379AA3ED6E}"/>
              </a:ext>
            </a:extLst>
          </p:cNvPr>
          <p:cNvSpPr>
            <a:spLocks xmlns:a="http://schemas.openxmlformats.org/drawingml/2006/main" noGrp="1"/>
          </p:cNvSpPr>
          <p:nvPr/>
        </p:nvSpPr>
        <p:spPr>
          <a:xfrm xmlns:a="http://schemas.openxmlformats.org/drawingml/2006/main">
            <a:off x="1143000" y="2762250"/>
            <a:ext cx="314325" cy="314325"/>
          </a:xfrm>
          <a:prstGeom xmlns:a="http://schemas.openxmlformats.org/drawingml/2006/main" prst="roundRect">
            <a:avLst/>
          </a:prstGeom>
          <a:solidFill xmlns:a="http://schemas.openxmlformats.org/drawingml/2006/main">
            <a:srgbClr val="D9E8E0"/>
          </a:solidFill>
        </p:spPr>
      </p:sp>
      <p:sp>
        <p:nvSpPr>
          <p:cNvPr id="40" name="Shape 37">
            <a:extLst xmlns:a="http://schemas.openxmlformats.org/drawingml/2006/main">
              <a:ext uri="{FF2B5EF4-FFF2-40B4-BE49-F238E27FC236}">
                <a16:creationId xmlns:a16="http://schemas.microsoft.com/office/drawing/2014/main" id="{0172B19A-A4A9-4561-9113-6382CA75C08E}"/>
              </a:ext>
            </a:extLst>
          </p:cNvPr>
          <p:cNvSpPr>
            <a:spLocks xmlns:a="http://schemas.openxmlformats.org/drawingml/2006/main" noGrp="1"/>
          </p:cNvSpPr>
          <p:nvPr/>
        </p:nvSpPr>
        <p:spPr>
          <a:xfrm xmlns:a="http://schemas.openxmlformats.org/drawingml/2006/main">
            <a:off x="1476375" y="2762250"/>
            <a:ext cx="314325" cy="314325"/>
          </a:xfrm>
          <a:prstGeom xmlns:a="http://schemas.openxmlformats.org/drawingml/2006/main" prst="roundRect">
            <a:avLst/>
          </a:prstGeom>
          <a:solidFill xmlns:a="http://schemas.openxmlformats.org/drawingml/2006/main">
            <a:srgbClr val="143D36"/>
          </a:solidFill>
        </p:spPr>
      </p:sp>
      <p:sp>
        <p:nvSpPr>
          <p:cNvPr id="41" name="Shape 38">
            <a:extLst xmlns:a="http://schemas.openxmlformats.org/drawingml/2006/main">
              <a:ext uri="{FF2B5EF4-FFF2-40B4-BE49-F238E27FC236}">
                <a16:creationId xmlns:a16="http://schemas.microsoft.com/office/drawing/2014/main" id="{FD36C7C1-1352-4EC4-823F-762A2625B274}"/>
              </a:ext>
            </a:extLst>
          </p:cNvPr>
          <p:cNvSpPr>
            <a:spLocks xmlns:a="http://schemas.openxmlformats.org/drawingml/2006/main" noGrp="1"/>
          </p:cNvSpPr>
          <p:nvPr/>
        </p:nvSpPr>
        <p:spPr>
          <a:xfrm xmlns:a="http://schemas.openxmlformats.org/drawingml/2006/main">
            <a:off x="1809750" y="2762250"/>
            <a:ext cx="314325" cy="314325"/>
          </a:xfrm>
          <a:prstGeom xmlns:a="http://schemas.openxmlformats.org/drawingml/2006/main" prst="roundRect">
            <a:avLst/>
          </a:prstGeom>
          <a:solidFill xmlns:a="http://schemas.openxmlformats.org/drawingml/2006/main">
            <a:srgbClr val="D9E8E0"/>
          </a:solidFill>
        </p:spPr>
      </p:sp>
      <p:sp>
        <p:nvSpPr>
          <p:cNvPr id="42" name="Shape 39">
            <a:extLst xmlns:a="http://schemas.openxmlformats.org/drawingml/2006/main">
              <a:ext uri="{FF2B5EF4-FFF2-40B4-BE49-F238E27FC236}">
                <a16:creationId xmlns:a16="http://schemas.microsoft.com/office/drawing/2014/main" id="{2BDFAB98-74B6-4548-935C-BCBD9E1A3885}"/>
              </a:ext>
            </a:extLst>
          </p:cNvPr>
          <p:cNvSpPr>
            <a:spLocks xmlns:a="http://schemas.openxmlformats.org/drawingml/2006/main" noGrp="1"/>
          </p:cNvSpPr>
          <p:nvPr/>
        </p:nvSpPr>
        <p:spPr>
          <a:xfrm xmlns:a="http://schemas.openxmlformats.org/drawingml/2006/main">
            <a:off x="2143125" y="2762250"/>
            <a:ext cx="314325" cy="314325"/>
          </a:xfrm>
          <a:prstGeom xmlns:a="http://schemas.openxmlformats.org/drawingml/2006/main" prst="roundRect">
            <a:avLst/>
          </a:prstGeom>
          <a:solidFill xmlns:a="http://schemas.openxmlformats.org/drawingml/2006/main">
            <a:srgbClr val="143D36"/>
          </a:solidFill>
        </p:spPr>
      </p:sp>
      <p:sp>
        <p:nvSpPr>
          <p:cNvPr id="43" name="Shape 40">
            <a:extLst xmlns:a="http://schemas.openxmlformats.org/drawingml/2006/main">
              <a:ext uri="{FF2B5EF4-FFF2-40B4-BE49-F238E27FC236}">
                <a16:creationId xmlns:a16="http://schemas.microsoft.com/office/drawing/2014/main" id="{9A894A8C-B8E6-459E-976A-668D63495609}"/>
              </a:ext>
            </a:extLst>
          </p:cNvPr>
          <p:cNvSpPr>
            <a:spLocks xmlns:a="http://schemas.openxmlformats.org/drawingml/2006/main" noGrp="1"/>
          </p:cNvSpPr>
          <p:nvPr/>
        </p:nvSpPr>
        <p:spPr>
          <a:xfrm xmlns:a="http://schemas.openxmlformats.org/drawingml/2006/main">
            <a:off x="2476500" y="2762250"/>
            <a:ext cx="314325" cy="314325"/>
          </a:xfrm>
          <a:prstGeom xmlns:a="http://schemas.openxmlformats.org/drawingml/2006/main" prst="roundRect">
            <a:avLst/>
          </a:prstGeom>
          <a:solidFill xmlns:a="http://schemas.openxmlformats.org/drawingml/2006/main">
            <a:srgbClr val="D9E8E0"/>
          </a:solidFill>
        </p:spPr>
      </p:sp>
      <p:sp>
        <p:nvSpPr>
          <p:cNvPr id="44" name="Shape 41">
            <a:extLst xmlns:a="http://schemas.openxmlformats.org/drawingml/2006/main">
              <a:ext uri="{FF2B5EF4-FFF2-40B4-BE49-F238E27FC236}">
                <a16:creationId xmlns:a16="http://schemas.microsoft.com/office/drawing/2014/main" id="{97EBAA55-DC79-4740-9A69-6ABF87F0B462}"/>
              </a:ext>
            </a:extLst>
          </p:cNvPr>
          <p:cNvSpPr>
            <a:spLocks xmlns:a="http://schemas.openxmlformats.org/drawingml/2006/main" noGrp="1"/>
          </p:cNvSpPr>
          <p:nvPr/>
        </p:nvSpPr>
        <p:spPr>
          <a:xfrm xmlns:a="http://schemas.openxmlformats.org/drawingml/2006/main">
            <a:off x="2809875" y="2762250"/>
            <a:ext cx="314325" cy="314325"/>
          </a:xfrm>
          <a:prstGeom xmlns:a="http://schemas.openxmlformats.org/drawingml/2006/main" prst="roundRect">
            <a:avLst/>
          </a:prstGeom>
          <a:solidFill xmlns:a="http://schemas.openxmlformats.org/drawingml/2006/main">
            <a:srgbClr val="143D36"/>
          </a:solidFill>
        </p:spPr>
      </p:sp>
      <p:sp>
        <p:nvSpPr>
          <p:cNvPr id="45" name="Shape 42">
            <a:extLst xmlns:a="http://schemas.openxmlformats.org/drawingml/2006/main">
              <a:ext uri="{FF2B5EF4-FFF2-40B4-BE49-F238E27FC236}">
                <a16:creationId xmlns:a16="http://schemas.microsoft.com/office/drawing/2014/main" id="{AFC3F5F1-0EF8-4BF3-B522-7221C5E7A2D8}"/>
              </a:ext>
            </a:extLst>
          </p:cNvPr>
          <p:cNvSpPr>
            <a:spLocks xmlns:a="http://schemas.openxmlformats.org/drawingml/2006/main" noGrp="1"/>
          </p:cNvSpPr>
          <p:nvPr/>
        </p:nvSpPr>
        <p:spPr>
          <a:xfrm xmlns:a="http://schemas.openxmlformats.org/drawingml/2006/main">
            <a:off x="3143250" y="2762250"/>
            <a:ext cx="314325" cy="314325"/>
          </a:xfrm>
          <a:prstGeom xmlns:a="http://schemas.openxmlformats.org/drawingml/2006/main" prst="roundRect">
            <a:avLst/>
          </a:prstGeom>
          <a:solidFill xmlns:a="http://schemas.openxmlformats.org/drawingml/2006/main">
            <a:srgbClr val="143D36"/>
          </a:solidFill>
        </p:spPr>
      </p:sp>
      <p:sp>
        <p:nvSpPr>
          <p:cNvPr id="46" name="Shape 43">
            <a:extLst xmlns:a="http://schemas.openxmlformats.org/drawingml/2006/main">
              <a:ext uri="{FF2B5EF4-FFF2-40B4-BE49-F238E27FC236}">
                <a16:creationId xmlns:a16="http://schemas.microsoft.com/office/drawing/2014/main" id="{F60BEE12-C46A-41AC-A2A9-20AC35A967A5}"/>
              </a:ext>
            </a:extLst>
          </p:cNvPr>
          <p:cNvSpPr>
            <a:spLocks xmlns:a="http://schemas.openxmlformats.org/drawingml/2006/main" noGrp="1"/>
          </p:cNvSpPr>
          <p:nvPr/>
        </p:nvSpPr>
        <p:spPr>
          <a:xfrm xmlns:a="http://schemas.openxmlformats.org/drawingml/2006/main">
            <a:off x="809625" y="3095625"/>
            <a:ext cx="314325" cy="314325"/>
          </a:xfrm>
          <a:prstGeom xmlns:a="http://schemas.openxmlformats.org/drawingml/2006/main" prst="roundRect">
            <a:avLst/>
          </a:prstGeom>
          <a:solidFill xmlns:a="http://schemas.openxmlformats.org/drawingml/2006/main">
            <a:srgbClr val="143D36"/>
          </a:solidFill>
        </p:spPr>
      </p:sp>
      <p:sp>
        <p:nvSpPr>
          <p:cNvPr id="47" name="Shape 44">
            <a:extLst xmlns:a="http://schemas.openxmlformats.org/drawingml/2006/main">
              <a:ext uri="{FF2B5EF4-FFF2-40B4-BE49-F238E27FC236}">
                <a16:creationId xmlns:a16="http://schemas.microsoft.com/office/drawing/2014/main" id="{2B3A0CBC-14E6-4426-B07B-9DC94C58C7AE}"/>
              </a:ext>
            </a:extLst>
          </p:cNvPr>
          <p:cNvSpPr>
            <a:spLocks xmlns:a="http://schemas.openxmlformats.org/drawingml/2006/main" noGrp="1"/>
          </p:cNvSpPr>
          <p:nvPr/>
        </p:nvSpPr>
        <p:spPr>
          <a:xfrm xmlns:a="http://schemas.openxmlformats.org/drawingml/2006/main">
            <a:off x="1143000" y="3095625"/>
            <a:ext cx="314325" cy="314325"/>
          </a:xfrm>
          <a:prstGeom xmlns:a="http://schemas.openxmlformats.org/drawingml/2006/main" prst="roundRect">
            <a:avLst/>
          </a:prstGeom>
          <a:solidFill xmlns:a="http://schemas.openxmlformats.org/drawingml/2006/main">
            <a:srgbClr val="D9E8E0"/>
          </a:solidFill>
        </p:spPr>
      </p:sp>
      <p:sp>
        <p:nvSpPr>
          <p:cNvPr id="48" name="Shape 45">
            <a:extLst xmlns:a="http://schemas.openxmlformats.org/drawingml/2006/main">
              <a:ext uri="{FF2B5EF4-FFF2-40B4-BE49-F238E27FC236}">
                <a16:creationId xmlns:a16="http://schemas.microsoft.com/office/drawing/2014/main" id="{856569A2-E5F4-42D7-AE3A-E04F01D76D87}"/>
              </a:ext>
            </a:extLst>
          </p:cNvPr>
          <p:cNvSpPr>
            <a:spLocks xmlns:a="http://schemas.openxmlformats.org/drawingml/2006/main" noGrp="1"/>
          </p:cNvSpPr>
          <p:nvPr/>
        </p:nvSpPr>
        <p:spPr>
          <a:xfrm xmlns:a="http://schemas.openxmlformats.org/drawingml/2006/main">
            <a:off x="1476375" y="3095625"/>
            <a:ext cx="314325" cy="314325"/>
          </a:xfrm>
          <a:prstGeom xmlns:a="http://schemas.openxmlformats.org/drawingml/2006/main" prst="roundRect">
            <a:avLst/>
          </a:prstGeom>
          <a:solidFill xmlns:a="http://schemas.openxmlformats.org/drawingml/2006/main">
            <a:srgbClr val="143D36"/>
          </a:solidFill>
        </p:spPr>
      </p:sp>
      <p:sp>
        <p:nvSpPr>
          <p:cNvPr id="49" name="Shape 46">
            <a:extLst xmlns:a="http://schemas.openxmlformats.org/drawingml/2006/main">
              <a:ext uri="{FF2B5EF4-FFF2-40B4-BE49-F238E27FC236}">
                <a16:creationId xmlns:a16="http://schemas.microsoft.com/office/drawing/2014/main" id="{E672FCA7-EAD2-4038-932F-3466F3AF409D}"/>
              </a:ext>
            </a:extLst>
          </p:cNvPr>
          <p:cNvSpPr>
            <a:spLocks xmlns:a="http://schemas.openxmlformats.org/drawingml/2006/main" noGrp="1"/>
          </p:cNvSpPr>
          <p:nvPr/>
        </p:nvSpPr>
        <p:spPr>
          <a:xfrm xmlns:a="http://schemas.openxmlformats.org/drawingml/2006/main">
            <a:off x="1809750" y="3095625"/>
            <a:ext cx="314325" cy="314325"/>
          </a:xfrm>
          <a:prstGeom xmlns:a="http://schemas.openxmlformats.org/drawingml/2006/main" prst="roundRect">
            <a:avLst/>
          </a:prstGeom>
          <a:solidFill xmlns:a="http://schemas.openxmlformats.org/drawingml/2006/main">
            <a:srgbClr val="D9E8E0"/>
          </a:solidFill>
        </p:spPr>
      </p:sp>
      <p:sp>
        <p:nvSpPr>
          <p:cNvPr id="50" name="Shape 47">
            <a:extLst xmlns:a="http://schemas.openxmlformats.org/drawingml/2006/main">
              <a:ext uri="{FF2B5EF4-FFF2-40B4-BE49-F238E27FC236}">
                <a16:creationId xmlns:a16="http://schemas.microsoft.com/office/drawing/2014/main" id="{D46AC22D-8853-4620-BA78-A8E0162BFCED}"/>
              </a:ext>
            </a:extLst>
          </p:cNvPr>
          <p:cNvSpPr>
            <a:spLocks xmlns:a="http://schemas.openxmlformats.org/drawingml/2006/main" noGrp="1"/>
          </p:cNvSpPr>
          <p:nvPr/>
        </p:nvSpPr>
        <p:spPr>
          <a:xfrm xmlns:a="http://schemas.openxmlformats.org/drawingml/2006/main">
            <a:off x="2143125" y="3095625"/>
            <a:ext cx="314325" cy="314325"/>
          </a:xfrm>
          <a:prstGeom xmlns:a="http://schemas.openxmlformats.org/drawingml/2006/main" prst="roundRect">
            <a:avLst/>
          </a:prstGeom>
          <a:solidFill xmlns:a="http://schemas.openxmlformats.org/drawingml/2006/main">
            <a:srgbClr val="D9E8E0"/>
          </a:solidFill>
        </p:spPr>
      </p:sp>
      <p:sp>
        <p:nvSpPr>
          <p:cNvPr id="51" name="Shape 48">
            <a:extLst xmlns:a="http://schemas.openxmlformats.org/drawingml/2006/main">
              <a:ext uri="{FF2B5EF4-FFF2-40B4-BE49-F238E27FC236}">
                <a16:creationId xmlns:a16="http://schemas.microsoft.com/office/drawing/2014/main" id="{222ADE33-7A0C-4CFA-A83D-74335E77BE05}"/>
              </a:ext>
            </a:extLst>
          </p:cNvPr>
          <p:cNvSpPr>
            <a:spLocks xmlns:a="http://schemas.openxmlformats.org/drawingml/2006/main" noGrp="1"/>
          </p:cNvSpPr>
          <p:nvPr/>
        </p:nvSpPr>
        <p:spPr>
          <a:xfrm xmlns:a="http://schemas.openxmlformats.org/drawingml/2006/main">
            <a:off x="2476500" y="3095625"/>
            <a:ext cx="314325" cy="314325"/>
          </a:xfrm>
          <a:prstGeom xmlns:a="http://schemas.openxmlformats.org/drawingml/2006/main" prst="roundRect">
            <a:avLst/>
          </a:prstGeom>
          <a:solidFill xmlns:a="http://schemas.openxmlformats.org/drawingml/2006/main">
            <a:srgbClr val="D9E8E0"/>
          </a:solidFill>
        </p:spPr>
      </p:sp>
      <p:sp>
        <p:nvSpPr>
          <p:cNvPr id="52" name="Shape 49">
            <a:extLst xmlns:a="http://schemas.openxmlformats.org/drawingml/2006/main">
              <a:ext uri="{FF2B5EF4-FFF2-40B4-BE49-F238E27FC236}">
                <a16:creationId xmlns:a16="http://schemas.microsoft.com/office/drawing/2014/main" id="{4EA20115-4304-464E-BB76-566894B7AA2E}"/>
              </a:ext>
            </a:extLst>
          </p:cNvPr>
          <p:cNvSpPr>
            <a:spLocks xmlns:a="http://schemas.openxmlformats.org/drawingml/2006/main" noGrp="1"/>
          </p:cNvSpPr>
          <p:nvPr/>
        </p:nvSpPr>
        <p:spPr>
          <a:xfrm xmlns:a="http://schemas.openxmlformats.org/drawingml/2006/main">
            <a:off x="2809875" y="3095625"/>
            <a:ext cx="314325" cy="314325"/>
          </a:xfrm>
          <a:prstGeom xmlns:a="http://schemas.openxmlformats.org/drawingml/2006/main" prst="roundRect">
            <a:avLst/>
          </a:prstGeom>
          <a:solidFill xmlns:a="http://schemas.openxmlformats.org/drawingml/2006/main">
            <a:srgbClr val="D9E8E0"/>
          </a:solidFill>
        </p:spPr>
      </p:sp>
      <p:sp>
        <p:nvSpPr>
          <p:cNvPr id="53" name="Shape 50">
            <a:extLst xmlns:a="http://schemas.openxmlformats.org/drawingml/2006/main">
              <a:ext uri="{FF2B5EF4-FFF2-40B4-BE49-F238E27FC236}">
                <a16:creationId xmlns:a16="http://schemas.microsoft.com/office/drawing/2014/main" id="{2499FD34-B508-4090-AD63-20FFD69A56BA}"/>
              </a:ext>
            </a:extLst>
          </p:cNvPr>
          <p:cNvSpPr>
            <a:spLocks xmlns:a="http://schemas.openxmlformats.org/drawingml/2006/main" noGrp="1"/>
          </p:cNvSpPr>
          <p:nvPr/>
        </p:nvSpPr>
        <p:spPr>
          <a:xfrm xmlns:a="http://schemas.openxmlformats.org/drawingml/2006/main">
            <a:off x="3143250" y="3095625"/>
            <a:ext cx="314325" cy="314325"/>
          </a:xfrm>
          <a:prstGeom xmlns:a="http://schemas.openxmlformats.org/drawingml/2006/main" prst="roundRect">
            <a:avLst/>
          </a:prstGeom>
          <a:solidFill xmlns:a="http://schemas.openxmlformats.org/drawingml/2006/main">
            <a:srgbClr val="143D36"/>
          </a:solidFill>
        </p:spPr>
      </p:sp>
      <p:sp>
        <p:nvSpPr>
          <p:cNvPr id="54" name="Shape 51">
            <a:extLst xmlns:a="http://schemas.openxmlformats.org/drawingml/2006/main">
              <a:ext uri="{FF2B5EF4-FFF2-40B4-BE49-F238E27FC236}">
                <a16:creationId xmlns:a16="http://schemas.microsoft.com/office/drawing/2014/main" id="{AE586469-8FC0-442E-9212-83022EC13220}"/>
              </a:ext>
            </a:extLst>
          </p:cNvPr>
          <p:cNvSpPr>
            <a:spLocks xmlns:a="http://schemas.openxmlformats.org/drawingml/2006/main" noGrp="1"/>
          </p:cNvSpPr>
          <p:nvPr/>
        </p:nvSpPr>
        <p:spPr>
          <a:xfrm xmlns:a="http://schemas.openxmlformats.org/drawingml/2006/main">
            <a:off x="809625" y="3429000"/>
            <a:ext cx="314325" cy="314325"/>
          </a:xfrm>
          <a:prstGeom xmlns:a="http://schemas.openxmlformats.org/drawingml/2006/main" prst="roundRect">
            <a:avLst/>
          </a:prstGeom>
          <a:solidFill xmlns:a="http://schemas.openxmlformats.org/drawingml/2006/main">
            <a:srgbClr val="143D36"/>
          </a:solidFill>
        </p:spPr>
      </p:sp>
      <p:sp>
        <p:nvSpPr>
          <p:cNvPr id="55" name="Shape 52">
            <a:extLst xmlns:a="http://schemas.openxmlformats.org/drawingml/2006/main">
              <a:ext uri="{FF2B5EF4-FFF2-40B4-BE49-F238E27FC236}">
                <a16:creationId xmlns:a16="http://schemas.microsoft.com/office/drawing/2014/main" id="{FA195664-5484-408F-9DD9-8B9900275CDC}"/>
              </a:ext>
            </a:extLst>
          </p:cNvPr>
          <p:cNvSpPr>
            <a:spLocks xmlns:a="http://schemas.openxmlformats.org/drawingml/2006/main" noGrp="1"/>
          </p:cNvSpPr>
          <p:nvPr/>
        </p:nvSpPr>
        <p:spPr>
          <a:xfrm xmlns:a="http://schemas.openxmlformats.org/drawingml/2006/main">
            <a:off x="1143000" y="3429000"/>
            <a:ext cx="314325" cy="314325"/>
          </a:xfrm>
          <a:prstGeom xmlns:a="http://schemas.openxmlformats.org/drawingml/2006/main" prst="roundRect">
            <a:avLst/>
          </a:prstGeom>
          <a:solidFill xmlns:a="http://schemas.openxmlformats.org/drawingml/2006/main">
            <a:srgbClr val="D9E8E0"/>
          </a:solidFill>
        </p:spPr>
      </p:sp>
      <p:sp>
        <p:nvSpPr>
          <p:cNvPr id="56" name="Shape 53">
            <a:extLst xmlns:a="http://schemas.openxmlformats.org/drawingml/2006/main">
              <a:ext uri="{FF2B5EF4-FFF2-40B4-BE49-F238E27FC236}">
                <a16:creationId xmlns:a16="http://schemas.microsoft.com/office/drawing/2014/main" id="{88ADE820-8220-436B-8A04-4E8EF21FD85B}"/>
              </a:ext>
            </a:extLst>
          </p:cNvPr>
          <p:cNvSpPr>
            <a:spLocks xmlns:a="http://schemas.openxmlformats.org/drawingml/2006/main" noGrp="1"/>
          </p:cNvSpPr>
          <p:nvPr/>
        </p:nvSpPr>
        <p:spPr>
          <a:xfrm xmlns:a="http://schemas.openxmlformats.org/drawingml/2006/main">
            <a:off x="1476375" y="3429000"/>
            <a:ext cx="314325" cy="314325"/>
          </a:xfrm>
          <a:prstGeom xmlns:a="http://schemas.openxmlformats.org/drawingml/2006/main" prst="roundRect">
            <a:avLst/>
          </a:prstGeom>
          <a:solidFill xmlns:a="http://schemas.openxmlformats.org/drawingml/2006/main">
            <a:srgbClr val="143D36"/>
          </a:solidFill>
        </p:spPr>
      </p:sp>
      <p:sp>
        <p:nvSpPr>
          <p:cNvPr id="57" name="Shape 54">
            <a:extLst xmlns:a="http://schemas.openxmlformats.org/drawingml/2006/main">
              <a:ext uri="{FF2B5EF4-FFF2-40B4-BE49-F238E27FC236}">
                <a16:creationId xmlns:a16="http://schemas.microsoft.com/office/drawing/2014/main" id="{6E0C405A-2514-46CD-90D8-D0C008EF5B88}"/>
              </a:ext>
            </a:extLst>
          </p:cNvPr>
          <p:cNvSpPr>
            <a:spLocks xmlns:a="http://schemas.openxmlformats.org/drawingml/2006/main" noGrp="1"/>
          </p:cNvSpPr>
          <p:nvPr/>
        </p:nvSpPr>
        <p:spPr>
          <a:xfrm xmlns:a="http://schemas.openxmlformats.org/drawingml/2006/main">
            <a:off x="1809750" y="3429000"/>
            <a:ext cx="314325" cy="314325"/>
          </a:xfrm>
          <a:prstGeom xmlns:a="http://schemas.openxmlformats.org/drawingml/2006/main" prst="roundRect">
            <a:avLst/>
          </a:prstGeom>
          <a:solidFill xmlns:a="http://schemas.openxmlformats.org/drawingml/2006/main">
            <a:srgbClr val="143D36"/>
          </a:solidFill>
        </p:spPr>
      </p:sp>
      <p:sp>
        <p:nvSpPr>
          <p:cNvPr id="58" name="Shape 55">
            <a:extLst xmlns:a="http://schemas.openxmlformats.org/drawingml/2006/main">
              <a:ext uri="{FF2B5EF4-FFF2-40B4-BE49-F238E27FC236}">
                <a16:creationId xmlns:a16="http://schemas.microsoft.com/office/drawing/2014/main" id="{0F37C014-0F0A-4FAB-955D-C9BA4CAE93F3}"/>
              </a:ext>
            </a:extLst>
          </p:cNvPr>
          <p:cNvSpPr>
            <a:spLocks xmlns:a="http://schemas.openxmlformats.org/drawingml/2006/main" noGrp="1"/>
          </p:cNvSpPr>
          <p:nvPr/>
        </p:nvSpPr>
        <p:spPr>
          <a:xfrm xmlns:a="http://schemas.openxmlformats.org/drawingml/2006/main">
            <a:off x="2143125" y="3429000"/>
            <a:ext cx="314325" cy="314325"/>
          </a:xfrm>
          <a:prstGeom xmlns:a="http://schemas.openxmlformats.org/drawingml/2006/main" prst="roundRect">
            <a:avLst/>
          </a:prstGeom>
          <a:solidFill xmlns:a="http://schemas.openxmlformats.org/drawingml/2006/main">
            <a:srgbClr val="143D36"/>
          </a:solidFill>
        </p:spPr>
      </p:sp>
      <p:sp>
        <p:nvSpPr>
          <p:cNvPr id="59" name="Shape 56">
            <a:extLst xmlns:a="http://schemas.openxmlformats.org/drawingml/2006/main">
              <a:ext uri="{FF2B5EF4-FFF2-40B4-BE49-F238E27FC236}">
                <a16:creationId xmlns:a16="http://schemas.microsoft.com/office/drawing/2014/main" id="{19D25233-1DE9-4F0A-A61E-602EB3CCE078}"/>
              </a:ext>
            </a:extLst>
          </p:cNvPr>
          <p:cNvSpPr>
            <a:spLocks xmlns:a="http://schemas.openxmlformats.org/drawingml/2006/main" noGrp="1"/>
          </p:cNvSpPr>
          <p:nvPr/>
        </p:nvSpPr>
        <p:spPr>
          <a:xfrm xmlns:a="http://schemas.openxmlformats.org/drawingml/2006/main">
            <a:off x="2476500" y="3429000"/>
            <a:ext cx="314325" cy="314325"/>
          </a:xfrm>
          <a:prstGeom xmlns:a="http://schemas.openxmlformats.org/drawingml/2006/main" prst="roundRect">
            <a:avLst/>
          </a:prstGeom>
          <a:solidFill xmlns:a="http://schemas.openxmlformats.org/drawingml/2006/main">
            <a:srgbClr val="143D36"/>
          </a:solidFill>
        </p:spPr>
      </p:sp>
      <p:sp>
        <p:nvSpPr>
          <p:cNvPr id="60" name="Shape 57">
            <a:extLst xmlns:a="http://schemas.openxmlformats.org/drawingml/2006/main">
              <a:ext uri="{FF2B5EF4-FFF2-40B4-BE49-F238E27FC236}">
                <a16:creationId xmlns:a16="http://schemas.microsoft.com/office/drawing/2014/main" id="{D380C468-4036-4CDF-A099-BC1762B0CD7E}"/>
              </a:ext>
            </a:extLst>
          </p:cNvPr>
          <p:cNvSpPr>
            <a:spLocks xmlns:a="http://schemas.openxmlformats.org/drawingml/2006/main" noGrp="1"/>
          </p:cNvSpPr>
          <p:nvPr/>
        </p:nvSpPr>
        <p:spPr>
          <a:xfrm xmlns:a="http://schemas.openxmlformats.org/drawingml/2006/main">
            <a:off x="2809875" y="3429000"/>
            <a:ext cx="314325" cy="314325"/>
          </a:xfrm>
          <a:prstGeom xmlns:a="http://schemas.openxmlformats.org/drawingml/2006/main" prst="roundRect">
            <a:avLst/>
          </a:prstGeom>
          <a:solidFill xmlns:a="http://schemas.openxmlformats.org/drawingml/2006/main">
            <a:srgbClr val="FAB84D"/>
          </a:solidFill>
        </p:spPr>
      </p:sp>
      <p:sp>
        <p:nvSpPr>
          <p:cNvPr id="61" name="Text 58">
            <a:extLst xmlns:a="http://schemas.openxmlformats.org/drawingml/2006/main">
              <a:ext uri="{FF2B5EF4-FFF2-40B4-BE49-F238E27FC236}">
                <a16:creationId xmlns:a16="http://schemas.microsoft.com/office/drawing/2014/main" id="{920D4E42-DE5D-4AE7-99CD-7826A48940DB}"/>
              </a:ext>
            </a:extLst>
          </p:cNvPr>
          <p:cNvSpPr>
            <a:spLocks xmlns:a="http://schemas.openxmlformats.org/drawingml/2006/main" noGrp="1"/>
          </p:cNvSpPr>
          <p:nvPr/>
        </p:nvSpPr>
        <p:spPr>
          <a:xfrm xmlns:a="http://schemas.openxmlformats.org/drawingml/2006/main">
            <a:off x="2900363" y="3471863"/>
            <a:ext cx="190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b="1">
                <a:solidFill>
                  <a:srgbClr val="051F1A">
                    <a:alpha val="99000"/>
                  </a:srgbClr>
                </a:solidFill>
                <a:latin typeface="Inter"/>
                <a:ea typeface="Inter"/>
                <a:cs typeface="Inter"/>
              </a:rPr>
              <a:t>E</a:t>
            </a:r>
            <a:endParaRPr sz="1283"/>
          </a:p>
        </p:txBody>
      </p:sp>
      <p:sp>
        <p:nvSpPr>
          <p:cNvPr id="62" name="Shape 59">
            <a:extLst xmlns:a="http://schemas.openxmlformats.org/drawingml/2006/main">
              <a:ext uri="{FF2B5EF4-FFF2-40B4-BE49-F238E27FC236}">
                <a16:creationId xmlns:a16="http://schemas.microsoft.com/office/drawing/2014/main" id="{9630D961-422C-40E0-B742-87A3621AD422}"/>
              </a:ext>
            </a:extLst>
          </p:cNvPr>
          <p:cNvSpPr>
            <a:spLocks xmlns:a="http://schemas.openxmlformats.org/drawingml/2006/main" noGrp="1"/>
          </p:cNvSpPr>
          <p:nvPr/>
        </p:nvSpPr>
        <p:spPr>
          <a:xfrm xmlns:a="http://schemas.openxmlformats.org/drawingml/2006/main">
            <a:off x="3143250" y="3429000"/>
            <a:ext cx="314325" cy="314325"/>
          </a:xfrm>
          <a:prstGeom xmlns:a="http://schemas.openxmlformats.org/drawingml/2006/main" prst="roundRect">
            <a:avLst/>
          </a:prstGeom>
          <a:solidFill xmlns:a="http://schemas.openxmlformats.org/drawingml/2006/main">
            <a:srgbClr val="143D36"/>
          </a:solidFill>
        </p:spPr>
      </p:sp>
      <p:sp>
        <p:nvSpPr>
          <p:cNvPr id="63" name="Shape 60">
            <a:extLst xmlns:a="http://schemas.openxmlformats.org/drawingml/2006/main">
              <a:ext uri="{FF2B5EF4-FFF2-40B4-BE49-F238E27FC236}">
                <a16:creationId xmlns:a16="http://schemas.microsoft.com/office/drawing/2014/main" id="{1639591A-9063-43B6-A451-547CB3F3B076}"/>
              </a:ext>
            </a:extLst>
          </p:cNvPr>
          <p:cNvSpPr>
            <a:spLocks xmlns:a="http://schemas.openxmlformats.org/drawingml/2006/main" noGrp="1"/>
          </p:cNvSpPr>
          <p:nvPr/>
        </p:nvSpPr>
        <p:spPr>
          <a:xfrm xmlns:a="http://schemas.openxmlformats.org/drawingml/2006/main">
            <a:off x="809625" y="3762375"/>
            <a:ext cx="314325" cy="314325"/>
          </a:xfrm>
          <a:prstGeom xmlns:a="http://schemas.openxmlformats.org/drawingml/2006/main" prst="roundRect">
            <a:avLst/>
          </a:prstGeom>
          <a:solidFill xmlns:a="http://schemas.openxmlformats.org/drawingml/2006/main">
            <a:srgbClr val="143D36"/>
          </a:solidFill>
        </p:spPr>
      </p:sp>
      <p:sp>
        <p:nvSpPr>
          <p:cNvPr id="64" name="Shape 61">
            <a:extLst xmlns:a="http://schemas.openxmlformats.org/drawingml/2006/main">
              <a:ext uri="{FF2B5EF4-FFF2-40B4-BE49-F238E27FC236}">
                <a16:creationId xmlns:a16="http://schemas.microsoft.com/office/drawing/2014/main" id="{311C786E-3C1D-48FD-93FB-41DE01044C93}"/>
              </a:ext>
            </a:extLst>
          </p:cNvPr>
          <p:cNvSpPr>
            <a:spLocks xmlns:a="http://schemas.openxmlformats.org/drawingml/2006/main" noGrp="1"/>
          </p:cNvSpPr>
          <p:nvPr/>
        </p:nvSpPr>
        <p:spPr>
          <a:xfrm xmlns:a="http://schemas.openxmlformats.org/drawingml/2006/main">
            <a:off x="1143000" y="3762375"/>
            <a:ext cx="314325" cy="314325"/>
          </a:xfrm>
          <a:prstGeom xmlns:a="http://schemas.openxmlformats.org/drawingml/2006/main" prst="roundRect">
            <a:avLst/>
          </a:prstGeom>
          <a:solidFill xmlns:a="http://schemas.openxmlformats.org/drawingml/2006/main">
            <a:srgbClr val="143D36"/>
          </a:solidFill>
        </p:spPr>
      </p:sp>
      <p:sp>
        <p:nvSpPr>
          <p:cNvPr id="65" name="Shape 62">
            <a:extLst xmlns:a="http://schemas.openxmlformats.org/drawingml/2006/main">
              <a:ext uri="{FF2B5EF4-FFF2-40B4-BE49-F238E27FC236}">
                <a16:creationId xmlns:a16="http://schemas.microsoft.com/office/drawing/2014/main" id="{B0763FA6-4E6A-471E-B742-E66799979594}"/>
              </a:ext>
            </a:extLst>
          </p:cNvPr>
          <p:cNvSpPr>
            <a:spLocks xmlns:a="http://schemas.openxmlformats.org/drawingml/2006/main" noGrp="1"/>
          </p:cNvSpPr>
          <p:nvPr/>
        </p:nvSpPr>
        <p:spPr>
          <a:xfrm xmlns:a="http://schemas.openxmlformats.org/drawingml/2006/main">
            <a:off x="1476375" y="3762375"/>
            <a:ext cx="314325" cy="314325"/>
          </a:xfrm>
          <a:prstGeom xmlns:a="http://schemas.openxmlformats.org/drawingml/2006/main" prst="roundRect">
            <a:avLst/>
          </a:prstGeom>
          <a:solidFill xmlns:a="http://schemas.openxmlformats.org/drawingml/2006/main">
            <a:srgbClr val="143D36"/>
          </a:solidFill>
        </p:spPr>
      </p:sp>
      <p:sp>
        <p:nvSpPr>
          <p:cNvPr id="66" name="Shape 63">
            <a:extLst xmlns:a="http://schemas.openxmlformats.org/drawingml/2006/main">
              <a:ext uri="{FF2B5EF4-FFF2-40B4-BE49-F238E27FC236}">
                <a16:creationId xmlns:a16="http://schemas.microsoft.com/office/drawing/2014/main" id="{EE4EB7EF-9A77-4B09-ABC1-DC1A5E0F4083}"/>
              </a:ext>
            </a:extLst>
          </p:cNvPr>
          <p:cNvSpPr>
            <a:spLocks xmlns:a="http://schemas.openxmlformats.org/drawingml/2006/main" noGrp="1"/>
          </p:cNvSpPr>
          <p:nvPr/>
        </p:nvSpPr>
        <p:spPr>
          <a:xfrm xmlns:a="http://schemas.openxmlformats.org/drawingml/2006/main">
            <a:off x="1809750" y="3762375"/>
            <a:ext cx="314325" cy="314325"/>
          </a:xfrm>
          <a:prstGeom xmlns:a="http://schemas.openxmlformats.org/drawingml/2006/main" prst="roundRect">
            <a:avLst/>
          </a:prstGeom>
          <a:solidFill xmlns:a="http://schemas.openxmlformats.org/drawingml/2006/main">
            <a:srgbClr val="143D36"/>
          </a:solidFill>
        </p:spPr>
      </p:sp>
      <p:sp>
        <p:nvSpPr>
          <p:cNvPr id="67" name="Shape 64">
            <a:extLst xmlns:a="http://schemas.openxmlformats.org/drawingml/2006/main">
              <a:ext uri="{FF2B5EF4-FFF2-40B4-BE49-F238E27FC236}">
                <a16:creationId xmlns:a16="http://schemas.microsoft.com/office/drawing/2014/main" id="{733CF860-576F-427C-895F-698C2A0ADB7D}"/>
              </a:ext>
            </a:extLst>
          </p:cNvPr>
          <p:cNvSpPr>
            <a:spLocks xmlns:a="http://schemas.openxmlformats.org/drawingml/2006/main" noGrp="1"/>
          </p:cNvSpPr>
          <p:nvPr/>
        </p:nvSpPr>
        <p:spPr>
          <a:xfrm xmlns:a="http://schemas.openxmlformats.org/drawingml/2006/main">
            <a:off x="2143125" y="3762375"/>
            <a:ext cx="314325" cy="314325"/>
          </a:xfrm>
          <a:prstGeom xmlns:a="http://schemas.openxmlformats.org/drawingml/2006/main" prst="roundRect">
            <a:avLst/>
          </a:prstGeom>
          <a:solidFill xmlns:a="http://schemas.openxmlformats.org/drawingml/2006/main">
            <a:srgbClr val="143D36"/>
          </a:solidFill>
        </p:spPr>
      </p:sp>
      <p:sp>
        <p:nvSpPr>
          <p:cNvPr id="68" name="Shape 65">
            <a:extLst xmlns:a="http://schemas.openxmlformats.org/drawingml/2006/main">
              <a:ext uri="{FF2B5EF4-FFF2-40B4-BE49-F238E27FC236}">
                <a16:creationId xmlns:a16="http://schemas.microsoft.com/office/drawing/2014/main" id="{94C71C72-162B-4A21-A99B-5EE21F92DF34}"/>
              </a:ext>
            </a:extLst>
          </p:cNvPr>
          <p:cNvSpPr>
            <a:spLocks xmlns:a="http://schemas.openxmlformats.org/drawingml/2006/main" noGrp="1"/>
          </p:cNvSpPr>
          <p:nvPr/>
        </p:nvSpPr>
        <p:spPr>
          <a:xfrm xmlns:a="http://schemas.openxmlformats.org/drawingml/2006/main">
            <a:off x="2476500" y="3762375"/>
            <a:ext cx="314325" cy="314325"/>
          </a:xfrm>
          <a:prstGeom xmlns:a="http://schemas.openxmlformats.org/drawingml/2006/main" prst="roundRect">
            <a:avLst/>
          </a:prstGeom>
          <a:solidFill xmlns:a="http://schemas.openxmlformats.org/drawingml/2006/main">
            <a:srgbClr val="143D36"/>
          </a:solidFill>
        </p:spPr>
      </p:sp>
      <p:sp>
        <p:nvSpPr>
          <p:cNvPr id="69" name="Shape 66">
            <a:extLst xmlns:a="http://schemas.openxmlformats.org/drawingml/2006/main">
              <a:ext uri="{FF2B5EF4-FFF2-40B4-BE49-F238E27FC236}">
                <a16:creationId xmlns:a16="http://schemas.microsoft.com/office/drawing/2014/main" id="{57AA9F6A-E4C7-459A-92A3-22BB43F3F720}"/>
              </a:ext>
            </a:extLst>
          </p:cNvPr>
          <p:cNvSpPr>
            <a:spLocks xmlns:a="http://schemas.openxmlformats.org/drawingml/2006/main" noGrp="1"/>
          </p:cNvSpPr>
          <p:nvPr/>
        </p:nvSpPr>
        <p:spPr>
          <a:xfrm xmlns:a="http://schemas.openxmlformats.org/drawingml/2006/main">
            <a:off x="2809875" y="3762375"/>
            <a:ext cx="314325" cy="314325"/>
          </a:xfrm>
          <a:prstGeom xmlns:a="http://schemas.openxmlformats.org/drawingml/2006/main" prst="roundRect">
            <a:avLst/>
          </a:prstGeom>
          <a:solidFill xmlns:a="http://schemas.openxmlformats.org/drawingml/2006/main">
            <a:srgbClr val="143D36"/>
          </a:solidFill>
        </p:spPr>
      </p:sp>
      <p:sp>
        <p:nvSpPr>
          <p:cNvPr id="70" name="Shape 67">
            <a:extLst xmlns:a="http://schemas.openxmlformats.org/drawingml/2006/main">
              <a:ext uri="{FF2B5EF4-FFF2-40B4-BE49-F238E27FC236}">
                <a16:creationId xmlns:a16="http://schemas.microsoft.com/office/drawing/2014/main" id="{D64C53B5-8917-46D4-856E-459CBF5136BF}"/>
              </a:ext>
            </a:extLst>
          </p:cNvPr>
          <p:cNvSpPr>
            <a:spLocks xmlns:a="http://schemas.openxmlformats.org/drawingml/2006/main" noGrp="1"/>
          </p:cNvSpPr>
          <p:nvPr/>
        </p:nvSpPr>
        <p:spPr>
          <a:xfrm xmlns:a="http://schemas.openxmlformats.org/drawingml/2006/main">
            <a:off x="3143250" y="3762375"/>
            <a:ext cx="314325" cy="314325"/>
          </a:xfrm>
          <a:prstGeom xmlns:a="http://schemas.openxmlformats.org/drawingml/2006/main" prst="roundRect">
            <a:avLst/>
          </a:prstGeom>
          <a:solidFill xmlns:a="http://schemas.openxmlformats.org/drawingml/2006/main">
            <a:srgbClr val="143D36"/>
          </a:solidFill>
        </p:spPr>
      </p:sp>
      <p:sp>
        <p:nvSpPr>
          <p:cNvPr id="71" name="Text 68">
            <a:extLst xmlns:a="http://schemas.openxmlformats.org/drawingml/2006/main">
              <a:ext uri="{FF2B5EF4-FFF2-40B4-BE49-F238E27FC236}">
                <a16:creationId xmlns:a16="http://schemas.microsoft.com/office/drawing/2014/main" id="{F34F0ABA-A3B0-4C41-A8FE-43639EFF93F5}"/>
              </a:ext>
            </a:extLst>
          </p:cNvPr>
          <p:cNvSpPr>
            <a:spLocks xmlns:a="http://schemas.openxmlformats.org/drawingml/2006/main" noGrp="1"/>
          </p:cNvSpPr>
          <p:nvPr/>
        </p:nvSpPr>
        <p:spPr>
          <a:xfrm xmlns:a="http://schemas.openxmlformats.org/drawingml/2006/main">
            <a:off x="809625" y="4219575"/>
            <a:ext cx="2857500" cy="1571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64"/>
              </a:lnSpc>
              <a:buNone/>
            </a:pPr>
            <a:r>
              <a:rPr sz="962">
                <a:solidFill>
                  <a:srgbClr val="F2FAF5">
                    <a:alpha val="99000"/>
                  </a:srgbClr>
                </a:solidFill>
                <a:latin typeface="Inter"/>
                <a:ea typeface="Inter"/>
                <a:cs typeface="Inter"/>
              </a:rPr>
              <a:t>S = start       E = exit       Dark cells = walls</a:t>
            </a:r>
            <a:endParaRPr sz="962"/>
          </a:p>
        </p:txBody>
      </p:sp>
      <p:sp>
        <p:nvSpPr>
          <p:cNvPr id="72" name="Text 69">
            <a:extLst xmlns:a="http://schemas.openxmlformats.org/drawingml/2006/main">
              <a:ext uri="{FF2B5EF4-FFF2-40B4-BE49-F238E27FC236}">
                <a16:creationId xmlns:a16="http://schemas.microsoft.com/office/drawing/2014/main" id="{CFA810D9-D6A3-4218-BFEB-02EC29950905}"/>
              </a:ext>
            </a:extLst>
          </p:cNvPr>
          <p:cNvSpPr>
            <a:spLocks xmlns:a="http://schemas.openxmlformats.org/drawingml/2006/main" noGrp="1"/>
          </p:cNvSpPr>
          <p:nvPr/>
        </p:nvSpPr>
        <p:spPr>
          <a:xfrm xmlns:a="http://schemas.openxmlformats.org/drawingml/2006/main">
            <a:off x="4286250" y="1390650"/>
            <a:ext cx="42862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b="1">
                <a:solidFill>
                  <a:srgbClr val="5CE5BD">
                    <a:alpha val="99000"/>
                  </a:srgbClr>
                </a:solidFill>
                <a:latin typeface="Inter"/>
                <a:ea typeface="Inter"/>
                <a:cs typeface="Inter"/>
              </a:rPr>
              <a:t>EXPOSED MCP TOOLS</a:t>
            </a:r>
            <a:endParaRPr sz="1283"/>
          </a:p>
        </p:txBody>
      </p:sp>
      <p:sp>
        <p:nvSpPr>
          <p:cNvPr id="73" name="Text 70">
            <a:extLst xmlns:a="http://schemas.openxmlformats.org/drawingml/2006/main">
              <a:ext uri="{FF2B5EF4-FFF2-40B4-BE49-F238E27FC236}">
                <a16:creationId xmlns:a16="http://schemas.microsoft.com/office/drawing/2014/main" id="{EB4B9576-7909-4D40-8274-40B8E607162D}"/>
              </a:ext>
            </a:extLst>
          </p:cNvPr>
          <p:cNvSpPr>
            <a:spLocks xmlns:a="http://schemas.openxmlformats.org/drawingml/2006/main" noGrp="1"/>
          </p:cNvSpPr>
          <p:nvPr/>
        </p:nvSpPr>
        <p:spPr>
          <a:xfrm xmlns:a="http://schemas.openxmlformats.org/drawingml/2006/main">
            <a:off x="4286250" y="1690688"/>
            <a:ext cx="4286250" cy="5857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66"/>
              </a:lnSpc>
              <a:buNone/>
            </a:pPr>
            <a:r>
              <a:rPr sz="1211">
                <a:solidFill>
                  <a:srgbClr val="F2FAF5">
                    <a:alpha val="99000"/>
                  </a:srgbClr>
                </a:solidFill>
                <a:latin typeface="Inter"/>
                <a:ea typeface="Inter"/>
                <a:cs typeface="Inter"/>
              </a:rPr>
              <a:t>move_up()      move_down()</a:t>
            </a:r>
            <a:endParaRPr sz="1211"/>
          </a:p>
          <a:p xmlns:a="http://schemas.openxmlformats.org/drawingml/2006/main">
            <a:pPr marL="0" indent="0" algn="l">
              <a:lnSpc>
                <a:spcPts val="1466"/>
              </a:lnSpc>
              <a:buNone/>
            </a:pPr>
            <a:r>
              <a:rPr sz="1211">
                <a:solidFill>
                  <a:srgbClr val="F2FAF5">
                    <a:alpha val="99000"/>
                  </a:srgbClr>
                </a:solidFill>
                <a:latin typeface="Inter"/>
                <a:ea typeface="Inter"/>
                <a:cs typeface="Inter"/>
              </a:rPr>
              <a:t>move_left()    move_right()</a:t>
            </a:r>
            <a:endParaRPr sz="1211"/>
          </a:p>
          <a:p xmlns:a="http://schemas.openxmlformats.org/drawingml/2006/main">
            <a:pPr marL="0" indent="0" algn="l">
              <a:lnSpc>
                <a:spcPts val="1466"/>
              </a:lnSpc>
              <a:buNone/>
            </a:pPr>
            <a:r>
              <a:rPr sz="1211">
                <a:solidFill>
                  <a:srgbClr val="F2FAF5">
                    <a:alpha val="99000"/>
                  </a:srgbClr>
                </a:solidFill>
                <a:latin typeface="Inter"/>
                <a:ea typeface="Inter"/>
                <a:cs typeface="Inter"/>
              </a:rPr>
              <a:t>get_maze_state()</a:t>
            </a:r>
            <a:endParaRPr sz="1211"/>
          </a:p>
        </p:txBody>
      </p:sp>
      <p:sp>
        <p:nvSpPr>
          <p:cNvPr id="74" name="Text 71">
            <a:extLst xmlns:a="http://schemas.openxmlformats.org/drawingml/2006/main">
              <a:ext uri="{FF2B5EF4-FFF2-40B4-BE49-F238E27FC236}">
                <a16:creationId xmlns:a16="http://schemas.microsoft.com/office/drawing/2014/main" id="{5681C715-E951-43E1-B323-D52CD0AA67B7}"/>
              </a:ext>
            </a:extLst>
          </p:cNvPr>
          <p:cNvSpPr>
            <a:spLocks xmlns:a="http://schemas.openxmlformats.org/drawingml/2006/main" noGrp="1"/>
          </p:cNvSpPr>
          <p:nvPr/>
        </p:nvSpPr>
        <p:spPr>
          <a:xfrm xmlns:a="http://schemas.openxmlformats.org/drawingml/2006/main">
            <a:off x="4286250" y="2405063"/>
            <a:ext cx="42862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b="1">
                <a:solidFill>
                  <a:srgbClr val="5CE5BD">
                    <a:alpha val="99000"/>
                  </a:srgbClr>
                </a:solidFill>
                <a:latin typeface="Inter"/>
                <a:ea typeface="Inter"/>
                <a:cs typeface="Inter"/>
              </a:rPr>
              <a:t>THE FEEDBACK LOOP</a:t>
            </a:r>
            <a:endParaRPr sz="1283"/>
          </a:p>
        </p:txBody>
      </p:sp>
      <p:sp>
        <p:nvSpPr>
          <p:cNvPr id="75" name="Text 72">
            <a:extLst xmlns:a="http://schemas.openxmlformats.org/drawingml/2006/main">
              <a:ext uri="{FF2B5EF4-FFF2-40B4-BE49-F238E27FC236}">
                <a16:creationId xmlns:a16="http://schemas.microsoft.com/office/drawing/2014/main" id="{9265CED2-C81B-4C1F-9067-755350A67CBD}"/>
              </a:ext>
            </a:extLst>
          </p:cNvPr>
          <p:cNvSpPr>
            <a:spLocks xmlns:a="http://schemas.openxmlformats.org/drawingml/2006/main" noGrp="1"/>
          </p:cNvSpPr>
          <p:nvPr/>
        </p:nvSpPr>
        <p:spPr>
          <a:xfrm xmlns:a="http://schemas.openxmlformats.org/drawingml/2006/main">
            <a:off x="4286250" y="2705100"/>
            <a:ext cx="4286250" cy="742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80"/>
              </a:lnSpc>
              <a:buNone/>
            </a:pPr>
            <a:r>
              <a:rPr sz="1140">
                <a:solidFill>
                  <a:srgbClr val="F2FAF5">
                    <a:alpha val="99000"/>
                  </a:srgbClr>
                </a:solidFill>
                <a:latin typeface="Inter"/>
                <a:ea typeface="Inter"/>
                <a:cs typeface="Inter"/>
              </a:rPr>
              <a:t>1  Read the maze + current position</a:t>
            </a:r>
            <a:endParaRPr sz="1140"/>
          </a:p>
          <a:p xmlns:a="http://schemas.openxmlformats.org/drawingml/2006/main">
            <a:pPr marL="0" indent="0" algn="l">
              <a:lnSpc>
                <a:spcPts val="1380"/>
              </a:lnSpc>
              <a:buNone/>
            </a:pPr>
            <a:r>
              <a:rPr sz="1140">
                <a:solidFill>
                  <a:srgbClr val="F2FAF5">
                    <a:alpha val="99000"/>
                  </a:srgbClr>
                </a:solidFill>
                <a:latin typeface="Inter"/>
                <a:ea typeface="Inter"/>
                <a:cs typeface="Inter"/>
              </a:rPr>
              <a:t>2  Model selects a movement tool</a:t>
            </a:r>
            <a:endParaRPr sz="1140"/>
          </a:p>
          <a:p xmlns:a="http://schemas.openxmlformats.org/drawingml/2006/main">
            <a:pPr marL="0" indent="0" algn="l">
              <a:lnSpc>
                <a:spcPts val="1380"/>
              </a:lnSpc>
              <a:buNone/>
            </a:pPr>
            <a:r>
              <a:rPr sz="1140">
                <a:solidFill>
                  <a:srgbClr val="F2FAF5">
                    <a:alpha val="99000"/>
                  </a:srgbClr>
                </a:solidFill>
                <a:latin typeface="Inter"/>
                <a:ea typeface="Inter"/>
                <a:cs typeface="Inter"/>
              </a:rPr>
              <a:t>3  App returns moved / blocked + position</a:t>
            </a:r>
            <a:endParaRPr sz="1140"/>
          </a:p>
          <a:p xmlns:a="http://schemas.openxmlformats.org/drawingml/2006/main">
            <a:pPr marL="0" indent="0" algn="l">
              <a:lnSpc>
                <a:spcPts val="1380"/>
              </a:lnSpc>
              <a:buNone/>
            </a:pPr>
            <a:r>
              <a:rPr sz="1140">
                <a:solidFill>
                  <a:srgbClr val="F2FAF5">
                    <a:alpha val="99000"/>
                  </a:srgbClr>
                </a:solidFill>
                <a:latin typeface="Inter"/>
                <a:ea typeface="Inter"/>
                <a:cs typeface="Inter"/>
              </a:rPr>
              <a:t>4  Observe again; stop when at_exit = true</a:t>
            </a:r>
            <a:endParaRPr sz="1140"/>
          </a:p>
        </p:txBody>
      </p:sp>
      <p:sp>
        <p:nvSpPr>
          <p:cNvPr id="76" name="Text 73">
            <a:extLst xmlns:a="http://schemas.openxmlformats.org/drawingml/2006/main">
              <a:ext uri="{FF2B5EF4-FFF2-40B4-BE49-F238E27FC236}">
                <a16:creationId xmlns:a16="http://schemas.microsoft.com/office/drawing/2014/main" id="{71676E0D-DE1E-4815-9CFF-1E32209EA9F4}"/>
              </a:ext>
            </a:extLst>
          </p:cNvPr>
          <p:cNvSpPr>
            <a:spLocks xmlns:a="http://schemas.openxmlformats.org/drawingml/2006/main" noGrp="1"/>
          </p:cNvSpPr>
          <p:nvPr/>
        </p:nvSpPr>
        <p:spPr>
          <a:xfrm xmlns:a="http://schemas.openxmlformats.org/drawingml/2006/main">
            <a:off x="4286250" y="3705225"/>
            <a:ext cx="428625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b="1">
                <a:solidFill>
                  <a:srgbClr val="5CE5BD">
                    <a:alpha val="99000"/>
                  </a:srgbClr>
                </a:solidFill>
                <a:latin typeface="Inter"/>
                <a:ea typeface="Inter"/>
                <a:cs typeface="Inter"/>
              </a:rPr>
              <a:t>WORKSHOP CONNECTION</a:t>
            </a:r>
            <a:endParaRPr sz="1069"/>
          </a:p>
        </p:txBody>
      </p:sp>
      <p:sp>
        <p:nvSpPr>
          <p:cNvPr id="77" name="Text 74">
            <a:extLst xmlns:a="http://schemas.openxmlformats.org/drawingml/2006/main">
              <a:ext uri="{FF2B5EF4-FFF2-40B4-BE49-F238E27FC236}">
                <a16:creationId xmlns:a16="http://schemas.microsoft.com/office/drawing/2014/main" id="{BD1016E2-59A8-4E88-B9DE-35AA23F0126C}"/>
              </a:ext>
            </a:extLst>
          </p:cNvPr>
          <p:cNvSpPr>
            <a:spLocks xmlns:a="http://schemas.openxmlformats.org/drawingml/2006/main" noGrp="1"/>
          </p:cNvSpPr>
          <p:nvPr/>
        </p:nvSpPr>
        <p:spPr>
          <a:xfrm xmlns:a="http://schemas.openxmlformats.org/drawingml/2006/main">
            <a:off x="4286250" y="3962400"/>
            <a:ext cx="4286250" cy="514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a:solidFill>
                  <a:srgbClr val="F2FAF5">
                    <a:alpha val="99000"/>
                  </a:srgbClr>
                </a:solidFill>
                <a:latin typeface="Inter"/>
                <a:ea typeface="Inter"/>
                <a:cs typeface="Inter"/>
              </a:rPr>
              <a:t>Move tool ↔ set_swing</a:t>
            </a:r>
            <a:endParaRPr sz="1069"/>
          </a:p>
          <a:p xmlns:a="http://schemas.openxmlformats.org/drawingml/2006/main">
            <a:pPr marL="0" indent="0" algn="l">
              <a:lnSpc>
                <a:spcPts val="1293"/>
              </a:lnSpc>
              <a:buNone/>
            </a:pPr>
            <a:r>
              <a:rPr sz="1069">
                <a:solidFill>
                  <a:srgbClr val="F2FAF5">
                    <a:alpha val="99000"/>
                  </a:srgbClr>
                </a:solidFill>
                <a:latin typeface="Inter"/>
                <a:ea typeface="Inter"/>
                <a:cs typeface="Inter"/>
              </a:rPr>
              <a:t>get_maze_state ↔ get_state</a:t>
            </a:r>
            <a:endParaRPr sz="1069"/>
          </a:p>
          <a:p xmlns:a="http://schemas.openxmlformats.org/drawingml/2006/main">
            <a:pPr marL="0" indent="0" algn="l">
              <a:lnSpc>
                <a:spcPts val="1293"/>
              </a:lnSpc>
              <a:buNone/>
            </a:pPr>
            <a:r>
              <a:rPr sz="1069">
                <a:solidFill>
                  <a:srgbClr val="F2FAF5">
                    <a:alpha val="99000"/>
                  </a:srgbClr>
                </a:solidFill>
                <a:latin typeface="Inter"/>
                <a:ea typeface="Inter"/>
                <a:cs typeface="Inter"/>
              </a:rPr>
              <a:t>Maze app ↔ app.py</a:t>
            </a:r>
            <a:endParaRPr sz="1069"/>
          </a:p>
        </p:txBody>
      </p:sp>
      <p:sp>
        <p:nvSpPr>
          <p:cNvPr id="78" name="Text 75">
            <a:extLst xmlns:a="http://schemas.openxmlformats.org/drawingml/2006/main">
              <a:ext uri="{FF2B5EF4-FFF2-40B4-BE49-F238E27FC236}">
                <a16:creationId xmlns:a16="http://schemas.microsoft.com/office/drawing/2014/main" id="{639171FE-6790-44AC-A837-82504A31DE03}"/>
              </a:ext>
            </a:extLst>
          </p:cNvPr>
          <p:cNvSpPr>
            <a:spLocks xmlns:a="http://schemas.openxmlformats.org/drawingml/2006/main" noGrp="1"/>
          </p:cNvSpPr>
          <p:nvPr/>
        </p:nvSpPr>
        <p:spPr>
          <a:xfrm xmlns:a="http://schemas.openxmlformats.org/drawingml/2006/main">
            <a:off x="571500" y="4676775"/>
            <a:ext cx="800100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b="1">
                <a:solidFill>
                  <a:srgbClr val="5CE5BD">
                    <a:alpha val="99000"/>
                  </a:srgbClr>
                </a:solidFill>
                <a:latin typeface="Inter"/>
                <a:ea typeface="Inter"/>
                <a:cs typeface="Inter"/>
              </a:rPr>
              <a:t>MCP is the interface. The model plans. The Application enforces valid moves.</a:t>
            </a:r>
            <a:endParaRPr sz="998"/>
          </a:p>
        </p:txBody>
      </p:sp>
      <p:sp>
        <p:nvSpPr>
          <p:cNvPr id="79" name="Text 76">
            <a:extLst xmlns:a="http://schemas.openxmlformats.org/drawingml/2006/main">
              <a:ext uri="{FF2B5EF4-FFF2-40B4-BE49-F238E27FC236}">
                <a16:creationId xmlns:a16="http://schemas.microsoft.com/office/drawing/2014/main" id="{A280D72A-C29C-4EA9-9783-A44C01F5EE9A}"/>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a:solidFill>
                  <a:srgbClr val="D9E8E0">
                    <a:alpha val="99000"/>
                  </a:srgbClr>
                </a:solidFill>
                <a:latin typeface="Inter"/>
                <a:ea typeface="Inter"/>
                <a:cs typeface="Inter"/>
              </a:rPr>
              <a:t>18 / 29</a:t>
            </a:r>
            <a:endParaRPr sz="855"/>
          </a:p>
        </p:txBody>
      </p:sp>
    </p:spTree>
    <p:extLst>
      <p:ext uri="{BB962C8B-B14F-4D97-AF65-F5344CB8AC3E}">
        <p14:creationId xmlns:p14="http://schemas.microsoft.com/office/powerpoint/2010/main" val="857366444"/>
      </p:ext>
    </p:extLst>
  </p:cSld>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357188"/>
          </a:xfrm>
          <a:prstGeom prst="rect">
            <a:avLst/>
          </a:prstGeom>
          <a:noFill/>
          <a:ln/>
        </p:spPr>
        <p:txBody>
          <a:bodyPr wrap="square" lIns="0" tIns="0" rIns="0" bIns="0" rtlCol="0" anchor="t"/>
          <a:lstStyle/>
          <a:p>
            <a:pPr algn="l" indent="0" marL="0">
              <a:lnSpc>
                <a:spcPts val="2673"/>
              </a:lnSpc>
              <a:buNone/>
            </a:pPr>
            <a:r>
              <a:rPr lang="en-US" sz="2209" b="1" dirty="0">
                <a:solidFill>
                  <a:srgbClr val="5CE5BD">
                    <a:alpha val="99000"/>
                  </a:srgbClr>
                </a:solidFill>
                <a:latin typeface="Inter" pitchFamily="34" charset="0"/>
                <a:ea typeface="Inter" pitchFamily="34" charset="-122"/>
                <a:cs typeface="Inter" pitchFamily="34" charset="-120"/>
              </a:rPr>
              <a:t>Is this different from a “normal MCP”?</a:t>
            </a:r>
            <a:endParaRPr lang="en-US" sz="2209" dirty="0"/>
          </a:p>
        </p:txBody>
      </p:sp>
      <p:sp>
        <p:nvSpPr>
          <p:cNvPr id="4" name="Text 1"/>
          <p:cNvSpPr/>
          <p:nvPr/>
        </p:nvSpPr>
        <p:spPr>
          <a:xfrm>
            <a:off x="571500" y="1000125"/>
            <a:ext cx="8001000" cy="209550"/>
          </a:xfrm>
          <a:prstGeom prst="rect">
            <a:avLst/>
          </a:prstGeom>
          <a:noFill/>
          <a:ln/>
        </p:spPr>
        <p:txBody>
          <a:bodyPr wrap="square" lIns="0" tIns="0" rIns="0" bIns="0" rtlCol="0" anchor="t"/>
          <a:lstStyle/>
          <a:p>
            <a:pPr algn="l" indent="0" marL="0">
              <a:lnSpc>
                <a:spcPts val="1552"/>
              </a:lnSpc>
              <a:buNone/>
            </a:pPr>
            <a:r>
              <a:rPr lang="en-US" sz="1283" dirty="0">
                <a:solidFill>
                  <a:srgbClr val="F2FAF5">
                    <a:alpha val="99000"/>
                  </a:srgbClr>
                </a:solidFill>
                <a:latin typeface="Inter" pitchFamily="34" charset="0"/>
                <a:ea typeface="Inter" pitchFamily="34" charset="-122"/>
                <a:cs typeface="Inter" pitchFamily="34" charset="-120"/>
              </a:rPr>
              <a:t>Same MCP protocol. Our custom server exposes music capabilities.</a:t>
            </a:r>
            <a:endParaRPr lang="en-US" sz="1283" dirty="0"/>
          </a:p>
        </p:txBody>
      </p:sp>
      <p:sp>
        <p:nvSpPr>
          <p:cNvPr id="5" name="Shape 2"/>
          <p:cNvSpPr/>
          <p:nvPr/>
        </p:nvSpPr>
        <p:spPr>
          <a:xfrm>
            <a:off x="571500" y="1428750"/>
            <a:ext cx="3857625" cy="1428750"/>
          </a:xfrm>
          <a:prstGeom prst="roundRect">
            <a:avLst>
              <a:gd name="adj" fmla="val 10240"/>
            </a:avLst>
          </a:prstGeom>
          <a:solidFill>
            <a:srgbClr val="092925"/>
          </a:solidFill>
          <a:ln/>
        </p:spPr>
      </p:sp>
      <p:sp>
        <p:nvSpPr>
          <p:cNvPr id="6" name="Text 3"/>
          <p:cNvSpPr/>
          <p:nvPr/>
        </p:nvSpPr>
        <p:spPr>
          <a:xfrm>
            <a:off x="704850" y="1562100"/>
            <a:ext cx="3590925" cy="209550"/>
          </a:xfrm>
          <a:prstGeom prst="rect">
            <a:avLst/>
          </a:prstGeom>
          <a:noFill/>
          <a:ln/>
        </p:spPr>
        <p:txBody>
          <a:bodyPr wrap="square" lIns="0" tIns="0" rIns="0" bIns="0" rtlCol="0" anchor="t"/>
          <a:lstStyle/>
          <a:p>
            <a:pPr algn="l" indent="0" marL="0">
              <a:lnSpc>
                <a:spcPts val="1552"/>
              </a:lnSpc>
              <a:buNone/>
            </a:pPr>
            <a:r>
              <a:rPr lang="en-US" sz="1283" b="1" dirty="0">
                <a:solidFill>
                  <a:srgbClr val="5CE5BD">
                    <a:alpha val="99000"/>
                  </a:srgbClr>
                </a:solidFill>
                <a:latin typeface="Inter" pitchFamily="34" charset="0"/>
                <a:ea typeface="Inter" pitchFamily="34" charset="-122"/>
                <a:cs typeface="Inter" pitchFamily="34" charset="-120"/>
              </a:rPr>
              <a:t>CODING AGENT · builds and tests</a:t>
            </a:r>
            <a:endParaRPr lang="en-US" sz="1283" dirty="0"/>
          </a:p>
        </p:txBody>
      </p:sp>
      <p:sp>
        <p:nvSpPr>
          <p:cNvPr id="7" name="Text 4"/>
          <p:cNvSpPr/>
          <p:nvPr/>
        </p:nvSpPr>
        <p:spPr>
          <a:xfrm>
            <a:off x="704850" y="1866900"/>
            <a:ext cx="3590925" cy="781050"/>
          </a:xfrm>
          <a:prstGeom prst="rect">
            <a:avLst/>
          </a:prstGeom>
          <a:noFill/>
          <a:ln/>
        </p:spPr>
        <p:txBody>
          <a:bodyPr wrap="square" lIns="0" tIns="0" rIns="0" bIns="0" rtlCol="0" anchor="t"/>
          <a:lstStyle/>
          <a:p>
            <a:pPr algn="l" indent="0" marL="0">
              <a:lnSpc>
                <a:spcPts val="1466"/>
              </a:lnSpc>
              <a:buNone/>
            </a:pPr>
            <a:r>
              <a:rPr lang="en-US" sz="1211" dirty="0">
                <a:solidFill>
                  <a:srgbClr val="F2FAF5">
                    <a:alpha val="99000"/>
                  </a:srgbClr>
                </a:solidFill>
                <a:latin typeface="Inter" pitchFamily="34" charset="0"/>
                <a:ea typeface="Inter" pitchFamily="34" charset="-122"/>
                <a:cs typeface="Inter" pitchFamily="34" charset="-120"/>
              </a:rPr>
              <a:t>• Shell, browser or API tools</a:t>
            </a:r>
            <a:endParaRPr lang="en-US" sz="1211" dirty="0"/>
          </a:p>
          <a:p>
            <a:pPr algn="l" indent="0" marL="0">
              <a:lnSpc>
                <a:spcPts val="1466"/>
              </a:lnSpc>
              <a:buNone/>
            </a:pPr>
            <a:r>
              <a:rPr lang="en-US" sz="1211" dirty="0">
                <a:solidFill>
                  <a:srgbClr val="F2FAF5">
                    <a:alpha val="99000"/>
                  </a:srgbClr>
                </a:solidFill>
                <a:latin typeface="Inter" pitchFamily="34" charset="0"/>
                <a:ea typeface="Inter" pitchFamily="34" charset="-122"/>
                <a:cs typeface="Inter" pitchFamily="34" charset="-120"/>
              </a:rPr>
              <a:t>• Can test an app without MCP</a:t>
            </a:r>
            <a:endParaRPr lang="en-US" sz="1211" dirty="0"/>
          </a:p>
          <a:p>
            <a:pPr algn="l" indent="0" marL="0">
              <a:lnSpc>
                <a:spcPts val="1466"/>
              </a:lnSpc>
              <a:buNone/>
            </a:pPr>
            <a:r>
              <a:rPr lang="en-US" sz="1211" dirty="0">
                <a:solidFill>
                  <a:srgbClr val="F2FAF5">
                    <a:alpha val="99000"/>
                  </a:srgbClr>
                </a:solidFill>
                <a:latin typeface="Inter" pitchFamily="34" charset="0"/>
                <a:ea typeface="Inter" pitchFamily="34" charset="-122"/>
                <a:cs typeface="Inter" pitchFamily="34" charset="-120"/>
              </a:rPr>
              <a:t>• Prompt alone adds no capabilities</a:t>
            </a:r>
            <a:endParaRPr lang="en-US" sz="1211" dirty="0"/>
          </a:p>
          <a:p>
            <a:pPr algn="l" indent="0" marL="0">
              <a:lnSpc>
                <a:spcPts val="1466"/>
              </a:lnSpc>
              <a:buNone/>
            </a:pPr>
            <a:r>
              <a:rPr lang="en-US" sz="1211" dirty="0">
                <a:solidFill>
                  <a:srgbClr val="F2FAF5">
                    <a:alpha val="99000"/>
                  </a:srgbClr>
                </a:solidFill>
                <a:latin typeface="Inter" pitchFamily="34" charset="0"/>
                <a:ea typeface="Inter" pitchFamily="34" charset="-122"/>
                <a:cs typeface="Inter" pitchFamily="34" charset="-120"/>
              </a:rPr>
              <a:t>• Verify with actual evidence</a:t>
            </a:r>
            <a:endParaRPr lang="en-US" sz="1211" dirty="0"/>
          </a:p>
        </p:txBody>
      </p:sp>
      <p:sp>
        <p:nvSpPr>
          <p:cNvPr id="8" name="Shape 5"/>
          <p:cNvSpPr/>
          <p:nvPr/>
        </p:nvSpPr>
        <p:spPr>
          <a:xfrm>
            <a:off x="4714875" y="1428750"/>
            <a:ext cx="3857625" cy="1428750"/>
          </a:xfrm>
          <a:prstGeom prst="roundRect">
            <a:avLst>
              <a:gd name="adj" fmla="val 10240"/>
            </a:avLst>
          </a:prstGeom>
          <a:solidFill>
            <a:srgbClr val="092925"/>
          </a:solidFill>
          <a:ln/>
        </p:spPr>
      </p:sp>
      <p:sp>
        <p:nvSpPr>
          <p:cNvPr id="9" name="Text 6"/>
          <p:cNvSpPr/>
          <p:nvPr/>
        </p:nvSpPr>
        <p:spPr>
          <a:xfrm>
            <a:off x="4848225" y="1562100"/>
            <a:ext cx="3590925" cy="209550"/>
          </a:xfrm>
          <a:prstGeom prst="rect">
            <a:avLst/>
          </a:prstGeom>
          <a:noFill/>
          <a:ln/>
        </p:spPr>
        <p:txBody>
          <a:bodyPr wrap="square" lIns="0" tIns="0" rIns="0" bIns="0" rtlCol="0" anchor="t"/>
          <a:lstStyle/>
          <a:p>
            <a:pPr algn="l" indent="0" marL="0">
              <a:lnSpc>
                <a:spcPts val="1552"/>
              </a:lnSpc>
              <a:buNone/>
            </a:pPr>
            <a:r>
              <a:rPr lang="en-US" sz="1283" b="1" dirty="0">
                <a:solidFill>
                  <a:srgbClr val="5CE5BD">
                    <a:alpha val="99000"/>
                  </a:srgbClr>
                </a:solidFill>
                <a:latin typeface="Inter" pitchFamily="34" charset="0"/>
                <a:ea typeface="Inter" pitchFamily="34" charset="-122"/>
                <a:cs typeface="Inter" pitchFamily="34" charset="-120"/>
              </a:rPr>
              <a:t>YOUR APP + MCP · reusable controls</a:t>
            </a:r>
            <a:endParaRPr lang="en-US" sz="1283" dirty="0"/>
          </a:p>
        </p:txBody>
      </p:sp>
      <p:sp>
        <p:nvSpPr>
          <p:cNvPr id="10" name="Text 7"/>
          <p:cNvSpPr/>
          <p:nvPr/>
        </p:nvSpPr>
        <p:spPr>
          <a:xfrm>
            <a:off x="4848225" y="1866900"/>
            <a:ext cx="3590925" cy="781050"/>
          </a:xfrm>
          <a:prstGeom prst="rect">
            <a:avLst/>
          </a:prstGeom>
          <a:noFill/>
          <a:ln/>
        </p:spPr>
        <p:txBody>
          <a:bodyPr wrap="square" lIns="0" tIns="0" rIns="0" bIns="0" rtlCol="0" anchor="t"/>
          <a:lstStyle/>
          <a:p>
            <a:pPr algn="l" indent="0" marL="0">
              <a:lnSpc>
                <a:spcPts val="1466"/>
              </a:lnSpc>
              <a:buNone/>
            </a:pPr>
            <a:r>
              <a:rPr lang="en-US" sz="1211" dirty="0">
                <a:solidFill>
                  <a:srgbClr val="F2FAF5">
                    <a:alpha val="99000"/>
                  </a:srgbClr>
                </a:solidFill>
                <a:latin typeface="Inter" pitchFamily="34" charset="0"/>
                <a:ea typeface="Inter" pitchFamily="34" charset="-122"/>
                <a:cs typeface="Inter" pitchFamily="34" charset="-120"/>
              </a:rPr>
              <a:t>• Expose focused tools + schemas</a:t>
            </a:r>
            <a:endParaRPr lang="en-US" sz="1211" dirty="0"/>
          </a:p>
          <a:p>
            <a:pPr algn="l" indent="0" marL="0">
              <a:lnSpc>
                <a:spcPts val="1466"/>
              </a:lnSpc>
              <a:buNone/>
            </a:pPr>
            <a:r>
              <a:rPr lang="en-US" sz="1211" dirty="0">
                <a:solidFill>
                  <a:srgbClr val="F2FAF5">
                    <a:alpha val="99000"/>
                  </a:srgbClr>
                </a:solidFill>
                <a:latin typeface="Inter" pitchFamily="34" charset="0"/>
                <a:ea typeface="Inter" pitchFamily="34" charset="-122"/>
                <a:cs typeface="Inter" pitchFamily="34" charset="-120"/>
              </a:rPr>
              <a:t>• Reuse across compatible hosts</a:t>
            </a:r>
            <a:endParaRPr lang="en-US" sz="1211" dirty="0"/>
          </a:p>
          <a:p>
            <a:pPr algn="l" indent="0" marL="0">
              <a:lnSpc>
                <a:spcPts val="1466"/>
              </a:lnSpc>
              <a:buNone/>
            </a:pPr>
            <a:r>
              <a:rPr lang="en-US" sz="1211" dirty="0">
                <a:solidFill>
                  <a:srgbClr val="F2FAF5">
                    <a:alpha val="99000"/>
                  </a:srgbClr>
                </a:solidFill>
                <a:latin typeface="Inter" pitchFamily="34" charset="0"/>
                <a:ea typeface="Inter" pitchFamily="34" charset="-122"/>
                <a:cs typeface="Inter" pitchFamily="34" charset="-120"/>
              </a:rPr>
              <a:t>• Production: validate + authorize</a:t>
            </a:r>
            <a:endParaRPr lang="en-US" sz="1211" dirty="0"/>
          </a:p>
          <a:p>
            <a:pPr algn="l" indent="0" marL="0">
              <a:lnSpc>
                <a:spcPts val="1466"/>
              </a:lnSpc>
              <a:buNone/>
            </a:pPr>
            <a:r>
              <a:rPr lang="en-US" sz="1211" dirty="0">
                <a:solidFill>
                  <a:srgbClr val="F2FAF5">
                    <a:alpha val="99000"/>
                  </a:srgbClr>
                </a:solidFill>
                <a:latin typeface="Inter" pitchFamily="34" charset="0"/>
                <a:ea typeface="Inter" pitchFamily="34" charset="-122"/>
                <a:cs typeface="Inter" pitchFamily="34" charset="-120"/>
              </a:rPr>
              <a:t>• Read state to verify the result</a:t>
            </a:r>
            <a:endParaRPr lang="en-US" sz="1211" dirty="0"/>
          </a:p>
        </p:txBody>
      </p:sp>
      <p:sp>
        <p:nvSpPr>
          <p:cNvPr id="11" name="Text 8"/>
          <p:cNvSpPr/>
          <p:nvPr/>
        </p:nvSpPr>
        <p:spPr>
          <a:xfrm>
            <a:off x="571500" y="3619500"/>
            <a:ext cx="8001000" cy="209550"/>
          </a:xfrm>
          <a:prstGeom prst="rect">
            <a:avLst/>
          </a:prstGeom>
          <a:noFill/>
          <a:ln/>
        </p:spPr>
        <p:txBody>
          <a:bodyPr wrap="square" lIns="0" tIns="0" rIns="0" bIns="0" rtlCol="0" anchor="t"/>
          <a:lstStyle/>
          <a:p>
            <a:pPr algn="l" indent="0" marL="0">
              <a:lnSpc>
                <a:spcPts val="1552"/>
              </a:lnSpc>
              <a:buNone/>
            </a:pPr>
            <a:r>
              <a:rPr lang="en-US" sz="1283" b="1" dirty="0">
                <a:solidFill>
                  <a:srgbClr val="5CE5BD">
                    <a:alpha val="99000"/>
                  </a:srgbClr>
                </a:solidFill>
                <a:latin typeface="Inter" pitchFamily="34" charset="0"/>
                <a:ea typeface="Inter" pitchFamily="34" charset="-122"/>
                <a:cs typeface="Inter" pitchFamily="34" charset="-120"/>
              </a:rPr>
              <a:t>MCP is an integration choice. A direct API is enough for one fixed client.</a:t>
            </a:r>
            <a:endParaRPr lang="en-US" sz="1283" dirty="0"/>
          </a:p>
        </p:txBody>
      </p:sp>
      <p:sp>
        <p:nvSpPr>
          <p:cNvPr id="12" name="Text 9"/>
          <p:cNvSpPr/>
          <p:nvPr/>
        </p:nvSpPr>
        <p:spPr>
          <a:xfrm>
            <a:off x="571500" y="4286250"/>
            <a:ext cx="8001000" cy="219075"/>
          </a:xfrm>
          <a:prstGeom prst="rect">
            <a:avLst/>
          </a:prstGeom>
          <a:noFill/>
          <a:ln/>
        </p:spPr>
        <p:txBody>
          <a:bodyPr wrap="square" lIns="0" tIns="0" rIns="0" bIns="0" rtlCol="0" anchor="t"/>
          <a:lstStyle/>
          <a:p>
            <a:pPr algn="l" indent="0" marL="0">
              <a:lnSpc>
                <a:spcPts val="1638"/>
              </a:lnSpc>
              <a:buNone/>
            </a:pPr>
            <a:r>
              <a:rPr lang="en-US" sz="1354" dirty="0">
                <a:solidFill>
                  <a:srgbClr val="F2FAF5">
                    <a:alpha val="99000"/>
                  </a:srgbClr>
                </a:solidFill>
                <a:latin typeface="Inter" pitchFamily="34" charset="0"/>
                <a:ea typeface="Inter" pitchFamily="34" charset="-122"/>
                <a:cs typeface="Inter" pitchFamily="34" charset="-120"/>
              </a:rPr>
              <a:t>Use MCP when multiple compatible hosts need live, reusable app capabilities.</a:t>
            </a:r>
            <a:endParaRPr lang="en-US" sz="1354" dirty="0"/>
          </a:p>
        </p:txBody>
      </p:sp>
      <p:sp>
        <p:nvSpPr>
          <p:cNvPr id="13" name="Text 10"/>
          <p:cNvSpPr/>
          <p:nvPr/>
        </p:nvSpPr>
        <p:spPr>
          <a:xfrm>
            <a:off x="8310562" y="4862513"/>
            <a:ext cx="619125" cy="138113"/>
          </a:xfrm>
          <a:prstGeom prst="rect">
            <a:avLst/>
          </a:prstGeom>
          <a:noFill/>
          <a:ln/>
        </p:spPr>
        <p:txBody>
          <a:bodyPr wrap="square" lIns="0" tIns="0" rIns="0" bIns="0" rtlCol="0" anchor="t"/>
          <a:lstStyle/>
          <a:p>
            <a:pPr algn="l" indent="0" marL="0">
              <a:lnSpc>
                <a:spcPts val="1035"/>
              </a:lnSpc>
              <a:buNone/>
            </a:pPr>
            <a:r>
              <a:rPr lang="en-US" sz="855" dirty="0">
                <a:solidFill>
                  <a:srgbClr val="F2FAF5">
                    <a:alpha val="99000"/>
                  </a:srgbClr>
                </a:solidFill>
                <a:latin typeface="Inter" pitchFamily="34" charset="0"/>
                <a:ea typeface="Inter" pitchFamily="34" charset="-122"/>
                <a:cs typeface="Inter" pitchFamily="34" charset="-120"/>
              </a:rPr>
              <a:t>19 / 29</a:t>
            </a:r>
            <a:endParaRPr lang="en-US" sz="85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8310562" y="4862513"/>
            <a:ext cx="619125" cy="138113"/>
          </a:xfrm>
          <a:prstGeom prst="rect">
            <a:avLst/>
          </a:prstGeom>
          <a:noFill/>
          <a:ln/>
        </p:spPr>
        <p:txBody>
          <a:bodyPr wrap="square" lIns="0" tIns="0" rIns="0" bIns="0" rtlCol="0" anchor="t"/>
          <a:lstStyle/>
          <a:p>
            <a:pPr algn="l" indent="0" marL="0">
              <a:lnSpc>
                <a:spcPts val="1035"/>
              </a:lnSpc>
              <a:buNone/>
            </a:pPr>
            <a:r>
              <a:rPr lang="en-US" sz="855" dirty="0">
                <a:solidFill>
                  <a:srgbClr val="F2FAF5">
                    <a:alpha val="99000"/>
                  </a:srgbClr>
                </a:solidFill>
                <a:latin typeface="Inter" pitchFamily="34" charset="0"/>
                <a:ea typeface="Inter" pitchFamily="34" charset="-122"/>
                <a:cs typeface="Inter" pitchFamily="34" charset="-120"/>
              </a:rPr>
              <a:t>20 / 29</a:t>
            </a:r>
            <a:endParaRPr lang="en-US" sz="855" dirty="0"/>
          </a:p>
        </p:txBody>
      </p:sp>
      <p:sp>
        <p:nvSpPr>
          <p:cNvPr id="4" name="Text 1"/>
          <p:cNvSpPr/>
          <p:nvPr/>
        </p:nvSpPr>
        <p:spPr>
          <a:xfrm>
            <a:off x="571500" y="304800"/>
            <a:ext cx="8001000" cy="357188"/>
          </a:xfrm>
          <a:prstGeom prst="rect">
            <a:avLst/>
          </a:prstGeom>
          <a:noFill/>
          <a:ln/>
        </p:spPr>
        <p:txBody>
          <a:bodyPr wrap="square" lIns="0" tIns="0" rIns="0" bIns="0" rtlCol="0" anchor="t"/>
          <a:lstStyle/>
          <a:p>
            <a:pPr algn="l" indent="0" marL="0">
              <a:lnSpc>
                <a:spcPts val="2673"/>
              </a:lnSpc>
              <a:buNone/>
            </a:pPr>
            <a:r>
              <a:rPr lang="en-US" sz="2209" b="1" dirty="0">
                <a:solidFill>
                  <a:srgbClr val="5CE5BD">
                    <a:alpha val="99000"/>
                  </a:srgbClr>
                </a:solidFill>
                <a:latin typeface="Inter" pitchFamily="34" charset="0"/>
                <a:ea typeface="Inter" pitchFamily="34" charset="-122"/>
                <a:cs typeface="Inter" pitchFamily="34" charset="-120"/>
              </a:rPr>
              <a:t>MCP BUILD · six parts, one tool</a:t>
            </a:r>
            <a:endParaRPr lang="en-US" sz="2209" dirty="0"/>
          </a:p>
        </p:txBody>
      </p:sp>
      <p:sp>
        <p:nvSpPr>
          <p:cNvPr id="5" name="Shape 2"/>
          <p:cNvSpPr/>
          <p:nvPr/>
        </p:nvSpPr>
        <p:spPr>
          <a:xfrm>
            <a:off x="571500" y="1119188"/>
            <a:ext cx="5048250" cy="3357563"/>
          </a:xfrm>
          <a:prstGeom prst="roundRect">
            <a:avLst>
              <a:gd name="adj" fmla="val 4357"/>
            </a:avLst>
          </a:prstGeom>
          <a:solidFill>
            <a:srgbClr val="061717"/>
          </a:solidFill>
          <a:ln/>
        </p:spPr>
      </p:sp>
      <p:sp>
        <p:nvSpPr>
          <p:cNvPr id="6" name="Text 3"/>
          <p:cNvSpPr/>
          <p:nvPr/>
        </p:nvSpPr>
        <p:spPr>
          <a:xfrm>
            <a:off x="685800" y="1223963"/>
            <a:ext cx="4819650" cy="2019300"/>
          </a:xfrm>
          <a:prstGeom prst="rect">
            <a:avLst/>
          </a:prstGeom>
          <a:noFill/>
          <a:ln/>
        </p:spPr>
        <p:txBody>
          <a:bodyPr wrap="square" lIns="0" tIns="0" rIns="0" bIns="0" rtlCol="0" anchor="t"/>
          <a:lstStyle/>
          <a:p>
            <a:pPr algn="l" indent="0" marL="0">
              <a:lnSpc>
                <a:spcPts val="1879"/>
              </a:lnSpc>
              <a:buNone/>
            </a:pPr>
            <a:r>
              <a:rPr lang="en-US" sz="1425" dirty="0">
                <a:solidFill>
                  <a:srgbClr val="F2FAF5">
                    <a:alpha val="99000"/>
                  </a:srgbClr>
                </a:solidFill>
                <a:latin typeface="Roboto Mono" pitchFamily="34" charset="0"/>
                <a:ea typeface="Roboto Mono" pitchFamily="34" charset="-122"/>
                <a:cs typeface="Roboto Mono" pitchFamily="34" charset="-120"/>
              </a:rPr>
              <a:t>YOUR EDIT: mcp_server_sdk.py</a:t>
            </a:r>
            <a:endParaRPr lang="en-US" sz="1425" dirty="0"/>
          </a:p>
          <a:p>
            <a:pPr algn="l" marL="342900" indent="-342900">
              <a:lnSpc>
                <a:spcPts val="1879"/>
              </a:lnSpc>
              <a:buSzPct val="100000"/>
              <a:buFont typeface="+mj-lt"/>
              <a:buAutoNum type="arabicPeriod" startAt="1"/>
            </a:pPr>
            <a:r>
              <a:rPr lang="en-US" sz="1425" dirty="0">
                <a:solidFill>
                  <a:srgbClr val="F2FAF5">
                    <a:alpha val="99000"/>
                  </a:srgbClr>
                </a:solidFill>
                <a:latin typeface="Roboto Mono" pitchFamily="34" charset="0"/>
                <a:ea typeface="Roboto Mono" pitchFamily="34" charset="-122"/>
                <a:cs typeface="Roboto Mono" pitchFamily="34" charset="-120"/>
              </a:rPr>
              <a:t>Register set_swing(amount: int).</a:t>
            </a:r>
            <a:endParaRPr lang="en-US" sz="1425" dirty="0"/>
          </a:p>
          <a:p>
            <a:pPr algn="l" marL="342900" indent="-342900">
              <a:lnSpc>
                <a:spcPts val="1879"/>
              </a:lnSpc>
              <a:buSzPct val="100000"/>
              <a:buFont typeface="+mj-lt"/>
              <a:buAutoNum type="arabicPeriod" startAt="1"/>
            </a:pPr>
            <a:r>
              <a:rPr lang="en-US" sz="1425" dirty="0">
                <a:solidFill>
                  <a:srgbClr val="F2FAF5">
                    <a:alpha val="99000"/>
                  </a:srgbClr>
                </a:solidFill>
                <a:latin typeface="Roboto Mono" pitchFamily="34" charset="0"/>
                <a:ea typeface="Roboto Mono" pitchFamily="34" charset="-122"/>
                <a:cs typeface="Roboto Mono" pitchFamily="34" charset="-120"/>
              </a:rPr>
              <a:t>Describe its purpose and range.</a:t>
            </a:r>
            <a:endParaRPr lang="en-US" sz="1425" dirty="0"/>
          </a:p>
          <a:p>
            <a:pPr algn="l" marL="342900" indent="-342900">
              <a:lnSpc>
                <a:spcPts val="1879"/>
              </a:lnSpc>
              <a:buSzPct val="100000"/>
              <a:buFont typeface="+mj-lt"/>
              <a:buAutoNum type="arabicPeriod" startAt="1"/>
            </a:pPr>
            <a:r>
              <a:rPr lang="en-US" sz="1425" dirty="0">
                <a:solidFill>
                  <a:srgbClr val="F2FAF5">
                    <a:alpha val="99000"/>
                  </a:srgbClr>
                </a:solidFill>
                <a:latin typeface="Roboto Mono" pitchFamily="34" charset="0"/>
                <a:ea typeface="Roboto Mono" pitchFamily="34" charset="-122"/>
                <a:cs typeface="Roboto Mono" pitchFamily="34" charset="-120"/>
              </a:rPr>
              <a:t>Validate 0–75 in Python.</a:t>
            </a:r>
            <a:endParaRPr lang="en-US" sz="1425" dirty="0"/>
          </a:p>
          <a:p>
            <a:pPr algn="l" marL="342900" indent="-342900">
              <a:lnSpc>
                <a:spcPts val="1879"/>
              </a:lnSpc>
              <a:buSzPct val="100000"/>
              <a:buFont typeface="+mj-lt"/>
              <a:buAutoNum type="arabicPeriod" startAt="1"/>
            </a:pPr>
            <a:r>
              <a:rPr lang="en-US" sz="1425" dirty="0">
                <a:solidFill>
                  <a:srgbClr val="F2FAF5">
                    <a:alpha val="99000"/>
                  </a:srgbClr>
                </a:solidFill>
                <a:latin typeface="Roboto Mono" pitchFamily="34" charset="0"/>
                <a:ea typeface="Roboto Mono" pitchFamily="34" charset="-122"/>
                <a:cs typeface="Roboto Mono" pitchFamily="34" charset="-120"/>
              </a:rPr>
              <a:t>call_daw: cmd=set_swing, amount=the validated input.</a:t>
            </a:r>
            <a:endParaRPr lang="en-US" sz="1425" dirty="0"/>
          </a:p>
          <a:p>
            <a:pPr algn="l" marL="342900" indent="-342900">
              <a:lnSpc>
                <a:spcPts val="1879"/>
              </a:lnSpc>
              <a:buSzPct val="100000"/>
              <a:buFont typeface="+mj-lt"/>
              <a:buAutoNum type="arabicPeriod" startAt="1"/>
            </a:pPr>
            <a:r>
              <a:rPr lang="en-US" sz="1425" dirty="0">
                <a:solidFill>
                  <a:srgbClr val="F2FAF5">
                    <a:alpha val="99000"/>
                  </a:srgbClr>
                </a:solidFill>
                <a:latin typeface="Roboto Mono" pitchFamily="34" charset="0"/>
                <a:ea typeface="Roboto Mono" pitchFamily="34" charset="-122"/>
                <a:cs typeface="Roboto Mono" pitchFamily="34" charset="-120"/>
              </a:rPr>
              <a:t>Return the acknowledgement.</a:t>
            </a:r>
            <a:endParaRPr lang="en-US" sz="1425" dirty="0"/>
          </a:p>
          <a:p>
            <a:pPr algn="l" marL="342900" indent="-342900">
              <a:lnSpc>
                <a:spcPts val="1879"/>
              </a:lnSpc>
              <a:buSzPct val="100000"/>
              <a:buFont typeface="+mj-lt"/>
              <a:buAutoNum type="arabicPeriod" startAt="1"/>
            </a:pPr>
            <a:r>
              <a:rPr lang="en-US" sz="1425" dirty="0">
                <a:solidFill>
                  <a:srgbClr val="F2FAF5">
                    <a:alpha val="99000"/>
                  </a:srgbClr>
                </a:solidFill>
                <a:latin typeface="Roboto Mono" pitchFamily="34" charset="0"/>
                <a:ea typeface="Roboto Mono" pitchFamily="34" charset="-122"/>
                <a:cs typeface="Roboto Mono" pitchFamily="34" charset="-120"/>
              </a:rPr>
              <a:t>Read get_state to verify.</a:t>
            </a:r>
            <a:endParaRPr lang="en-US" sz="1425" dirty="0"/>
          </a:p>
        </p:txBody>
      </p:sp>
      <p:sp>
        <p:nvSpPr>
          <p:cNvPr id="7" name="Text 4"/>
          <p:cNvSpPr/>
          <p:nvPr/>
        </p:nvSpPr>
        <p:spPr>
          <a:xfrm>
            <a:off x="5857875" y="1143000"/>
            <a:ext cx="2714625" cy="3429000"/>
          </a:xfrm>
          <a:prstGeom prst="rect">
            <a:avLst/>
          </a:prstGeom>
          <a:noFill/>
          <a:ln/>
        </p:spPr>
        <p:txBody>
          <a:bodyPr wrap="square" lIns="0" tIns="0" rIns="0" bIns="0" rtlCol="0" anchor="t"/>
          <a:lstStyle/>
          <a:p>
            <a:pPr algn="l" indent="0" marL="0">
              <a:lnSpc>
                <a:spcPts val="1725"/>
              </a:lnSpc>
              <a:buNone/>
            </a:pPr>
            <a:r>
              <a:rPr lang="en-US" sz="1425" dirty="0">
                <a:solidFill>
                  <a:srgbClr val="F2FAF5">
                    <a:alpha val="99000"/>
                  </a:srgbClr>
                </a:solidFill>
                <a:latin typeface="Inter" pitchFamily="34" charset="0"/>
                <a:ea typeface="Inter" pitchFamily="34" charset="-122"/>
                <a:cs typeface="Inter" pitchFamily="34" charset="-120"/>
              </a:rPr>
              <a:t>SERVER</a:t>
            </a:r>
            <a:endParaRPr lang="en-US" sz="1425" dirty="0"/>
          </a:p>
          <a:p>
            <a:pPr algn="l" indent="0" marL="0">
              <a:lnSpc>
                <a:spcPts val="1725"/>
              </a:lnSpc>
              <a:buNone/>
            </a:pPr>
            <a:r>
              <a:rPr lang="en-US" sz="1425" dirty="0">
                <a:solidFill>
                  <a:srgbClr val="F2FAF5">
                    <a:alpha val="99000"/>
                  </a:srgbClr>
                </a:solidFill>
                <a:latin typeface="Inter" pitchFamily="34" charset="0"/>
                <a:ea typeface="Inter" pitchFamily="34" charset="-122"/>
                <a:cs typeface="Inter" pitchFamily="34" charset="-120"/>
              </a:rPr>
              <a:t>Reuse the supplied FastMCP instance.</a:t>
            </a:r>
            <a:endParaRPr lang="en-US" sz="1425" dirty="0"/>
          </a:p>
          <a:p>
            <a:pPr algn="l" indent="0" marL="0">
              <a:lnSpc>
                <a:spcPts val="1725"/>
              </a:lnSpc>
              <a:buNone/>
            </a:pPr>
            <a:r>
              <a:rPr lang="en-US" sz="1425" dirty="0">
                <a:solidFill>
                  <a:srgbClr val="F2FAF5">
                    <a:alpha val="99000"/>
                  </a:srgbClr>
                </a:solidFill>
                <a:latin typeface="Inter" pitchFamily="34" charset="0"/>
                <a:ea typeface="Inter" pitchFamily="34" charset="-122"/>
                <a:cs typeface="Inter" pitchFamily="34" charset="-120"/>
              </a:rPr>
              <a:t>TOOL CONTRACT</a:t>
            </a:r>
            <a:endParaRPr lang="en-US" sz="1425" dirty="0"/>
          </a:p>
          <a:p>
            <a:pPr algn="l" indent="0" marL="0">
              <a:lnSpc>
                <a:spcPts val="1725"/>
              </a:lnSpc>
              <a:buNone/>
            </a:pPr>
            <a:r>
              <a:rPr lang="en-US" sz="1425" dirty="0">
                <a:solidFill>
                  <a:srgbClr val="F2FAF5">
                    <a:alpha val="99000"/>
                  </a:srgbClr>
                </a:solidFill>
                <a:latin typeface="Inter" pitchFamily="34" charset="0"/>
                <a:ea typeface="Inter" pitchFamily="34" charset="-122"/>
                <a:cs typeface="Inter" pitchFamily="34" charset="-120"/>
              </a:rPr>
              <a:t>Decorator + name + type + description.</a:t>
            </a:r>
            <a:endParaRPr lang="en-US" sz="1425" dirty="0"/>
          </a:p>
          <a:p>
            <a:pPr algn="l" indent="0" marL="0">
              <a:lnSpc>
                <a:spcPts val="1725"/>
              </a:lnSpc>
              <a:buNone/>
            </a:pPr>
            <a:r>
              <a:rPr lang="en-US" sz="1425" dirty="0">
                <a:solidFill>
                  <a:srgbClr val="F2FAF5">
                    <a:alpha val="99000"/>
                  </a:srgbClr>
                </a:solidFill>
                <a:latin typeface="Inter" pitchFamily="34" charset="0"/>
                <a:ea typeface="Inter" pitchFamily="34" charset="-122"/>
                <a:cs typeface="Inter" pitchFamily="34" charset="-120"/>
              </a:rPr>
              <a:t>VALIDATION + ADAPTER</a:t>
            </a:r>
            <a:endParaRPr lang="en-US" sz="1425" dirty="0"/>
          </a:p>
          <a:p>
            <a:pPr algn="l" indent="0" marL="0">
              <a:lnSpc>
                <a:spcPts val="1725"/>
              </a:lnSpc>
              <a:buNone/>
            </a:pPr>
            <a:r>
              <a:rPr lang="en-US" sz="1425" dirty="0">
                <a:solidFill>
                  <a:srgbClr val="F2FAF5">
                    <a:alpha val="99000"/>
                  </a:srgbClr>
                </a:solidFill>
                <a:latin typeface="Inter" pitchFamily="34" charset="0"/>
                <a:ea typeface="Inter" pitchFamily="34" charset="-122"/>
                <a:cs typeface="Inter" pitchFamily="34" charset="-120"/>
              </a:rPr>
              <a:t>Check the range; send the app command.</a:t>
            </a:r>
            <a:endParaRPr lang="en-US" sz="1425" dirty="0"/>
          </a:p>
          <a:p>
            <a:pPr algn="l" indent="0" marL="0">
              <a:lnSpc>
                <a:spcPts val="1725"/>
              </a:lnSpc>
              <a:buNone/>
            </a:pPr>
            <a:r>
              <a:rPr lang="en-US" sz="1425" dirty="0">
                <a:solidFill>
                  <a:srgbClr val="F2FAF5">
                    <a:alpha val="99000"/>
                  </a:srgbClr>
                </a:solidFill>
                <a:latin typeface="Inter" pitchFamily="34" charset="0"/>
                <a:ea typeface="Inter" pitchFamily="34" charset="-122"/>
                <a:cs typeface="Inter" pitchFamily="34" charset="-120"/>
              </a:rPr>
              <a:t>RESULT + TRANSPORT</a:t>
            </a:r>
            <a:endParaRPr lang="en-US" sz="1425" dirty="0"/>
          </a:p>
          <a:p>
            <a:pPr algn="l" indent="0" marL="0">
              <a:lnSpc>
                <a:spcPts val="1725"/>
              </a:lnSpc>
              <a:buNone/>
            </a:pPr>
            <a:r>
              <a:rPr lang="en-US" sz="1425" dirty="0">
                <a:solidFill>
                  <a:srgbClr val="F2FAF5">
                    <a:alpha val="99000"/>
                  </a:srgbClr>
                </a:solidFill>
                <a:latin typeface="Inter" pitchFamily="34" charset="0"/>
                <a:ea typeface="Inter" pitchFamily="34" charset="-122"/>
                <a:cs typeface="Inter" pitchFamily="34" charset="-120"/>
              </a:rPr>
              <a:t>Verify queued work. Keep stdio startup.</a:t>
            </a:r>
            <a:endParaRPr lang="en-US" sz="1425" dirty="0"/>
          </a:p>
        </p:txBody>
      </p:sp>
      <p:sp>
        <p:nvSpPr>
          <p:cNvPr id="8" name="Text 5"/>
          <p:cNvSpPr/>
          <p:nvPr/>
        </p:nvSpPr>
        <p:spPr>
          <a:xfrm>
            <a:off x="571500" y="4586288"/>
            <a:ext cx="8001000" cy="161925"/>
          </a:xfrm>
          <a:prstGeom prst="rect">
            <a:avLst/>
          </a:prstGeom>
          <a:noFill/>
          <a:ln/>
        </p:spPr>
        <p:txBody>
          <a:bodyPr wrap="square" lIns="0" tIns="0" rIns="0" bIns="0" rtlCol="0" anchor="t"/>
          <a:lstStyle/>
          <a:p>
            <a:pPr algn="l" indent="0" marL="0">
              <a:lnSpc>
                <a:spcPts val="1207"/>
              </a:lnSpc>
              <a:buNone/>
            </a:pPr>
            <a:r>
              <a:rPr lang="en-US" sz="998" b="1" dirty="0">
                <a:solidFill>
                  <a:srgbClr val="5CE5BD">
                    <a:alpha val="99000"/>
                  </a:srgbClr>
                </a:solidFill>
                <a:latin typeface="Inter" pitchFamily="34" charset="0"/>
                <a:ea typeface="Inter" pitchFamily="34" charset="-122"/>
                <a:cs typeface="Inter" pitchFamily="34" charset="-120"/>
              </a:rPr>
              <a:t>FastMCP handles the order channel. app.py does the work. get_state checks what actually changed.</a:t>
            </a:r>
            <a:endParaRPr lang="en-US" sz="998"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366713"/>
          </a:xfrm>
          <a:prstGeom prst="rect">
            <a:avLst/>
          </a:prstGeom>
          <a:noFill/>
          <a:ln/>
        </p:spPr>
        <p:txBody>
          <a:bodyPr wrap="square" lIns="0" tIns="0" rIns="0" bIns="0" rtlCol="0" anchor="t"/>
          <a:lstStyle/>
          <a:p>
            <a:pPr algn="l" indent="0" marL="0">
              <a:lnSpc>
                <a:spcPts val="2759"/>
              </a:lnSpc>
              <a:buNone/>
            </a:pPr>
            <a:r>
              <a:rPr lang="en-US" sz="2280" b="1" dirty="0">
                <a:solidFill>
                  <a:srgbClr val="5CE5BD">
                    <a:alpha val="99000"/>
                  </a:srgbClr>
                </a:solidFill>
                <a:latin typeface="Inter" pitchFamily="34" charset="0"/>
                <a:ea typeface="Inter" pitchFamily="34" charset="-122"/>
                <a:cs typeface="Inter" pitchFamily="34" charset="-120"/>
              </a:rPr>
              <a:t>MCP BUILD · edit mcp_server_sdk.py</a:t>
            </a:r>
            <a:endParaRPr lang="en-US" sz="2280" dirty="0"/>
          </a:p>
        </p:txBody>
      </p:sp>
      <p:sp>
        <p:nvSpPr>
          <p:cNvPr id="4" name="Text 1"/>
          <p:cNvSpPr/>
          <p:nvPr/>
        </p:nvSpPr>
        <p:spPr>
          <a:xfrm>
            <a:off x="571500" y="976312"/>
            <a:ext cx="8001000" cy="180975"/>
          </a:xfrm>
          <a:prstGeom prst="rect">
            <a:avLst/>
          </a:prstGeom>
          <a:noFill/>
          <a:ln/>
        </p:spPr>
        <p:txBody>
          <a:bodyPr wrap="square" lIns="0" tIns="0" rIns="0" bIns="0" rtlCol="0" anchor="t"/>
          <a:lstStyle/>
          <a:p>
            <a:pPr algn="l" indent="0" marL="0">
              <a:lnSpc>
                <a:spcPts val="1337"/>
              </a:lnSpc>
              <a:buNone/>
            </a:pPr>
            <a:r>
              <a:rPr lang="en-US" sz="1104" dirty="0">
                <a:solidFill>
                  <a:srgbClr val="F2FAF5">
                    <a:alpha val="99000"/>
                  </a:srgbClr>
                </a:solidFill>
                <a:latin typeface="Inter" pitchFamily="34" charset="0"/>
                <a:ea typeface="Inter" pitchFamily="34" charset="-122"/>
                <a:cs typeface="Inter" pitchFamily="34" charset="-120"/>
              </a:rPr>
              <a:t>1  Explorer → MCPJAM       2  mcp_server_sdk.py       3  Add below “Student exercise”</a:t>
            </a:r>
            <a:endParaRPr lang="en-US" sz="1104" dirty="0"/>
          </a:p>
        </p:txBody>
      </p:sp>
      <p:pic>
        <p:nvPicPr>
          <p:cNvPr id="5" name="Image 0" descr="preencoded.png">    </p:cNvPr>
          <p:cNvPicPr>
            <a:picLocks noChangeAspect="1"/>
          </p:cNvPicPr>
          <p:nvPr/>
        </p:nvPicPr>
        <p:blipFill>
          <a:blip r:embed="rId2"/>
          <a:srcRect l="0" r="0" t="0" b="0"/>
          <a:stretch/>
        </p:blipFill>
        <p:spPr>
          <a:xfrm>
            <a:off x="857250" y="1319213"/>
            <a:ext cx="7429500" cy="3257550"/>
          </a:xfrm>
          <a:prstGeom prst="rect">
            <a:avLst/>
          </a:prstGeom>
        </p:spPr>
      </p:pic>
      <p:sp>
        <p:nvSpPr>
          <p:cNvPr id="6" name="Text 2"/>
          <p:cNvSpPr/>
          <p:nvPr/>
        </p:nvSpPr>
        <p:spPr>
          <a:xfrm>
            <a:off x="571500" y="4652963"/>
            <a:ext cx="8001000" cy="166688"/>
          </a:xfrm>
          <a:prstGeom prst="rect">
            <a:avLst/>
          </a:prstGeom>
          <a:noFill/>
          <a:ln/>
        </p:spPr>
        <p:txBody>
          <a:bodyPr wrap="square" lIns="0" tIns="0" rIns="0" bIns="0" rtlCol="0" anchor="t"/>
          <a:lstStyle/>
          <a:p>
            <a:pPr algn="l" indent="0" marL="0">
              <a:lnSpc>
                <a:spcPts val="1250"/>
              </a:lnSpc>
              <a:buNone/>
            </a:pPr>
            <a:r>
              <a:rPr lang="en-US" sz="1033" dirty="0">
                <a:solidFill>
                  <a:srgbClr val="F2FAF5">
                    <a:alpha val="99000"/>
                  </a:srgbClr>
                </a:solidFill>
                <a:latin typeface="Inter" pitchFamily="34" charset="0"/>
                <a:ea typeface="Inter" pitchFamily="34" charset="-122"/>
                <a:cs typeface="Inter" pitchFamily="34" charset="-120"/>
              </a:rPr>
              <a:t>Keep it above server startup. Save → reconnect → test → verify with get_state.</a:t>
            </a:r>
            <a:endParaRPr lang="en-US" sz="1033" dirty="0"/>
          </a:p>
        </p:txBody>
      </p:sp>
      <p:sp>
        <p:nvSpPr>
          <p:cNvPr id="7" name="Text 3"/>
          <p:cNvSpPr/>
          <p:nvPr/>
        </p:nvSpPr>
        <p:spPr>
          <a:xfrm>
            <a:off x="8310562" y="4862513"/>
            <a:ext cx="619125" cy="138113"/>
          </a:xfrm>
          <a:prstGeom prst="rect">
            <a:avLst/>
          </a:prstGeom>
          <a:noFill/>
          <a:ln/>
        </p:spPr>
        <p:txBody>
          <a:bodyPr wrap="square" lIns="0" tIns="0" rIns="0" bIns="0" rtlCol="0" anchor="t"/>
          <a:lstStyle/>
          <a:p>
            <a:pPr algn="l" indent="0" marL="0">
              <a:lnSpc>
                <a:spcPts val="1035"/>
              </a:lnSpc>
              <a:buNone/>
            </a:pPr>
            <a:r>
              <a:rPr lang="en-US" sz="855" dirty="0">
                <a:solidFill>
                  <a:srgbClr val="F2FAF5">
                    <a:alpha val="99000"/>
                  </a:srgbClr>
                </a:solidFill>
                <a:latin typeface="Inter" pitchFamily="34" charset="0"/>
                <a:ea typeface="Inter" pitchFamily="34" charset="-122"/>
                <a:cs typeface="Inter" pitchFamily="34" charset="-120"/>
              </a:rPr>
              <a:t>21 / 29</a:t>
            </a:r>
            <a:endParaRPr lang="en-US" sz="85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MCP TEST · discover, call, verify</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381125"/>
            <a:ext cx="5524500" cy="1590675"/>
          </a:xfrm>
          <a:prstGeom prst="rect">
            <a:avLst/>
          </a:prstGeom>
          <a:noFill/>
          <a:ln/>
        </p:spPr>
      </p:sp>
      <p:sp>
        <p:nvSpPr>
          <p:cNvPr id="6" name="Text 3"/>
          <p:cNvSpPr/>
          <p:nvPr/>
        </p:nvSpPr>
        <p:spPr>
          <a:xfrm>
            <a:off x="571500" y="1381125"/>
            <a:ext cx="5524500" cy="261937"/>
          </a:xfrm>
          <a:prstGeom prst="rect">
            <a:avLst/>
          </a:prstGeom>
          <a:noFill/>
          <a:ln/>
        </p:spPr>
        <p:txBody>
          <a:bodyPr wrap="square" lIns="0" tIns="0" rIns="0" bIns="0" rtlCol="0" anchor="t"/>
          <a:lstStyle/>
          <a:p>
            <a:pPr algn="l" indent="0" marL="0">
              <a:lnSpc>
                <a:spcPts val="1959"/>
              </a:lnSpc>
              <a:buNone/>
            </a:pPr>
            <a:r>
              <a:rPr lang="en-US" sz="1568" dirty="0">
                <a:solidFill>
                  <a:srgbClr val="F5FFFA">
                    <a:alpha val="99000"/>
                  </a:srgbClr>
                </a:solidFill>
                <a:latin typeface="Inter" pitchFamily="34" charset="0"/>
                <a:ea typeface="Inter" pitchFamily="34" charset="-122"/>
                <a:cs typeface="Inter" pitchFamily="34" charset="-120"/>
              </a:rPr>
              <a:t>1  Implement and save your tool.</a:t>
            </a:r>
            <a:endParaRPr lang="en-US" sz="1568" dirty="0"/>
          </a:p>
        </p:txBody>
      </p:sp>
      <p:sp>
        <p:nvSpPr>
          <p:cNvPr id="7" name="Text 4"/>
          <p:cNvSpPr/>
          <p:nvPr/>
        </p:nvSpPr>
        <p:spPr>
          <a:xfrm>
            <a:off x="571500" y="1824038"/>
            <a:ext cx="5524500" cy="261937"/>
          </a:xfrm>
          <a:prstGeom prst="rect">
            <a:avLst/>
          </a:prstGeom>
          <a:noFill/>
          <a:ln/>
        </p:spPr>
        <p:txBody>
          <a:bodyPr wrap="square" lIns="0" tIns="0" rIns="0" bIns="0" rtlCol="0" anchor="t"/>
          <a:lstStyle/>
          <a:p>
            <a:pPr algn="l" indent="0" marL="0">
              <a:lnSpc>
                <a:spcPts val="1959"/>
              </a:lnSpc>
              <a:buNone/>
            </a:pPr>
            <a:r>
              <a:rPr lang="en-US" sz="1568" dirty="0">
                <a:solidFill>
                  <a:srgbClr val="F5FFFA">
                    <a:alpha val="99000"/>
                  </a:srgbClr>
                </a:solidFill>
                <a:latin typeface="Inter" pitchFamily="34" charset="0"/>
                <a:ea typeface="Inter" pitchFamily="34" charset="-122"/>
                <a:cs typeface="Inter" pitchFamily="34" charset="-120"/>
              </a:rPr>
              <a:t>2  Restart or reconnect to load the changes.</a:t>
            </a:r>
            <a:endParaRPr lang="en-US" sz="1568" dirty="0"/>
          </a:p>
        </p:txBody>
      </p:sp>
      <p:sp>
        <p:nvSpPr>
          <p:cNvPr id="8" name="Text 5"/>
          <p:cNvSpPr/>
          <p:nvPr/>
        </p:nvSpPr>
        <p:spPr>
          <a:xfrm>
            <a:off x="571500" y="2266950"/>
            <a:ext cx="5524500" cy="261937"/>
          </a:xfrm>
          <a:prstGeom prst="rect">
            <a:avLst/>
          </a:prstGeom>
          <a:noFill/>
          <a:ln/>
        </p:spPr>
        <p:txBody>
          <a:bodyPr wrap="square" lIns="0" tIns="0" rIns="0" bIns="0" rtlCol="0" anchor="t"/>
          <a:lstStyle/>
          <a:p>
            <a:pPr algn="l" indent="0" marL="0">
              <a:lnSpc>
                <a:spcPts val="1959"/>
              </a:lnSpc>
              <a:buNone/>
            </a:pPr>
            <a:r>
              <a:rPr lang="en-US" sz="1568" dirty="0">
                <a:solidFill>
                  <a:srgbClr val="F5FFFA">
                    <a:alpha val="99000"/>
                  </a:srgbClr>
                </a:solidFill>
                <a:latin typeface="Inter" pitchFamily="34" charset="0"/>
                <a:ea typeface="Inter" pitchFamily="34" charset="-122"/>
                <a:cs typeface="Inter" pitchFamily="34" charset="-120"/>
              </a:rPr>
              <a:t>3  Confirm discovery and test explicit inputs.</a:t>
            </a:r>
            <a:endParaRPr lang="en-US" sz="1568" dirty="0"/>
          </a:p>
        </p:txBody>
      </p:sp>
      <p:sp>
        <p:nvSpPr>
          <p:cNvPr id="9" name="Text 6"/>
          <p:cNvSpPr/>
          <p:nvPr/>
        </p:nvSpPr>
        <p:spPr>
          <a:xfrm>
            <a:off x="571500" y="2709863"/>
            <a:ext cx="5524500" cy="261937"/>
          </a:xfrm>
          <a:prstGeom prst="rect">
            <a:avLst/>
          </a:prstGeom>
          <a:noFill/>
          <a:ln/>
        </p:spPr>
        <p:txBody>
          <a:bodyPr wrap="square" lIns="0" tIns="0" rIns="0" bIns="0" rtlCol="0" anchor="t"/>
          <a:lstStyle/>
          <a:p>
            <a:pPr algn="l" indent="0" marL="0">
              <a:lnSpc>
                <a:spcPts val="1959"/>
              </a:lnSpc>
              <a:buNone/>
            </a:pPr>
            <a:r>
              <a:rPr lang="en-US" sz="1568" dirty="0">
                <a:solidFill>
                  <a:srgbClr val="F5FFFA">
                    <a:alpha val="99000"/>
                  </a:srgbClr>
                </a:solidFill>
                <a:latin typeface="Inter" pitchFamily="34" charset="0"/>
                <a:ea typeface="Inter" pitchFamily="34" charset="-122"/>
                <a:cs typeface="Inter" pitchFamily="34" charset="-120"/>
              </a:rPr>
              <a:t>4  Use get_state to verify the change.</a:t>
            </a:r>
            <a:endParaRPr lang="en-US" sz="1568" dirty="0"/>
          </a:p>
        </p:txBody>
      </p:sp>
      <p:pic>
        <p:nvPicPr>
          <p:cNvPr id="10" name="Image 0" descr="preencoded.png">    </p:cNvPr>
          <p:cNvPicPr>
            <a:picLocks noChangeAspect="1"/>
          </p:cNvPicPr>
          <p:nvPr/>
        </p:nvPicPr>
        <p:blipFill>
          <a:blip r:embed="rId2"/>
          <a:srcRect l="0" r="0" t="0" b="0"/>
          <a:stretch/>
        </p:blipFill>
        <p:spPr>
          <a:xfrm>
            <a:off x="6667500" y="1738313"/>
            <a:ext cx="1809750" cy="1809750"/>
          </a:xfrm>
          <a:prstGeom prst="rect">
            <a:avLst/>
          </a:prstGeom>
        </p:spPr>
      </p:pic>
      <p:sp>
        <p:nvSpPr>
          <p:cNvPr id="11" name="Text 7"/>
          <p:cNvSpPr/>
          <p:nvPr/>
        </p:nvSpPr>
        <p:spPr>
          <a:xfrm>
            <a:off x="6667500" y="3690937"/>
            <a:ext cx="1905000" cy="466725"/>
          </a:xfrm>
          <a:prstGeom prst="rect">
            <a:avLst/>
          </a:prstGeom>
          <a:noFill/>
          <a:ln/>
        </p:spPr>
        <p:txBody>
          <a:bodyPr wrap="square" lIns="0" tIns="0" rIns="0" bIns="0" rtlCol="0" anchor="t"/>
          <a:lstStyle/>
          <a:p>
            <a:pPr algn="l" indent="0" marL="0">
              <a:lnSpc>
                <a:spcPts val="1737"/>
              </a:lnSpc>
              <a:buNone/>
            </a:pPr>
            <a:r>
              <a:rPr lang="en-US" sz="1389" b="1" dirty="0">
                <a:solidFill>
                  <a:srgbClr val="F5FFFA">
                    <a:alpha val="99000"/>
                  </a:srgbClr>
                </a:solidFill>
                <a:latin typeface="Inter" pitchFamily="34" charset="0"/>
                <a:ea typeface="Inter" pitchFamily="34" charset="-122"/>
                <a:cs typeface="Inter" pitchFamily="34" charset="-120"/>
              </a:rPr>
              <a:t>15 minutes.</a:t>
            </a:r>
            <a:endParaRPr lang="en-US" sz="1389" dirty="0"/>
          </a:p>
          <a:p>
            <a:pPr algn="l" indent="0" marL="0">
              <a:lnSpc>
                <a:spcPts val="1737"/>
              </a:lnSpc>
              <a:buNone/>
            </a:pPr>
            <a:r>
              <a:rPr lang="en-US" sz="1389" b="1" dirty="0">
                <a:solidFill>
                  <a:srgbClr val="F5FFFA">
                    <a:alpha val="99000"/>
                  </a:srgbClr>
                </a:solidFill>
                <a:latin typeface="Inter" pitchFamily="34" charset="0"/>
                <a:ea typeface="Inter" pitchFamily="34" charset="-122"/>
                <a:cs typeface="Inter" pitchFamily="34" charset="-120"/>
              </a:rPr>
              <a:t>Test and adapt.</a:t>
            </a:r>
            <a:endParaRPr lang="en-US" sz="1389" dirty="0"/>
          </a:p>
        </p:txBody>
      </p:sp>
      <p:sp>
        <p:nvSpPr>
          <p:cNvPr id="12" name="Text 8"/>
          <p:cNvSpPr/>
          <p:nvPr/>
        </p:nvSpPr>
        <p:spPr>
          <a:xfrm>
            <a:off x="571500" y="4414838"/>
            <a:ext cx="8001000" cy="228600"/>
          </a:xfrm>
          <a:prstGeom prst="rect">
            <a:avLst/>
          </a:prstGeom>
          <a:noFill/>
          <a:ln/>
        </p:spPr>
        <p:txBody>
          <a:bodyPr wrap="square" lIns="0" tIns="0" rIns="0" bIns="0" rtlCol="0" anchor="t"/>
          <a:lstStyle/>
          <a:p>
            <a:pPr algn="l" indent="0" marL="0">
              <a:lnSpc>
                <a:spcPts val="1692"/>
              </a:lnSpc>
              <a:buNone/>
            </a:pPr>
            <a:r>
              <a:rPr lang="en-US" sz="1354" b="1" dirty="0">
                <a:solidFill>
                  <a:srgbClr val="F5FFFA">
                    <a:alpha val="99000"/>
                  </a:srgbClr>
                </a:solidFill>
                <a:latin typeface="Inter" pitchFamily="34" charset="0"/>
                <a:ea typeface="Inter" pitchFamily="34" charset="-122"/>
                <a:cs typeface="Inter" pitchFamily="34" charset="-120"/>
              </a:rPr>
              <a:t>25–40 min · build, reconnect, test, then explain to a partner</a:t>
            </a:r>
            <a:endParaRPr lang="en-US" sz="1354" dirty="0"/>
          </a:p>
        </p:txBody>
      </p:sp>
      <p:sp>
        <p:nvSpPr>
          <p:cNvPr id="13" name="Text 9"/>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22 / 29</a:t>
            </a:r>
            <a:endParaRPr lang="en-US" sz="855" dirty="0"/>
          </a:p>
        </p:txBody>
      </p:sp>
      <p:sp>
        <p:nvSpPr>
          <p:cNvPr id="14" name="Shape 10"/>
          <p:cNvSpPr/>
          <p:nvPr/>
        </p:nvSpPr>
        <p:spPr>
          <a:xfrm>
            <a:off x="571500" y="3200400"/>
            <a:ext cx="5667375" cy="714375"/>
          </a:xfrm>
          <a:prstGeom prst="roundRect">
            <a:avLst>
              <a:gd name="adj" fmla="val 15360"/>
            </a:avLst>
          </a:prstGeom>
          <a:solidFill>
            <a:srgbClr val="092925"/>
          </a:solidFill>
          <a:ln/>
        </p:spPr>
      </p:sp>
      <p:sp>
        <p:nvSpPr>
          <p:cNvPr id="15" name="Text 11"/>
          <p:cNvSpPr/>
          <p:nvPr/>
        </p:nvSpPr>
        <p:spPr>
          <a:xfrm>
            <a:off x="666750" y="3257550"/>
            <a:ext cx="5476875" cy="128588"/>
          </a:xfrm>
          <a:prstGeom prst="rect">
            <a:avLst/>
          </a:prstGeom>
          <a:noFill/>
          <a:ln/>
        </p:spPr>
        <p:txBody>
          <a:bodyPr wrap="square" lIns="0" tIns="0" rIns="0" bIns="0" rtlCol="0" anchor="t"/>
          <a:lstStyle/>
          <a:p>
            <a:pPr algn="l" indent="0" marL="0">
              <a:lnSpc>
                <a:spcPts val="949"/>
              </a:lnSpc>
              <a:buNone/>
            </a:pPr>
            <a:r>
              <a:rPr lang="en-US" sz="784" b="1" dirty="0">
                <a:solidFill>
                  <a:srgbClr val="5CE5BD">
                    <a:alpha val="99000"/>
                  </a:srgbClr>
                </a:solidFill>
                <a:latin typeface="Inter" pitchFamily="34" charset="0"/>
                <a:ea typeface="Inter" pitchFamily="34" charset="-122"/>
                <a:cs typeface="Inter" pitchFamily="34" charset="-120"/>
              </a:rPr>
              <a:t>2 / 3 · PRIZE QUESTION  ·  Hands up!</a:t>
            </a:r>
            <a:endParaRPr lang="en-US" sz="784" dirty="0"/>
          </a:p>
        </p:txBody>
      </p:sp>
      <p:sp>
        <p:nvSpPr>
          <p:cNvPr id="16" name="Text 12"/>
          <p:cNvSpPr/>
          <p:nvPr/>
        </p:nvSpPr>
        <p:spPr>
          <a:xfrm>
            <a:off x="666750" y="3414713"/>
            <a:ext cx="5476875" cy="185738"/>
          </a:xfrm>
          <a:prstGeom prst="rect">
            <a:avLst/>
          </a:prstGeom>
          <a:noFill/>
          <a:ln/>
        </p:spPr>
        <p:txBody>
          <a:bodyPr wrap="square" lIns="0" tIns="0" rIns="0" bIns="0" rtlCol="0" anchor="t"/>
          <a:lstStyle/>
          <a:p>
            <a:pPr algn="l" indent="0" marL="0">
              <a:lnSpc>
                <a:spcPts val="1380"/>
              </a:lnSpc>
              <a:buNone/>
            </a:pPr>
            <a:r>
              <a:rPr lang="en-US" sz="1140" dirty="0">
                <a:solidFill>
                  <a:srgbClr val="F2FAF5">
                    <a:alpha val="99000"/>
                  </a:srgbClr>
                </a:solidFill>
                <a:latin typeface="Inter" pitchFamily="34" charset="0"/>
                <a:ea typeface="Inter" pitchFamily="34" charset="-122"/>
                <a:cs typeface="Inter" pitchFamily="34" charset="-120"/>
              </a:rPr>
              <a:t>Should set_swing(100) succeed?</a:t>
            </a:r>
            <a:endParaRPr lang="en-US" sz="1140" dirty="0"/>
          </a:p>
        </p:txBody>
      </p:sp>
      <p:sp>
        <p:nvSpPr>
          <p:cNvPr id="17" name="Text 13"/>
          <p:cNvSpPr/>
          <p:nvPr/>
        </p:nvSpPr>
        <p:spPr>
          <a:xfrm>
            <a:off x="666750" y="3629025"/>
            <a:ext cx="5476875" cy="157163"/>
          </a:xfrm>
          <a:prstGeom prst="rect">
            <a:avLst/>
          </a:prstGeom>
          <a:noFill/>
          <a:ln/>
        </p:spPr>
        <p:txBody>
          <a:bodyPr wrap="square" lIns="0" tIns="0" rIns="0" bIns="0" rtlCol="0" anchor="t"/>
          <a:lstStyle/>
          <a:p>
            <a:pPr algn="l" indent="0" marL="0">
              <a:lnSpc>
                <a:spcPts val="1164"/>
              </a:lnSpc>
              <a:buNone/>
            </a:pPr>
            <a:r>
              <a:rPr lang="en-US" sz="962" dirty="0">
                <a:solidFill>
                  <a:srgbClr val="F2FAF5">
                    <a:alpha val="99000"/>
                  </a:srgbClr>
                </a:solidFill>
                <a:latin typeface="Inter" pitchFamily="34" charset="0"/>
                <a:ea typeface="Inter" pitchFamily="34" charset="-122"/>
                <a:cs typeface="Inter" pitchFamily="34" charset="-120"/>
              </a:rPr>
              <a:t>A  Yes       B  No</a:t>
            </a:r>
            <a:endParaRPr lang="en-US" sz="962"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MCP TEST · evidence of success</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285875"/>
            <a:ext cx="5853113" cy="2219325"/>
          </a:xfrm>
          <a:prstGeom prst="rect">
            <a:avLst/>
          </a:prstGeom>
          <a:noFill/>
          <a:ln/>
        </p:spPr>
      </p:sp>
      <p:sp>
        <p:nvSpPr>
          <p:cNvPr id="6" name="Shape 3"/>
          <p:cNvSpPr/>
          <p:nvPr/>
        </p:nvSpPr>
        <p:spPr>
          <a:xfrm>
            <a:off x="571500" y="1285875"/>
            <a:ext cx="5853113" cy="428625"/>
          </a:xfrm>
          <a:prstGeom prst="rect">
            <a:avLst/>
          </a:prstGeom>
          <a:solidFill>
            <a:srgbClr val="267863">
              <a:alpha val="96000"/>
            </a:srgbClr>
          </a:solidFill>
          <a:ln/>
        </p:spPr>
      </p:sp>
      <p:sp>
        <p:nvSpPr>
          <p:cNvPr id="7" name="Text 4"/>
          <p:cNvSpPr/>
          <p:nvPr/>
        </p:nvSpPr>
        <p:spPr>
          <a:xfrm>
            <a:off x="676275" y="1390650"/>
            <a:ext cx="1714500" cy="219075"/>
          </a:xfrm>
          <a:prstGeom prst="rect">
            <a:avLst/>
          </a:prstGeom>
          <a:noFill/>
          <a:ln/>
        </p:spPr>
        <p:txBody>
          <a:bodyPr wrap="square" lIns="0" tIns="0" rIns="0" bIns="0" rtlCol="0" anchor="t"/>
          <a:lstStyle/>
          <a:p>
            <a:pPr algn="l" indent="0" marL="0">
              <a:lnSpc>
                <a:spcPts val="1648"/>
              </a:lnSpc>
              <a:buNone/>
            </a:pPr>
            <a:r>
              <a:rPr lang="en-US" sz="1318" b="1" dirty="0">
                <a:solidFill>
                  <a:srgbClr val="4FE3BD">
                    <a:alpha val="99000"/>
                  </a:srgbClr>
                </a:solidFill>
                <a:latin typeface="Inter" pitchFamily="34" charset="0"/>
                <a:ea typeface="Inter" pitchFamily="34" charset="-122"/>
                <a:cs typeface="Inter" pitchFamily="34" charset="-120"/>
              </a:rPr>
              <a:t>Test</a:t>
            </a:r>
            <a:endParaRPr lang="en-US" sz="1318" dirty="0"/>
          </a:p>
        </p:txBody>
      </p:sp>
      <p:sp>
        <p:nvSpPr>
          <p:cNvPr id="8" name="Text 5"/>
          <p:cNvSpPr/>
          <p:nvPr/>
        </p:nvSpPr>
        <p:spPr>
          <a:xfrm>
            <a:off x="2390775" y="1390650"/>
            <a:ext cx="3929063" cy="219075"/>
          </a:xfrm>
          <a:prstGeom prst="rect">
            <a:avLst/>
          </a:prstGeom>
          <a:noFill/>
          <a:ln/>
        </p:spPr>
        <p:txBody>
          <a:bodyPr wrap="square" lIns="0" tIns="0" rIns="0" bIns="0" rtlCol="0" anchor="t"/>
          <a:lstStyle/>
          <a:p>
            <a:pPr algn="l" indent="0" marL="0">
              <a:lnSpc>
                <a:spcPts val="1648"/>
              </a:lnSpc>
              <a:buNone/>
            </a:pPr>
            <a:r>
              <a:rPr lang="en-US" sz="1318" b="1" dirty="0">
                <a:solidFill>
                  <a:srgbClr val="4FE3BD">
                    <a:alpha val="99000"/>
                  </a:srgbClr>
                </a:solidFill>
                <a:latin typeface="Inter" pitchFamily="34" charset="0"/>
                <a:ea typeface="Inter" pitchFamily="34" charset="-122"/>
                <a:cs typeface="Inter" pitchFamily="34" charset="-120"/>
              </a:rPr>
              <a:t>Expected evidence</a:t>
            </a:r>
            <a:endParaRPr lang="en-US" sz="1318" dirty="0"/>
          </a:p>
        </p:txBody>
      </p:sp>
      <p:sp>
        <p:nvSpPr>
          <p:cNvPr id="9" name="Shape 6"/>
          <p:cNvSpPr/>
          <p:nvPr/>
        </p:nvSpPr>
        <p:spPr>
          <a:xfrm>
            <a:off x="571500" y="1733550"/>
            <a:ext cx="5853113" cy="428625"/>
          </a:xfrm>
          <a:prstGeom prst="rect">
            <a:avLst/>
          </a:prstGeom>
          <a:solidFill>
            <a:srgbClr val="092925">
              <a:alpha val="96000"/>
            </a:srgbClr>
          </a:solidFill>
          <a:ln/>
        </p:spPr>
      </p:sp>
      <p:sp>
        <p:nvSpPr>
          <p:cNvPr id="10" name="Text 7"/>
          <p:cNvSpPr/>
          <p:nvPr/>
        </p:nvSpPr>
        <p:spPr>
          <a:xfrm>
            <a:off x="676275" y="1838325"/>
            <a:ext cx="1714500" cy="219075"/>
          </a:xfrm>
          <a:prstGeom prst="rect">
            <a:avLst/>
          </a:prstGeom>
          <a:noFill/>
          <a:ln/>
        </p:spPr>
        <p:txBody>
          <a:bodyPr wrap="square" lIns="0" tIns="0" rIns="0" bIns="0" rtlCol="0" anchor="t"/>
          <a:lstStyle/>
          <a:p>
            <a:pPr algn="l" indent="0" marL="0">
              <a:lnSpc>
                <a:spcPts val="1648"/>
              </a:lnSpc>
              <a:buNone/>
            </a:pPr>
            <a:r>
              <a:rPr lang="en-US" sz="1318" dirty="0">
                <a:solidFill>
                  <a:srgbClr val="F5FFFA">
                    <a:alpha val="99000"/>
                  </a:srgbClr>
                </a:solidFill>
                <a:latin typeface="Inter" pitchFamily="34" charset="0"/>
                <a:ea typeface="Inter" pitchFamily="34" charset="-122"/>
                <a:cs typeface="Inter" pitchFamily="34" charset="-120"/>
              </a:rPr>
              <a:t>Discovery</a:t>
            </a:r>
            <a:endParaRPr lang="en-US" sz="1318" dirty="0"/>
          </a:p>
        </p:txBody>
      </p:sp>
      <p:sp>
        <p:nvSpPr>
          <p:cNvPr id="11" name="Text 8"/>
          <p:cNvSpPr/>
          <p:nvPr/>
        </p:nvSpPr>
        <p:spPr>
          <a:xfrm>
            <a:off x="2390775" y="1838325"/>
            <a:ext cx="3929063" cy="219075"/>
          </a:xfrm>
          <a:prstGeom prst="rect">
            <a:avLst/>
          </a:prstGeom>
          <a:noFill/>
          <a:ln/>
        </p:spPr>
        <p:txBody>
          <a:bodyPr wrap="square" lIns="0" tIns="0" rIns="0" bIns="0" rtlCol="0" anchor="t"/>
          <a:lstStyle/>
          <a:p>
            <a:pPr algn="l" indent="0" marL="0">
              <a:lnSpc>
                <a:spcPts val="1648"/>
              </a:lnSpc>
              <a:buNone/>
            </a:pPr>
            <a:r>
              <a:rPr lang="en-US" sz="1318" dirty="0">
                <a:solidFill>
                  <a:srgbClr val="F5FFFA">
                    <a:alpha val="99000"/>
                  </a:srgbClr>
                </a:solidFill>
                <a:latin typeface="Inter" pitchFamily="34" charset="0"/>
                <a:ea typeface="Inter" pitchFamily="34" charset="-122"/>
                <a:cs typeface="Inter" pitchFamily="34" charset="-120"/>
              </a:rPr>
              <a:t>set_swing appears in available tools</a:t>
            </a:r>
            <a:endParaRPr lang="en-US" sz="1318" dirty="0"/>
          </a:p>
        </p:txBody>
      </p:sp>
      <p:sp>
        <p:nvSpPr>
          <p:cNvPr id="12" name="Shape 9"/>
          <p:cNvSpPr/>
          <p:nvPr/>
        </p:nvSpPr>
        <p:spPr>
          <a:xfrm>
            <a:off x="571500" y="2181225"/>
            <a:ext cx="5853113" cy="428625"/>
          </a:xfrm>
          <a:prstGeom prst="rect">
            <a:avLst/>
          </a:prstGeom>
          <a:solidFill>
            <a:srgbClr val="092925">
              <a:alpha val="96000"/>
            </a:srgbClr>
          </a:solidFill>
          <a:ln/>
        </p:spPr>
      </p:sp>
      <p:sp>
        <p:nvSpPr>
          <p:cNvPr id="13" name="Text 10"/>
          <p:cNvSpPr/>
          <p:nvPr/>
        </p:nvSpPr>
        <p:spPr>
          <a:xfrm>
            <a:off x="676275" y="2286000"/>
            <a:ext cx="1714500" cy="219075"/>
          </a:xfrm>
          <a:prstGeom prst="rect">
            <a:avLst/>
          </a:prstGeom>
          <a:noFill/>
          <a:ln/>
        </p:spPr>
        <p:txBody>
          <a:bodyPr wrap="square" lIns="0" tIns="0" rIns="0" bIns="0" rtlCol="0" anchor="t"/>
          <a:lstStyle/>
          <a:p>
            <a:pPr algn="l" indent="0" marL="0">
              <a:lnSpc>
                <a:spcPts val="1648"/>
              </a:lnSpc>
              <a:buNone/>
            </a:pPr>
            <a:r>
              <a:rPr lang="en-US" sz="1318" dirty="0">
                <a:solidFill>
                  <a:srgbClr val="F5FFFA">
                    <a:alpha val="99000"/>
                  </a:srgbClr>
                </a:solidFill>
                <a:latin typeface="Inter" pitchFamily="34" charset="0"/>
                <a:ea typeface="Inter" pitchFamily="34" charset="-122"/>
                <a:cs typeface="Inter" pitchFamily="34" charset="-120"/>
              </a:rPr>
              <a:t>Amount 35</a:t>
            </a:r>
            <a:endParaRPr lang="en-US" sz="1318" dirty="0"/>
          </a:p>
        </p:txBody>
      </p:sp>
      <p:sp>
        <p:nvSpPr>
          <p:cNvPr id="14" name="Text 11"/>
          <p:cNvSpPr/>
          <p:nvPr/>
        </p:nvSpPr>
        <p:spPr>
          <a:xfrm>
            <a:off x="2390775" y="2286000"/>
            <a:ext cx="3929063" cy="219075"/>
          </a:xfrm>
          <a:prstGeom prst="rect">
            <a:avLst/>
          </a:prstGeom>
          <a:noFill/>
          <a:ln/>
        </p:spPr>
        <p:txBody>
          <a:bodyPr wrap="square" lIns="0" tIns="0" rIns="0" bIns="0" rtlCol="0" anchor="t"/>
          <a:lstStyle/>
          <a:p>
            <a:pPr algn="l" indent="0" marL="0">
              <a:lnSpc>
                <a:spcPts val="1648"/>
              </a:lnSpc>
              <a:buNone/>
            </a:pPr>
            <a:r>
              <a:rPr lang="en-US" sz="1318" dirty="0">
                <a:solidFill>
                  <a:srgbClr val="F5FFFA">
                    <a:alpha val="99000"/>
                  </a:srgbClr>
                </a:solidFill>
                <a:latin typeface="Inter" pitchFamily="34" charset="0"/>
                <a:ea typeface="Inter" pitchFamily="34" charset="-122"/>
                <a:cs typeface="Inter" pitchFamily="34" charset="-120"/>
              </a:rPr>
              <a:t>Accepted and verified through get_state</a:t>
            </a:r>
            <a:endParaRPr lang="en-US" sz="1318" dirty="0"/>
          </a:p>
        </p:txBody>
      </p:sp>
      <p:sp>
        <p:nvSpPr>
          <p:cNvPr id="15" name="Shape 12"/>
          <p:cNvSpPr/>
          <p:nvPr/>
        </p:nvSpPr>
        <p:spPr>
          <a:xfrm>
            <a:off x="571500" y="2628900"/>
            <a:ext cx="5853113" cy="428625"/>
          </a:xfrm>
          <a:prstGeom prst="rect">
            <a:avLst/>
          </a:prstGeom>
          <a:solidFill>
            <a:srgbClr val="092925">
              <a:alpha val="96000"/>
            </a:srgbClr>
          </a:solidFill>
          <a:ln/>
        </p:spPr>
      </p:sp>
      <p:sp>
        <p:nvSpPr>
          <p:cNvPr id="16" name="Text 13"/>
          <p:cNvSpPr/>
          <p:nvPr/>
        </p:nvSpPr>
        <p:spPr>
          <a:xfrm>
            <a:off x="676275" y="2733675"/>
            <a:ext cx="1714500" cy="219075"/>
          </a:xfrm>
          <a:prstGeom prst="rect">
            <a:avLst/>
          </a:prstGeom>
          <a:noFill/>
          <a:ln/>
        </p:spPr>
        <p:txBody>
          <a:bodyPr wrap="square" lIns="0" tIns="0" rIns="0" bIns="0" rtlCol="0" anchor="t"/>
          <a:lstStyle/>
          <a:p>
            <a:pPr algn="l" indent="0" marL="0">
              <a:lnSpc>
                <a:spcPts val="1648"/>
              </a:lnSpc>
              <a:buNone/>
            </a:pPr>
            <a:r>
              <a:rPr lang="en-US" sz="1318" dirty="0">
                <a:solidFill>
                  <a:srgbClr val="F5FFFA">
                    <a:alpha val="99000"/>
                  </a:srgbClr>
                </a:solidFill>
                <a:latin typeface="Inter" pitchFamily="34" charset="0"/>
                <a:ea typeface="Inter" pitchFamily="34" charset="-122"/>
                <a:cs typeface="Inter" pitchFamily="34" charset="-120"/>
              </a:rPr>
              <a:t>Amount 0 and 75</a:t>
            </a:r>
            <a:endParaRPr lang="en-US" sz="1318" dirty="0"/>
          </a:p>
        </p:txBody>
      </p:sp>
      <p:sp>
        <p:nvSpPr>
          <p:cNvPr id="17" name="Text 14"/>
          <p:cNvSpPr/>
          <p:nvPr/>
        </p:nvSpPr>
        <p:spPr>
          <a:xfrm>
            <a:off x="2390775" y="2733675"/>
            <a:ext cx="3929063" cy="219075"/>
          </a:xfrm>
          <a:prstGeom prst="rect">
            <a:avLst/>
          </a:prstGeom>
          <a:noFill/>
          <a:ln/>
        </p:spPr>
        <p:txBody>
          <a:bodyPr wrap="square" lIns="0" tIns="0" rIns="0" bIns="0" rtlCol="0" anchor="t"/>
          <a:lstStyle/>
          <a:p>
            <a:pPr algn="l" indent="0" marL="0">
              <a:lnSpc>
                <a:spcPts val="1648"/>
              </a:lnSpc>
              <a:buNone/>
            </a:pPr>
            <a:r>
              <a:rPr lang="en-US" sz="1318" dirty="0">
                <a:solidFill>
                  <a:srgbClr val="F5FFFA">
                    <a:alpha val="99000"/>
                  </a:srgbClr>
                </a:solidFill>
                <a:latin typeface="Inter" pitchFamily="34" charset="0"/>
                <a:ea typeface="Inter" pitchFamily="34" charset="-122"/>
                <a:cs typeface="Inter" pitchFamily="34" charset="-120"/>
              </a:rPr>
              <a:t>Boundary values accepted</a:t>
            </a:r>
            <a:endParaRPr lang="en-US" sz="1318" dirty="0"/>
          </a:p>
        </p:txBody>
      </p:sp>
      <p:sp>
        <p:nvSpPr>
          <p:cNvPr id="18" name="Shape 15"/>
          <p:cNvSpPr/>
          <p:nvPr/>
        </p:nvSpPr>
        <p:spPr>
          <a:xfrm>
            <a:off x="571500" y="3076575"/>
            <a:ext cx="5853113" cy="428625"/>
          </a:xfrm>
          <a:prstGeom prst="rect">
            <a:avLst/>
          </a:prstGeom>
          <a:solidFill>
            <a:srgbClr val="092925">
              <a:alpha val="96000"/>
            </a:srgbClr>
          </a:solidFill>
          <a:ln/>
        </p:spPr>
      </p:sp>
      <p:sp>
        <p:nvSpPr>
          <p:cNvPr id="19" name="Text 16"/>
          <p:cNvSpPr/>
          <p:nvPr/>
        </p:nvSpPr>
        <p:spPr>
          <a:xfrm>
            <a:off x="676275" y="3181350"/>
            <a:ext cx="1714500" cy="219075"/>
          </a:xfrm>
          <a:prstGeom prst="rect">
            <a:avLst/>
          </a:prstGeom>
          <a:noFill/>
          <a:ln/>
        </p:spPr>
        <p:txBody>
          <a:bodyPr wrap="square" lIns="0" tIns="0" rIns="0" bIns="0" rtlCol="0" anchor="t"/>
          <a:lstStyle/>
          <a:p>
            <a:pPr algn="l" indent="0" marL="0">
              <a:lnSpc>
                <a:spcPts val="1648"/>
              </a:lnSpc>
              <a:buNone/>
            </a:pPr>
            <a:r>
              <a:rPr lang="en-US" sz="1318" dirty="0">
                <a:solidFill>
                  <a:srgbClr val="F5FFFA">
                    <a:alpha val="99000"/>
                  </a:srgbClr>
                </a:solidFill>
                <a:latin typeface="Inter" pitchFamily="34" charset="0"/>
                <a:ea typeface="Inter" pitchFamily="34" charset="-122"/>
                <a:cs typeface="Inter" pitchFamily="34" charset="-120"/>
              </a:rPr>
              <a:t>Amount 100</a:t>
            </a:r>
            <a:endParaRPr lang="en-US" sz="1318" dirty="0"/>
          </a:p>
        </p:txBody>
      </p:sp>
      <p:sp>
        <p:nvSpPr>
          <p:cNvPr id="20" name="Text 17"/>
          <p:cNvSpPr/>
          <p:nvPr/>
        </p:nvSpPr>
        <p:spPr>
          <a:xfrm>
            <a:off x="2390775" y="3181350"/>
            <a:ext cx="3929063" cy="219075"/>
          </a:xfrm>
          <a:prstGeom prst="rect">
            <a:avLst/>
          </a:prstGeom>
          <a:noFill/>
          <a:ln/>
        </p:spPr>
        <p:txBody>
          <a:bodyPr wrap="square" lIns="0" tIns="0" rIns="0" bIns="0" rtlCol="0" anchor="t"/>
          <a:lstStyle/>
          <a:p>
            <a:pPr algn="l" indent="0" marL="0">
              <a:lnSpc>
                <a:spcPts val="1648"/>
              </a:lnSpc>
              <a:buNone/>
            </a:pPr>
            <a:r>
              <a:rPr lang="en-US" sz="1318" dirty="0">
                <a:solidFill>
                  <a:srgbClr val="F5FFFA">
                    <a:alpha val="99000"/>
                  </a:srgbClr>
                </a:solidFill>
                <a:latin typeface="Inter" pitchFamily="34" charset="0"/>
                <a:ea typeface="Inter" pitchFamily="34" charset="-122"/>
                <a:cs typeface="Inter" pitchFamily="34" charset="-120"/>
              </a:rPr>
              <a:t>Tool error; Application state unchanged</a:t>
            </a:r>
            <a:endParaRPr lang="en-US" sz="1318" dirty="0"/>
          </a:p>
        </p:txBody>
      </p:sp>
      <p:sp>
        <p:nvSpPr>
          <p:cNvPr id="21" name="Text 18"/>
          <p:cNvSpPr/>
          <p:nvPr/>
        </p:nvSpPr>
        <p:spPr>
          <a:xfrm>
            <a:off x="6810375" y="1333500"/>
            <a:ext cx="1833563" cy="857250"/>
          </a:xfrm>
          <a:prstGeom prst="rect">
            <a:avLst/>
          </a:prstGeom>
          <a:noFill/>
          <a:ln/>
        </p:spPr>
        <p:txBody>
          <a:bodyPr wrap="square" lIns="0" tIns="0" rIns="0" bIns="0" rtlCol="0" anchor="t"/>
          <a:lstStyle/>
          <a:p>
            <a:pPr algn="l" indent="0" marL="0">
              <a:lnSpc>
                <a:spcPts val="1603"/>
              </a:lnSpc>
              <a:buNone/>
            </a:pPr>
            <a:r>
              <a:rPr lang="en-US" sz="1283" b="1" dirty="0">
                <a:solidFill>
                  <a:srgbClr val="F5FFFA">
                    <a:alpha val="99000"/>
                  </a:srgbClr>
                </a:solidFill>
                <a:latin typeface="Inter" pitchFamily="34" charset="0"/>
                <a:ea typeface="Inter" pitchFamily="34" charset="-122"/>
                <a:cs typeface="Inter" pitchFamily="34" charset="-120"/>
              </a:rPr>
              <a:t>When the valid call</a:t>
            </a:r>
            <a:endParaRPr lang="en-US" sz="1283" dirty="0"/>
          </a:p>
          <a:p>
            <a:pPr algn="l" indent="0" marL="0">
              <a:lnSpc>
                <a:spcPts val="1603"/>
              </a:lnSpc>
              <a:buNone/>
            </a:pPr>
            <a:r>
              <a:rPr lang="en-US" sz="1283" b="1" dirty="0">
                <a:solidFill>
                  <a:srgbClr val="F5FFFA">
                    <a:alpha val="99000"/>
                  </a:srgbClr>
                </a:solidFill>
                <a:latin typeface="Inter" pitchFamily="34" charset="0"/>
                <a:ea typeface="Inter" pitchFamily="34" charset="-122"/>
                <a:cs typeface="Inter" pitchFamily="34" charset="-120"/>
              </a:rPr>
              <a:t>AND the rejected call</a:t>
            </a:r>
            <a:endParaRPr lang="en-US" sz="1283" dirty="0"/>
          </a:p>
          <a:p>
            <a:pPr algn="l" indent="0" marL="0">
              <a:lnSpc>
                <a:spcPts val="1603"/>
              </a:lnSpc>
              <a:buNone/>
            </a:pPr>
            <a:r>
              <a:rPr lang="en-US" sz="1283" b="1" dirty="0">
                <a:solidFill>
                  <a:srgbClr val="F5FFFA">
                    <a:alpha val="99000"/>
                  </a:srgbClr>
                </a:solidFill>
                <a:latin typeface="Inter" pitchFamily="34" charset="0"/>
                <a:ea typeface="Inter" pitchFamily="34" charset="-122"/>
                <a:cs typeface="Inter" pitchFamily="34" charset="-120"/>
              </a:rPr>
              <a:t>both behave correctly.</a:t>
            </a:r>
            <a:endParaRPr lang="en-US" sz="1283" dirty="0"/>
          </a:p>
        </p:txBody>
      </p:sp>
      <p:pic>
        <p:nvPicPr>
          <p:cNvPr id="22" name="Image 0" descr="preencoded.png">    </p:cNvPr>
          <p:cNvPicPr>
            <a:picLocks noChangeAspect="1"/>
          </p:cNvPicPr>
          <p:nvPr/>
        </p:nvPicPr>
        <p:blipFill>
          <a:blip r:embed="rId2"/>
          <a:srcRect l="0" r="0" t="0" b="0"/>
          <a:stretch/>
        </p:blipFill>
        <p:spPr>
          <a:xfrm>
            <a:off x="6786563" y="2405063"/>
            <a:ext cx="1857375" cy="1385888"/>
          </a:xfrm>
          <a:prstGeom prst="rect">
            <a:avLst/>
          </a:prstGeom>
        </p:spPr>
      </p:pic>
      <p:sp>
        <p:nvSpPr>
          <p:cNvPr id="23" name="Text 19"/>
          <p:cNvSpPr/>
          <p:nvPr/>
        </p:nvSpPr>
        <p:spPr>
          <a:xfrm>
            <a:off x="6786563" y="4000500"/>
            <a:ext cx="1857375" cy="195263"/>
          </a:xfrm>
          <a:prstGeom prst="rect">
            <a:avLst/>
          </a:prstGeom>
          <a:noFill/>
          <a:ln/>
        </p:spPr>
        <p:txBody>
          <a:bodyPr wrap="square" lIns="0" tIns="0" rIns="0" bIns="0" rtlCol="0" anchor="t"/>
          <a:lstStyle/>
          <a:p>
            <a:pPr algn="l" indent="0" marL="0">
              <a:lnSpc>
                <a:spcPts val="1470"/>
              </a:lnSpc>
              <a:buNone/>
            </a:pPr>
            <a:r>
              <a:rPr lang="en-US" sz="1176" b="1" dirty="0">
                <a:solidFill>
                  <a:srgbClr val="4FE3BD">
                    <a:alpha val="99000"/>
                  </a:srgbClr>
                </a:solidFill>
                <a:latin typeface="Inter" pitchFamily="34" charset="0"/>
                <a:ea typeface="Inter" pitchFamily="34" charset="-122"/>
                <a:cs typeface="Inter" pitchFamily="34" charset="-120"/>
              </a:rPr>
              <a:t>Absolute verification.</a:t>
            </a:r>
            <a:endParaRPr lang="en-US" sz="1176" dirty="0"/>
          </a:p>
        </p:txBody>
      </p:sp>
      <p:sp>
        <p:nvSpPr>
          <p:cNvPr id="24" name="Text 20"/>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23 / 29</a:t>
            </a:r>
            <a:endParaRPr lang="en-US" sz="855" dirty="0"/>
          </a:p>
        </p:txBody>
      </p:sp>
      <p:sp>
        <p:nvSpPr>
          <p:cNvPr id="25" name="Shape 21"/>
          <p:cNvSpPr/>
          <p:nvPr/>
        </p:nvSpPr>
        <p:spPr>
          <a:xfrm>
            <a:off x="571500" y="3976687"/>
            <a:ext cx="5857875" cy="714375"/>
          </a:xfrm>
          <a:prstGeom prst="roundRect">
            <a:avLst>
              <a:gd name="adj" fmla="val 15360"/>
            </a:avLst>
          </a:prstGeom>
          <a:solidFill>
            <a:srgbClr val="092925"/>
          </a:solidFill>
          <a:ln/>
        </p:spPr>
      </p:sp>
      <p:sp>
        <p:nvSpPr>
          <p:cNvPr id="26" name="Text 22"/>
          <p:cNvSpPr/>
          <p:nvPr/>
        </p:nvSpPr>
        <p:spPr>
          <a:xfrm>
            <a:off x="666750" y="4033837"/>
            <a:ext cx="5667375" cy="128588"/>
          </a:xfrm>
          <a:prstGeom prst="rect">
            <a:avLst/>
          </a:prstGeom>
          <a:noFill/>
          <a:ln/>
        </p:spPr>
        <p:txBody>
          <a:bodyPr wrap="square" lIns="0" tIns="0" rIns="0" bIns="0" rtlCol="0" anchor="t"/>
          <a:lstStyle/>
          <a:p>
            <a:pPr algn="l" indent="0" marL="0">
              <a:lnSpc>
                <a:spcPts val="949"/>
              </a:lnSpc>
              <a:buNone/>
            </a:pPr>
            <a:r>
              <a:rPr lang="en-US" sz="784" b="1" dirty="0">
                <a:solidFill>
                  <a:srgbClr val="5CE5BD">
                    <a:alpha val="99000"/>
                  </a:srgbClr>
                </a:solidFill>
                <a:latin typeface="Inter" pitchFamily="34" charset="0"/>
                <a:ea typeface="Inter" pitchFamily="34" charset="-122"/>
                <a:cs typeface="Inter" pitchFamily="34" charset="-120"/>
              </a:rPr>
              <a:t>3 / 3 · PRIZE QUESTION  ·  Hands up!</a:t>
            </a:r>
            <a:endParaRPr lang="en-US" sz="784" dirty="0"/>
          </a:p>
        </p:txBody>
      </p:sp>
      <p:sp>
        <p:nvSpPr>
          <p:cNvPr id="27" name="Text 23"/>
          <p:cNvSpPr/>
          <p:nvPr/>
        </p:nvSpPr>
        <p:spPr>
          <a:xfrm>
            <a:off x="666750" y="4191000"/>
            <a:ext cx="5667375" cy="185738"/>
          </a:xfrm>
          <a:prstGeom prst="rect">
            <a:avLst/>
          </a:prstGeom>
          <a:noFill/>
          <a:ln/>
        </p:spPr>
        <p:txBody>
          <a:bodyPr wrap="square" lIns="0" tIns="0" rIns="0" bIns="0" rtlCol="0" anchor="t"/>
          <a:lstStyle/>
          <a:p>
            <a:pPr algn="l" indent="0" marL="0">
              <a:lnSpc>
                <a:spcPts val="1380"/>
              </a:lnSpc>
              <a:buNone/>
            </a:pPr>
            <a:r>
              <a:rPr lang="en-US" sz="1140" dirty="0">
                <a:solidFill>
                  <a:srgbClr val="F2FAF5">
                    <a:alpha val="99000"/>
                  </a:srgbClr>
                </a:solidFill>
                <a:latin typeface="Inter" pitchFamily="34" charset="0"/>
                <a:ea typeface="Inter" pitchFamily="34" charset="-122"/>
                <a:cs typeface="Inter" pitchFamily="34" charset="-120"/>
              </a:rPr>
              <a:t>Does “queued” prove the music changed?</a:t>
            </a:r>
            <a:endParaRPr lang="en-US" sz="1140" dirty="0"/>
          </a:p>
        </p:txBody>
      </p:sp>
      <p:sp>
        <p:nvSpPr>
          <p:cNvPr id="28" name="Text 24"/>
          <p:cNvSpPr/>
          <p:nvPr/>
        </p:nvSpPr>
        <p:spPr>
          <a:xfrm>
            <a:off x="666750" y="4405313"/>
            <a:ext cx="5667375" cy="157163"/>
          </a:xfrm>
          <a:prstGeom prst="rect">
            <a:avLst/>
          </a:prstGeom>
          <a:noFill/>
          <a:ln/>
        </p:spPr>
        <p:txBody>
          <a:bodyPr wrap="square" lIns="0" tIns="0" rIns="0" bIns="0" rtlCol="0" anchor="t"/>
          <a:lstStyle/>
          <a:p>
            <a:pPr algn="l" indent="0" marL="0">
              <a:lnSpc>
                <a:spcPts val="1164"/>
              </a:lnSpc>
              <a:buNone/>
            </a:pPr>
            <a:r>
              <a:rPr lang="en-US" sz="962" dirty="0">
                <a:solidFill>
                  <a:srgbClr val="F2FAF5">
                    <a:alpha val="99000"/>
                  </a:srgbClr>
                </a:solidFill>
                <a:latin typeface="Inter" pitchFamily="34" charset="0"/>
                <a:ea typeface="Inter" pitchFamily="34" charset="-122"/>
                <a:cs typeface="Inter" pitchFamily="34" charset="-120"/>
              </a:rPr>
              <a:t>A  Yes       B  No</a:t>
            </a:r>
            <a:endParaRPr lang="en-US" sz="962"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The security risks behind a tool call</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357313"/>
            <a:ext cx="2562225" cy="1590675"/>
          </a:xfrm>
          <a:prstGeom prst="roundRect">
            <a:avLst>
              <a:gd name="adj" fmla="val 12647"/>
            </a:avLst>
          </a:prstGeom>
          <a:solidFill>
            <a:srgbClr val="092925">
              <a:alpha val="96000"/>
            </a:srgbClr>
          </a:solidFill>
          <a:ln w="4524">
            <a:solidFill>
              <a:srgbClr val="267863"/>
            </a:solidFill>
            <a:prstDash val="solid"/>
          </a:ln>
        </p:spPr>
      </p:sp>
      <p:sp>
        <p:nvSpPr>
          <p:cNvPr id="6" name="Text 3"/>
          <p:cNvSpPr/>
          <p:nvPr/>
        </p:nvSpPr>
        <p:spPr>
          <a:xfrm>
            <a:off x="728663" y="1514475"/>
            <a:ext cx="2257425" cy="476250"/>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UNAUTHORIZED ACCESS</a:t>
            </a:r>
            <a:endParaRPr lang="en-US" sz="1425" dirty="0"/>
          </a:p>
        </p:txBody>
      </p:sp>
      <p:sp>
        <p:nvSpPr>
          <p:cNvPr id="7" name="Text 4"/>
          <p:cNvSpPr/>
          <p:nvPr/>
        </p:nvSpPr>
        <p:spPr>
          <a:xfrm>
            <a:off x="728663" y="2105025"/>
            <a:ext cx="2257425" cy="6858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Tools or records exposed to a caller who should not have access.</a:t>
            </a:r>
            <a:endParaRPr lang="en-US" sz="1354" dirty="0"/>
          </a:p>
        </p:txBody>
      </p:sp>
      <p:sp>
        <p:nvSpPr>
          <p:cNvPr id="8" name="Shape 5"/>
          <p:cNvSpPr/>
          <p:nvPr/>
        </p:nvSpPr>
        <p:spPr>
          <a:xfrm>
            <a:off x="3286125" y="1357313"/>
            <a:ext cx="2562225" cy="1590675"/>
          </a:xfrm>
          <a:prstGeom prst="roundRect">
            <a:avLst>
              <a:gd name="adj" fmla="val 12647"/>
            </a:avLst>
          </a:prstGeom>
          <a:solidFill>
            <a:srgbClr val="092925">
              <a:alpha val="96000"/>
            </a:srgbClr>
          </a:solidFill>
          <a:ln w="4524">
            <a:solidFill>
              <a:srgbClr val="267863"/>
            </a:solidFill>
            <a:prstDash val="solid"/>
          </a:ln>
        </p:spPr>
      </p:sp>
      <p:sp>
        <p:nvSpPr>
          <p:cNvPr id="9" name="Text 6"/>
          <p:cNvSpPr/>
          <p:nvPr/>
        </p:nvSpPr>
        <p:spPr>
          <a:xfrm>
            <a:off x="3443288" y="1514475"/>
            <a:ext cx="2257425" cy="476250"/>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EXCESSIVE PERMISSIONS</a:t>
            </a:r>
            <a:endParaRPr lang="en-US" sz="1425" dirty="0"/>
          </a:p>
        </p:txBody>
      </p:sp>
      <p:sp>
        <p:nvSpPr>
          <p:cNvPr id="10" name="Text 7"/>
          <p:cNvSpPr/>
          <p:nvPr/>
        </p:nvSpPr>
        <p:spPr>
          <a:xfrm>
            <a:off x="3443288" y="2105025"/>
            <a:ext cx="2257425" cy="6858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A tool or backend account can do more than the task requires.</a:t>
            </a:r>
            <a:endParaRPr lang="en-US" sz="1354" dirty="0"/>
          </a:p>
        </p:txBody>
      </p:sp>
      <p:sp>
        <p:nvSpPr>
          <p:cNvPr id="11" name="Shape 8"/>
          <p:cNvSpPr/>
          <p:nvPr/>
        </p:nvSpPr>
        <p:spPr>
          <a:xfrm>
            <a:off x="6000750" y="1357313"/>
            <a:ext cx="2562225" cy="1352550"/>
          </a:xfrm>
          <a:prstGeom prst="roundRect">
            <a:avLst>
              <a:gd name="adj" fmla="val 14873"/>
            </a:avLst>
          </a:prstGeom>
          <a:solidFill>
            <a:srgbClr val="092925">
              <a:alpha val="96000"/>
            </a:srgbClr>
          </a:solidFill>
          <a:ln w="4524">
            <a:solidFill>
              <a:srgbClr val="267863"/>
            </a:solidFill>
            <a:prstDash val="solid"/>
          </a:ln>
        </p:spPr>
      </p:sp>
      <p:sp>
        <p:nvSpPr>
          <p:cNvPr id="12" name="Text 9"/>
          <p:cNvSpPr/>
          <p:nvPr/>
        </p:nvSpPr>
        <p:spPr>
          <a:xfrm>
            <a:off x="6157913" y="1514475"/>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INDIRECT INJECTION</a:t>
            </a:r>
            <a:endParaRPr lang="en-US" sz="1425" dirty="0"/>
          </a:p>
        </p:txBody>
      </p:sp>
      <p:sp>
        <p:nvSpPr>
          <p:cNvPr id="13" name="Text 10"/>
          <p:cNvSpPr/>
          <p:nvPr/>
        </p:nvSpPr>
        <p:spPr>
          <a:xfrm>
            <a:off x="6157913" y="1866900"/>
            <a:ext cx="2257425" cy="6858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Malicious instructions hidden in documents or tool results.</a:t>
            </a:r>
            <a:endParaRPr lang="en-US" sz="1354" dirty="0"/>
          </a:p>
        </p:txBody>
      </p:sp>
      <p:sp>
        <p:nvSpPr>
          <p:cNvPr id="14" name="Text 11"/>
          <p:cNvSpPr/>
          <p:nvPr/>
        </p:nvSpPr>
        <p:spPr>
          <a:xfrm>
            <a:off x="3524250" y="3524250"/>
            <a:ext cx="5000625" cy="71437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Range validation checks the value.</a:t>
            </a:r>
            <a:endParaRPr lang="en-US" sz="1425" dirty="0"/>
          </a:p>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Authorization checks whether the caller may perform the action.</a:t>
            </a:r>
            <a:endParaRPr lang="en-US" sz="1425" dirty="0"/>
          </a:p>
        </p:txBody>
      </p:sp>
      <p:sp>
        <p:nvSpPr>
          <p:cNvPr id="15" name="Text 12"/>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24 / 29</a:t>
            </a:r>
            <a:endParaRPr lang="en-US" sz="855" dirty="0"/>
          </a:p>
        </p:txBody>
      </p:sp>
      <p:pic>
        <p:nvPicPr>
          <p:cNvPr id="16" name="Image 0" descr="preencoded.png">    </p:cNvPr>
          <p:cNvPicPr>
            <a:picLocks noChangeAspect="1"/>
          </p:cNvPicPr>
          <p:nvPr/>
        </p:nvPicPr>
        <p:blipFill>
          <a:blip r:embed="rId2"/>
          <a:srcRect l="0" r="0" t="0" b="0"/>
          <a:stretch/>
        </p:blipFill>
        <p:spPr>
          <a:xfrm>
            <a:off x="571500" y="3286125"/>
            <a:ext cx="2571750" cy="1252538"/>
          </a:xfrm>
          <a:prstGeom prst="rect">
            <a:avLst/>
          </a:prstGeom>
        </p:spPr>
      </p:pic>
      <p:sp>
        <p:nvSpPr>
          <p:cNvPr id="17" name="Text 13"/>
          <p:cNvSpPr/>
          <p:nvPr/>
        </p:nvSpPr>
        <p:spPr>
          <a:xfrm>
            <a:off x="571500" y="3033713"/>
            <a:ext cx="5095875" cy="214313"/>
          </a:xfrm>
          <a:prstGeom prst="rect">
            <a:avLst/>
          </a:prstGeom>
          <a:noFill/>
          <a:ln/>
        </p:spPr>
        <p:txBody>
          <a:bodyPr wrap="square" lIns="0" tIns="0" rIns="0" bIns="0" rtlCol="0" anchor="t"/>
          <a:lstStyle/>
          <a:p>
            <a:pPr algn="l" indent="0" marL="0">
              <a:lnSpc>
                <a:spcPts val="1603"/>
              </a:lnSpc>
              <a:buNone/>
            </a:pPr>
            <a:r>
              <a:rPr lang="en-US" sz="1283" dirty="0">
                <a:solidFill>
                  <a:srgbClr val="BAD9CF">
                    <a:alpha val="99000"/>
                  </a:srgbClr>
                </a:solidFill>
                <a:latin typeface="Inter" pitchFamily="34" charset="0"/>
                <a:ea typeface="Inter" pitchFamily="34" charset="-122"/>
                <a:cs typeface="Inter" pitchFamily="34" charset="-120"/>
              </a:rPr>
              <a:t>“Just give every tool admin access.”</a:t>
            </a:r>
            <a:endParaRPr lang="en-US" sz="1283"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Tool poisoning and rug pulls</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457325"/>
            <a:ext cx="3924300" cy="1352550"/>
          </a:xfrm>
          <a:prstGeom prst="roundRect">
            <a:avLst>
              <a:gd name="adj" fmla="val 14873"/>
            </a:avLst>
          </a:prstGeom>
          <a:solidFill>
            <a:srgbClr val="092925">
              <a:alpha val="96000"/>
            </a:srgbClr>
          </a:solidFill>
          <a:ln w="4524">
            <a:solidFill>
              <a:srgbClr val="267863"/>
            </a:solidFill>
            <a:prstDash val="solid"/>
          </a:ln>
        </p:spPr>
      </p:sp>
      <p:sp>
        <p:nvSpPr>
          <p:cNvPr id="6" name="Text 3"/>
          <p:cNvSpPr/>
          <p:nvPr/>
        </p:nvSpPr>
        <p:spPr>
          <a:xfrm>
            <a:off x="728663" y="1614488"/>
            <a:ext cx="3619500"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TOOL POISONING</a:t>
            </a:r>
            <a:endParaRPr lang="en-US" sz="1425" dirty="0"/>
          </a:p>
        </p:txBody>
      </p:sp>
      <p:sp>
        <p:nvSpPr>
          <p:cNvPr id="7" name="Text 4"/>
          <p:cNvSpPr/>
          <p:nvPr/>
        </p:nvSpPr>
        <p:spPr>
          <a:xfrm>
            <a:off x="728663" y="1966912"/>
            <a:ext cx="3619500" cy="6858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Malicious instructions in a tool description try to manipulate the model or its workflow.</a:t>
            </a:r>
            <a:endParaRPr lang="en-US" sz="1354" dirty="0"/>
          </a:p>
        </p:txBody>
      </p:sp>
      <p:sp>
        <p:nvSpPr>
          <p:cNvPr id="8" name="Shape 5"/>
          <p:cNvSpPr/>
          <p:nvPr/>
        </p:nvSpPr>
        <p:spPr>
          <a:xfrm>
            <a:off x="4648200" y="1457325"/>
            <a:ext cx="3924300" cy="1123950"/>
          </a:xfrm>
          <a:prstGeom prst="roundRect">
            <a:avLst>
              <a:gd name="adj" fmla="val 17898"/>
            </a:avLst>
          </a:prstGeom>
          <a:solidFill>
            <a:srgbClr val="092925">
              <a:alpha val="96000"/>
            </a:srgbClr>
          </a:solidFill>
          <a:ln w="4524">
            <a:solidFill>
              <a:srgbClr val="267863"/>
            </a:solidFill>
            <a:prstDash val="solid"/>
          </a:ln>
        </p:spPr>
      </p:sp>
      <p:sp>
        <p:nvSpPr>
          <p:cNvPr id="9" name="Text 6"/>
          <p:cNvSpPr/>
          <p:nvPr/>
        </p:nvSpPr>
        <p:spPr>
          <a:xfrm>
            <a:off x="4805363" y="1614488"/>
            <a:ext cx="3619500"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RUG PULLS</a:t>
            </a:r>
            <a:endParaRPr lang="en-US" sz="1425" dirty="0"/>
          </a:p>
        </p:txBody>
      </p:sp>
      <p:sp>
        <p:nvSpPr>
          <p:cNvPr id="10" name="Text 7"/>
          <p:cNvSpPr/>
          <p:nvPr/>
        </p:nvSpPr>
        <p:spPr>
          <a:xfrm>
            <a:off x="4805363" y="1966912"/>
            <a:ext cx="3619500" cy="4572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A previously trusted tool changes its description or behavior after approval.</a:t>
            </a:r>
            <a:endParaRPr lang="en-US" sz="1354" dirty="0"/>
          </a:p>
        </p:txBody>
      </p:sp>
      <p:sp>
        <p:nvSpPr>
          <p:cNvPr id="11" name="Text 8"/>
          <p:cNvSpPr/>
          <p:nvPr/>
        </p:nvSpPr>
        <p:spPr>
          <a:xfrm>
            <a:off x="571500" y="4248150"/>
            <a:ext cx="8001000" cy="276225"/>
          </a:xfrm>
          <a:prstGeom prst="rect">
            <a:avLst/>
          </a:prstGeom>
          <a:noFill/>
          <a:ln/>
        </p:spPr>
        <p:txBody>
          <a:bodyPr wrap="square" lIns="0" tIns="0" rIns="0" bIns="0" rtlCol="0" anchor="t"/>
          <a:lstStyle/>
          <a:p>
            <a:pPr algn="l" indent="0" marL="0">
              <a:lnSpc>
                <a:spcPts val="2048"/>
              </a:lnSpc>
              <a:buNone/>
            </a:pPr>
            <a:r>
              <a:rPr lang="en-US" sz="1639" b="1" dirty="0">
                <a:solidFill>
                  <a:srgbClr val="4FE3BD">
                    <a:alpha val="99000"/>
                  </a:srgbClr>
                </a:solidFill>
                <a:latin typeface="Inter" pitchFamily="34" charset="0"/>
                <a:ea typeface="Inter" pitchFamily="34" charset="-122"/>
                <a:cs typeface="Inter" pitchFamily="34" charset="-120"/>
              </a:rPr>
              <a:t>Review what you connect—and review what changes.</a:t>
            </a:r>
            <a:endParaRPr lang="en-US" sz="1639" dirty="0"/>
          </a:p>
        </p:txBody>
      </p:sp>
      <p:sp>
        <p:nvSpPr>
          <p:cNvPr id="12" name="Text 9"/>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25 / 29</a:t>
            </a:r>
            <a:endParaRPr lang="en-US" sz="855" dirty="0"/>
          </a:p>
        </p:txBody>
      </p:sp>
      <p:pic>
        <p:nvPicPr>
          <p:cNvPr id="13" name="Image 0" descr="preencoded.png">    </p:cNvPr>
          <p:cNvPicPr>
            <a:picLocks noChangeAspect="1"/>
          </p:cNvPicPr>
          <p:nvPr/>
        </p:nvPicPr>
        <p:blipFill>
          <a:blip r:embed="rId2"/>
          <a:srcRect l="0" r="0" t="0" b="0"/>
          <a:stretch/>
        </p:blipFill>
        <p:spPr>
          <a:xfrm>
            <a:off x="6615113" y="2957513"/>
            <a:ext cx="1762125" cy="150971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Security controls for MCP tools</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195388"/>
            <a:ext cx="8001000" cy="2100263"/>
          </a:xfrm>
          <a:prstGeom prst="rect">
            <a:avLst/>
          </a:prstGeom>
          <a:noFill/>
          <a:ln/>
        </p:spPr>
      </p:sp>
      <p:sp>
        <p:nvSpPr>
          <p:cNvPr id="6" name="Text 3"/>
          <p:cNvSpPr/>
          <p:nvPr/>
        </p:nvSpPr>
        <p:spPr>
          <a:xfrm>
            <a:off x="571500" y="1195388"/>
            <a:ext cx="8001000" cy="266700"/>
          </a:xfrm>
          <a:prstGeom prst="rect">
            <a:avLst/>
          </a:prstGeom>
          <a:noFill/>
          <a:ln/>
        </p:spPr>
        <p:txBody>
          <a:bodyPr wrap="square" lIns="0" tIns="0" rIns="0" bIns="0" rtlCol="0" anchor="t"/>
          <a:lstStyle/>
          <a:p>
            <a:pPr algn="l" indent="0" marL="0">
              <a:lnSpc>
                <a:spcPts val="2004"/>
              </a:lnSpc>
              <a:buNone/>
            </a:pPr>
            <a:r>
              <a:rPr lang="en-US" sz="1603" dirty="0">
                <a:solidFill>
                  <a:srgbClr val="F5FFFA">
                    <a:alpha val="99000"/>
                  </a:srgbClr>
                </a:solidFill>
                <a:latin typeface="Inter" pitchFamily="34" charset="0"/>
                <a:ea typeface="Inter" pitchFamily="34" charset="-122"/>
                <a:cs typeface="Inter" pitchFamily="34" charset="-120"/>
              </a:rPr>
              <a:t>✓  Check access: identity, token audience, and permission for the action.</a:t>
            </a:r>
            <a:endParaRPr lang="en-US" sz="1603" dirty="0"/>
          </a:p>
        </p:txBody>
      </p:sp>
      <p:sp>
        <p:nvSpPr>
          <p:cNvPr id="7" name="Text 4"/>
          <p:cNvSpPr/>
          <p:nvPr/>
        </p:nvSpPr>
        <p:spPr>
          <a:xfrm>
            <a:off x="571500" y="1628775"/>
            <a:ext cx="8001000" cy="266700"/>
          </a:xfrm>
          <a:prstGeom prst="rect">
            <a:avLst/>
          </a:prstGeom>
          <a:noFill/>
          <a:ln/>
        </p:spPr>
        <p:txBody>
          <a:bodyPr wrap="square" lIns="0" tIns="0" rIns="0" bIns="0" rtlCol="0" anchor="t"/>
          <a:lstStyle/>
          <a:p>
            <a:pPr algn="l" indent="0" marL="0">
              <a:lnSpc>
                <a:spcPts val="2004"/>
              </a:lnSpc>
              <a:buNone/>
            </a:pPr>
            <a:r>
              <a:rPr lang="en-US" sz="1603" dirty="0">
                <a:solidFill>
                  <a:srgbClr val="F5FFFA">
                    <a:alpha val="99000"/>
                  </a:srgbClr>
                </a:solidFill>
                <a:latin typeface="Inter" pitchFamily="34" charset="0"/>
                <a:ea typeface="Inter" pitchFamily="34" charset="-122"/>
                <a:cs typeface="Inter" pitchFamily="34" charset="-120"/>
              </a:rPr>
              <a:t>↓  Limit permissions: tools and backend accounts get only what they need.</a:t>
            </a:r>
            <a:endParaRPr lang="en-US" sz="1603" dirty="0"/>
          </a:p>
        </p:txBody>
      </p:sp>
      <p:sp>
        <p:nvSpPr>
          <p:cNvPr id="8" name="Text 5"/>
          <p:cNvSpPr/>
          <p:nvPr/>
        </p:nvSpPr>
        <p:spPr>
          <a:xfrm>
            <a:off x="571500" y="2062163"/>
            <a:ext cx="8001000" cy="533400"/>
          </a:xfrm>
          <a:prstGeom prst="rect">
            <a:avLst/>
          </a:prstGeom>
          <a:noFill/>
          <a:ln/>
        </p:spPr>
        <p:txBody>
          <a:bodyPr wrap="square" lIns="0" tIns="0" rIns="0" bIns="0" rtlCol="0" anchor="t"/>
          <a:lstStyle/>
          <a:p>
            <a:pPr algn="l" indent="0" marL="0">
              <a:lnSpc>
                <a:spcPts val="2004"/>
              </a:lnSpc>
              <a:buNone/>
            </a:pPr>
            <a:r>
              <a:rPr lang="en-US" sz="1603" dirty="0">
                <a:solidFill>
                  <a:srgbClr val="F5FFFA">
                    <a:alpha val="99000"/>
                  </a:srgbClr>
                </a:solidFill>
                <a:latin typeface="Inter" pitchFamily="34" charset="0"/>
                <a:ea typeface="Inter" pitchFamily="34" charset="-122"/>
                <a:cs typeface="Inter" pitchFamily="34" charset="-120"/>
              </a:rPr>
              <a:t>!  Treat external content as untrusted: documents and tool results can contain malicious instructions.</a:t>
            </a:r>
            <a:endParaRPr lang="en-US" sz="1603" dirty="0"/>
          </a:p>
        </p:txBody>
      </p:sp>
      <p:sp>
        <p:nvSpPr>
          <p:cNvPr id="9" name="Text 6"/>
          <p:cNvSpPr/>
          <p:nvPr/>
        </p:nvSpPr>
        <p:spPr>
          <a:xfrm>
            <a:off x="571500" y="2762250"/>
            <a:ext cx="8001000" cy="533400"/>
          </a:xfrm>
          <a:prstGeom prst="rect">
            <a:avLst/>
          </a:prstGeom>
          <a:noFill/>
          <a:ln/>
        </p:spPr>
        <p:txBody>
          <a:bodyPr wrap="square" lIns="0" tIns="0" rIns="0" bIns="0" rtlCol="0" anchor="t"/>
          <a:lstStyle/>
          <a:p>
            <a:pPr algn="l" indent="0" marL="0">
              <a:lnSpc>
                <a:spcPts val="2004"/>
              </a:lnSpc>
              <a:buNone/>
            </a:pPr>
            <a:r>
              <a:rPr lang="en-US" sz="1603" dirty="0">
                <a:solidFill>
                  <a:srgbClr val="F5FFFA">
                    <a:alpha val="99000"/>
                  </a:srgbClr>
                </a:solidFill>
                <a:latin typeface="Inter" pitchFamily="34" charset="0"/>
                <a:ea typeface="Inter" pitchFamily="34" charset="-122"/>
                <a:cs typeface="Inter" pitchFamily="34" charset="-120"/>
              </a:rPr>
              <a:t>↻  Review code and updates: server sources, dependencies, and tool descriptions.</a:t>
            </a:r>
            <a:endParaRPr lang="en-US" sz="1603" dirty="0"/>
          </a:p>
        </p:txBody>
      </p:sp>
      <p:sp>
        <p:nvSpPr>
          <p:cNvPr id="10" name="Text 7"/>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26 / 29</a:t>
            </a:r>
            <a:endParaRPr lang="en-US" sz="85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Advanced capabilities</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190625"/>
            <a:ext cx="8001000" cy="1566863"/>
          </a:xfrm>
          <a:prstGeom prst="rect">
            <a:avLst/>
          </a:prstGeom>
          <a:noFill/>
          <a:ln/>
        </p:spPr>
      </p:sp>
      <p:sp>
        <p:nvSpPr>
          <p:cNvPr id="6" name="Text 3"/>
          <p:cNvSpPr/>
          <p:nvPr/>
        </p:nvSpPr>
        <p:spPr>
          <a:xfrm>
            <a:off x="571500" y="1190625"/>
            <a:ext cx="8001000" cy="280988"/>
          </a:xfrm>
          <a:prstGeom prst="rect">
            <a:avLst/>
          </a:prstGeom>
          <a:noFill/>
          <a:ln/>
        </p:spPr>
        <p:txBody>
          <a:bodyPr wrap="square" lIns="0" tIns="0" rIns="0" bIns="0" rtlCol="0" anchor="t"/>
          <a:lstStyle/>
          <a:p>
            <a:pPr algn="l" indent="0" marL="0">
              <a:lnSpc>
                <a:spcPts val="2093"/>
              </a:lnSpc>
              <a:buNone/>
            </a:pPr>
            <a:r>
              <a:rPr lang="en-US" sz="1674" dirty="0">
                <a:solidFill>
                  <a:srgbClr val="F5FFFA">
                    <a:alpha val="99000"/>
                  </a:srgbClr>
                </a:solidFill>
                <a:latin typeface="Inter" pitchFamily="34" charset="0"/>
                <a:ea typeface="Inter" pitchFamily="34" charset="-122"/>
                <a:cs typeface="Inter" pitchFamily="34" charset="-120"/>
              </a:rPr>
              <a:t>Structured results, images, and audio where supported.</a:t>
            </a:r>
            <a:endParaRPr lang="en-US" sz="1674" dirty="0"/>
          </a:p>
        </p:txBody>
      </p:sp>
      <p:sp>
        <p:nvSpPr>
          <p:cNvPr id="7" name="Text 4"/>
          <p:cNvSpPr/>
          <p:nvPr/>
        </p:nvSpPr>
        <p:spPr>
          <a:xfrm>
            <a:off x="571500" y="1619250"/>
            <a:ext cx="8001000" cy="280988"/>
          </a:xfrm>
          <a:prstGeom prst="rect">
            <a:avLst/>
          </a:prstGeom>
          <a:noFill/>
          <a:ln/>
        </p:spPr>
        <p:txBody>
          <a:bodyPr wrap="square" lIns="0" tIns="0" rIns="0" bIns="0" rtlCol="0" anchor="t"/>
          <a:lstStyle/>
          <a:p>
            <a:pPr algn="l" indent="0" marL="0">
              <a:lnSpc>
                <a:spcPts val="2093"/>
              </a:lnSpc>
              <a:buNone/>
            </a:pPr>
            <a:r>
              <a:rPr lang="en-US" sz="1674" dirty="0">
                <a:solidFill>
                  <a:srgbClr val="F5FFFA">
                    <a:alpha val="99000"/>
                  </a:srgbClr>
                </a:solidFill>
                <a:latin typeface="Inter" pitchFamily="34" charset="0"/>
                <a:ea typeface="Inter" pitchFamily="34" charset="-122"/>
                <a:cs typeface="Inter" pitchFamily="34" charset="-120"/>
              </a:rPr>
              <a:t>Local stdio or remote Streamable HTTP + authorization.</a:t>
            </a:r>
            <a:endParaRPr lang="en-US" sz="1674" dirty="0"/>
          </a:p>
        </p:txBody>
      </p:sp>
      <p:sp>
        <p:nvSpPr>
          <p:cNvPr id="8" name="Text 5"/>
          <p:cNvSpPr/>
          <p:nvPr/>
        </p:nvSpPr>
        <p:spPr>
          <a:xfrm>
            <a:off x="571500" y="2047875"/>
            <a:ext cx="8001000" cy="280988"/>
          </a:xfrm>
          <a:prstGeom prst="rect">
            <a:avLst/>
          </a:prstGeom>
          <a:noFill/>
          <a:ln/>
        </p:spPr>
        <p:txBody>
          <a:bodyPr wrap="square" lIns="0" tIns="0" rIns="0" bIns="0" rtlCol="0" anchor="t"/>
          <a:lstStyle/>
          <a:p>
            <a:pPr algn="l" indent="0" marL="0">
              <a:lnSpc>
                <a:spcPts val="2093"/>
              </a:lnSpc>
              <a:buNone/>
            </a:pPr>
            <a:r>
              <a:rPr lang="en-US" sz="1674" dirty="0">
                <a:solidFill>
                  <a:srgbClr val="F5FFFA">
                    <a:alpha val="99000"/>
                  </a:srgbClr>
                </a:solidFill>
                <a:latin typeface="Inter" pitchFamily="34" charset="0"/>
                <a:ea typeface="Inter" pitchFamily="34" charset="-122"/>
                <a:cs typeface="Inter" pitchFamily="34" charset="-120"/>
              </a:rPr>
              <a:t>Workflows using tools from multiple servers.</a:t>
            </a:r>
            <a:endParaRPr lang="en-US" sz="1674" dirty="0"/>
          </a:p>
        </p:txBody>
      </p:sp>
      <p:sp>
        <p:nvSpPr>
          <p:cNvPr id="9" name="Text 6"/>
          <p:cNvSpPr/>
          <p:nvPr/>
        </p:nvSpPr>
        <p:spPr>
          <a:xfrm>
            <a:off x="571500" y="2476500"/>
            <a:ext cx="8001000" cy="280988"/>
          </a:xfrm>
          <a:prstGeom prst="rect">
            <a:avLst/>
          </a:prstGeom>
          <a:noFill/>
          <a:ln/>
        </p:spPr>
        <p:txBody>
          <a:bodyPr wrap="square" lIns="0" tIns="0" rIns="0" bIns="0" rtlCol="0" anchor="t"/>
          <a:lstStyle/>
          <a:p>
            <a:pPr algn="l" indent="0" marL="0">
              <a:lnSpc>
                <a:spcPts val="2093"/>
              </a:lnSpc>
              <a:buNone/>
            </a:pPr>
            <a:r>
              <a:rPr lang="en-US" sz="1674" dirty="0">
                <a:solidFill>
                  <a:srgbClr val="F5FFFA">
                    <a:alpha val="99000"/>
                  </a:srgbClr>
                </a:solidFill>
                <a:latin typeface="Inter" pitchFamily="34" charset="0"/>
                <a:ea typeface="Inter" pitchFamily="34" charset="-122"/>
                <a:cs typeface="Inter" pitchFamily="34" charset="-120"/>
              </a:rPr>
              <a:t>Timeouts, outcome verification, and careful retries.</a:t>
            </a:r>
            <a:endParaRPr lang="en-US" sz="1674" dirty="0"/>
          </a:p>
        </p:txBody>
      </p:sp>
      <p:sp>
        <p:nvSpPr>
          <p:cNvPr id="10" name="Text 7"/>
          <p:cNvSpPr/>
          <p:nvPr/>
        </p:nvSpPr>
        <p:spPr>
          <a:xfrm>
            <a:off x="571500" y="4067175"/>
            <a:ext cx="8001000" cy="466725"/>
          </a:xfrm>
          <a:prstGeom prst="rect">
            <a:avLst/>
          </a:prstGeom>
          <a:noFill/>
          <a:ln/>
        </p:spPr>
        <p:txBody>
          <a:bodyPr wrap="square" lIns="0" tIns="0" rIns="0" bIns="0" rtlCol="0" anchor="t"/>
          <a:lstStyle/>
          <a:p>
            <a:pPr algn="l" indent="0" marL="0">
              <a:lnSpc>
                <a:spcPts val="1737"/>
              </a:lnSpc>
              <a:buNone/>
            </a:pPr>
            <a:r>
              <a:rPr lang="en-US" sz="1389" b="1" dirty="0">
                <a:solidFill>
                  <a:srgbClr val="4FE3BD">
                    <a:alpha val="99000"/>
                  </a:srgbClr>
                </a:solidFill>
                <a:latin typeface="Inter" pitchFamily="34" charset="0"/>
                <a:ea typeface="Inter" pitchFamily="34" charset="-122"/>
                <a:cs typeface="Inter" pitchFamily="34" charset="-120"/>
              </a:rPr>
              <a:t>The host can retrieve from one server, call another,</a:t>
            </a:r>
            <a:endParaRPr lang="en-US" sz="1389" dirty="0"/>
          </a:p>
          <a:p>
            <a:pPr algn="l" indent="0" marL="0">
              <a:lnSpc>
                <a:spcPts val="1737"/>
              </a:lnSpc>
              <a:buNone/>
            </a:pPr>
            <a:r>
              <a:rPr lang="en-US" sz="1389" b="1" dirty="0">
                <a:solidFill>
                  <a:srgbClr val="4FE3BD">
                    <a:alpha val="99000"/>
                  </a:srgbClr>
                </a:solidFill>
                <a:latin typeface="Inter" pitchFamily="34" charset="0"/>
                <a:ea typeface="Inter" pitchFamily="34" charset="-122"/>
                <a:cs typeface="Inter" pitchFamily="34" charset="-120"/>
              </a:rPr>
              <a:t>and save a result through a third. The host coordinates.</a:t>
            </a:r>
            <a:endParaRPr lang="en-US" sz="1389" dirty="0"/>
          </a:p>
        </p:txBody>
      </p:sp>
      <p:sp>
        <p:nvSpPr>
          <p:cNvPr id="11" name="Text 8"/>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27 / 29</a:t>
            </a:r>
            <a:endParaRPr lang="en-US" sz="85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Enterprise: identity + production rules</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190625"/>
            <a:ext cx="3619500" cy="1138238"/>
          </a:xfrm>
          <a:prstGeom prst="roundRect">
            <a:avLst>
              <a:gd name="adj" fmla="val 17674"/>
            </a:avLst>
          </a:prstGeom>
          <a:solidFill>
            <a:srgbClr val="092925">
              <a:alpha val="96000"/>
            </a:srgbClr>
          </a:solidFill>
          <a:ln w="4524">
            <a:solidFill>
              <a:srgbClr val="267863"/>
            </a:solidFill>
            <a:prstDash val="solid"/>
          </a:ln>
        </p:spPr>
      </p:sp>
      <p:sp>
        <p:nvSpPr>
          <p:cNvPr id="6" name="Text 3"/>
          <p:cNvSpPr/>
          <p:nvPr/>
        </p:nvSpPr>
        <p:spPr>
          <a:xfrm>
            <a:off x="728663" y="1347788"/>
            <a:ext cx="3314700" cy="252413"/>
          </a:xfrm>
          <a:prstGeom prst="rect">
            <a:avLst/>
          </a:prstGeom>
          <a:noFill/>
          <a:ln/>
        </p:spPr>
        <p:txBody>
          <a:bodyPr wrap="square" lIns="0" tIns="0" rIns="0" bIns="0" rtlCol="0" anchor="t"/>
          <a:lstStyle/>
          <a:p>
            <a:pPr algn="l" indent="0" marL="0">
              <a:lnSpc>
                <a:spcPts val="1870"/>
              </a:lnSpc>
              <a:buNone/>
            </a:pPr>
            <a:r>
              <a:rPr lang="en-US" sz="1496" b="1" dirty="0">
                <a:solidFill>
                  <a:srgbClr val="4FE3BD">
                    <a:alpha val="99000"/>
                  </a:srgbClr>
                </a:solidFill>
                <a:latin typeface="Inter" pitchFamily="34" charset="0"/>
                <a:ea typeface="Inter" pitchFamily="34" charset="-122"/>
                <a:cs typeface="Inter" pitchFamily="34" charset="-120"/>
              </a:rPr>
              <a:t>IDENTITY PROVIDER</a:t>
            </a:r>
            <a:endParaRPr lang="en-US" sz="1496" dirty="0"/>
          </a:p>
        </p:txBody>
      </p:sp>
      <p:sp>
        <p:nvSpPr>
          <p:cNvPr id="7" name="Text 4"/>
          <p:cNvSpPr/>
          <p:nvPr/>
        </p:nvSpPr>
        <p:spPr>
          <a:xfrm>
            <a:off x="728663" y="1695450"/>
            <a:ext cx="3314700" cy="476250"/>
          </a:xfrm>
          <a:prstGeom prst="rect">
            <a:avLst/>
          </a:prstGeom>
          <a:noFill/>
          <a:ln/>
        </p:spPr>
        <p:txBody>
          <a:bodyPr wrap="square" lIns="0" tIns="0" rIns="0" bIns="0" rtlCol="0" anchor="t"/>
          <a:lstStyle/>
          <a:p>
            <a:pPr algn="l" indent="0" marL="0">
              <a:lnSpc>
                <a:spcPts val="1781"/>
              </a:lnSpc>
              <a:buNone/>
            </a:pPr>
            <a:r>
              <a:rPr lang="en-US" sz="1425" dirty="0">
                <a:solidFill>
                  <a:srgbClr val="F5FFFA">
                    <a:alpha val="99000"/>
                  </a:srgbClr>
                </a:solidFill>
                <a:latin typeface="Inter" pitchFamily="34" charset="0"/>
                <a:ea typeface="Inter" pitchFamily="34" charset="-122"/>
                <a:cs typeface="Inter" pitchFamily="34" charset="-120"/>
              </a:rPr>
              <a:t>Establishes identity</a:t>
            </a:r>
            <a:endParaRPr lang="en-US" sz="1425" dirty="0"/>
          </a:p>
          <a:p>
            <a:pPr algn="l" indent="0" marL="0">
              <a:lnSpc>
                <a:spcPts val="1781"/>
              </a:lnSpc>
              <a:buNone/>
            </a:pPr>
            <a:r>
              <a:rPr lang="en-US" sz="1425" dirty="0">
                <a:solidFill>
                  <a:srgbClr val="F5FFFA">
                    <a:alpha val="99000"/>
                  </a:srgbClr>
                </a:solidFill>
                <a:latin typeface="Inter" pitchFamily="34" charset="0"/>
                <a:ea typeface="Inter" pitchFamily="34" charset="-122"/>
                <a:cs typeface="Inter" pitchFamily="34" charset="-120"/>
              </a:rPr>
              <a:t>Example: Entra ID</a:t>
            </a:r>
            <a:endParaRPr lang="en-US" sz="1425" dirty="0"/>
          </a:p>
        </p:txBody>
      </p:sp>
      <p:sp>
        <p:nvSpPr>
          <p:cNvPr id="8" name="Text 5"/>
          <p:cNvSpPr/>
          <p:nvPr/>
        </p:nvSpPr>
        <p:spPr>
          <a:xfrm>
            <a:off x="4619625" y="1357313"/>
            <a:ext cx="3714750" cy="514350"/>
          </a:xfrm>
          <a:prstGeom prst="rect">
            <a:avLst/>
          </a:prstGeom>
          <a:noFill/>
          <a:ln/>
        </p:spPr>
        <p:txBody>
          <a:bodyPr wrap="square" lIns="0" tIns="0" rIns="0" bIns="0" rtlCol="0" anchor="t"/>
          <a:lstStyle/>
          <a:p>
            <a:pPr algn="l" indent="0" marL="0">
              <a:lnSpc>
                <a:spcPts val="1915"/>
              </a:lnSpc>
              <a:buNone/>
            </a:pPr>
            <a:r>
              <a:rPr lang="en-US" sz="1532" b="1" dirty="0">
                <a:solidFill>
                  <a:srgbClr val="4FE3BD">
                    <a:alpha val="99000"/>
                  </a:srgbClr>
                </a:solidFill>
                <a:latin typeface="Inter" pitchFamily="34" charset="0"/>
                <a:ea typeface="Inter" pitchFamily="34" charset="-122"/>
                <a:cs typeface="Inter" pitchFamily="34" charset="-120"/>
              </a:rPr>
              <a:t>Identity / token issuance</a:t>
            </a:r>
            <a:endParaRPr lang="en-US" sz="1532" dirty="0"/>
          </a:p>
          <a:p>
            <a:pPr algn="l" indent="0" marL="0">
              <a:lnSpc>
                <a:spcPts val="1915"/>
              </a:lnSpc>
              <a:buNone/>
            </a:pPr>
            <a:r>
              <a:rPr lang="en-US" sz="1532" b="1" dirty="0">
                <a:solidFill>
                  <a:srgbClr val="4FE3BD">
                    <a:alpha val="99000"/>
                  </a:srgbClr>
                </a:solidFill>
                <a:latin typeface="Inter" pitchFamily="34" charset="0"/>
                <a:ea typeface="Inter" pitchFamily="34" charset="-122"/>
                <a:cs typeface="Inter" pitchFamily="34" charset="-120"/>
              </a:rPr>
              <a:t>to the client</a:t>
            </a:r>
            <a:endParaRPr lang="en-US" sz="1532" dirty="0"/>
          </a:p>
        </p:txBody>
      </p:sp>
      <p:sp>
        <p:nvSpPr>
          <p:cNvPr id="9" name="Shape 6"/>
          <p:cNvSpPr/>
          <p:nvPr/>
        </p:nvSpPr>
        <p:spPr>
          <a:xfrm>
            <a:off x="571500" y="2809875"/>
            <a:ext cx="2562225" cy="1123950"/>
          </a:xfrm>
          <a:prstGeom prst="roundRect">
            <a:avLst>
              <a:gd name="adj" fmla="val 17898"/>
            </a:avLst>
          </a:prstGeom>
          <a:solidFill>
            <a:srgbClr val="092925">
              <a:alpha val="96000"/>
            </a:srgbClr>
          </a:solidFill>
          <a:ln w="4524">
            <a:solidFill>
              <a:srgbClr val="267863"/>
            </a:solidFill>
            <a:prstDash val="solid"/>
          </a:ln>
        </p:spPr>
      </p:sp>
      <p:sp>
        <p:nvSpPr>
          <p:cNvPr id="10" name="Text 7"/>
          <p:cNvSpPr/>
          <p:nvPr/>
        </p:nvSpPr>
        <p:spPr>
          <a:xfrm>
            <a:off x="728663" y="2967038"/>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OPTIONAL GATEWAY</a:t>
            </a:r>
            <a:endParaRPr lang="en-US" sz="1425" dirty="0"/>
          </a:p>
        </p:txBody>
      </p:sp>
      <p:sp>
        <p:nvSpPr>
          <p:cNvPr id="11" name="Text 8"/>
          <p:cNvSpPr/>
          <p:nvPr/>
        </p:nvSpPr>
        <p:spPr>
          <a:xfrm>
            <a:off x="728663" y="3319463"/>
            <a:ext cx="2257425" cy="4572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Traffic policies and monitoring</a:t>
            </a:r>
            <a:endParaRPr lang="en-US" sz="1354" dirty="0"/>
          </a:p>
        </p:txBody>
      </p:sp>
      <p:sp>
        <p:nvSpPr>
          <p:cNvPr id="12" name="Shape 9"/>
          <p:cNvSpPr/>
          <p:nvPr/>
        </p:nvSpPr>
        <p:spPr>
          <a:xfrm>
            <a:off x="3286125" y="2809875"/>
            <a:ext cx="2562225" cy="1123950"/>
          </a:xfrm>
          <a:prstGeom prst="roundRect">
            <a:avLst>
              <a:gd name="adj" fmla="val 17898"/>
            </a:avLst>
          </a:prstGeom>
          <a:solidFill>
            <a:srgbClr val="092925">
              <a:alpha val="96000"/>
            </a:srgbClr>
          </a:solidFill>
          <a:ln w="4524">
            <a:solidFill>
              <a:srgbClr val="267863"/>
            </a:solidFill>
            <a:prstDash val="solid"/>
          </a:ln>
        </p:spPr>
      </p:sp>
      <p:sp>
        <p:nvSpPr>
          <p:cNvPr id="13" name="Text 10"/>
          <p:cNvSpPr/>
          <p:nvPr/>
        </p:nvSpPr>
        <p:spPr>
          <a:xfrm>
            <a:off x="3443288" y="2967038"/>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MCP SERVER</a:t>
            </a:r>
            <a:endParaRPr lang="en-US" sz="1425" dirty="0"/>
          </a:p>
        </p:txBody>
      </p:sp>
      <p:sp>
        <p:nvSpPr>
          <p:cNvPr id="14" name="Text 11"/>
          <p:cNvSpPr/>
          <p:nvPr/>
        </p:nvSpPr>
        <p:spPr>
          <a:xfrm>
            <a:off x="3443288" y="3319463"/>
            <a:ext cx="2257425" cy="4572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Checks access to tools and data</a:t>
            </a:r>
            <a:endParaRPr lang="en-US" sz="1354" dirty="0"/>
          </a:p>
        </p:txBody>
      </p:sp>
      <p:sp>
        <p:nvSpPr>
          <p:cNvPr id="15" name="Shape 12"/>
          <p:cNvSpPr/>
          <p:nvPr/>
        </p:nvSpPr>
        <p:spPr>
          <a:xfrm>
            <a:off x="6000750" y="2809875"/>
            <a:ext cx="2562225" cy="1123950"/>
          </a:xfrm>
          <a:prstGeom prst="roundRect">
            <a:avLst>
              <a:gd name="adj" fmla="val 17898"/>
            </a:avLst>
          </a:prstGeom>
          <a:solidFill>
            <a:srgbClr val="092925">
              <a:alpha val="96000"/>
            </a:srgbClr>
          </a:solidFill>
          <a:ln w="4524">
            <a:solidFill>
              <a:srgbClr val="267863"/>
            </a:solidFill>
            <a:prstDash val="solid"/>
          </a:ln>
        </p:spPr>
      </p:sp>
      <p:sp>
        <p:nvSpPr>
          <p:cNvPr id="16" name="Text 13"/>
          <p:cNvSpPr/>
          <p:nvPr/>
        </p:nvSpPr>
        <p:spPr>
          <a:xfrm>
            <a:off x="6157913" y="2967038"/>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BACKEND</a:t>
            </a:r>
            <a:endParaRPr lang="en-US" sz="1425" dirty="0"/>
          </a:p>
        </p:txBody>
      </p:sp>
      <p:sp>
        <p:nvSpPr>
          <p:cNvPr id="17" name="Text 14"/>
          <p:cNvSpPr/>
          <p:nvPr/>
        </p:nvSpPr>
        <p:spPr>
          <a:xfrm>
            <a:off x="6157913" y="3319463"/>
            <a:ext cx="2257425" cy="4572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Enforces Application business rules</a:t>
            </a:r>
            <a:endParaRPr lang="en-US" sz="1354" dirty="0"/>
          </a:p>
        </p:txBody>
      </p:sp>
      <p:sp>
        <p:nvSpPr>
          <p:cNvPr id="18" name="Text 15"/>
          <p:cNvSpPr/>
          <p:nvPr/>
        </p:nvSpPr>
        <p:spPr>
          <a:xfrm>
            <a:off x="857250" y="2476500"/>
            <a:ext cx="2095500" cy="214313"/>
          </a:xfrm>
          <a:prstGeom prst="rect">
            <a:avLst/>
          </a:prstGeom>
          <a:noFill/>
          <a:ln/>
        </p:spPr>
        <p:txBody>
          <a:bodyPr wrap="square" lIns="0" tIns="0" rIns="0" bIns="0" rtlCol="0" anchor="t"/>
          <a:lstStyle/>
          <a:p>
            <a:pPr algn="l" indent="0" marL="0">
              <a:lnSpc>
                <a:spcPts val="1603"/>
              </a:lnSpc>
              <a:buNone/>
            </a:pPr>
            <a:r>
              <a:rPr lang="en-US" sz="1283" dirty="0">
                <a:solidFill>
                  <a:srgbClr val="4FE3BD">
                    <a:alpha val="99000"/>
                  </a:srgbClr>
                </a:solidFill>
                <a:latin typeface="Inter" pitchFamily="34" charset="0"/>
                <a:ea typeface="Inter" pitchFamily="34" charset="-122"/>
                <a:cs typeface="Inter" pitchFamily="34" charset="-120"/>
              </a:rPr>
              <a:t>Tool request →</a:t>
            </a:r>
            <a:endParaRPr lang="en-US" sz="1283" dirty="0"/>
          </a:p>
        </p:txBody>
      </p:sp>
      <p:sp>
        <p:nvSpPr>
          <p:cNvPr id="19" name="Text 16"/>
          <p:cNvSpPr/>
          <p:nvPr/>
        </p:nvSpPr>
        <p:spPr>
          <a:xfrm>
            <a:off x="3705225" y="2476500"/>
            <a:ext cx="1571625" cy="214313"/>
          </a:xfrm>
          <a:prstGeom prst="rect">
            <a:avLst/>
          </a:prstGeom>
          <a:noFill/>
          <a:ln/>
        </p:spPr>
        <p:txBody>
          <a:bodyPr wrap="square" lIns="0" tIns="0" rIns="0" bIns="0" rtlCol="0" anchor="t"/>
          <a:lstStyle/>
          <a:p>
            <a:pPr algn="l" indent="0" marL="0">
              <a:lnSpc>
                <a:spcPts val="1603"/>
              </a:lnSpc>
              <a:buNone/>
            </a:pPr>
            <a:r>
              <a:rPr lang="en-US" sz="1283" dirty="0">
                <a:solidFill>
                  <a:srgbClr val="4FE3BD">
                    <a:alpha val="99000"/>
                  </a:srgbClr>
                </a:solidFill>
                <a:latin typeface="Inter" pitchFamily="34" charset="0"/>
                <a:ea typeface="Inter" pitchFamily="34" charset="-122"/>
                <a:cs typeface="Inter" pitchFamily="34" charset="-120"/>
              </a:rPr>
              <a:t>MCP →</a:t>
            </a:r>
            <a:endParaRPr lang="en-US" sz="1283" dirty="0"/>
          </a:p>
        </p:txBody>
      </p:sp>
      <p:sp>
        <p:nvSpPr>
          <p:cNvPr id="20" name="Text 17"/>
          <p:cNvSpPr/>
          <p:nvPr/>
        </p:nvSpPr>
        <p:spPr>
          <a:xfrm>
            <a:off x="6310313" y="2476500"/>
            <a:ext cx="2095500" cy="214313"/>
          </a:xfrm>
          <a:prstGeom prst="rect">
            <a:avLst/>
          </a:prstGeom>
          <a:noFill/>
          <a:ln/>
        </p:spPr>
        <p:txBody>
          <a:bodyPr wrap="square" lIns="0" tIns="0" rIns="0" bIns="0" rtlCol="0" anchor="t"/>
          <a:lstStyle/>
          <a:p>
            <a:pPr algn="l" indent="0" marL="0">
              <a:lnSpc>
                <a:spcPts val="1603"/>
              </a:lnSpc>
              <a:buNone/>
            </a:pPr>
            <a:r>
              <a:rPr lang="en-US" sz="1283" dirty="0">
                <a:solidFill>
                  <a:srgbClr val="4FE3BD">
                    <a:alpha val="99000"/>
                  </a:srgbClr>
                </a:solidFill>
                <a:latin typeface="Inter" pitchFamily="34" charset="0"/>
                <a:ea typeface="Inter" pitchFamily="34" charset="-122"/>
                <a:cs typeface="Inter" pitchFamily="34" charset="-120"/>
              </a:rPr>
              <a:t>Application call →</a:t>
            </a:r>
            <a:endParaRPr lang="en-US" sz="1283" dirty="0"/>
          </a:p>
        </p:txBody>
      </p:sp>
      <p:sp>
        <p:nvSpPr>
          <p:cNvPr id="21" name="Text 18"/>
          <p:cNvSpPr/>
          <p:nvPr/>
        </p:nvSpPr>
        <p:spPr>
          <a:xfrm>
            <a:off x="571500" y="4419600"/>
            <a:ext cx="8001000" cy="219075"/>
          </a:xfrm>
          <a:prstGeom prst="rect">
            <a:avLst/>
          </a:prstGeom>
          <a:noFill/>
          <a:ln/>
        </p:spPr>
        <p:txBody>
          <a:bodyPr wrap="square" lIns="0" tIns="0" rIns="0" bIns="0" rtlCol="0" anchor="t"/>
          <a:lstStyle/>
          <a:p>
            <a:pPr algn="l" indent="0" marL="0">
              <a:lnSpc>
                <a:spcPts val="1648"/>
              </a:lnSpc>
              <a:buNone/>
            </a:pPr>
            <a:r>
              <a:rPr lang="en-US" sz="1318" b="1" dirty="0">
                <a:solidFill>
                  <a:srgbClr val="4FE3BD">
                    <a:alpha val="99000"/>
                  </a:srgbClr>
                </a:solidFill>
                <a:latin typeface="Inter" pitchFamily="34" charset="0"/>
                <a:ea typeface="Inter" pitchFamily="34" charset="-122"/>
                <a:cs typeface="Inter" pitchFamily="34" charset="-120"/>
              </a:rPr>
              <a:t>Production: per-tool authorization · audit logs · safe retries · verified outcomes.</a:t>
            </a:r>
            <a:endParaRPr lang="en-US" sz="1318" dirty="0"/>
          </a:p>
        </p:txBody>
      </p:sp>
      <p:sp>
        <p:nvSpPr>
          <p:cNvPr id="22" name="Text 19"/>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28 / 29</a:t>
            </a:r>
            <a:endParaRPr lang="en-US" sz="85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71500" y="304800"/>
            <a:ext cx="8001000" cy="419100"/>
          </a:xfrm>
          <a:prstGeom prst="rect">
            <a:avLst/>
          </a:prstGeom>
          <a:noFill/>
          <a:ln/>
        </p:spPr>
        <p:txBody>
          <a:bodyPr wrap="square" lIns="0" tIns="0" rIns="0" bIns="0" rtlCol="0" anchor="t"/>
          <a:lstStyle/>
          <a:p>
            <a:pPr algn="l" indent="0" marL="0">
              <a:lnSpc>
                <a:spcPts val="3117"/>
              </a:lnSpc>
              <a:buNone/>
            </a:pPr>
            <a:r>
              <a:rPr lang="en-US" sz="2494" b="1" dirty="0">
                <a:solidFill>
                  <a:srgbClr val="F5FFFA">
                    <a:alpha val="99000"/>
                  </a:srgbClr>
                </a:solidFill>
                <a:latin typeface="Inter" pitchFamily="34" charset="0"/>
                <a:ea typeface="Inter" pitchFamily="34" charset="-122"/>
                <a:cs typeface="Inter" pitchFamily="34" charset="-120"/>
              </a:rPr>
              <a:t>Where can I use this at the hackathon?</a:t>
            </a:r>
            <a:endParaRPr lang="en-US" sz="2494" dirty="0"/>
          </a:p>
        </p:txBody>
      </p:sp>
      <p:sp>
        <p:nvSpPr>
          <p:cNvPr id="4" name="Shape 1"/>
          <p:cNvSpPr/>
          <p:nvPr/>
        </p:nvSpPr>
        <p:spPr>
          <a:xfrm>
            <a:off x="581025" y="838200"/>
            <a:ext cx="523875" cy="33338"/>
          </a:xfrm>
          <a:prstGeom prst="rect">
            <a:avLst/>
          </a:prstGeom>
          <a:solidFill>
            <a:srgbClr val="4FE3BD"/>
          </a:solidFill>
          <a:ln/>
        </p:spPr>
      </p:sp>
      <p:sp>
        <p:nvSpPr>
          <p:cNvPr id="5" name="Shape 2"/>
          <p:cNvSpPr/>
          <p:nvPr/>
        </p:nvSpPr>
        <p:spPr>
          <a:xfrm>
            <a:off x="571500" y="1381125"/>
            <a:ext cx="2562225" cy="1123950"/>
          </a:xfrm>
          <a:prstGeom prst="roundRect">
            <a:avLst>
              <a:gd name="adj" fmla="val 17898"/>
            </a:avLst>
          </a:prstGeom>
          <a:solidFill>
            <a:srgbClr val="092925">
              <a:alpha val="96000"/>
            </a:srgbClr>
          </a:solidFill>
          <a:ln w="4524">
            <a:solidFill>
              <a:srgbClr val="267863"/>
            </a:solidFill>
            <a:prstDash val="solid"/>
          </a:ln>
        </p:spPr>
      </p:sp>
      <p:sp>
        <p:nvSpPr>
          <p:cNvPr id="6" name="Text 3"/>
          <p:cNvSpPr/>
          <p:nvPr/>
        </p:nvSpPr>
        <p:spPr>
          <a:xfrm>
            <a:off x="728663" y="1538288"/>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ONE USEFUL ACTION</a:t>
            </a:r>
            <a:endParaRPr lang="en-US" sz="1425" dirty="0"/>
          </a:p>
        </p:txBody>
      </p:sp>
      <p:sp>
        <p:nvSpPr>
          <p:cNvPr id="7" name="Text 4"/>
          <p:cNvSpPr/>
          <p:nvPr/>
        </p:nvSpPr>
        <p:spPr>
          <a:xfrm>
            <a:off x="728663" y="1890713"/>
            <a:ext cx="2257425" cy="4572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Search inventory or create a draft ticket</a:t>
            </a:r>
            <a:endParaRPr lang="en-US" sz="1354" dirty="0"/>
          </a:p>
        </p:txBody>
      </p:sp>
      <p:sp>
        <p:nvSpPr>
          <p:cNvPr id="8" name="Shape 5"/>
          <p:cNvSpPr/>
          <p:nvPr/>
        </p:nvSpPr>
        <p:spPr>
          <a:xfrm>
            <a:off x="3286125" y="1381125"/>
            <a:ext cx="2562225" cy="1123950"/>
          </a:xfrm>
          <a:prstGeom prst="roundRect">
            <a:avLst>
              <a:gd name="adj" fmla="val 17898"/>
            </a:avLst>
          </a:prstGeom>
          <a:solidFill>
            <a:srgbClr val="092925">
              <a:alpha val="96000"/>
            </a:srgbClr>
          </a:solidFill>
          <a:ln w="4524">
            <a:solidFill>
              <a:srgbClr val="267863"/>
            </a:solidFill>
            <a:prstDash val="solid"/>
          </a:ln>
        </p:spPr>
      </p:sp>
      <p:sp>
        <p:nvSpPr>
          <p:cNvPr id="9" name="Text 6"/>
          <p:cNvSpPr/>
          <p:nvPr/>
        </p:nvSpPr>
        <p:spPr>
          <a:xfrm>
            <a:off x="3443288" y="1538288"/>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ONE STATE CHECK</a:t>
            </a:r>
            <a:endParaRPr lang="en-US" sz="1425" dirty="0"/>
          </a:p>
        </p:txBody>
      </p:sp>
      <p:sp>
        <p:nvSpPr>
          <p:cNvPr id="10" name="Text 7"/>
          <p:cNvSpPr/>
          <p:nvPr/>
        </p:nvSpPr>
        <p:spPr>
          <a:xfrm>
            <a:off x="3443288" y="1890713"/>
            <a:ext cx="2257425" cy="4572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Read the item / ticket and verify the result</a:t>
            </a:r>
            <a:endParaRPr lang="en-US" sz="1354" dirty="0"/>
          </a:p>
        </p:txBody>
      </p:sp>
      <p:sp>
        <p:nvSpPr>
          <p:cNvPr id="11" name="Shape 8"/>
          <p:cNvSpPr/>
          <p:nvPr/>
        </p:nvSpPr>
        <p:spPr>
          <a:xfrm>
            <a:off x="6000750" y="1381125"/>
            <a:ext cx="2562225" cy="1352550"/>
          </a:xfrm>
          <a:prstGeom prst="roundRect">
            <a:avLst>
              <a:gd name="adj" fmla="val 14873"/>
            </a:avLst>
          </a:prstGeom>
          <a:solidFill>
            <a:srgbClr val="092925">
              <a:alpha val="96000"/>
            </a:srgbClr>
          </a:solidFill>
          <a:ln w="4524">
            <a:solidFill>
              <a:srgbClr val="267863"/>
            </a:solidFill>
            <a:prstDash val="solid"/>
          </a:ln>
        </p:spPr>
      </p:sp>
      <p:sp>
        <p:nvSpPr>
          <p:cNvPr id="12" name="Text 9"/>
          <p:cNvSpPr/>
          <p:nvPr/>
        </p:nvSpPr>
        <p:spPr>
          <a:xfrm>
            <a:off x="6157913" y="1538288"/>
            <a:ext cx="2257425" cy="238125"/>
          </a:xfrm>
          <a:prstGeom prst="rect">
            <a:avLst/>
          </a:prstGeom>
          <a:noFill/>
          <a:ln/>
        </p:spPr>
        <p:txBody>
          <a:bodyPr wrap="square" lIns="0" tIns="0" rIns="0" bIns="0" rtlCol="0" anchor="t"/>
          <a:lstStyle/>
          <a:p>
            <a:pPr algn="l" indent="0" marL="0">
              <a:lnSpc>
                <a:spcPts val="1781"/>
              </a:lnSpc>
              <a:buNone/>
            </a:pPr>
            <a:r>
              <a:rPr lang="en-US" sz="1425" b="1" dirty="0">
                <a:solidFill>
                  <a:srgbClr val="4FE3BD">
                    <a:alpha val="99000"/>
                  </a:srgbClr>
                </a:solidFill>
                <a:latin typeface="Inter" pitchFamily="34" charset="0"/>
                <a:ea typeface="Inter" pitchFamily="34" charset="-122"/>
                <a:cs typeface="Inter" pitchFamily="34" charset="-120"/>
              </a:rPr>
              <a:t>ONE CLEAR BOUNDARY</a:t>
            </a:r>
            <a:endParaRPr lang="en-US" sz="1425" dirty="0"/>
          </a:p>
        </p:txBody>
      </p:sp>
      <p:sp>
        <p:nvSpPr>
          <p:cNvPr id="13" name="Text 10"/>
          <p:cNvSpPr/>
          <p:nvPr/>
        </p:nvSpPr>
        <p:spPr>
          <a:xfrm>
            <a:off x="6157913" y="1890713"/>
            <a:ext cx="2257425" cy="685800"/>
          </a:xfrm>
          <a:prstGeom prst="rect">
            <a:avLst/>
          </a:prstGeom>
          <a:noFill/>
          <a:ln/>
        </p:spPr>
        <p:txBody>
          <a:bodyPr wrap="square" lIns="0" tIns="0" rIns="0" bIns="0" rtlCol="0" anchor="t"/>
          <a:lstStyle/>
          <a:p>
            <a:pPr algn="l" indent="0" marL="0">
              <a:lnSpc>
                <a:spcPts val="1692"/>
              </a:lnSpc>
              <a:buNone/>
            </a:pPr>
            <a:r>
              <a:rPr lang="en-US" sz="1354" dirty="0">
                <a:solidFill>
                  <a:srgbClr val="F5FFFA">
                    <a:alpha val="99000"/>
                  </a:srgbClr>
                </a:solidFill>
                <a:latin typeface="Inter" pitchFamily="34" charset="0"/>
                <a:ea typeface="Inter" pitchFamily="34" charset="-122"/>
                <a:cs typeface="Inter" pitchFamily="34" charset="-120"/>
              </a:rPr>
              <a:t>Validate inputs; restrict access; approve risky writes</a:t>
            </a:r>
            <a:endParaRPr lang="en-US" sz="1354" dirty="0"/>
          </a:p>
        </p:txBody>
      </p:sp>
      <p:sp>
        <p:nvSpPr>
          <p:cNvPr id="14" name="Text 11"/>
          <p:cNvSpPr/>
          <p:nvPr/>
        </p:nvSpPr>
        <p:spPr>
          <a:xfrm>
            <a:off x="571500" y="3738563"/>
            <a:ext cx="8001000" cy="657225"/>
          </a:xfrm>
          <a:prstGeom prst="rect">
            <a:avLst/>
          </a:prstGeom>
          <a:noFill/>
          <a:ln/>
        </p:spPr>
        <p:txBody>
          <a:bodyPr wrap="square" lIns="0" tIns="0" rIns="0" bIns="0" rtlCol="0" anchor="t"/>
          <a:lstStyle/>
          <a:p>
            <a:pPr algn="l" indent="0" marL="0">
              <a:lnSpc>
                <a:spcPts val="2449"/>
              </a:lnSpc>
              <a:buNone/>
            </a:pPr>
            <a:r>
              <a:rPr lang="en-US" sz="1959" b="1" dirty="0">
                <a:solidFill>
                  <a:srgbClr val="4FE3BD">
                    <a:alpha val="99000"/>
                  </a:srgbClr>
                </a:solidFill>
                <a:latin typeface="Inter" pitchFamily="34" charset="0"/>
                <a:ea typeface="Inter" pitchFamily="34" charset="-122"/>
                <a:cs typeface="Inter" pitchFamily="34" charset="-120"/>
              </a:rPr>
              <a:t>Exit check: name your tool, input, permission,</a:t>
            </a:r>
            <a:endParaRPr lang="en-US" sz="1959" dirty="0"/>
          </a:p>
          <a:p>
            <a:pPr algn="l" indent="0" marL="0">
              <a:lnSpc>
                <a:spcPts val="2449"/>
              </a:lnSpc>
              <a:buNone/>
            </a:pPr>
            <a:r>
              <a:rPr lang="en-US" sz="1959" b="1" dirty="0">
                <a:solidFill>
                  <a:srgbClr val="4FE3BD">
                    <a:alpha val="99000"/>
                  </a:srgbClr>
                </a:solidFill>
                <a:latin typeface="Inter" pitchFamily="34" charset="0"/>
                <a:ea typeface="Inter" pitchFamily="34" charset="-122"/>
                <a:cs typeface="Inter" pitchFamily="34" charset="-120"/>
              </a:rPr>
              <a:t>and the evidence that proves it worked.</a:t>
            </a:r>
            <a:endParaRPr lang="en-US" sz="1959" dirty="0"/>
          </a:p>
        </p:txBody>
      </p:sp>
      <p:sp>
        <p:nvSpPr>
          <p:cNvPr id="15" name="Text 12"/>
          <p:cNvSpPr/>
          <p:nvPr/>
        </p:nvSpPr>
        <p:spPr>
          <a:xfrm>
            <a:off x="8310562" y="4862513"/>
            <a:ext cx="619125" cy="142875"/>
          </a:xfrm>
          <a:prstGeom prst="rect">
            <a:avLst/>
          </a:prstGeom>
          <a:noFill/>
          <a:ln/>
        </p:spPr>
        <p:txBody>
          <a:bodyPr wrap="square" lIns="0" tIns="0" rIns="0" bIns="0" rtlCol="0" anchor="t"/>
          <a:lstStyle/>
          <a:p>
            <a:pPr algn="l" indent="0" marL="0">
              <a:lnSpc>
                <a:spcPts val="1069"/>
              </a:lnSpc>
              <a:buNone/>
            </a:pPr>
            <a:r>
              <a:rPr lang="en-US" sz="855" dirty="0">
                <a:solidFill>
                  <a:srgbClr val="BAD9CF">
                    <a:alpha val="99000"/>
                  </a:srgbClr>
                </a:solidFill>
                <a:latin typeface="Inter" pitchFamily="34" charset="0"/>
                <a:ea typeface="Inter" pitchFamily="34" charset="-122"/>
                <a:cs typeface="Inter" pitchFamily="34" charset="-120"/>
              </a:rPr>
              <a:t>29 / 29</a:t>
            </a:r>
            <a:endParaRPr lang="en-US" sz="855" dirty="0"/>
          </a:p>
        </p:txBody>
      </p:sp>
      <p:pic>
        <p:nvPicPr>
          <p:cNvPr id="16" name="Image 0" descr="preencoded.png">    </p:cNvPr>
          <p:cNvPicPr>
            <a:picLocks noChangeAspect="1"/>
          </p:cNvPicPr>
          <p:nvPr/>
        </p:nvPicPr>
        <p:blipFill>
          <a:blip r:embed="rId2"/>
          <a:srcRect l="0" r="0" t="0" b="0"/>
          <a:stretch/>
        </p:blipFill>
        <p:spPr>
          <a:xfrm>
            <a:off x="1604963" y="2809875"/>
            <a:ext cx="514350" cy="514350"/>
          </a:xfrm>
          <a:prstGeom prst="rect">
            <a:avLst/>
          </a:prstGeom>
        </p:spPr>
      </p:pic>
      <p:pic>
        <p:nvPicPr>
          <p:cNvPr id="17" name="Image 1" descr="preencoded.png">    </p:cNvPr>
          <p:cNvPicPr>
            <a:picLocks noChangeAspect="1"/>
          </p:cNvPicPr>
          <p:nvPr/>
        </p:nvPicPr>
        <p:blipFill>
          <a:blip r:embed="rId3"/>
          <a:srcRect l="0" r="0" t="0" b="0"/>
          <a:stretch/>
        </p:blipFill>
        <p:spPr>
          <a:xfrm>
            <a:off x="4319588" y="2809875"/>
            <a:ext cx="514350" cy="514350"/>
          </a:xfrm>
          <a:prstGeom prst="rect">
            <a:avLst/>
          </a:prstGeom>
        </p:spPr>
      </p:pic>
      <p:pic>
        <p:nvPicPr>
          <p:cNvPr id="18" name="Image 2" descr="preencoded.png">    </p:cNvPr>
          <p:cNvPicPr>
            <a:picLocks noChangeAspect="1"/>
          </p:cNvPicPr>
          <p:nvPr/>
        </p:nvPicPr>
        <p:blipFill>
          <a:blip r:embed="rId4"/>
          <a:srcRect l="0" r="0" t="0" b="0"/>
          <a:stretch/>
        </p:blipFill>
        <p:spPr>
          <a:xfrm>
            <a:off x="7034213" y="2809875"/>
            <a:ext cx="514350" cy="514350"/>
          </a:xfrm>
          <a:prstGeom prst="rect">
            <a:avLst/>
          </a:prstGeom>
        </p:spPr>
      </p:pic>
      <p:sp>
        <p:nvSpPr>
          <p:cNvPr id="19" name="Text 13"/>
          <p:cNvSpPr/>
          <p:nvPr/>
        </p:nvSpPr>
        <p:spPr>
          <a:xfrm>
            <a:off x="3071813" y="2857500"/>
            <a:ext cx="476250" cy="395288"/>
          </a:xfrm>
          <a:prstGeom prst="rect">
            <a:avLst/>
          </a:prstGeom>
          <a:noFill/>
          <a:ln/>
        </p:spPr>
        <p:txBody>
          <a:bodyPr wrap="square" lIns="0" tIns="0" rIns="0" bIns="0" rtlCol="0" anchor="t"/>
          <a:lstStyle/>
          <a:p>
            <a:pPr algn="l" indent="0" marL="0">
              <a:lnSpc>
                <a:spcPts val="2939"/>
              </a:lnSpc>
              <a:buNone/>
            </a:pPr>
            <a:r>
              <a:rPr lang="en-US" sz="2351" dirty="0">
                <a:solidFill>
                  <a:srgbClr val="4FE3BD">
                    <a:alpha val="99000"/>
                  </a:srgbClr>
                </a:solidFill>
                <a:latin typeface="Inter" pitchFamily="34" charset="0"/>
                <a:ea typeface="Inter" pitchFamily="34" charset="-122"/>
                <a:cs typeface="Inter" pitchFamily="34" charset="-120"/>
              </a:rPr>
              <a:t>→</a:t>
            </a:r>
            <a:endParaRPr lang="en-US" sz="2351" dirty="0"/>
          </a:p>
        </p:txBody>
      </p:sp>
      <p:sp>
        <p:nvSpPr>
          <p:cNvPr id="20" name="Text 14"/>
          <p:cNvSpPr/>
          <p:nvPr/>
        </p:nvSpPr>
        <p:spPr>
          <a:xfrm>
            <a:off x="5786438" y="2857500"/>
            <a:ext cx="476250" cy="395288"/>
          </a:xfrm>
          <a:prstGeom prst="rect">
            <a:avLst/>
          </a:prstGeom>
          <a:noFill/>
          <a:ln/>
        </p:spPr>
        <p:txBody>
          <a:bodyPr wrap="square" lIns="0" tIns="0" rIns="0" bIns="0" rtlCol="0" anchor="t"/>
          <a:lstStyle/>
          <a:p>
            <a:pPr algn="l" indent="0" marL="0">
              <a:lnSpc>
                <a:spcPts val="2939"/>
              </a:lnSpc>
              <a:buNone/>
            </a:pPr>
            <a:r>
              <a:rPr lang="en-US" sz="2351" dirty="0">
                <a:solidFill>
                  <a:srgbClr val="4FE3BD">
                    <a:alpha val="99000"/>
                  </a:srgbClr>
                </a:solidFill>
                <a:latin typeface="Inter" pitchFamily="34" charset="0"/>
                <a:ea typeface="Inter" pitchFamily="34" charset="-122"/>
                <a:cs typeface="Inter" pitchFamily="34" charset="-120"/>
              </a:rPr>
              <a:t>→</a:t>
            </a:r>
            <a:endParaRPr lang="en-US" sz="235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2026-10-09T18:22:18Z</dcterms:created>
  <dcterms:modified xsi:type="dcterms:W3CDTF">2026-10-09T18:22:18Z</dcterms:modified>
</cp:coreProperties>
</file>