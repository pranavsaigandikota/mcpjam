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ca9e33b51d742d0" /><Relationship Type="http://schemas.openxmlformats.org/officeDocument/2006/relationships/extended-properties" Target="/docProps/app.xml" Id="Rc3297ec557684eeb" /><Relationship Type="http://schemas.openxmlformats.org/officeDocument/2006/relationships/officeDocument" Target="/ppt/presentation.xml" Id="R9993cf8fedd846a1"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e8805d8b96454363"/>
  </p:sldMasterIdLst>
  <p:notesMasterIdLst>
    <p:notesMasterId xmlns:r="http://schemas.openxmlformats.org/officeDocument/2006/relationships" r:id="R08081cefc3654476"/>
  </p:notesMasterIdLst>
  <p:sldIdLst>
    <p:sldId xmlns:r="http://schemas.openxmlformats.org/officeDocument/2006/relationships" id="256" r:id="R0706dbc1dfca4e6a"/>
    <p:sldId xmlns:r="http://schemas.openxmlformats.org/officeDocument/2006/relationships" id="257" r:id="R453a2e46ef0d42e1"/>
    <p:sldId xmlns:r="http://schemas.openxmlformats.org/officeDocument/2006/relationships" id="258" r:id="Rd84c1a22d9b34510"/>
    <p:sldId xmlns:r="http://schemas.openxmlformats.org/officeDocument/2006/relationships" id="259" r:id="Rbb917d983ba040b2"/>
    <p:sldId xmlns:r="http://schemas.openxmlformats.org/officeDocument/2006/relationships" id="260" r:id="R8d7ab879a0f94059"/>
    <p:sldId xmlns:r="http://schemas.openxmlformats.org/officeDocument/2006/relationships" id="261" r:id="R3ad69cd007604d49"/>
    <p:sldId xmlns:r="http://schemas.openxmlformats.org/officeDocument/2006/relationships" id="262" r:id="Rd5a76acdd94a4f47"/>
    <p:sldId xmlns:r="http://schemas.openxmlformats.org/officeDocument/2006/relationships" id="263" r:id="Rad452ac621ce4a8b"/>
    <p:sldId xmlns:r="http://schemas.openxmlformats.org/officeDocument/2006/relationships" id="264" r:id="R54ea7d63e9cd427b"/>
    <p:sldId xmlns:r="http://schemas.openxmlformats.org/officeDocument/2006/relationships" id="265" r:id="R499662c4a4024754"/>
    <p:sldId xmlns:r="http://schemas.openxmlformats.org/officeDocument/2006/relationships" id="266" r:id="R78a627970d4c42d2"/>
    <p:sldId xmlns:r="http://schemas.openxmlformats.org/officeDocument/2006/relationships" id="267" r:id="R21c4d4673d524b1b"/>
    <p:sldId xmlns:r="http://schemas.openxmlformats.org/officeDocument/2006/relationships" id="268" r:id="R2f9d8761804b4c10"/>
    <p:sldId xmlns:r="http://schemas.openxmlformats.org/officeDocument/2006/relationships" id="269" r:id="R0c0f8096b368496a"/>
    <p:sldId xmlns:r="http://schemas.openxmlformats.org/officeDocument/2006/relationships" id="270" r:id="R3c875cc0569a41b7"/>
    <p:sldId xmlns:r="http://schemas.openxmlformats.org/officeDocument/2006/relationships" id="271" r:id="R0ad8808517b54936"/>
    <p:sldId xmlns:r="http://schemas.openxmlformats.org/officeDocument/2006/relationships" id="272" r:id="R2cfda0be2e054dd7"/>
    <p:sldId xmlns:r="http://schemas.openxmlformats.org/officeDocument/2006/relationships" id="273" r:id="R8051dce3232c446c"/>
    <p:sldId xmlns:r="http://schemas.openxmlformats.org/officeDocument/2006/relationships" id="274" r:id="R1d6ae8a9c0664120"/>
    <p:sldId xmlns:r="http://schemas.openxmlformats.org/officeDocument/2006/relationships" id="275" r:id="Re9f3258d67794149"/>
    <p:sldId xmlns:r="http://schemas.openxmlformats.org/officeDocument/2006/relationships" id="276" r:id="R1216192d09a248e4"/>
    <p:sldId xmlns:r="http://schemas.openxmlformats.org/officeDocument/2006/relationships" id="277" r:id="R54c8e9faea54453d"/>
    <p:sldId xmlns:r="http://schemas.openxmlformats.org/officeDocument/2006/relationships" id="278" r:id="R092670c3949344ad"/>
    <p:sldId xmlns:r="http://schemas.openxmlformats.org/officeDocument/2006/relationships" id="279" r:id="R1fd693920156471f"/>
    <p:sldId xmlns:r="http://schemas.openxmlformats.org/officeDocument/2006/relationships" id="280" r:id="R12959bf91e4a4274"/>
    <p:sldId xmlns:r="http://schemas.openxmlformats.org/officeDocument/2006/relationships" id="281" r:id="R6e500603c33144f5"/>
    <p:sldId xmlns:r="http://schemas.openxmlformats.org/officeDocument/2006/relationships" id="282" r:id="R3c3d6fd0fcae4e24"/>
    <p:sldId xmlns:r="http://schemas.openxmlformats.org/officeDocument/2006/relationships" id="283" r:id="R076409f32e5a478c"/>
    <p:sldId xmlns:r="http://schemas.openxmlformats.org/officeDocument/2006/relationships" id="284" r:id="R66ecbcaf31544203"/>
  </p:sldIdLst>
  <p:sldSz cx="9144000" cy="5143500"/>
  <p:notesSz cx="6858000" cy="9144000"/>
  <p:embeddedFontLst>
    <p:embeddedFont>
      <p:font typeface="Inter"/>
      <p:regular xmlns:r="http://schemas.openxmlformats.org/officeDocument/2006/relationships" r:id="Rfc58c38e549f40a1"/>
    </p:embeddedFont>
    <p:embeddedFont>
      <p:font typeface="Roboto Mono"/>
      <p:regular xmlns:r="http://schemas.openxmlformats.org/officeDocument/2006/relationships" r:id="Rf1c0649ba1854b98"/>
    </p:embeddedFont>
  </p:embeddedFontLst>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1bb11201109465f" /><Relationship Type="http://schemas.openxmlformats.org/officeDocument/2006/relationships/slideMaster" Target="/ppt/slideMasters/slideMaster1.xml" Id="Re8805d8b96454363" /><Relationship Type="http://schemas.openxmlformats.org/officeDocument/2006/relationships/notesMaster" Target="/ppt/notesMasters/notesMaster1.xml" Id="R08081cefc3654476" /><Relationship Type="http://schemas.openxmlformats.org/officeDocument/2006/relationships/presProps" Target="/ppt/presProps.xml" Id="R1245e3cfd05248c5" /><Relationship Type="http://schemas.openxmlformats.org/officeDocument/2006/relationships/viewProps" Target="/ppt/viewProps.xml" Id="R53841d1cb547432a" /><Relationship Type="http://schemas.openxmlformats.org/officeDocument/2006/relationships/tableStyles" Target="/ppt/tableStyles.xml" Id="Re54dccdf2e7d498f" /><Relationship Type="http://schemas.openxmlformats.org/officeDocument/2006/relationships/font" Target="/ppt/fonts/font.dat" Id="Rfc58c38e549f40a1" /><Relationship Type="http://schemas.openxmlformats.org/officeDocument/2006/relationships/font" Target="/ppt/fonts/font2.dat" Id="Rf1c0649ba1854b98" /><Relationship Type="http://schemas.openxmlformats.org/officeDocument/2006/relationships/slide" Target="/ppt/slides/slide1.xml" Id="R0706dbc1dfca4e6a" /><Relationship Type="http://schemas.openxmlformats.org/officeDocument/2006/relationships/slide" Target="/ppt/slides/slide2.xml" Id="R453a2e46ef0d42e1" /><Relationship Type="http://schemas.openxmlformats.org/officeDocument/2006/relationships/slide" Target="/ppt/slides/slide3.xml" Id="Rd84c1a22d9b34510" /><Relationship Type="http://schemas.openxmlformats.org/officeDocument/2006/relationships/slide" Target="/ppt/slides/slide4.xml" Id="Rbb917d983ba040b2" /><Relationship Type="http://schemas.openxmlformats.org/officeDocument/2006/relationships/slide" Target="/ppt/slides/slide5.xml" Id="R8d7ab879a0f94059" /><Relationship Type="http://schemas.openxmlformats.org/officeDocument/2006/relationships/slide" Target="/ppt/slides/slide6.xml" Id="R3ad69cd007604d49" /><Relationship Type="http://schemas.openxmlformats.org/officeDocument/2006/relationships/slide" Target="/ppt/slides/slide7.xml" Id="Rd5a76acdd94a4f47" /><Relationship Type="http://schemas.openxmlformats.org/officeDocument/2006/relationships/slide" Target="/ppt/slides/slide8.xml" Id="Rad452ac621ce4a8b" /><Relationship Type="http://schemas.openxmlformats.org/officeDocument/2006/relationships/slide" Target="/ppt/slides/slide9.xml" Id="R54ea7d63e9cd427b" /><Relationship Type="http://schemas.openxmlformats.org/officeDocument/2006/relationships/slide" Target="/ppt/slides/slide10.xml" Id="R499662c4a4024754" /><Relationship Type="http://schemas.openxmlformats.org/officeDocument/2006/relationships/slide" Target="/ppt/slides/slide11.xml" Id="R78a627970d4c42d2" /><Relationship Type="http://schemas.openxmlformats.org/officeDocument/2006/relationships/slide" Target="/ppt/slides/slide12.xml" Id="R21c4d4673d524b1b" /><Relationship Type="http://schemas.openxmlformats.org/officeDocument/2006/relationships/slide" Target="/ppt/slides/slide13.xml" Id="R2f9d8761804b4c10" /><Relationship Type="http://schemas.openxmlformats.org/officeDocument/2006/relationships/slide" Target="/ppt/slides/slide14.xml" Id="R0c0f8096b368496a" /><Relationship Type="http://schemas.openxmlformats.org/officeDocument/2006/relationships/slide" Target="/ppt/slides/slide15.xml" Id="R3c875cc0569a41b7" /><Relationship Type="http://schemas.openxmlformats.org/officeDocument/2006/relationships/slide" Target="/ppt/slides/slide16.xml" Id="R0ad8808517b54936" /><Relationship Type="http://schemas.openxmlformats.org/officeDocument/2006/relationships/slide" Target="/ppt/slides/slide17.xml" Id="R2cfda0be2e054dd7" /><Relationship Type="http://schemas.openxmlformats.org/officeDocument/2006/relationships/slide" Target="/ppt/slides/slide18.xml" Id="R8051dce3232c446c" /><Relationship Type="http://schemas.openxmlformats.org/officeDocument/2006/relationships/slide" Target="/ppt/slides/slide19.xml" Id="R1d6ae8a9c0664120" /><Relationship Type="http://schemas.openxmlformats.org/officeDocument/2006/relationships/slide" Target="/ppt/slides/slide20.xml" Id="Re9f3258d67794149" /><Relationship Type="http://schemas.openxmlformats.org/officeDocument/2006/relationships/slide" Target="/ppt/slides/slide21.xml" Id="R1216192d09a248e4" /><Relationship Type="http://schemas.openxmlformats.org/officeDocument/2006/relationships/slide" Target="/ppt/slides/slide22.xml" Id="R54c8e9faea54453d" /><Relationship Type="http://schemas.openxmlformats.org/officeDocument/2006/relationships/slide" Target="/ppt/slides/slide23.xml" Id="R092670c3949344ad" /><Relationship Type="http://schemas.openxmlformats.org/officeDocument/2006/relationships/slide" Target="/ppt/slides/slide24.xml" Id="R1fd693920156471f" /><Relationship Type="http://schemas.openxmlformats.org/officeDocument/2006/relationships/slide" Target="/ppt/slides/slide25.xml" Id="R12959bf91e4a4274" /><Relationship Type="http://schemas.openxmlformats.org/officeDocument/2006/relationships/slide" Target="/ppt/slides/slide26.xml" Id="R6e500603c33144f5" /><Relationship Type="http://schemas.openxmlformats.org/officeDocument/2006/relationships/slide" Target="/ppt/slides/slide27.xml" Id="R3c3d6fd0fcae4e24" /><Relationship Type="http://schemas.openxmlformats.org/officeDocument/2006/relationships/slide" Target="/ppt/slides/slide28.xml" Id="R076409f32e5a478c" /><Relationship Type="http://schemas.openxmlformats.org/officeDocument/2006/relationships/slide" Target="/ppt/slides/slide29.xml" Id="R66ecbcaf3154420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b1326b0b8814d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3d8e2c9f520455a" /><Relationship Type="http://schemas.openxmlformats.org/officeDocument/2006/relationships/notesMaster" Target="/ppt/notesMasters/notesMaster1.xml" Id="R4d82b11ad45e4f8d" /></Relationships>
</file>

<file path=ppt/notesSlides/_rels/notesSlide2.xml.rels>&#65279;<?xml version="1.0" encoding="utf-8"?><Relationships xmlns="http://schemas.openxmlformats.org/package/2006/relationships"><Relationship Type="http://schemas.openxmlformats.org/officeDocument/2006/relationships/slide" Target="/ppt/slides/slide2.xml" Id="R8b8022d5f33a49ed" /><Relationship Type="http://schemas.openxmlformats.org/officeDocument/2006/relationships/notesMaster" Target="/ppt/notesMasters/notesMaster1.xml" Id="R3ffadd08bf2d495f" /></Relationships>
</file>

<file path=ppt/notesSlides/_rels/notesSlide3.xml.rels>&#65279;<?xml version="1.0" encoding="utf-8"?><Relationships xmlns="http://schemas.openxmlformats.org/package/2006/relationships"><Relationship Type="http://schemas.openxmlformats.org/officeDocument/2006/relationships/slide" Target="/ppt/slides/slide3.xml" Id="Ra0186ba71331459d" /><Relationship Type="http://schemas.openxmlformats.org/officeDocument/2006/relationships/notesMaster" Target="/ppt/notesMasters/notesMaster1.xml" Id="R146d4b0d50394ee0" /></Relationships>
</file>

<file path=ppt/notesSlides/_rels/notesSlide4.xml.rels>&#65279;<?xml version="1.0" encoding="utf-8"?><Relationships xmlns="http://schemas.openxmlformats.org/package/2006/relationships"><Relationship Type="http://schemas.openxmlformats.org/officeDocument/2006/relationships/slide" Target="/ppt/slides/slide4.xml" Id="Rddce4f6b191d4e66" /><Relationship Type="http://schemas.openxmlformats.org/officeDocument/2006/relationships/notesMaster" Target="/ppt/notesMasters/notesMaster1.xml" Id="R8597c8e2829549ca" /></Relationships>
</file>

<file path=ppt/notesSlides/_rels/notesSlide5.xml.rels>&#65279;<?xml version="1.0" encoding="utf-8"?><Relationships xmlns="http://schemas.openxmlformats.org/package/2006/relationships"><Relationship Type="http://schemas.openxmlformats.org/officeDocument/2006/relationships/slide" Target="/ppt/slides/slide5.xml" Id="R677802e004b749bf" /><Relationship Type="http://schemas.openxmlformats.org/officeDocument/2006/relationships/notesMaster" Target="/ppt/notesMasters/notesMaster1.xml" Id="R884d7b72e5f3407a" /></Relationships>
</file>

<file path=ppt/notesSlides/_rels/notesSlide6.xml.rels>&#65279;<?xml version="1.0" encoding="utf-8"?><Relationships xmlns="http://schemas.openxmlformats.org/package/2006/relationships"><Relationship Type="http://schemas.openxmlformats.org/officeDocument/2006/relationships/slide" Target="/ppt/slides/slide6.xml" Id="R540b79c7038b49be" /><Relationship Type="http://schemas.openxmlformats.org/officeDocument/2006/relationships/notesMaster" Target="/ppt/notesMasters/notesMaster1.xml" Id="Rf0e87a3da5934959" /></Relationships>
</file>

<file path=ppt/notesSlides/_rels/notesSlide7.xml.rels>&#65279;<?xml version="1.0" encoding="utf-8"?><Relationships xmlns="http://schemas.openxmlformats.org/package/2006/relationships"><Relationship Type="http://schemas.openxmlformats.org/officeDocument/2006/relationships/slide" Target="/ppt/slides/slide7.xml" Id="Rff1104cbd85a4957" /><Relationship Type="http://schemas.openxmlformats.org/officeDocument/2006/relationships/notesMaster" Target="/ppt/notesMasters/notesMaster1.xml" Id="R27aed965df5249cb" /></Relationships>
</file>

<file path=ppt/notesSlides/_rels/notesSlide8.xml.rels>&#65279;<?xml version="1.0" encoding="utf-8"?><Relationships xmlns="http://schemas.openxmlformats.org/package/2006/relationships"><Relationship Type="http://schemas.openxmlformats.org/officeDocument/2006/relationships/slide" Target="/ppt/slides/slide8.xml" Id="R9057e9c81e3c4bab" /><Relationship Type="http://schemas.openxmlformats.org/officeDocument/2006/relationships/notesMaster" Target="/ppt/notesMasters/notesMaster1.xml" Id="R876fcb39b4394878" /></Relationships>
</file>

<file path=ppt/notesSlides/_rels/notesSlide9.xml.rels>&#65279;<?xml version="1.0" encoding="utf-8"?><Relationships xmlns="http://schemas.openxmlformats.org/package/2006/relationships"><Relationship Type="http://schemas.openxmlformats.org/officeDocument/2006/relationships/slide" Target="/ppt/slides/slide9.xml" Id="R2ee2167bdff14d51" /><Relationship Type="http://schemas.openxmlformats.org/officeDocument/2006/relationships/notesMaster" Target="/ppt/notesMasters/notesMaster1.xml" Id="R5cfef4afa0304e7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da07287e1c74ac0" /><Relationship Type="http://schemas.openxmlformats.org/officeDocument/2006/relationships/notesMaster" Target="/ppt/notesMasters/notesMaster1.xml" Id="Rf29ac1904db14e0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8f34775c8254238" /><Relationship Type="http://schemas.openxmlformats.org/officeDocument/2006/relationships/notesMaster" Target="/ppt/notesMasters/notesMaster1.xml" Id="Rf0e94963f2da4b9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651873e08a44ece" /><Relationship Type="http://schemas.openxmlformats.org/officeDocument/2006/relationships/notesMaster" Target="/ppt/notesMasters/notesMaster1.xml" Id="Rce71a2d698524e8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858c7f98ec448b7" /><Relationship Type="http://schemas.openxmlformats.org/officeDocument/2006/relationships/notesMaster" Target="/ppt/notesMasters/notesMaster1.xml" Id="R442cd2a7554a485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d04ab356a3b4d02" /><Relationship Type="http://schemas.openxmlformats.org/officeDocument/2006/relationships/notesMaster" Target="/ppt/notesMasters/notesMaster1.xml" Id="R29bb63b6a905407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003156b6a214786" /><Relationship Type="http://schemas.openxmlformats.org/officeDocument/2006/relationships/notesMaster" Target="/ppt/notesMasters/notesMaster1.xml" Id="Rbd28fea6f7ce480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8734ff395fb4000" /><Relationship Type="http://schemas.openxmlformats.org/officeDocument/2006/relationships/notesMaster" Target="/ppt/notesMasters/notesMaster1.xml" Id="R7b0fba496f734b5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626672c93ae4d18" /><Relationship Type="http://schemas.openxmlformats.org/officeDocument/2006/relationships/notesMaster" Target="/ppt/notesMasters/notesMaster1.xml" Id="R729055a0218d499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001415d1c694c83" /><Relationship Type="http://schemas.openxmlformats.org/officeDocument/2006/relationships/notesMaster" Target="/ppt/notesMasters/notesMaster1.xml" Id="Raaf0311b0dda428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e5423c653384221" /><Relationship Type="http://schemas.openxmlformats.org/officeDocument/2006/relationships/notesMaster" Target="/ppt/notesMasters/notesMaster1.xml" Id="R0c8a5c844311467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5fb049e74cc4a76" /><Relationship Type="http://schemas.openxmlformats.org/officeDocument/2006/relationships/notesMaster" Target="/ppt/notesMasters/notesMaster1.xml" Id="R712f39c477e142b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b946c3f6ac5455b" /><Relationship Type="http://schemas.openxmlformats.org/officeDocument/2006/relationships/notesMaster" Target="/ppt/notesMasters/notesMaster1.xml" Id="R818c8af6568c4a8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87e7e8b3bb04e15" /><Relationship Type="http://schemas.openxmlformats.org/officeDocument/2006/relationships/notesMaster" Target="/ppt/notesMasters/notesMaster1.xml" Id="Rd8ff42db69064c5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f4e4c0471204644" /><Relationship Type="http://schemas.openxmlformats.org/officeDocument/2006/relationships/notesMaster" Target="/ppt/notesMasters/notesMaster1.xml" Id="R2f6fb2502b36431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a8a1e3ed206485d" /><Relationship Type="http://schemas.openxmlformats.org/officeDocument/2006/relationships/notesMaster" Target="/ppt/notesMasters/notesMaster1.xml" Id="Ra400d09a2d5c486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9bce7116f0140a2" /><Relationship Type="http://schemas.openxmlformats.org/officeDocument/2006/relationships/notesMaster" Target="/ppt/notesMasters/notesMaster1.xml" Id="Rfcd79ed556eb43a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7159cc94200489b" /><Relationship Type="http://schemas.openxmlformats.org/officeDocument/2006/relationships/notesMaster" Target="/ppt/notesMasters/notesMaster1.xml" Id="R1171f1e4c8e942d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1ed9a8eac8547e6" /><Relationship Type="http://schemas.openxmlformats.org/officeDocument/2006/relationships/notesMaster" Target="/ppt/notesMasters/notesMaster1.xml" Id="R8eb74913f5bf42a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760e52167d043ad" /><Relationship Type="http://schemas.openxmlformats.org/officeDocument/2006/relationships/notesMaster" Target="/ppt/notesMasters/notesMaster1.xml" Id="R430749345522413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d92559bb0264a9a" /><Relationship Type="http://schemas.openxmlformats.org/officeDocument/2006/relationships/notesMaster" Target="/ppt/notesMasters/notesMaster1.xml" Id="Rd779c1223900435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minutes planned + 5 minutes spare. 00–08 install/check-in. 08–18 foundations, prompts/APIs and MCP options. 18–25 tempo demo, architecture, contract and paired feedback-loop/maze illustration. 25–40 protected build/test: 3 minutes guided + 12 audience testing/adaptation. 40–47 security. 47–52 advanced awareness, enterprise and production practices. 52–55 hackathon transfer and exit check. 55–60 spare. Start setup at minute 1 and pair blocked learners. Transition and duplicate exercise slide were cut. A one-minute music prompt showcase is included on slide 27; fuller music exploration stays outside the hour.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00–08 min: installation starts now. Windows: powershell -NoProfile -ExecutionPolicy Bypass -File .\setup.ps1 -CoreOnly. Mac: bash setup.sh --core-only, with Homebrew available. Open README for clone and manual Python/Tk instructions. Core-only supports visual verification. Copilot agent chat is the workshop route; full audio is instructor preparation. Ask who is ready, installing, or blocked. Continue setup during theory, check readiness before minute 25, and pair blocked learners. Fresh Python/Homebrew installs may run long. Reserve 55–60 for spare time.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minutes planned + 5 minutes spare. 00–08 install/check-in. 08–18 foundations, prompts/APIs and MCP options. 18–25 tempo demo, architecture, contract and paired feedback-loop/maze illustration. 25–40 protected build/test: 3 minutes guided + 12 audience testing/adaptation. 40–47 security. 47–52 advanced awareness, enterprise and production practices. 52–55 hackathon transfer and exit check. 55–60 spare. Start setup at minute 1 and pair blocked learners. Transition and duplicate exercise slide were cut. A one-minute music prompt showcase is included on slide 27; fuller music exploration stays outside the hour. Security and enterprise are required live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shared interface. The workshop extends an existing server using the Python SDK; it does not build an application or server from scratch.</a:t>
            </a:r>
            <a:endParaRPr/>
          </a:p>
          <a:p xmlns:a="http://schemas.openxmlformats.org/drawingml/2006/main">
            <a:r>
              <a:t/>
            </a:r>
            <a:endParaRPr/>
          </a:p>
          <a:p xmlns:a="http://schemas.openxmlformats.org/drawingml/2006/main">
            <a:r>
              <a:t>Meme image source: https://imgflip.com/memetemplate/609042041/Tralalero-Tralala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08–18 segment, about 60 seconds. A one-shot prompt is instructions to a model. The host may already have shell, browser or API tools; MCP is one way to connect additional discoverable capabilities. Prompt + tools can be used together. MCP enables live action/observation and reuse across compatible hosts, not guaranteed reasoning or correctness. Ask: what evidence would you need after asking an AI to change the tempo? get_state verifies 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VS Code is the workshop host, GitHub Copilot supplies agent chat and a selected model, and VS Code includes the MCP client. No standalone Gemini host or Gemini key is used. Core entry points to workshop/starter/mcp_server_sdk.py; the root compatibility launcher is not the student edit. Source: https://code.visualstudio.com/docs/agent-customization/mcp-servers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08–18 segment. MCP can wrap an existing API or function. It is useful for shared discovery and tool schemas across compatible hosts. A direct API is often sufficient for one fixed integration. MCP does not replace app business rules or automatically enforce permissions. Prize question: host coordinates which tool to call; model proposes the call, server exposes and executes it. Allow 15 seconds within this segment.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08–18 segment, quick scan, 45 seconds. Choose only 2–3 useful servers. Design → build → data → test → ship → debug. Ask which capability would help this team most. Permissions, compatible host support and plans vary. Prefer read-only access where practical. Do not spend workshop time setting up every service. Sources: https://developers.figma.com/docs/figma-mcp-server/ ; https://github.com/github/github-mcp-server ; https://supabase.com/docs/guides/ai-tools/mcp ; https://playwright.dev/docs/getting-started-mcp ; https://vercel.com/docs/agent-resources/vercel-mcp ; https://mcp.sentry.dev/ ; https://docs.stripe.com/mcp ; https://github.com/upstash/context7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Tools perform actions or return computed results. Resources supply context. MCP prompts supply user-selected reusable messages, not automatic execution. The optional music server registers compose_music(description, reference_song, rights_context); the beginner starter does not expose 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08–18 segment. Client lists tool schemas. Model proposes a tool and arguments; host checks policy and coordinates invocation. Server validates and executes, then returns results. Integer typing alone does not enforce 40–240; Python validation enforces the range. SDK v1 lab uses initialize, discovery and calls; protocol versions and negotiated capabilities matter.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08–18 min overview, about 60 seconds here. Workshop: mcp.server.fastmcp.FastMCP from pinned official Python SDK v1. Standalone FastMCP uses from fastmcp import FastMCP and is a separate package. Other official SDKs include TypeScript. Zapier MCP offers managed app actions; classic Zaps run a trigger followed by actions. Databutton documentation describes an AI app builder, not a verified interchangeable MCP framework. Ask: would your team build custom tools or connect managed actions? Sources: https://github.com/modelcontextprotocol/python-sdk ; https://gofastmcp.com/getting-started/welcome ; https://help.zapier.com/hc/en-us/articles/48308034391821-What-is-Zapier-MCP ; https://help.zapier.com/hc/en-us/articles/8496309697421-What-is-a-Zap ; https://docs.databutton.com/help-and-faq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00–08 setup, continue installs during theory. Windows: setup.ps1 -CoreOnly; Mac: bash setup.sh --core-only (Homebrew required). Open the whole repository, sign into GitHub Copilot with agent/MCP access and use the tools picker. Run run_app.ps1/run_app.sh for visual lab verification. The supplied .vscode/mcp.json prompts for an absolute interpreter path; use workshop_preflight.py --vscode-config to find it. Explicit workshop_client.py tests work if Copilot access is blocked. Full audio setup is instructor preparation for slide 27, not an added lab requirement.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18–25 demo block. Start mcpjam from MCP: List Servers, open a tool-enabled Copilot agent chat and enable MCPJAM tools. Ask: Use set_tempo to set 120 BPM, then use get_state to verify. Inspect the actual call and bpm field; queued is not completed. This uses Copilot account access, not a Gemini API key. If account access fails, run the explicit CLI fallback. Source: https://code.visualstudio.com/docs/agents/run/tools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Copilot/VS Code MCP client → workshop/starter/mcp_server_sdk.py → call_daw → app.py. The first link is MCP stdio; the adapter socket is application JSON. Host choice changes the first box, not the tool contract.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 edit: workshop/starter/mcp_server_sdk.py. Keep the root compatibility launchers unchanged. .vscode/mcp.json points to the canonical starter. Reference code is workshop/solutions/mcp_server_solution.py. Full music showcase is a separate connection shown on slide 27; do not replace the lab server during the protected exercise.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18–25 segment. Three lines are enough to understand registration, input type and purpose. AI can generate implementation, but students must judge the contract, validation, permission and outcome. Existing set_tempo has 40–240 range validation in its body.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18–25 demo block, 20 seconds: read → act → observe again. The maze on the next slide applies the same pattern to game controls.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18–25 demo block, 30 seconds. Illustration only: maze tools are examples, not tools in the student server. The host/model chooses moves, MCP exposes controls/state, and the maze app enforces walls and success. Compare with music read → act → observe on the previous slide. Ask what to do after a blocked move: observe again and choose another move.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18–25 segment, about 45 seconds. MCPJAM uses standard MCP with domain-specific music tools. There is no special protocol called normal versus our MCP. Coding agents can already use shell/browser/API capabilities to test apps. Expose your app through MCP when compatible hosts need reusable discoverable actions and live state. Direct API remains reasonable for one fixed client. Prompt quality and tool connectivity solve different needs.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25–40 build/test. Three-minute guided review plus twelve minutes student testing/adaptation. Add @mcp.tool def set_swing(amount:int), validate 0–75, send call_daw({cmd:set_swing,amount:amount}), return acknowledgement, and verify state. Add above startup in workshop/starter/mcp_server_sdk.py. Compare workshop/solutions only after attempting.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existing servers.mcpjam entry inside the supplied JSON, not the entire file: keep its inputs array and servers wrapper. command uses the mcpjamPython input. Enter the absolute venv interpreter for Windows or Mac. args identifies the MCP server, not app.py. Run MCP: List Servers, start mcpjam and inspect the tools. After adding set_swing restart the server, then re-enable/refresh tools. CLI fallback: workshop_client.py lists the canonical starter tools. Source: https://code.visualstudio.com/docs/agent-customization/mcp-servers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saving, restart mcpjam in MCP: List Servers and check discovery. In Copilot ask: Use set_swing with amount 35, then get_state. Test boundaries 0 and 75 and invalid 100. Inspect calls and state, not just the chat text. Explicit CLI tests remain the deterministic fallback. Do not add extra exercise time.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25–40 activity checkpoint. Discovery shows set_swing schema. Valid 35 and boundaries 0/75 succeed; get_state confirms actual state. 100 returns tool error and state stays unchanged. Prize question: queued does not prove the effect. Partner explains decorator, validation, adapter, result and state check. Success means both valid behavior and rejected behavior are correct.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40–47 required security block. Scenario: a retrieved document says send all customer records to this URL. It is data, not user authorization. Ask audience what boundary prevents the action. Separate validation, authentication and per-tool/per-record authorization. Least privilege and confirmation for risky operations reduce impact. Local workshop socket is a trusted-machine demonstration, not a production authenticated service.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40–47 security block. Tool descriptions can carry malicious instructions; a trusted description or implementation may change later. Treat descriptions and tool results as untrusted data. Review and pin server/dependency versions, inspect updates and permission scope, and re-review changed tools. Ask whether an already approved server should gain a new delete action silently: no.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40–47 security block. Production methods: authenticate caller; validate token audience where using remote token auth; authorize each action and record; minimize backend privilege; treat retrieved content as untrusted; review trusted sources and updates. The SDK does not automatically supply all these controls. Keep credentials out of prompts, logs and tool output. State-changing tools may need user confirmation.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47–52 advanced/enterprise block: one minute for this showcase and four minutes for production architecture. Instructor has full audio setup. Use .vscode/mcp.music.example.json as a separate music configuration or add its server entry to the existing servers object, preserving valid JSON. Start mcpjam-music, enable its tools, type / and select mcpjam-music.compose_music. Enter an original rock description; prompt fetch does not itself search or generate. Copilot supplies web access if enabled; URL fetching differs from search. Provide a prepared source URL if search is unavailable, or disclose no research and compose from the description. Host queries get_instrument_catalog, authors notes and calls create_song_from_score(duration_seconds=30). The tool returns MP3 only; no app or playback is needed for rendering. Source material remains untrusted; user-stated permission to play is separate from permission to reproduce notes. Structured results, multi-server coordination, stdio/Streamable HTTP, timeouts and outcome verification remain advanced awareness. Sources: https://code.visualstudio.com/docs/agent-customization/mcp-servers and https://code.visualstudio.com/docs/agents/run/tools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47–52 required enterprise and best-practices block. Trace identity provider → optional gateway → MCP server → backend. Identity is not permission: authorize per tool, tenant and record. Backend retains business rules. Production practices: narrow tools with explicit schemas, typed/structured results, bounded timeouts, redacted audit logs, version pinning/review, meaningful valid/invalid tests, and outcome verification. Read-only retries are often safer; do not blindly retry writes after timeout. Use idempotency keys or check outcome where supported. Scenario: create_ticket times out—did it fail or succeed? Verify before retrying. Entra ID/API Management are examples, not requirements.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52–55 exit block. 90-second pair exercise: name one useful project tool, its input, permission, and observable success. Examples search_inventory, create_draft_ticket or test a game move. Add a thin MCP adapter over an existing API/function; do not rewrite the app. Consider MCP when multiple compatible hosts need these capabilities. A one-off fixed integration may use a direct API. Reserve 55–60 for genuine spare time/Q&amp;A.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1b6ccf7020343f5"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ca74023ac4f4524" /><Relationship Type="http://schemas.openxmlformats.org/officeDocument/2006/relationships/slideLayout" Target="/ppt/slideLayouts/slideLayout1.xml" Id="R5892a5827e774353"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892a5827e774353"/>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8feeaf9a49441a6" /><Relationship Type="http://schemas.openxmlformats.org/officeDocument/2006/relationships/image" Target="/ppt/media/image.png" Id="R39bedba401554eba" /><Relationship Type="http://schemas.openxmlformats.org/officeDocument/2006/relationships/image" Target="/ppt/media/image2.png" Id="R6ff66124833e412f" /><Relationship Type="http://schemas.openxmlformats.org/officeDocument/2006/relationships/image" Target="/ppt/media/image3.png" Id="Rfa199791189240d0" /><Relationship Type="http://schemas.openxmlformats.org/officeDocument/2006/relationships/image" Target="/ppt/media/image4.png" Id="R620d651bb5e04d2e" /><Relationship Type="http://schemas.openxmlformats.org/officeDocument/2006/relationships/image" Target="/ppt/media/image5.png" Id="R2f172a85854d46f6" /><Relationship Type="http://schemas.openxmlformats.org/officeDocument/2006/relationships/image" Target="/ppt/media/image6.png" Id="Rcefe7d884b884c85" /><Relationship Type="http://schemas.openxmlformats.org/officeDocument/2006/relationships/image" Target="/ppt/media/image7.png" Id="R9dda71facbc54e8c" /><Relationship Type="http://schemas.openxmlformats.org/officeDocument/2006/relationships/image" Target="/ppt/media/image8.png" Id="Rf3fd6bd29bad4e83" /><Relationship Type="http://schemas.openxmlformats.org/officeDocument/2006/relationships/image" Target="/ppt/media/image9.png" Id="R580d85f409e24aba" /><Relationship Type="http://schemas.openxmlformats.org/officeDocument/2006/relationships/image" Target="/ppt/media/image10.png" Id="R4f9e907bd45f4d6e" /><Relationship Type="http://schemas.openxmlformats.org/officeDocument/2006/relationships/image" Target="/ppt/media/image11.png" Id="Reeb6e8ea557c4bcd" /><Relationship Type="http://schemas.openxmlformats.org/officeDocument/2006/relationships/image" Target="/ppt/media/image12.png" Id="R5cb824569e234d53" /><Relationship Type="http://schemas.openxmlformats.org/officeDocument/2006/relationships/image" Target="/ppt/media/image13.png" Id="R1c8a614b554944e6" /><Relationship Type="http://schemas.openxmlformats.org/officeDocument/2006/relationships/image" Target="/ppt/media/image14.png" Id="Rcf8f9d602f944aa7" /><Relationship Type="http://schemas.openxmlformats.org/officeDocument/2006/relationships/image" Target="/ppt/media/image15.png" Id="Rae153286e476499d" /><Relationship Type="http://schemas.openxmlformats.org/officeDocument/2006/relationships/image" Target="/ppt/media/image16.png" Id="R0cd6c775f9ee444f" /><Relationship Type="http://schemas.openxmlformats.org/officeDocument/2006/relationships/image" Target="/ppt/media/image17.png" Id="Ra6e2a06d627e4e96" /><Relationship Type="http://schemas.openxmlformats.org/officeDocument/2006/relationships/image" Target="/ppt/media/image18.png" Id="R20b1b93d21854cb9" /><Relationship Type="http://schemas.openxmlformats.org/officeDocument/2006/relationships/image" Target="/ppt/media/image19.png" Id="Rd4f2aeb4e13649cd" /><Relationship Type="http://schemas.openxmlformats.org/officeDocument/2006/relationships/image" Target="/ppt/media/image20.png" Id="R56c291b9ca0f4362" /><Relationship Type="http://schemas.openxmlformats.org/officeDocument/2006/relationships/image" Target="/ppt/media/image21.png" Id="Rc014091ff11644b3" /><Relationship Type="http://schemas.openxmlformats.org/officeDocument/2006/relationships/notesSlide" Target="/ppt/notesSlides/notesSlide1.xml" Id="Ra0568da27f1b4be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899bec64e514681" /><Relationship Type="http://schemas.openxmlformats.org/officeDocument/2006/relationships/image" Target="/ppt/media/image.png" Id="R99f1b34c61a84226" /><Relationship Type="http://schemas.openxmlformats.org/officeDocument/2006/relationships/image" Target="/ppt/media/image2.png" Id="R75f44698cc014407" /><Relationship Type="http://schemas.openxmlformats.org/officeDocument/2006/relationships/image" Target="/ppt/media/image3.png" Id="R62c9d33ab1ea41eb" /><Relationship Type="http://schemas.openxmlformats.org/officeDocument/2006/relationships/image" Target="/ppt/media/image4.png" Id="R82c02ffd6f014d49" /><Relationship Type="http://schemas.openxmlformats.org/officeDocument/2006/relationships/image" Target="/ppt/media/image5.png" Id="R19f10d9d168747ed" /><Relationship Type="http://schemas.openxmlformats.org/officeDocument/2006/relationships/image" Target="/ppt/media/image6.png" Id="Re6fc60579b074c75" /><Relationship Type="http://schemas.openxmlformats.org/officeDocument/2006/relationships/image" Target="/ppt/media/image7.png" Id="Rd2fdbd83c581429a" /><Relationship Type="http://schemas.openxmlformats.org/officeDocument/2006/relationships/image" Target="/ppt/media/image8.png" Id="R119b7f9c64ba4c53" /><Relationship Type="http://schemas.openxmlformats.org/officeDocument/2006/relationships/image" Target="/ppt/media/image9.png" Id="R84274d6d750c4ef2" /><Relationship Type="http://schemas.openxmlformats.org/officeDocument/2006/relationships/image" Target="/ppt/media/image10.png" Id="R4caaa2b1730344f2" /><Relationship Type="http://schemas.openxmlformats.org/officeDocument/2006/relationships/image" Target="/ppt/media/image22.png" Id="Rbd4c2adb68b24cc6" /><Relationship Type="http://schemas.openxmlformats.org/officeDocument/2006/relationships/image" Target="/ppt/media/image12.png" Id="R35a674eb2da7400a" /><Relationship Type="http://schemas.openxmlformats.org/officeDocument/2006/relationships/image" Target="/ppt/media/image23.png" Id="R91a7b459301d4ead" /><Relationship Type="http://schemas.openxmlformats.org/officeDocument/2006/relationships/image" Target="/ppt/media/image14.png" Id="R90a2a6a8dc44409e" /><Relationship Type="http://schemas.openxmlformats.org/officeDocument/2006/relationships/image" Target="/ppt/media/image15.png" Id="R747467dcc84a483d" /><Relationship Type="http://schemas.openxmlformats.org/officeDocument/2006/relationships/image" Target="/ppt/media/image16.png" Id="Rab629818735c4c6b" /><Relationship Type="http://schemas.openxmlformats.org/officeDocument/2006/relationships/image" Target="/ppt/media/image17.png" Id="Rbc359d234db4409f" /><Relationship Type="http://schemas.openxmlformats.org/officeDocument/2006/relationships/image" Target="/ppt/media/image18.png" Id="R3982201a82bc4243" /><Relationship Type="http://schemas.openxmlformats.org/officeDocument/2006/relationships/image" Target="/ppt/media/image20.png" Id="Reca976ddab5b413d" /><Relationship Type="http://schemas.openxmlformats.org/officeDocument/2006/relationships/image" Target="/ppt/media/image24.png" Id="R40c6c1b0c69a4857" /><Relationship Type="http://schemas.openxmlformats.org/officeDocument/2006/relationships/image" Target="/ppt/media/image25.png" Id="Rff9c4194b2494334" /><Relationship Type="http://schemas.openxmlformats.org/officeDocument/2006/relationships/notesSlide" Target="/ppt/notesSlides/notesSlide2.xml" Id="Reecff30591aa4f1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862c1ca747d4db2" /><Relationship Type="http://schemas.openxmlformats.org/officeDocument/2006/relationships/image" Target="/ppt/media/image.png" Id="R13ab7e1ddee840ce" /><Relationship Type="http://schemas.openxmlformats.org/officeDocument/2006/relationships/notesSlide" Target="/ppt/notesSlides/notesSlide3.xml" Id="R1e791fcdee4d469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436aa9100a845f1" /><Relationship Type="http://schemas.openxmlformats.org/officeDocument/2006/relationships/image" Target="/ppt/media/image.png" Id="Rae7f6e57d2424711" /><Relationship Type="http://schemas.openxmlformats.org/officeDocument/2006/relationships/image" Target="/ppt/media/image26.png" Id="R6924bb4176c84219" /><Relationship Type="http://schemas.openxmlformats.org/officeDocument/2006/relationships/notesSlide" Target="/ppt/notesSlides/notesSlide4.xml" Id="Rb680c385e606493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23f3142643b4d19" /><Relationship Type="http://schemas.openxmlformats.org/officeDocument/2006/relationships/image" Target="/ppt/media/image.png" Id="Re321ab6c89be4690" /><Relationship Type="http://schemas.openxmlformats.org/officeDocument/2006/relationships/image" Target="/ppt/media/image27.png" Id="R3676a5b443c54d4b" /><Relationship Type="http://schemas.openxmlformats.org/officeDocument/2006/relationships/notesSlide" Target="/ppt/notesSlides/notesSlide5.xml" Id="Ra495b68fa97e413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504112fbc8c4711" /><Relationship Type="http://schemas.openxmlformats.org/officeDocument/2006/relationships/image" Target="/ppt/media/image.png" Id="R948e316f5bc74a5b" /><Relationship Type="http://schemas.openxmlformats.org/officeDocument/2006/relationships/notesSlide" Target="/ppt/notesSlides/notesSlide6.xml" Id="R1cf8e2f93dc14a5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e2fd3e754e2469c" /><Relationship Type="http://schemas.openxmlformats.org/officeDocument/2006/relationships/image" Target="/ppt/media/image.png" Id="R21851f1b7e0642b7" /><Relationship Type="http://schemas.openxmlformats.org/officeDocument/2006/relationships/notesSlide" Target="/ppt/notesSlides/notesSlide7.xml" Id="Ra92d980900a5479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33220bdf3a54f8b" /><Relationship Type="http://schemas.openxmlformats.org/officeDocument/2006/relationships/image" Target="/ppt/media/image.png" Id="R9e501a15249f4263" /><Relationship Type="http://schemas.openxmlformats.org/officeDocument/2006/relationships/image" Target="/ppt/media/image28.png" Id="Rd75d48d3eaae4290" /><Relationship Type="http://schemas.openxmlformats.org/officeDocument/2006/relationships/image" Target="/ppt/media/image29.png" Id="R969fce251a6143ba" /><Relationship Type="http://schemas.openxmlformats.org/officeDocument/2006/relationships/image" Target="/ppt/media/image30.png" Id="R8ffa85fa65d4432b" /><Relationship Type="http://schemas.openxmlformats.org/officeDocument/2006/relationships/image" Target="/ppt/media/image31.png" Id="Rd2242f688ec4418d" /><Relationship Type="http://schemas.openxmlformats.org/officeDocument/2006/relationships/image" Target="/ppt/media/image32.png" Id="R881f6fcf2a7a4551" /><Relationship Type="http://schemas.openxmlformats.org/officeDocument/2006/relationships/image" Target="/ppt/media/image33.png" Id="Rc4d0c0e481e3403d" /><Relationship Type="http://schemas.openxmlformats.org/officeDocument/2006/relationships/image" Target="/ppt/media/image34.png" Id="R1a91a109df95463d" /><Relationship Type="http://schemas.openxmlformats.org/officeDocument/2006/relationships/image" Target="/ppt/media/image35.png" Id="R44e5ddabb3f84049" /><Relationship Type="http://schemas.openxmlformats.org/officeDocument/2006/relationships/notesSlide" Target="/ppt/notesSlides/notesSlide8.xml" Id="R0492a8f6ca49477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6dbb0cd856a4c0e" /><Relationship Type="http://schemas.openxmlformats.org/officeDocument/2006/relationships/image" Target="/ppt/media/image.png" Id="R21ef4d05391945ae" /><Relationship Type="http://schemas.openxmlformats.org/officeDocument/2006/relationships/image" Target="/ppt/media/image36.png" Id="R76000d26c36e4d7f" /><Relationship Type="http://schemas.openxmlformats.org/officeDocument/2006/relationships/image" Target="/ppt/media/image37.png" Id="R870ecba1d7284b31" /><Relationship Type="http://schemas.openxmlformats.org/officeDocument/2006/relationships/image" Target="/ppt/media/image38.png" Id="R33a30e7237c64208" /><Relationship Type="http://schemas.openxmlformats.org/officeDocument/2006/relationships/notesSlide" Target="/ppt/notesSlides/notesSlide9.xml" Id="R3d433c486b18443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eec790656304cd1" /><Relationship Type="http://schemas.openxmlformats.org/officeDocument/2006/relationships/image" Target="/ppt/media/image.png" Id="R174de042b71945b5" /><Relationship Type="http://schemas.openxmlformats.org/officeDocument/2006/relationships/notesSlide" Target="/ppt/notesSlides/notesSlide10.xml" Id="Rc467c8aab6124db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fb38cdd448946c9" /><Relationship Type="http://schemas.openxmlformats.org/officeDocument/2006/relationships/image" Target="/ppt/media/image.png" Id="R68cbe87f43c24e66" /><Relationship Type="http://schemas.openxmlformats.org/officeDocument/2006/relationships/notesSlide" Target="/ppt/notesSlides/notesSlide11.xml" Id="R81117b9a001c40b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bce44d207f04507" /><Relationship Type="http://schemas.openxmlformats.org/officeDocument/2006/relationships/image" Target="/ppt/media/image.png" Id="R4a8a94253ca745a0" /><Relationship Type="http://schemas.openxmlformats.org/officeDocument/2006/relationships/notesSlide" Target="/ppt/notesSlides/notesSlide12.xml" Id="R1e41b8c7107c48e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5f88bc7fdfc4b98" /><Relationship Type="http://schemas.openxmlformats.org/officeDocument/2006/relationships/image" Target="/ppt/media/image.png" Id="R966c8714cc134023" /><Relationship Type="http://schemas.openxmlformats.org/officeDocument/2006/relationships/image" Target="/ppt/media/image39.png" Id="R7dc65e563ad942eb" /><Relationship Type="http://schemas.openxmlformats.org/officeDocument/2006/relationships/notesSlide" Target="/ppt/notesSlides/notesSlide13.xml" Id="R90b23ba0bc614a6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9ec83ff048f4b2a" /><Relationship Type="http://schemas.openxmlformats.org/officeDocument/2006/relationships/image" Target="/ppt/media/image.png" Id="R4d79a7dd5e964157" /><Relationship Type="http://schemas.openxmlformats.org/officeDocument/2006/relationships/notesSlide" Target="/ppt/notesSlides/notesSlide14.xml" Id="R647e98cfbcaf450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377f5bf21e34d2d" /><Relationship Type="http://schemas.openxmlformats.org/officeDocument/2006/relationships/image" Target="/ppt/media/image.png" Id="Rfc05237a483c4ac4" /><Relationship Type="http://schemas.openxmlformats.org/officeDocument/2006/relationships/notesSlide" Target="/ppt/notesSlides/notesSlide15.xml" Id="R287289a9290044f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24d603e612e4d28" /><Relationship Type="http://schemas.openxmlformats.org/officeDocument/2006/relationships/image" Target="/ppt/media/image.png" Id="R735649c5197448ff" /><Relationship Type="http://schemas.openxmlformats.org/officeDocument/2006/relationships/notesSlide" Target="/ppt/notesSlides/notesSlide16.xml" Id="R35559b7a0a46482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bddba8973e54080" /><Relationship Type="http://schemas.openxmlformats.org/officeDocument/2006/relationships/image" Target="/ppt/media/image.png" Id="R294c80fb616d42a6" /><Relationship Type="http://schemas.openxmlformats.org/officeDocument/2006/relationships/image" Target="/ppt/media/image40.png" Id="Rd0b9d4e4448543f9" /><Relationship Type="http://schemas.openxmlformats.org/officeDocument/2006/relationships/notesSlide" Target="/ppt/notesSlides/notesSlide17.xml" Id="R1ffd354a482d4d2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fd9ab50712844b2" /><Relationship Type="http://schemas.openxmlformats.org/officeDocument/2006/relationships/image" Target="/ppt/media/image.png" Id="Rf3b2211c69614720" /><Relationship Type="http://schemas.openxmlformats.org/officeDocument/2006/relationships/notesSlide" Target="/ppt/notesSlides/notesSlide18.xml" Id="Rdc12b5651a384a5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e4fbb08824441cc" /><Relationship Type="http://schemas.openxmlformats.org/officeDocument/2006/relationships/image" Target="/ppt/media/image.png" Id="Rd3019f2bd1f440a0" /><Relationship Type="http://schemas.openxmlformats.org/officeDocument/2006/relationships/notesSlide" Target="/ppt/notesSlides/notesSlide19.xml" Id="R51883e8100104f4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b9daa89b30d4d32" /><Relationship Type="http://schemas.openxmlformats.org/officeDocument/2006/relationships/image" Target="/ppt/media/image.png" Id="R46b9db59872a421c" /><Relationship Type="http://schemas.openxmlformats.org/officeDocument/2006/relationships/notesSlide" Target="/ppt/notesSlides/notesSlide20.xml" Id="R0b0ff4aa9fd34f8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4949f2074a1542bc" /><Relationship Type="http://schemas.openxmlformats.org/officeDocument/2006/relationships/image" Target="/ppt/media/image.png" Id="R2f8017658e6c421c" /><Relationship Type="http://schemas.openxmlformats.org/officeDocument/2006/relationships/notesSlide" Target="/ppt/notesSlides/notesSlide21.xml" Id="Ra51be6d607834b1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bc5231fe10e4407" /><Relationship Type="http://schemas.openxmlformats.org/officeDocument/2006/relationships/image" Target="/ppt/media/image.png" Id="R6aaeb793f5674b92" /><Relationship Type="http://schemas.openxmlformats.org/officeDocument/2006/relationships/image" Target="/ppt/media/image41.png" Id="Rcd1f5621123944f8" /><Relationship Type="http://schemas.openxmlformats.org/officeDocument/2006/relationships/notesSlide" Target="/ppt/notesSlides/notesSlide22.xml" Id="R8ffde6bbbe4f41e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43cbfda8a51d46bf" /><Relationship Type="http://schemas.openxmlformats.org/officeDocument/2006/relationships/image" Target="/ppt/media/image.png" Id="R472750c1495e4dd0" /><Relationship Type="http://schemas.openxmlformats.org/officeDocument/2006/relationships/image" Target="/ppt/media/image42.png" Id="R2881c6d0b7054fc2" /><Relationship Type="http://schemas.openxmlformats.org/officeDocument/2006/relationships/notesSlide" Target="/ppt/notesSlides/notesSlide23.xml" Id="R77549d89b7d14f0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39d4f33a0b7b44aa" /><Relationship Type="http://schemas.openxmlformats.org/officeDocument/2006/relationships/image" Target="/ppt/media/image.png" Id="R4eecf70c9a224149" /><Relationship Type="http://schemas.openxmlformats.org/officeDocument/2006/relationships/image" Target="/ppt/media/image43.png" Id="R726d82b11dbf424d" /><Relationship Type="http://schemas.openxmlformats.org/officeDocument/2006/relationships/notesSlide" Target="/ppt/notesSlides/notesSlide24.xml" Id="R5d796e9150fd440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9c4fafd5d43485e" /><Relationship Type="http://schemas.openxmlformats.org/officeDocument/2006/relationships/image" Target="/ppt/media/image.png" Id="Rf0a536252e274fd7" /><Relationship Type="http://schemas.openxmlformats.org/officeDocument/2006/relationships/image" Target="/ppt/media/image44.png" Id="Rbc8ec108d81f4cfe" /><Relationship Type="http://schemas.openxmlformats.org/officeDocument/2006/relationships/notesSlide" Target="/ppt/notesSlides/notesSlide25.xml" Id="R5f9067a693fd4ac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3d3c5b33e124a02" /><Relationship Type="http://schemas.openxmlformats.org/officeDocument/2006/relationships/image" Target="/ppt/media/image.png" Id="Rdb451a0b27084f40" /><Relationship Type="http://schemas.openxmlformats.org/officeDocument/2006/relationships/notesSlide" Target="/ppt/notesSlides/notesSlide26.xml" Id="R3bc7866323cf4f6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f7c333c54fc1427c" /><Relationship Type="http://schemas.openxmlformats.org/officeDocument/2006/relationships/image" Target="/ppt/media/image.png" Id="Race8b5dc64e340a9" /><Relationship Type="http://schemas.openxmlformats.org/officeDocument/2006/relationships/notesSlide" Target="/ppt/notesSlides/notesSlide27.xml" Id="Rca9579f92886440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b7642ecd2ebc4369" /><Relationship Type="http://schemas.openxmlformats.org/officeDocument/2006/relationships/image" Target="/ppt/media/image.png" Id="R13cd04d86804433d" /><Relationship Type="http://schemas.openxmlformats.org/officeDocument/2006/relationships/notesSlide" Target="/ppt/notesSlides/notesSlide28.xml" Id="R12bb9bba680f45c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14bf1c1d590145ee" /><Relationship Type="http://schemas.openxmlformats.org/officeDocument/2006/relationships/image" Target="/ppt/media/image.png" Id="Ra65f6bb5441b4075" /><Relationship Type="http://schemas.openxmlformats.org/officeDocument/2006/relationships/image" Target="/ppt/media/image45.png" Id="Rb786504cfb894716" /><Relationship Type="http://schemas.openxmlformats.org/officeDocument/2006/relationships/image" Target="/ppt/media/image46.png" Id="R0b6833f763ef4db9" /><Relationship Type="http://schemas.openxmlformats.org/officeDocument/2006/relationships/image" Target="/ppt/media/image47.png" Id="R5872edbc50b44495" /><Relationship Type="http://schemas.openxmlformats.org/officeDocument/2006/relationships/notesSlide" Target="/ppt/notesSlides/notesSlide29.xml" Id="R6e4afe38a41c4378" /></Relationships>
</file>

<file path=ppt/slides/slide1.xml><?xml version="1.0" encoding="utf-8"?>
<p:sld xmlns:p="http://schemas.openxmlformats.org/presentationml/2006/main">
  <p:cSld>
    <p:bg>
      <p:bgPr>
        <a:blipFill xmlns:a="http://schemas.openxmlformats.org/drawingml/2006/main" rotWithShape="1">
          <a:blip xmlns:r="http://schemas.openxmlformats.org/officeDocument/2006/relationships" r:embed="R39bedba401554eba">
            <a:lum/>
          </a:blip>
          <a:srcRect l="0" t="0" r="0" b="0"/>
          <a:stretch>
            <a:fillRect l="0" t="0" r="0" b="0"/>
          </a:stretch>
        </a:blipFill>
      </p:bgPr>
    </p:bg>
    <p:spTree>
      <p:nvGrpSpPr>
        <p:cNvPr id="1" name=""/>
        <p:cNvGrpSpPr/>
        <p:nvPr/>
      </p:nvGrpSpPr>
      <p:grpSpPr>
        <a:xfrm xmlns:a="http://schemas.openxmlformats.org/drawingml/2006/main"/>
      </p:grpSpPr>
      <p:pic>
        <p:nvPicPr>
          <p:cNvPr id="3" name="Image 0">
            <a:extLst xmlns:a="http://schemas.openxmlformats.org/drawingml/2006/main">
              <a:ext uri="{FF2B5EF4-FFF2-40B4-BE49-F238E27FC236}">
                <a16:creationId xmlns:a16="http://schemas.microsoft.com/office/drawing/2014/main" id="{C09DCC3B-8453-40E3-994E-CD0AEAEE71C5}"/>
              </a:ext>
            </a:extLst>
          </p:cNvPr>
          <p:cNvPicPr>
            <a:picLocks xmlns:a="http://schemas.openxmlformats.org/drawingml/2006/main" noChangeAspect="1"/>
          </p:cNvPicPr>
          <p:nvPr/>
        </p:nvPicPr>
        <p:blipFill>
          <a:blip xmlns:r="http://schemas.openxmlformats.org/officeDocument/2006/relationships" xmlns:a="http://schemas.openxmlformats.org/drawingml/2006/main" r:embed="R6ff66124833e412f"/>
          <a:srcRect xmlns:a="http://schemas.openxmlformats.org/drawingml/2006/main" l="0" t="0" r="31960" b="40299"/>
          <a:stretch xmlns:a="http://schemas.openxmlformats.org/drawingml/2006/main"/>
        </p:blipFill>
        <p:spPr>
          <a:xfrm xmlns:a="http://schemas.openxmlformats.org/drawingml/2006/main">
            <a:off x="-1662112" y="-842962"/>
            <a:ext cx="3538538" cy="5143500"/>
          </a:xfrm>
          <a:prstGeom xmlns:a="http://schemas.openxmlformats.org/drawingml/2006/main" prst="rect">
            <a:avLst/>
          </a:prstGeom>
        </p:spPr>
      </p:pic>
      <p:pic>
        <p:nvPicPr>
          <p:cNvPr id="4" name="Image 1">
            <a:extLst xmlns:a="http://schemas.openxmlformats.org/drawingml/2006/main">
              <a:ext uri="{FF2B5EF4-FFF2-40B4-BE49-F238E27FC236}">
                <a16:creationId xmlns:a16="http://schemas.microsoft.com/office/drawing/2014/main" id="{646C4D6C-C825-4778-B67F-3E29B60A1304}"/>
              </a:ext>
            </a:extLst>
          </p:cNvPr>
          <p:cNvPicPr>
            <a:picLocks xmlns:a="http://schemas.openxmlformats.org/drawingml/2006/main" noChangeAspect="1"/>
          </p:cNvPicPr>
          <p:nvPr/>
        </p:nvPicPr>
        <p:blipFill>
          <a:blip xmlns:r="http://schemas.openxmlformats.org/officeDocument/2006/relationships" xmlns:a="http://schemas.openxmlformats.org/drawingml/2006/main" r:embed="Rfa199791189240d0"/>
          <a:srcRect xmlns:a="http://schemas.openxmlformats.org/drawingml/2006/main" l="0" t="0" r="0" b="0"/>
          <a:stretch xmlns:a="http://schemas.openxmlformats.org/drawingml/2006/main"/>
        </p:blipFill>
        <p:spPr>
          <a:xfrm xmlns:a="http://schemas.openxmlformats.org/drawingml/2006/main">
            <a:off x="195263" y="3433763"/>
            <a:ext cx="1743075" cy="1471613"/>
          </a:xfrm>
          <a:prstGeom xmlns:a="http://schemas.openxmlformats.org/drawingml/2006/main" prst="rect">
            <a:avLst/>
          </a:prstGeom>
        </p:spPr>
      </p:pic>
      <p:pic>
        <p:nvPicPr>
          <p:cNvPr id="5" name="Image 2">
            <a:extLst xmlns:a="http://schemas.openxmlformats.org/drawingml/2006/main">
              <a:ext uri="{FF2B5EF4-FFF2-40B4-BE49-F238E27FC236}">
                <a16:creationId xmlns:a16="http://schemas.microsoft.com/office/drawing/2014/main" id="{015F5568-8609-4445-A1A6-DDBE5F6985FA}"/>
              </a:ext>
            </a:extLst>
          </p:cNvPr>
          <p:cNvPicPr>
            <a:picLocks xmlns:a="http://schemas.openxmlformats.org/drawingml/2006/main" noChangeAspect="1"/>
          </p:cNvPicPr>
          <p:nvPr/>
        </p:nvPicPr>
        <p:blipFill>
          <a:blip xmlns:r="http://schemas.openxmlformats.org/officeDocument/2006/relationships" xmlns:a="http://schemas.openxmlformats.org/drawingml/2006/main" r:embed="R620d651bb5e04d2e"/>
          <a:srcRect xmlns:a="http://schemas.openxmlformats.org/drawingml/2006/main" l="0" t="0" r="34671" b="36230"/>
          <a:stretch xmlns:a="http://schemas.openxmlformats.org/drawingml/2006/main"/>
        </p:blipFill>
        <p:spPr>
          <a:xfrm xmlns:a="http://schemas.openxmlformats.org/drawingml/2006/main">
            <a:off x="-1028700" y="3081338"/>
            <a:ext cx="1938337" cy="2062163"/>
          </a:xfrm>
          <a:prstGeom xmlns:a="http://schemas.openxmlformats.org/drawingml/2006/main" prst="rect">
            <a:avLst/>
          </a:prstGeom>
        </p:spPr>
      </p:pic>
      <p:sp>
        <p:nvSpPr>
          <p:cNvPr id="6" name="Shape 0">
            <a:extLst xmlns:a="http://schemas.openxmlformats.org/drawingml/2006/main">
              <a:ext uri="{FF2B5EF4-FFF2-40B4-BE49-F238E27FC236}">
                <a16:creationId xmlns:a16="http://schemas.microsoft.com/office/drawing/2014/main" id="{96603FC3-FB3C-409B-9C24-18DC3327F648}"/>
              </a:ext>
            </a:extLst>
          </p:cNvPr>
          <p:cNvSpPr>
            <a:spLocks xmlns:a="http://schemas.openxmlformats.org/drawingml/2006/main" noGrp="1"/>
          </p:cNvSpPr>
          <p:nvPr/>
        </p:nvSpPr>
        <p:spPr>
          <a:xfrm xmlns:a="http://schemas.openxmlformats.org/drawingml/2006/main">
            <a:off x="609600" y="2181225"/>
            <a:ext cx="5010150" cy="900113"/>
          </a:xfrm>
          <a:prstGeom xmlns:a="http://schemas.openxmlformats.org/drawingml/2006/main" prst="rect">
            <a:avLst/>
          </a:prstGeom>
          <a:noFill xmlns:a="http://schemas.openxmlformats.org/drawingml/2006/main"/>
        </p:spPr>
      </p:sp>
      <p:sp>
        <p:nvSpPr>
          <p:cNvPr id="7" name="Text 1">
            <a:extLst xmlns:a="http://schemas.openxmlformats.org/drawingml/2006/main">
              <a:ext uri="{FF2B5EF4-FFF2-40B4-BE49-F238E27FC236}">
                <a16:creationId xmlns:a16="http://schemas.microsoft.com/office/drawing/2014/main" id="{8931BE29-2A13-4D9E-A93C-B82319987D54}"/>
              </a:ext>
            </a:extLst>
          </p:cNvPr>
          <p:cNvSpPr>
            <a:spLocks xmlns:a="http://schemas.openxmlformats.org/drawingml/2006/main" noGrp="1"/>
          </p:cNvSpPr>
          <p:nvPr/>
        </p:nvSpPr>
        <p:spPr>
          <a:xfrm xmlns:a="http://schemas.openxmlformats.org/drawingml/2006/main">
            <a:off x="609600" y="2181225"/>
            <a:ext cx="5010150" cy="5476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4104"/>
              </a:lnSpc>
              <a:buNone/>
            </a:pPr>
            <a:r>
              <a:rPr sz="3420" b="1" spc="-68">
                <a:solidFill>
                  <a:srgbClr val="FFFFFF">
                    <a:alpha val="99000"/>
                  </a:srgbClr>
                </a:solidFill>
                <a:latin typeface="Inter"/>
                <a:ea typeface="Inter"/>
                <a:cs typeface="Inter"/>
              </a:rPr>
              <a:t>Intro to MCP Servers</a:t>
            </a:r>
            <a:endParaRPr sz="3420"/>
          </a:p>
        </p:txBody>
      </p:sp>
      <p:sp>
        <p:nvSpPr>
          <p:cNvPr id="8" name="Text 2">
            <a:extLst xmlns:a="http://schemas.openxmlformats.org/drawingml/2006/main">
              <a:ext uri="{FF2B5EF4-FFF2-40B4-BE49-F238E27FC236}">
                <a16:creationId xmlns:a16="http://schemas.microsoft.com/office/drawing/2014/main" id="{462C1B40-2908-4372-B8A7-A06E3E0AE01B}"/>
              </a:ext>
            </a:extLst>
          </p:cNvPr>
          <p:cNvSpPr>
            <a:spLocks xmlns:a="http://schemas.openxmlformats.org/drawingml/2006/main" noGrp="1"/>
          </p:cNvSpPr>
          <p:nvPr/>
        </p:nvSpPr>
        <p:spPr>
          <a:xfrm xmlns:a="http://schemas.openxmlformats.org/drawingml/2006/main">
            <a:off x="609600" y="2843213"/>
            <a:ext cx="50101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95"/>
              </a:lnSpc>
              <a:buNone/>
            </a:pPr>
            <a:r>
              <a:rPr sz="1283" b="1" spc="-51">
                <a:solidFill>
                  <a:srgbClr val="FFFFFF">
                    <a:alpha val="99000"/>
                  </a:srgbClr>
                </a:solidFill>
                <a:latin typeface="Inter"/>
                <a:ea typeface="Inter"/>
                <a:cs typeface="Inter"/>
              </a:rPr>
              <a:t>Presented by Pranav</a:t>
            </a:r>
            <a:endParaRPr sz="1283"/>
          </a:p>
        </p:txBody>
      </p:sp>
      <p:sp>
        <p:nvSpPr>
          <p:cNvPr id="9" name="Text 3">
            <a:extLst xmlns:a="http://schemas.openxmlformats.org/drawingml/2006/main">
              <a:ext uri="{FF2B5EF4-FFF2-40B4-BE49-F238E27FC236}">
                <a16:creationId xmlns:a16="http://schemas.microsoft.com/office/drawing/2014/main" id="{C50B0F5C-E473-46CC-A622-1EA6C119896C}"/>
              </a:ext>
            </a:extLst>
          </p:cNvPr>
          <p:cNvSpPr>
            <a:spLocks xmlns:a="http://schemas.openxmlformats.org/drawingml/2006/main" noGrp="1"/>
          </p:cNvSpPr>
          <p:nvPr/>
        </p:nvSpPr>
        <p:spPr>
          <a:xfrm xmlns:a="http://schemas.openxmlformats.org/drawingml/2006/main">
            <a:off x="3505200" y="4124325"/>
            <a:ext cx="452438" cy="5476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4104"/>
              </a:lnSpc>
              <a:buNone/>
            </a:pPr>
            <a:r>
              <a:rPr sz="3420" b="1" spc="-68">
                <a:solidFill>
                  <a:srgbClr val="FFFFFF">
                    <a:alpha val="99000"/>
                  </a:srgbClr>
                </a:solidFill>
                <a:latin typeface="Inter"/>
                <a:ea typeface="Inter"/>
                <a:cs typeface="Inter"/>
              </a:rPr>
              <a:t>X</a:t>
            </a:r>
            <a:endParaRPr sz="3420"/>
          </a:p>
        </p:txBody>
      </p:sp>
      <p:pic>
        <p:nvPicPr>
          <p:cNvPr id="10" name="Image 3">
            <a:extLst xmlns:a="http://schemas.openxmlformats.org/drawingml/2006/main">
              <a:ext uri="{FF2B5EF4-FFF2-40B4-BE49-F238E27FC236}">
                <a16:creationId xmlns:a16="http://schemas.microsoft.com/office/drawing/2014/main" id="{3C3864B4-9F80-4B01-B64A-3544A0F307E6}"/>
              </a:ext>
            </a:extLst>
          </p:cNvPr>
          <p:cNvPicPr>
            <a:picLocks xmlns:a="http://schemas.openxmlformats.org/drawingml/2006/main" noChangeAspect="1"/>
          </p:cNvPicPr>
          <p:nvPr/>
        </p:nvPicPr>
        <p:blipFill>
          <a:blip xmlns:r="http://schemas.openxmlformats.org/officeDocument/2006/relationships" xmlns:a="http://schemas.openxmlformats.org/drawingml/2006/main" r:embed="R2f172a85854d46f6"/>
          <a:srcRect xmlns:a="http://schemas.openxmlformats.org/drawingml/2006/main" l="0" t="0" r="0" b="5577"/>
          <a:stretch xmlns:a="http://schemas.openxmlformats.org/drawingml/2006/main"/>
        </p:blipFill>
        <p:spPr>
          <a:xfrm xmlns:a="http://schemas.openxmlformats.org/drawingml/2006/main">
            <a:off x="8315325" y="-204787"/>
            <a:ext cx="700088" cy="3467100"/>
          </a:xfrm>
          <a:prstGeom xmlns:a="http://schemas.openxmlformats.org/drawingml/2006/main" prst="rect">
            <a:avLst/>
          </a:prstGeom>
        </p:spPr>
      </p:pic>
      <p:pic>
        <p:nvPicPr>
          <p:cNvPr id="11" name="Image 4">
            <a:extLst xmlns:a="http://schemas.openxmlformats.org/drawingml/2006/main">
              <a:ext uri="{FF2B5EF4-FFF2-40B4-BE49-F238E27FC236}">
                <a16:creationId xmlns:a16="http://schemas.microsoft.com/office/drawing/2014/main" id="{F3B99718-2ACE-4895-834E-B7C52D62383D}"/>
              </a:ext>
            </a:extLst>
          </p:cNvPr>
          <p:cNvPicPr>
            <a:picLocks xmlns:a="http://schemas.openxmlformats.org/drawingml/2006/main" noChangeAspect="1"/>
          </p:cNvPicPr>
          <p:nvPr/>
        </p:nvPicPr>
        <p:blipFill>
          <a:blip xmlns:r="http://schemas.openxmlformats.org/officeDocument/2006/relationships" xmlns:a="http://schemas.openxmlformats.org/drawingml/2006/main" r:embed="Rcefe7d884b884c85"/>
          <a:srcRect xmlns:a="http://schemas.openxmlformats.org/drawingml/2006/main" l="0" t="0" r="13210" b="10224"/>
          <a:stretch xmlns:a="http://schemas.openxmlformats.org/drawingml/2006/main"/>
        </p:blipFill>
        <p:spPr>
          <a:xfrm xmlns:a="http://schemas.openxmlformats.org/drawingml/2006/main">
            <a:off x="6234113" y="-295275"/>
            <a:ext cx="2909888" cy="5143500"/>
          </a:xfrm>
          <a:prstGeom xmlns:a="http://schemas.openxmlformats.org/drawingml/2006/main" prst="rect">
            <a:avLst/>
          </a:prstGeom>
        </p:spPr>
      </p:pic>
      <p:pic>
        <p:nvPicPr>
          <p:cNvPr id="12" name="Image 5">
            <a:extLst xmlns:a="http://schemas.openxmlformats.org/drawingml/2006/main">
              <a:ext uri="{FF2B5EF4-FFF2-40B4-BE49-F238E27FC236}">
                <a16:creationId xmlns:a16="http://schemas.microsoft.com/office/drawing/2014/main" id="{C2FD7078-7721-4446-B868-05BF570A1E15}"/>
              </a:ext>
            </a:extLst>
          </p:cNvPr>
          <p:cNvPicPr>
            <a:picLocks xmlns:a="http://schemas.openxmlformats.org/drawingml/2006/main" noChangeAspect="1"/>
          </p:cNvPicPr>
          <p:nvPr/>
        </p:nvPicPr>
        <p:blipFill>
          <a:blip xmlns:r="http://schemas.openxmlformats.org/officeDocument/2006/relationships" xmlns:a="http://schemas.openxmlformats.org/drawingml/2006/main" r:embed="R9dda71facbc54e8c"/>
          <a:srcRect xmlns:a="http://schemas.openxmlformats.org/drawingml/2006/main" l="0" t="0" r="0" b="0"/>
          <a:stretch xmlns:a="http://schemas.openxmlformats.org/drawingml/2006/main"/>
        </p:blipFill>
        <p:spPr>
          <a:xfrm xmlns:a="http://schemas.openxmlformats.org/drawingml/2006/main">
            <a:off x="5529263" y="3867150"/>
            <a:ext cx="342900" cy="338138"/>
          </a:xfrm>
          <a:prstGeom xmlns:a="http://schemas.openxmlformats.org/drawingml/2006/main" prst="rect">
            <a:avLst/>
          </a:prstGeom>
        </p:spPr>
      </p:pic>
      <p:pic>
        <p:nvPicPr>
          <p:cNvPr id="13" name="Image 6">
            <a:extLst xmlns:a="http://schemas.openxmlformats.org/drawingml/2006/main">
              <a:ext uri="{FF2B5EF4-FFF2-40B4-BE49-F238E27FC236}">
                <a16:creationId xmlns:a16="http://schemas.microsoft.com/office/drawing/2014/main" id="{70A02E4F-1D6C-43EE-A28F-12B1D12AC936}"/>
              </a:ext>
            </a:extLst>
          </p:cNvPr>
          <p:cNvPicPr>
            <a:picLocks xmlns:a="http://schemas.openxmlformats.org/drawingml/2006/main" noChangeAspect="1"/>
          </p:cNvPicPr>
          <p:nvPr/>
        </p:nvPicPr>
        <p:blipFill>
          <a:blip xmlns:r="http://schemas.openxmlformats.org/officeDocument/2006/relationships" xmlns:a="http://schemas.openxmlformats.org/drawingml/2006/main" r:embed="Rf3fd6bd29bad4e83"/>
          <a:srcRect xmlns:a="http://schemas.openxmlformats.org/drawingml/2006/main" l="0" t="0" r="0" b="0"/>
          <a:stretch xmlns:a="http://schemas.openxmlformats.org/drawingml/2006/main"/>
        </p:blipFill>
        <p:spPr>
          <a:xfrm xmlns:a="http://schemas.openxmlformats.org/drawingml/2006/main">
            <a:off x="6086475" y="1100138"/>
            <a:ext cx="237545" cy="234429"/>
          </a:xfrm>
          <a:prstGeom xmlns:a="http://schemas.openxmlformats.org/drawingml/2006/main" prst="rect">
            <a:avLst/>
          </a:prstGeom>
        </p:spPr>
      </p:pic>
      <p:pic>
        <p:nvPicPr>
          <p:cNvPr id="14" name="Image 7">
            <a:extLst xmlns:a="http://schemas.openxmlformats.org/drawingml/2006/main">
              <a:ext uri="{FF2B5EF4-FFF2-40B4-BE49-F238E27FC236}">
                <a16:creationId xmlns:a16="http://schemas.microsoft.com/office/drawing/2014/main" id="{8395BAFB-A8BB-4DF3-9AD6-B8D9C8524162}"/>
              </a:ext>
            </a:extLst>
          </p:cNvPr>
          <p:cNvPicPr>
            <a:picLocks xmlns:a="http://schemas.openxmlformats.org/drawingml/2006/main" noChangeAspect="1"/>
          </p:cNvPicPr>
          <p:nvPr/>
        </p:nvPicPr>
        <p:blipFill>
          <a:blip xmlns:r="http://schemas.openxmlformats.org/officeDocument/2006/relationships" xmlns:a="http://schemas.openxmlformats.org/drawingml/2006/main" r:embed="R9dda71facbc54e8c"/>
          <a:srcRect xmlns:a="http://schemas.openxmlformats.org/drawingml/2006/main" l="0" t="0" r="0" b="0"/>
          <a:stretch xmlns:a="http://schemas.openxmlformats.org/drawingml/2006/main"/>
        </p:blipFill>
        <p:spPr>
          <a:xfrm xmlns:a="http://schemas.openxmlformats.org/drawingml/2006/main">
            <a:off x="6753225" y="2781300"/>
            <a:ext cx="342900" cy="338138"/>
          </a:xfrm>
          <a:prstGeom xmlns:a="http://schemas.openxmlformats.org/drawingml/2006/main" prst="rect">
            <a:avLst/>
          </a:prstGeom>
        </p:spPr>
      </p:pic>
      <p:pic>
        <p:nvPicPr>
          <p:cNvPr id="15" name="Image 8">
            <a:extLst xmlns:a="http://schemas.openxmlformats.org/drawingml/2006/main">
              <a:ext uri="{FF2B5EF4-FFF2-40B4-BE49-F238E27FC236}">
                <a16:creationId xmlns:a16="http://schemas.microsoft.com/office/drawing/2014/main" id="{FA47214C-6F26-4969-9D84-09CE945086A5}"/>
              </a:ext>
            </a:extLst>
          </p:cNvPr>
          <p:cNvPicPr>
            <a:picLocks xmlns:a="http://schemas.openxmlformats.org/drawingml/2006/main" noChangeAspect="1"/>
          </p:cNvPicPr>
          <p:nvPr/>
        </p:nvPicPr>
        <p:blipFill>
          <a:blip xmlns:r="http://schemas.openxmlformats.org/officeDocument/2006/relationships" xmlns:a="http://schemas.openxmlformats.org/drawingml/2006/main" r:embed="R580d85f409e24aba"/>
          <a:srcRect xmlns:a="http://schemas.openxmlformats.org/drawingml/2006/main" l="0" t="0" r="0" b="0"/>
          <a:stretch xmlns:a="http://schemas.openxmlformats.org/drawingml/2006/main"/>
        </p:blipFill>
        <p:spPr>
          <a:xfrm xmlns:a="http://schemas.openxmlformats.org/drawingml/2006/main">
            <a:off x="5334000" y="452438"/>
            <a:ext cx="195263" cy="190500"/>
          </a:xfrm>
          <a:prstGeom xmlns:a="http://schemas.openxmlformats.org/drawingml/2006/main" prst="rect">
            <a:avLst/>
          </a:prstGeom>
        </p:spPr>
      </p:pic>
      <p:pic>
        <p:nvPicPr>
          <p:cNvPr id="16" name="Image 9">
            <a:extLst xmlns:a="http://schemas.openxmlformats.org/drawingml/2006/main">
              <a:ext uri="{FF2B5EF4-FFF2-40B4-BE49-F238E27FC236}">
                <a16:creationId xmlns:a16="http://schemas.microsoft.com/office/drawing/2014/main" id="{AE3F44E0-8A88-4D11-9E16-A5AB8BC65854}"/>
              </a:ext>
            </a:extLst>
          </p:cNvPr>
          <p:cNvPicPr>
            <a:picLocks xmlns:a="http://schemas.openxmlformats.org/drawingml/2006/main" noChangeAspect="1"/>
          </p:cNvPicPr>
          <p:nvPr/>
        </p:nvPicPr>
        <p:blipFill>
          <a:blip xmlns:r="http://schemas.openxmlformats.org/officeDocument/2006/relationships" xmlns:a="http://schemas.openxmlformats.org/drawingml/2006/main" r:embed="R4f9e907bd45f4d6e"/>
          <a:srcRect xmlns:a="http://schemas.openxmlformats.org/drawingml/2006/main" l="0" t="0" r="0" b="0"/>
          <a:stretch xmlns:a="http://schemas.openxmlformats.org/drawingml/2006/main"/>
        </p:blipFill>
        <p:spPr>
          <a:xfrm xmlns:a="http://schemas.openxmlformats.org/drawingml/2006/main">
            <a:off x="8191500" y="3695700"/>
            <a:ext cx="342900" cy="338138"/>
          </a:xfrm>
          <a:prstGeom xmlns:a="http://schemas.openxmlformats.org/drawingml/2006/main" prst="rect">
            <a:avLst/>
          </a:prstGeom>
        </p:spPr>
      </p:pic>
      <p:pic>
        <p:nvPicPr>
          <p:cNvPr id="17" name="Image 10">
            <a:extLst xmlns:a="http://schemas.openxmlformats.org/drawingml/2006/main">
              <a:ext uri="{FF2B5EF4-FFF2-40B4-BE49-F238E27FC236}">
                <a16:creationId xmlns:a16="http://schemas.microsoft.com/office/drawing/2014/main" id="{AE1AA803-6CD0-448E-BCF9-6244B76857E6}"/>
              </a:ext>
            </a:extLst>
          </p:cNvPr>
          <p:cNvPicPr>
            <a:picLocks xmlns:a="http://schemas.openxmlformats.org/drawingml/2006/main" noChangeAspect="1"/>
          </p:cNvPicPr>
          <p:nvPr/>
        </p:nvPicPr>
        <p:blipFill>
          <a:blip xmlns:r="http://schemas.openxmlformats.org/officeDocument/2006/relationships" xmlns:a="http://schemas.openxmlformats.org/drawingml/2006/main" r:embed="Reeb6e8ea557c4bcd"/>
          <a:srcRect xmlns:a="http://schemas.openxmlformats.org/drawingml/2006/main" l="0" t="0" r="0" b="0"/>
          <a:stretch xmlns:a="http://schemas.openxmlformats.org/drawingml/2006/main"/>
        </p:blipFill>
        <p:spPr>
          <a:xfrm xmlns:a="http://schemas.openxmlformats.org/drawingml/2006/main">
            <a:off x="8723283" y="2395451"/>
            <a:ext cx="237545" cy="234429"/>
          </a:xfrm>
          <a:prstGeom xmlns:a="http://schemas.openxmlformats.org/drawingml/2006/main" prst="rect">
            <a:avLst/>
          </a:prstGeom>
        </p:spPr>
      </p:pic>
      <p:pic>
        <p:nvPicPr>
          <p:cNvPr id="18" name="Image 11">
            <a:extLst xmlns:a="http://schemas.openxmlformats.org/drawingml/2006/main">
              <a:ext uri="{FF2B5EF4-FFF2-40B4-BE49-F238E27FC236}">
                <a16:creationId xmlns:a16="http://schemas.microsoft.com/office/drawing/2014/main" id="{A0CA6537-0481-4B09-94C0-93EA48BF91C3}"/>
              </a:ext>
            </a:extLst>
          </p:cNvPr>
          <p:cNvPicPr>
            <a:picLocks xmlns:a="http://schemas.openxmlformats.org/drawingml/2006/main" noChangeAspect="1"/>
          </p:cNvPicPr>
          <p:nvPr/>
        </p:nvPicPr>
        <p:blipFill>
          <a:blip xmlns:r="http://schemas.openxmlformats.org/officeDocument/2006/relationships" xmlns:a="http://schemas.openxmlformats.org/drawingml/2006/main" r:embed="R5cb824569e234d53"/>
          <a:srcRect xmlns:a="http://schemas.openxmlformats.org/drawingml/2006/main" l="0" t="0" r="0" b="0"/>
          <a:stretch xmlns:a="http://schemas.openxmlformats.org/drawingml/2006/main"/>
        </p:blipFill>
        <p:spPr>
          <a:xfrm xmlns:a="http://schemas.openxmlformats.org/drawingml/2006/main">
            <a:off x="8001000" y="1347788"/>
            <a:ext cx="195263" cy="190500"/>
          </a:xfrm>
          <a:prstGeom xmlns:a="http://schemas.openxmlformats.org/drawingml/2006/main" prst="rect">
            <a:avLst/>
          </a:prstGeom>
        </p:spPr>
      </p:pic>
      <p:pic>
        <p:nvPicPr>
          <p:cNvPr id="19" name="Image 12">
            <a:extLst xmlns:a="http://schemas.openxmlformats.org/drawingml/2006/main">
              <a:ext uri="{FF2B5EF4-FFF2-40B4-BE49-F238E27FC236}">
                <a16:creationId xmlns:a16="http://schemas.microsoft.com/office/drawing/2014/main" id="{82B4889E-EA5C-433C-A80A-069C290DFF33}"/>
              </a:ext>
            </a:extLst>
          </p:cNvPr>
          <p:cNvPicPr>
            <a:picLocks xmlns:a="http://schemas.openxmlformats.org/drawingml/2006/main" noChangeAspect="1"/>
          </p:cNvPicPr>
          <p:nvPr/>
        </p:nvPicPr>
        <p:blipFill>
          <a:blip xmlns:r="http://schemas.openxmlformats.org/officeDocument/2006/relationships" xmlns:a="http://schemas.openxmlformats.org/drawingml/2006/main" r:embed="R1c8a614b554944e6"/>
          <a:srcRect xmlns:a="http://schemas.openxmlformats.org/drawingml/2006/main" l="0" t="0" r="0" b="0"/>
          <a:stretch xmlns:a="http://schemas.openxmlformats.org/drawingml/2006/main"/>
        </p:blipFill>
        <p:spPr>
          <a:xfrm xmlns:a="http://schemas.openxmlformats.org/drawingml/2006/main">
            <a:off x="609600" y="451329"/>
            <a:ext cx="456577" cy="458674"/>
          </a:xfrm>
          <a:prstGeom xmlns:a="http://schemas.openxmlformats.org/drawingml/2006/main" prst="rect">
            <a:avLst/>
          </a:prstGeom>
        </p:spPr>
      </p:pic>
      <p:pic>
        <p:nvPicPr>
          <p:cNvPr id="20" name="Image 13">
            <a:extLst xmlns:a="http://schemas.openxmlformats.org/drawingml/2006/main">
              <a:ext uri="{FF2B5EF4-FFF2-40B4-BE49-F238E27FC236}">
                <a16:creationId xmlns:a16="http://schemas.microsoft.com/office/drawing/2014/main" id="{55FA73B6-D071-4FBB-A42C-953270548ADD}"/>
              </a:ext>
            </a:extLst>
          </p:cNvPr>
          <p:cNvPicPr>
            <a:picLocks xmlns:a="http://schemas.openxmlformats.org/drawingml/2006/main" noChangeAspect="1"/>
          </p:cNvPicPr>
          <p:nvPr/>
        </p:nvPicPr>
        <p:blipFill>
          <a:blip xmlns:r="http://schemas.openxmlformats.org/officeDocument/2006/relationships" xmlns:a="http://schemas.openxmlformats.org/drawingml/2006/main" r:embed="Rcf8f9d602f944aa7"/>
          <a:srcRect xmlns:a="http://schemas.openxmlformats.org/drawingml/2006/main" l="0" t="0" r="0" b="0"/>
          <a:stretch xmlns:a="http://schemas.openxmlformats.org/drawingml/2006/main"/>
        </p:blipFill>
        <p:spPr>
          <a:xfrm xmlns:a="http://schemas.openxmlformats.org/drawingml/2006/main">
            <a:off x="1187573" y="644917"/>
            <a:ext cx="304628" cy="306165"/>
          </a:xfrm>
          <a:prstGeom xmlns:a="http://schemas.openxmlformats.org/drawingml/2006/main" prst="rect">
            <a:avLst/>
          </a:prstGeom>
        </p:spPr>
      </p:pic>
      <p:pic>
        <p:nvPicPr>
          <p:cNvPr id="21" name="Image 14">
            <a:extLst xmlns:a="http://schemas.openxmlformats.org/drawingml/2006/main">
              <a:ext uri="{FF2B5EF4-FFF2-40B4-BE49-F238E27FC236}">
                <a16:creationId xmlns:a16="http://schemas.microsoft.com/office/drawing/2014/main" id="{D3E2DA82-2924-40F3-82C1-EF82156DA9FB}"/>
              </a:ext>
            </a:extLst>
          </p:cNvPr>
          <p:cNvPicPr>
            <a:picLocks xmlns:a="http://schemas.openxmlformats.org/drawingml/2006/main" noChangeAspect="1"/>
          </p:cNvPicPr>
          <p:nvPr/>
        </p:nvPicPr>
        <p:blipFill>
          <a:blip xmlns:r="http://schemas.openxmlformats.org/officeDocument/2006/relationships" xmlns:a="http://schemas.openxmlformats.org/drawingml/2006/main" r:embed="Rae153286e476499d"/>
          <a:srcRect xmlns:a="http://schemas.openxmlformats.org/drawingml/2006/main" l="0" t="0" r="0" b="0"/>
          <a:stretch xmlns:a="http://schemas.openxmlformats.org/drawingml/2006/main"/>
        </p:blipFill>
        <p:spPr>
          <a:xfrm xmlns:a="http://schemas.openxmlformats.org/drawingml/2006/main">
            <a:off x="809625" y="1219200"/>
            <a:ext cx="258166" cy="260263"/>
          </a:xfrm>
          <a:prstGeom xmlns:a="http://schemas.openxmlformats.org/drawingml/2006/main" prst="rect">
            <a:avLst/>
          </a:prstGeom>
        </p:spPr>
      </p:pic>
      <p:pic>
        <p:nvPicPr>
          <p:cNvPr id="22" name="Image 15">
            <a:extLst xmlns:a="http://schemas.openxmlformats.org/drawingml/2006/main">
              <a:ext uri="{FF2B5EF4-FFF2-40B4-BE49-F238E27FC236}">
                <a16:creationId xmlns:a16="http://schemas.microsoft.com/office/drawing/2014/main" id="{6C0ACCB2-0C95-40BC-ADA7-51EF3355C8FD}"/>
              </a:ext>
            </a:extLst>
          </p:cNvPr>
          <p:cNvPicPr>
            <a:picLocks xmlns:a="http://schemas.openxmlformats.org/drawingml/2006/main" noChangeAspect="1"/>
          </p:cNvPicPr>
          <p:nvPr/>
        </p:nvPicPr>
        <p:blipFill>
          <a:blip xmlns:r="http://schemas.openxmlformats.org/officeDocument/2006/relationships" xmlns:a="http://schemas.openxmlformats.org/drawingml/2006/main" r:embed="R1c8a614b554944e6"/>
          <a:srcRect xmlns:a="http://schemas.openxmlformats.org/drawingml/2006/main" l="0" t="0" r="0" b="0"/>
          <a:stretch xmlns:a="http://schemas.openxmlformats.org/drawingml/2006/main"/>
        </p:blipFill>
        <p:spPr>
          <a:xfrm xmlns:a="http://schemas.openxmlformats.org/drawingml/2006/main">
            <a:off x="1323975" y="3562350"/>
            <a:ext cx="456577" cy="458674"/>
          </a:xfrm>
          <a:prstGeom xmlns:a="http://schemas.openxmlformats.org/drawingml/2006/main" prst="rect">
            <a:avLst/>
          </a:prstGeom>
        </p:spPr>
      </p:pic>
      <p:pic>
        <p:nvPicPr>
          <p:cNvPr id="23" name="Image 16">
            <a:extLst xmlns:a="http://schemas.openxmlformats.org/drawingml/2006/main">
              <a:ext uri="{FF2B5EF4-FFF2-40B4-BE49-F238E27FC236}">
                <a16:creationId xmlns:a16="http://schemas.microsoft.com/office/drawing/2014/main" id="{2B149E73-B0A4-4C31-8516-9BF12100FD31}"/>
              </a:ext>
            </a:extLst>
          </p:cNvPr>
          <p:cNvPicPr>
            <a:picLocks xmlns:a="http://schemas.openxmlformats.org/drawingml/2006/main" noChangeAspect="1"/>
          </p:cNvPicPr>
          <p:nvPr/>
        </p:nvPicPr>
        <p:blipFill>
          <a:blip xmlns:r="http://schemas.openxmlformats.org/officeDocument/2006/relationships" xmlns:a="http://schemas.openxmlformats.org/drawingml/2006/main" r:embed="Rcf8f9d602f944aa7"/>
          <a:srcRect xmlns:a="http://schemas.openxmlformats.org/drawingml/2006/main" l="0" t="0" r="0" b="0"/>
          <a:stretch xmlns:a="http://schemas.openxmlformats.org/drawingml/2006/main"/>
        </p:blipFill>
        <p:spPr>
          <a:xfrm xmlns:a="http://schemas.openxmlformats.org/drawingml/2006/main">
            <a:off x="2678236" y="3865476"/>
            <a:ext cx="304628" cy="306165"/>
          </a:xfrm>
          <a:prstGeom xmlns:a="http://schemas.openxmlformats.org/drawingml/2006/main" prst="rect">
            <a:avLst/>
          </a:prstGeom>
        </p:spPr>
      </p:pic>
      <p:pic>
        <p:nvPicPr>
          <p:cNvPr id="24" name="Image 17">
            <a:extLst xmlns:a="http://schemas.openxmlformats.org/drawingml/2006/main">
              <a:ext uri="{FF2B5EF4-FFF2-40B4-BE49-F238E27FC236}">
                <a16:creationId xmlns:a16="http://schemas.microsoft.com/office/drawing/2014/main" id="{F424CA09-81BC-47F0-8456-C568DDBD7B1A}"/>
              </a:ext>
            </a:extLst>
          </p:cNvPr>
          <p:cNvPicPr>
            <a:picLocks xmlns:a="http://schemas.openxmlformats.org/drawingml/2006/main" noChangeAspect="1"/>
          </p:cNvPicPr>
          <p:nvPr/>
        </p:nvPicPr>
        <p:blipFill>
          <a:blip xmlns:r="http://schemas.openxmlformats.org/officeDocument/2006/relationships" xmlns:a="http://schemas.openxmlformats.org/drawingml/2006/main" r:embed="R0cd6c775f9ee444f"/>
          <a:srcRect xmlns:a="http://schemas.openxmlformats.org/drawingml/2006/main" l="0" t="0" r="0" b="12194"/>
          <a:stretch xmlns:a="http://schemas.openxmlformats.org/drawingml/2006/main"/>
        </p:blipFill>
        <p:spPr>
          <a:xfrm xmlns:a="http://schemas.openxmlformats.org/drawingml/2006/main">
            <a:off x="6748463" y="4595813"/>
            <a:ext cx="607244" cy="547688"/>
          </a:xfrm>
          <a:prstGeom xmlns:a="http://schemas.openxmlformats.org/drawingml/2006/main" prst="rect">
            <a:avLst/>
          </a:prstGeom>
        </p:spPr>
      </p:pic>
      <p:pic>
        <p:nvPicPr>
          <p:cNvPr id="25" name="Image 18">
            <a:extLst xmlns:a="http://schemas.openxmlformats.org/drawingml/2006/main">
              <a:ext uri="{FF2B5EF4-FFF2-40B4-BE49-F238E27FC236}">
                <a16:creationId xmlns:a16="http://schemas.microsoft.com/office/drawing/2014/main" id="{F6E4CF60-3D4A-42EE-908E-838C16D0689B}"/>
              </a:ext>
            </a:extLst>
          </p:cNvPr>
          <p:cNvPicPr>
            <a:picLocks xmlns:a="http://schemas.openxmlformats.org/drawingml/2006/main" noChangeAspect="1"/>
          </p:cNvPicPr>
          <p:nvPr/>
        </p:nvPicPr>
        <p:blipFill>
          <a:blip xmlns:r="http://schemas.openxmlformats.org/officeDocument/2006/relationships" xmlns:a="http://schemas.openxmlformats.org/drawingml/2006/main" r:embed="Ra6e2a06d627e4e96"/>
          <a:srcRect xmlns:a="http://schemas.openxmlformats.org/drawingml/2006/main" l="0" t="0" r="0" b="0"/>
          <a:stretch xmlns:a="http://schemas.openxmlformats.org/drawingml/2006/main"/>
        </p:blipFill>
        <p:spPr>
          <a:xfrm xmlns:a="http://schemas.openxmlformats.org/drawingml/2006/main">
            <a:off x="8577262" y="3290888"/>
            <a:ext cx="463253" cy="499238"/>
          </a:xfrm>
          <a:prstGeom xmlns:a="http://schemas.openxmlformats.org/drawingml/2006/main" prst="rect">
            <a:avLst/>
          </a:prstGeom>
        </p:spPr>
      </p:pic>
      <p:pic>
        <p:nvPicPr>
          <p:cNvPr id="26" name="Image 19">
            <a:extLst xmlns:a="http://schemas.openxmlformats.org/drawingml/2006/main">
              <a:ext uri="{FF2B5EF4-FFF2-40B4-BE49-F238E27FC236}">
                <a16:creationId xmlns:a16="http://schemas.microsoft.com/office/drawing/2014/main" id="{0A6E2531-5F7D-4EFC-9732-7C8C1A621CBD}"/>
              </a:ext>
            </a:extLst>
          </p:cNvPr>
          <p:cNvPicPr>
            <a:picLocks xmlns:a="http://schemas.openxmlformats.org/drawingml/2006/main" noChangeAspect="1"/>
          </p:cNvPicPr>
          <p:nvPr/>
        </p:nvPicPr>
        <p:blipFill>
          <a:blip xmlns:r="http://schemas.openxmlformats.org/officeDocument/2006/relationships" xmlns:a="http://schemas.openxmlformats.org/drawingml/2006/main" r:embed="Rae153286e476499d"/>
          <a:srcRect xmlns:a="http://schemas.openxmlformats.org/drawingml/2006/main" l="0" t="0" r="0" b="0"/>
          <a:stretch xmlns:a="http://schemas.openxmlformats.org/drawingml/2006/main"/>
        </p:blipFill>
        <p:spPr>
          <a:xfrm xmlns:a="http://schemas.openxmlformats.org/drawingml/2006/main">
            <a:off x="2300287" y="4439759"/>
            <a:ext cx="258166" cy="260263"/>
          </a:xfrm>
          <a:prstGeom xmlns:a="http://schemas.openxmlformats.org/drawingml/2006/main" prst="rect">
            <a:avLst/>
          </a:prstGeom>
        </p:spPr>
      </p:pic>
      <p:pic>
        <p:nvPicPr>
          <p:cNvPr id="27" name="Image 20">
            <a:extLst xmlns:a="http://schemas.openxmlformats.org/drawingml/2006/main">
              <a:ext uri="{FF2B5EF4-FFF2-40B4-BE49-F238E27FC236}">
                <a16:creationId xmlns:a16="http://schemas.microsoft.com/office/drawing/2014/main" id="{FB4C2FD8-D695-4898-AD62-0178384AA2C6}"/>
              </a:ext>
            </a:extLst>
          </p:cNvPr>
          <p:cNvPicPr>
            <a:picLocks xmlns:a="http://schemas.openxmlformats.org/drawingml/2006/main" noChangeAspect="1"/>
          </p:cNvPicPr>
          <p:nvPr/>
        </p:nvPicPr>
        <p:blipFill>
          <a:blip xmlns:r="http://schemas.openxmlformats.org/officeDocument/2006/relationships" xmlns:a="http://schemas.openxmlformats.org/drawingml/2006/main" r:embed="R20b1b93d21854cb9"/>
          <a:srcRect xmlns:a="http://schemas.openxmlformats.org/drawingml/2006/main" l="0" t="0" r="21117" b="32066"/>
          <a:stretch xmlns:a="http://schemas.openxmlformats.org/drawingml/2006/main"/>
        </p:blipFill>
        <p:spPr>
          <a:xfrm xmlns:a="http://schemas.openxmlformats.org/drawingml/2006/main">
            <a:off x="6662737" y="2762250"/>
            <a:ext cx="2481263" cy="2381250"/>
          </a:xfrm>
          <a:prstGeom xmlns:a="http://schemas.openxmlformats.org/drawingml/2006/main" prst="rect">
            <a:avLst/>
          </a:prstGeom>
        </p:spPr>
      </p:pic>
      <p:pic>
        <p:nvPicPr>
          <p:cNvPr id="28" name="Image 21">
            <a:extLst xmlns:a="http://schemas.openxmlformats.org/drawingml/2006/main">
              <a:ext uri="{FF2B5EF4-FFF2-40B4-BE49-F238E27FC236}">
                <a16:creationId xmlns:a16="http://schemas.microsoft.com/office/drawing/2014/main" id="{7EBBB514-F5D2-4FE5-9870-B84DBCD11C67}"/>
              </a:ext>
            </a:extLst>
          </p:cNvPr>
          <p:cNvPicPr>
            <a:picLocks xmlns:a="http://schemas.openxmlformats.org/drawingml/2006/main" noChangeAspect="1"/>
          </p:cNvPicPr>
          <p:nvPr/>
        </p:nvPicPr>
        <p:blipFill>
          <a:blip xmlns:r="http://schemas.openxmlformats.org/officeDocument/2006/relationships" xmlns:a="http://schemas.openxmlformats.org/drawingml/2006/main" r:embed="Rd4f2aeb4e13649cd"/>
          <a:srcRect xmlns:a="http://schemas.openxmlformats.org/drawingml/2006/main" l="0" t="0" r="0" b="0"/>
          <a:stretch xmlns:a="http://schemas.openxmlformats.org/drawingml/2006/main"/>
        </p:blipFill>
        <p:spPr>
          <a:xfrm xmlns:a="http://schemas.openxmlformats.org/drawingml/2006/main">
            <a:off x="4104175" y="4102541"/>
            <a:ext cx="2295525" cy="495300"/>
          </a:xfrm>
          <a:prstGeom xmlns:a="http://schemas.openxmlformats.org/drawingml/2006/main" prst="rect">
            <a:avLst/>
          </a:prstGeom>
        </p:spPr>
      </p:pic>
      <p:pic>
        <p:nvPicPr>
          <p:cNvPr id="29" name="Image 22">
            <a:extLst xmlns:a="http://schemas.openxmlformats.org/drawingml/2006/main">
              <a:ext uri="{FF2B5EF4-FFF2-40B4-BE49-F238E27FC236}">
                <a16:creationId xmlns:a16="http://schemas.microsoft.com/office/drawing/2014/main" id="{501F1BE0-A504-4D67-BCB4-1BD193B88516}"/>
              </a:ext>
            </a:extLst>
          </p:cNvPr>
          <p:cNvPicPr>
            <a:picLocks xmlns:a="http://schemas.openxmlformats.org/drawingml/2006/main" noChangeAspect="1"/>
          </p:cNvPicPr>
          <p:nvPr/>
        </p:nvPicPr>
        <p:blipFill>
          <a:blip xmlns:r="http://schemas.openxmlformats.org/officeDocument/2006/relationships" xmlns:a="http://schemas.openxmlformats.org/drawingml/2006/main" r:embed="R56c291b9ca0f4362"/>
          <a:srcRect xmlns:a="http://schemas.openxmlformats.org/drawingml/2006/main" l="0" t="0" r="0" b="15812"/>
          <a:stretch xmlns:a="http://schemas.openxmlformats.org/drawingml/2006/main"/>
        </p:blipFill>
        <p:spPr>
          <a:xfrm xmlns:a="http://schemas.openxmlformats.org/drawingml/2006/main">
            <a:off x="7191375" y="4205288"/>
            <a:ext cx="1123950" cy="938213"/>
          </a:xfrm>
          <a:prstGeom xmlns:a="http://schemas.openxmlformats.org/drawingml/2006/main" prst="rect">
            <a:avLst/>
          </a:prstGeom>
        </p:spPr>
      </p:pic>
      <p:sp>
        <p:nvSpPr>
          <p:cNvPr id="30" name="Text 4">
            <a:extLst xmlns:a="http://schemas.openxmlformats.org/drawingml/2006/main">
              <a:ext uri="{FF2B5EF4-FFF2-40B4-BE49-F238E27FC236}">
                <a16:creationId xmlns:a16="http://schemas.microsoft.com/office/drawing/2014/main" id="{E3C5DEF5-3172-4B92-8F47-197471237B08}"/>
              </a:ext>
            </a:extLst>
          </p:cNvPr>
          <p:cNvSpPr>
            <a:spLocks xmlns:a="http://schemas.openxmlformats.org/drawingml/2006/main" noGrp="1"/>
          </p:cNvSpPr>
          <p:nvPr/>
        </p:nvSpPr>
        <p:spPr>
          <a:xfrm xmlns:a="http://schemas.openxmlformats.org/drawingml/2006/main">
            <a:off x="8310562" y="4862513"/>
            <a:ext cx="619125" cy="1428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69"/>
              </a:lnSpc>
              <a:buNone/>
            </a:pPr>
            <a:r>
              <a:rPr sz="855">
                <a:solidFill>
                  <a:srgbClr val="BAD9CF">
                    <a:alpha val="99000"/>
                  </a:srgbClr>
                </a:solidFill>
                <a:latin typeface="Inter"/>
                <a:ea typeface="Inter"/>
                <a:cs typeface="Inter"/>
              </a:rPr>
              <a:t>01 / 29</a:t>
            </a:r>
            <a:endParaRPr sz="855"/>
          </a:p>
        </p:txBody>
      </p:sp>
      <p:pic>
        <p:nvPicPr>
          <p:cNvPr id="31" name="Image 23">
            <a:extLst xmlns:a="http://schemas.openxmlformats.org/drawingml/2006/main">
              <a:ext uri="{FF2B5EF4-FFF2-40B4-BE49-F238E27FC236}">
                <a16:creationId xmlns:a16="http://schemas.microsoft.com/office/drawing/2014/main" id="{E9FFD518-8CB4-44B8-901C-54692F7C41DA}"/>
              </a:ext>
            </a:extLst>
          </p:cNvPr>
          <p:cNvPicPr>
            <a:picLocks xmlns:a="http://schemas.openxmlformats.org/drawingml/2006/main" noChangeAspect="1"/>
          </p:cNvPicPr>
          <p:nvPr/>
        </p:nvPicPr>
        <p:blipFill>
          <a:blip xmlns:r="http://schemas.openxmlformats.org/officeDocument/2006/relationships" xmlns:a="http://schemas.openxmlformats.org/drawingml/2006/main" r:embed="Rc014091ff11644b3"/>
          <a:srcRect xmlns:a="http://schemas.openxmlformats.org/drawingml/2006/main" l="0" t="0" r="0" b="0"/>
          <a:stretch xmlns:a="http://schemas.openxmlformats.org/drawingml/2006/main"/>
        </p:blipFill>
        <p:spPr>
          <a:xfrm xmlns:a="http://schemas.openxmlformats.org/drawingml/2006/main">
            <a:off x="2290763" y="3790950"/>
            <a:ext cx="952500" cy="1004887"/>
          </a:xfrm>
          <a:prstGeom xmlns:a="http://schemas.openxmlformats.org/drawingml/2006/main" prst="rect">
            <a:avLst/>
          </a:prstGeom>
        </p:spPr>
      </p:pic>
    </p:spTree>
    <p:extLst>
      <p:ext uri="{BB962C8B-B14F-4D97-AF65-F5344CB8AC3E}">
        <p14:creationId xmlns:p14="http://schemas.microsoft.com/office/powerpoint/2010/main" val="66013541"/>
      </p:ext>
    </p:extLst>
  </p:cSld>
</p:sld>
</file>

<file path=ppt/slides/slide2.xml><?xml version="1.0" encoding="utf-8"?>
<p:sld xmlns:p="http://schemas.openxmlformats.org/presentationml/2006/main">
  <p:cSld>
    <p:bg>
      <p:bgPr>
        <a:blipFill xmlns:a="http://schemas.openxmlformats.org/drawingml/2006/main" rotWithShape="1">
          <a:blip xmlns:r="http://schemas.openxmlformats.org/officeDocument/2006/relationships" r:embed="R99f1b34c61a84226">
            <a:lum/>
          </a:blip>
          <a:srcRect l="0" t="0" r="0" b="0"/>
          <a:stretch>
            <a:fillRect l="0" t="0" r="0" b="0"/>
          </a:stretch>
        </a:blipFill>
      </p:bgPr>
    </p:bg>
    <p:spTree>
      <p:nvGrpSpPr>
        <p:cNvPr id="1" name=""/>
        <p:cNvGrpSpPr/>
        <p:nvPr/>
      </p:nvGrpSpPr>
      <p:grpSpPr>
        <a:xfrm xmlns:a="http://schemas.openxmlformats.org/drawingml/2006/main"/>
      </p:grpSpPr>
      <p:pic>
        <p:nvPicPr>
          <p:cNvPr id="3" name="Image 0">
            <a:extLst xmlns:a="http://schemas.openxmlformats.org/drawingml/2006/main">
              <a:ext uri="{FF2B5EF4-FFF2-40B4-BE49-F238E27FC236}">
                <a16:creationId xmlns:a16="http://schemas.microsoft.com/office/drawing/2014/main" id="{38C3D6A9-68CD-412D-A50F-9400B729F805}"/>
              </a:ext>
            </a:extLst>
          </p:cNvPr>
          <p:cNvPicPr>
            <a:picLocks xmlns:a="http://schemas.openxmlformats.org/drawingml/2006/main" noChangeAspect="1"/>
          </p:cNvPicPr>
          <p:nvPr/>
        </p:nvPicPr>
        <p:blipFill>
          <a:blip xmlns:r="http://schemas.openxmlformats.org/officeDocument/2006/relationships" xmlns:a="http://schemas.openxmlformats.org/drawingml/2006/main" r:embed="R75f44698cc014407"/>
          <a:srcRect xmlns:a="http://schemas.openxmlformats.org/drawingml/2006/main" l="0" t="0" r="31960" b="40299"/>
          <a:stretch xmlns:a="http://schemas.openxmlformats.org/drawingml/2006/main"/>
        </p:blipFill>
        <p:spPr>
          <a:xfrm xmlns:a="http://schemas.openxmlformats.org/drawingml/2006/main">
            <a:off x="-1662112" y="-842962"/>
            <a:ext cx="3538538" cy="5143500"/>
          </a:xfrm>
          <a:prstGeom xmlns:a="http://schemas.openxmlformats.org/drawingml/2006/main" prst="rect">
            <a:avLst/>
          </a:prstGeom>
        </p:spPr>
      </p:pic>
      <p:pic>
        <p:nvPicPr>
          <p:cNvPr id="4" name="Image 1">
            <a:extLst xmlns:a="http://schemas.openxmlformats.org/drawingml/2006/main">
              <a:ext uri="{FF2B5EF4-FFF2-40B4-BE49-F238E27FC236}">
                <a16:creationId xmlns:a16="http://schemas.microsoft.com/office/drawing/2014/main" id="{00EA8C9B-CB76-4600-9267-B2C1AEA3B84D}"/>
              </a:ext>
            </a:extLst>
          </p:cNvPr>
          <p:cNvPicPr>
            <a:picLocks xmlns:a="http://schemas.openxmlformats.org/drawingml/2006/main" noChangeAspect="1"/>
          </p:cNvPicPr>
          <p:nvPr/>
        </p:nvPicPr>
        <p:blipFill>
          <a:blip xmlns:r="http://schemas.openxmlformats.org/officeDocument/2006/relationships" xmlns:a="http://schemas.openxmlformats.org/drawingml/2006/main" r:embed="R62c9d33ab1ea41eb"/>
          <a:srcRect xmlns:a="http://schemas.openxmlformats.org/drawingml/2006/main" l="0" t="0" r="0" b="0"/>
          <a:stretch xmlns:a="http://schemas.openxmlformats.org/drawingml/2006/main"/>
        </p:blipFill>
        <p:spPr>
          <a:xfrm xmlns:a="http://schemas.openxmlformats.org/drawingml/2006/main">
            <a:off x="195263" y="3433763"/>
            <a:ext cx="1743075" cy="1471613"/>
          </a:xfrm>
          <a:prstGeom xmlns:a="http://schemas.openxmlformats.org/drawingml/2006/main" prst="rect">
            <a:avLst/>
          </a:prstGeom>
        </p:spPr>
      </p:pic>
      <p:pic>
        <p:nvPicPr>
          <p:cNvPr id="5" name="Image 2">
            <a:extLst xmlns:a="http://schemas.openxmlformats.org/drawingml/2006/main">
              <a:ext uri="{FF2B5EF4-FFF2-40B4-BE49-F238E27FC236}">
                <a16:creationId xmlns:a16="http://schemas.microsoft.com/office/drawing/2014/main" id="{E8C6F88D-BB25-44CB-9B21-FF1F0DB22769}"/>
              </a:ext>
            </a:extLst>
          </p:cNvPr>
          <p:cNvPicPr>
            <a:picLocks xmlns:a="http://schemas.openxmlformats.org/drawingml/2006/main" noChangeAspect="1"/>
          </p:cNvPicPr>
          <p:nvPr/>
        </p:nvPicPr>
        <p:blipFill>
          <a:blip xmlns:r="http://schemas.openxmlformats.org/officeDocument/2006/relationships" xmlns:a="http://schemas.openxmlformats.org/drawingml/2006/main" r:embed="R82c02ffd6f014d49"/>
          <a:srcRect xmlns:a="http://schemas.openxmlformats.org/drawingml/2006/main" l="0" t="0" r="34671" b="36230"/>
          <a:stretch xmlns:a="http://schemas.openxmlformats.org/drawingml/2006/main"/>
        </p:blipFill>
        <p:spPr>
          <a:xfrm xmlns:a="http://schemas.openxmlformats.org/drawingml/2006/main">
            <a:off x="-1028700" y="3081338"/>
            <a:ext cx="1938337" cy="2062163"/>
          </a:xfrm>
          <a:prstGeom xmlns:a="http://schemas.openxmlformats.org/drawingml/2006/main" prst="rect">
            <a:avLst/>
          </a:prstGeom>
        </p:spPr>
      </p:pic>
      <p:pic>
        <p:nvPicPr>
          <p:cNvPr id="6" name="Image 3">
            <a:extLst xmlns:a="http://schemas.openxmlformats.org/drawingml/2006/main">
              <a:ext uri="{FF2B5EF4-FFF2-40B4-BE49-F238E27FC236}">
                <a16:creationId xmlns:a16="http://schemas.microsoft.com/office/drawing/2014/main" id="{AAE8C0AA-F38A-4F4E-8FDB-F95CC964E6B8}"/>
              </a:ext>
            </a:extLst>
          </p:cNvPr>
          <p:cNvPicPr>
            <a:picLocks xmlns:a="http://schemas.openxmlformats.org/drawingml/2006/main" noChangeAspect="1"/>
          </p:cNvPicPr>
          <p:nvPr/>
        </p:nvPicPr>
        <p:blipFill>
          <a:blip xmlns:r="http://schemas.openxmlformats.org/officeDocument/2006/relationships" xmlns:a="http://schemas.openxmlformats.org/drawingml/2006/main" r:embed="R19f10d9d168747ed"/>
          <a:srcRect xmlns:a="http://schemas.openxmlformats.org/drawingml/2006/main" l="0" t="0" r="0" b="5577"/>
          <a:stretch xmlns:a="http://schemas.openxmlformats.org/drawingml/2006/main"/>
        </p:blipFill>
        <p:spPr>
          <a:xfrm xmlns:a="http://schemas.openxmlformats.org/drawingml/2006/main">
            <a:off x="8315325" y="-204787"/>
            <a:ext cx="700088" cy="3467100"/>
          </a:xfrm>
          <a:prstGeom xmlns:a="http://schemas.openxmlformats.org/drawingml/2006/main" prst="rect">
            <a:avLst/>
          </a:prstGeom>
        </p:spPr>
      </p:pic>
      <p:pic>
        <p:nvPicPr>
          <p:cNvPr id="7" name="Image 4">
            <a:extLst xmlns:a="http://schemas.openxmlformats.org/drawingml/2006/main">
              <a:ext uri="{FF2B5EF4-FFF2-40B4-BE49-F238E27FC236}">
                <a16:creationId xmlns:a16="http://schemas.microsoft.com/office/drawing/2014/main" id="{9817411A-64FE-47B2-9B8A-06E8E3DA2656}"/>
              </a:ext>
            </a:extLst>
          </p:cNvPr>
          <p:cNvPicPr>
            <a:picLocks xmlns:a="http://schemas.openxmlformats.org/drawingml/2006/main" noChangeAspect="1"/>
          </p:cNvPicPr>
          <p:nvPr/>
        </p:nvPicPr>
        <p:blipFill>
          <a:blip xmlns:r="http://schemas.openxmlformats.org/officeDocument/2006/relationships" xmlns:a="http://schemas.openxmlformats.org/drawingml/2006/main" r:embed="Re6fc60579b074c75"/>
          <a:srcRect xmlns:a="http://schemas.openxmlformats.org/drawingml/2006/main" l="0" t="0" r="13210" b="10224"/>
          <a:stretch xmlns:a="http://schemas.openxmlformats.org/drawingml/2006/main"/>
        </p:blipFill>
        <p:spPr>
          <a:xfrm xmlns:a="http://schemas.openxmlformats.org/drawingml/2006/main">
            <a:off x="6234113" y="-295275"/>
            <a:ext cx="2909888" cy="5143500"/>
          </a:xfrm>
          <a:prstGeom xmlns:a="http://schemas.openxmlformats.org/drawingml/2006/main" prst="rect">
            <a:avLst/>
          </a:prstGeom>
        </p:spPr>
      </p:pic>
      <p:pic>
        <p:nvPicPr>
          <p:cNvPr id="8" name="Image 5">
            <a:extLst xmlns:a="http://schemas.openxmlformats.org/drawingml/2006/main">
              <a:ext uri="{FF2B5EF4-FFF2-40B4-BE49-F238E27FC236}">
                <a16:creationId xmlns:a16="http://schemas.microsoft.com/office/drawing/2014/main" id="{B9815A1F-C4A6-465F-869C-533747D865A1}"/>
              </a:ext>
            </a:extLst>
          </p:cNvPr>
          <p:cNvPicPr>
            <a:picLocks xmlns:a="http://schemas.openxmlformats.org/drawingml/2006/main" noChangeAspect="1"/>
          </p:cNvPicPr>
          <p:nvPr/>
        </p:nvPicPr>
        <p:blipFill>
          <a:blip xmlns:r="http://schemas.openxmlformats.org/officeDocument/2006/relationships" xmlns:a="http://schemas.openxmlformats.org/drawingml/2006/main" r:embed="Rd2fdbd83c581429a"/>
          <a:srcRect xmlns:a="http://schemas.openxmlformats.org/drawingml/2006/main" l="0" t="0" r="0" b="0"/>
          <a:stretch xmlns:a="http://schemas.openxmlformats.org/drawingml/2006/main"/>
        </p:blipFill>
        <p:spPr>
          <a:xfrm xmlns:a="http://schemas.openxmlformats.org/drawingml/2006/main">
            <a:off x="5529263" y="3867150"/>
            <a:ext cx="342900" cy="338138"/>
          </a:xfrm>
          <a:prstGeom xmlns:a="http://schemas.openxmlformats.org/drawingml/2006/main" prst="rect">
            <a:avLst/>
          </a:prstGeom>
        </p:spPr>
      </p:pic>
      <p:pic>
        <p:nvPicPr>
          <p:cNvPr id="9" name="Image 6">
            <a:extLst xmlns:a="http://schemas.openxmlformats.org/drawingml/2006/main">
              <a:ext uri="{FF2B5EF4-FFF2-40B4-BE49-F238E27FC236}">
                <a16:creationId xmlns:a16="http://schemas.microsoft.com/office/drawing/2014/main" id="{D7E5F71E-87C6-40C3-AA8E-BFB10E08F8F2}"/>
              </a:ext>
            </a:extLst>
          </p:cNvPr>
          <p:cNvPicPr>
            <a:picLocks xmlns:a="http://schemas.openxmlformats.org/drawingml/2006/main" noChangeAspect="1"/>
          </p:cNvPicPr>
          <p:nvPr/>
        </p:nvPicPr>
        <p:blipFill>
          <a:blip xmlns:r="http://schemas.openxmlformats.org/officeDocument/2006/relationships" xmlns:a="http://schemas.openxmlformats.org/drawingml/2006/main" r:embed="R119b7f9c64ba4c53"/>
          <a:srcRect xmlns:a="http://schemas.openxmlformats.org/drawingml/2006/main" l="0" t="0" r="0" b="0"/>
          <a:stretch xmlns:a="http://schemas.openxmlformats.org/drawingml/2006/main"/>
        </p:blipFill>
        <p:spPr>
          <a:xfrm xmlns:a="http://schemas.openxmlformats.org/drawingml/2006/main">
            <a:off x="6086475" y="1100138"/>
            <a:ext cx="237545" cy="234429"/>
          </a:xfrm>
          <a:prstGeom xmlns:a="http://schemas.openxmlformats.org/drawingml/2006/main" prst="rect">
            <a:avLst/>
          </a:prstGeom>
        </p:spPr>
      </p:pic>
      <p:pic>
        <p:nvPicPr>
          <p:cNvPr id="10" name="Image 7">
            <a:extLst xmlns:a="http://schemas.openxmlformats.org/drawingml/2006/main">
              <a:ext uri="{FF2B5EF4-FFF2-40B4-BE49-F238E27FC236}">
                <a16:creationId xmlns:a16="http://schemas.microsoft.com/office/drawing/2014/main" id="{A3D71392-F55B-444B-ADE2-BBA178A235BC}"/>
              </a:ext>
            </a:extLst>
          </p:cNvPr>
          <p:cNvPicPr>
            <a:picLocks xmlns:a="http://schemas.openxmlformats.org/drawingml/2006/main" noChangeAspect="1"/>
          </p:cNvPicPr>
          <p:nvPr/>
        </p:nvPicPr>
        <p:blipFill>
          <a:blip xmlns:r="http://schemas.openxmlformats.org/officeDocument/2006/relationships" xmlns:a="http://schemas.openxmlformats.org/drawingml/2006/main" r:embed="Rd2fdbd83c581429a"/>
          <a:srcRect xmlns:a="http://schemas.openxmlformats.org/drawingml/2006/main" l="0" t="0" r="0" b="0"/>
          <a:stretch xmlns:a="http://schemas.openxmlformats.org/drawingml/2006/main"/>
        </p:blipFill>
        <p:spPr>
          <a:xfrm xmlns:a="http://schemas.openxmlformats.org/drawingml/2006/main">
            <a:off x="6753225" y="2781300"/>
            <a:ext cx="342900" cy="338138"/>
          </a:xfrm>
          <a:prstGeom xmlns:a="http://schemas.openxmlformats.org/drawingml/2006/main" prst="rect">
            <a:avLst/>
          </a:prstGeom>
        </p:spPr>
      </p:pic>
      <p:pic>
        <p:nvPicPr>
          <p:cNvPr id="11" name="Image 8">
            <a:extLst xmlns:a="http://schemas.openxmlformats.org/drawingml/2006/main">
              <a:ext uri="{FF2B5EF4-FFF2-40B4-BE49-F238E27FC236}">
                <a16:creationId xmlns:a16="http://schemas.microsoft.com/office/drawing/2014/main" id="{27639504-7DA2-4666-82C1-40BEB4833AF4}"/>
              </a:ext>
            </a:extLst>
          </p:cNvPr>
          <p:cNvPicPr>
            <a:picLocks xmlns:a="http://schemas.openxmlformats.org/drawingml/2006/main" noChangeAspect="1"/>
          </p:cNvPicPr>
          <p:nvPr/>
        </p:nvPicPr>
        <p:blipFill>
          <a:blip xmlns:r="http://schemas.openxmlformats.org/officeDocument/2006/relationships" xmlns:a="http://schemas.openxmlformats.org/drawingml/2006/main" r:embed="R84274d6d750c4ef2"/>
          <a:srcRect xmlns:a="http://schemas.openxmlformats.org/drawingml/2006/main" l="0" t="0" r="0" b="0"/>
          <a:stretch xmlns:a="http://schemas.openxmlformats.org/drawingml/2006/main"/>
        </p:blipFill>
        <p:spPr>
          <a:xfrm xmlns:a="http://schemas.openxmlformats.org/drawingml/2006/main">
            <a:off x="5334000" y="452438"/>
            <a:ext cx="195263" cy="190500"/>
          </a:xfrm>
          <a:prstGeom xmlns:a="http://schemas.openxmlformats.org/drawingml/2006/main" prst="rect">
            <a:avLst/>
          </a:prstGeom>
        </p:spPr>
      </p:pic>
      <p:pic>
        <p:nvPicPr>
          <p:cNvPr id="12" name="Image 9">
            <a:extLst xmlns:a="http://schemas.openxmlformats.org/drawingml/2006/main">
              <a:ext uri="{FF2B5EF4-FFF2-40B4-BE49-F238E27FC236}">
                <a16:creationId xmlns:a16="http://schemas.microsoft.com/office/drawing/2014/main" id="{AA5B4393-32BE-4FE2-98BB-84226513951C}"/>
              </a:ext>
            </a:extLst>
          </p:cNvPr>
          <p:cNvPicPr>
            <a:picLocks xmlns:a="http://schemas.openxmlformats.org/drawingml/2006/main" noChangeAspect="1"/>
          </p:cNvPicPr>
          <p:nvPr/>
        </p:nvPicPr>
        <p:blipFill>
          <a:blip xmlns:r="http://schemas.openxmlformats.org/officeDocument/2006/relationships" xmlns:a="http://schemas.openxmlformats.org/drawingml/2006/main" r:embed="R4caaa2b1730344f2"/>
          <a:srcRect xmlns:a="http://schemas.openxmlformats.org/drawingml/2006/main" l="0" t="0" r="0" b="0"/>
          <a:stretch xmlns:a="http://schemas.openxmlformats.org/drawingml/2006/main"/>
        </p:blipFill>
        <p:spPr>
          <a:xfrm xmlns:a="http://schemas.openxmlformats.org/drawingml/2006/main">
            <a:off x="8191500" y="3695700"/>
            <a:ext cx="342900" cy="338138"/>
          </a:xfrm>
          <a:prstGeom xmlns:a="http://schemas.openxmlformats.org/drawingml/2006/main" prst="rect">
            <a:avLst/>
          </a:prstGeom>
        </p:spPr>
      </p:pic>
      <p:pic>
        <p:nvPicPr>
          <p:cNvPr id="13" name="Image 10">
            <a:extLst xmlns:a="http://schemas.openxmlformats.org/drawingml/2006/main">
              <a:ext uri="{FF2B5EF4-FFF2-40B4-BE49-F238E27FC236}">
                <a16:creationId xmlns:a16="http://schemas.microsoft.com/office/drawing/2014/main" id="{67DA5010-F372-42F2-924F-62F56764A54D}"/>
              </a:ext>
            </a:extLst>
          </p:cNvPr>
          <p:cNvPicPr>
            <a:picLocks xmlns:a="http://schemas.openxmlformats.org/drawingml/2006/main" noChangeAspect="1"/>
          </p:cNvPicPr>
          <p:nvPr/>
        </p:nvPicPr>
        <p:blipFill>
          <a:blip xmlns:r="http://schemas.openxmlformats.org/officeDocument/2006/relationships" xmlns:a="http://schemas.openxmlformats.org/drawingml/2006/main" r:embed="Rbd4c2adb68b24cc6"/>
          <a:srcRect xmlns:a="http://schemas.openxmlformats.org/drawingml/2006/main" l="0" t="0" r="0" b="0"/>
          <a:stretch xmlns:a="http://schemas.openxmlformats.org/drawingml/2006/main"/>
        </p:blipFill>
        <p:spPr>
          <a:xfrm xmlns:a="http://schemas.openxmlformats.org/drawingml/2006/main">
            <a:off x="8723283" y="2395451"/>
            <a:ext cx="237544" cy="234429"/>
          </a:xfrm>
          <a:prstGeom xmlns:a="http://schemas.openxmlformats.org/drawingml/2006/main" prst="rect">
            <a:avLst/>
          </a:prstGeom>
        </p:spPr>
      </p:pic>
      <p:pic>
        <p:nvPicPr>
          <p:cNvPr id="14" name="Image 11">
            <a:extLst xmlns:a="http://schemas.openxmlformats.org/drawingml/2006/main">
              <a:ext uri="{FF2B5EF4-FFF2-40B4-BE49-F238E27FC236}">
                <a16:creationId xmlns:a16="http://schemas.microsoft.com/office/drawing/2014/main" id="{A06E59CE-FEE5-48DA-9260-EEBC700DDB3D}"/>
              </a:ext>
            </a:extLst>
          </p:cNvPr>
          <p:cNvPicPr>
            <a:picLocks xmlns:a="http://schemas.openxmlformats.org/drawingml/2006/main" noChangeAspect="1"/>
          </p:cNvPicPr>
          <p:nvPr/>
        </p:nvPicPr>
        <p:blipFill>
          <a:blip xmlns:r="http://schemas.openxmlformats.org/officeDocument/2006/relationships" xmlns:a="http://schemas.openxmlformats.org/drawingml/2006/main" r:embed="R35a674eb2da7400a"/>
          <a:srcRect xmlns:a="http://schemas.openxmlformats.org/drawingml/2006/main" l="0" t="0" r="0" b="0"/>
          <a:stretch xmlns:a="http://schemas.openxmlformats.org/drawingml/2006/main"/>
        </p:blipFill>
        <p:spPr>
          <a:xfrm xmlns:a="http://schemas.openxmlformats.org/drawingml/2006/main">
            <a:off x="8001000" y="1347788"/>
            <a:ext cx="195263" cy="190500"/>
          </a:xfrm>
          <a:prstGeom xmlns:a="http://schemas.openxmlformats.org/drawingml/2006/main" prst="rect">
            <a:avLst/>
          </a:prstGeom>
        </p:spPr>
      </p:pic>
      <p:pic>
        <p:nvPicPr>
          <p:cNvPr id="15" name="Image 12">
            <a:extLst xmlns:a="http://schemas.openxmlformats.org/drawingml/2006/main">
              <a:ext uri="{FF2B5EF4-FFF2-40B4-BE49-F238E27FC236}">
                <a16:creationId xmlns:a16="http://schemas.microsoft.com/office/drawing/2014/main" id="{281198C6-A1CC-41E1-A7BD-4BE38984F546}"/>
              </a:ext>
            </a:extLst>
          </p:cNvPr>
          <p:cNvPicPr>
            <a:picLocks xmlns:a="http://schemas.openxmlformats.org/drawingml/2006/main" noChangeAspect="1"/>
          </p:cNvPicPr>
          <p:nvPr/>
        </p:nvPicPr>
        <p:blipFill>
          <a:blip xmlns:r="http://schemas.openxmlformats.org/officeDocument/2006/relationships" xmlns:a="http://schemas.openxmlformats.org/drawingml/2006/main" r:embed="R91a7b459301d4ead"/>
          <a:srcRect xmlns:a="http://schemas.openxmlformats.org/drawingml/2006/main" l="0" t="0" r="0" b="0"/>
          <a:stretch xmlns:a="http://schemas.openxmlformats.org/drawingml/2006/main"/>
        </p:blipFill>
        <p:spPr>
          <a:xfrm xmlns:a="http://schemas.openxmlformats.org/drawingml/2006/main">
            <a:off x="609599" y="451329"/>
            <a:ext cx="456576" cy="458674"/>
          </a:xfrm>
          <a:prstGeom xmlns:a="http://schemas.openxmlformats.org/drawingml/2006/main" prst="rect">
            <a:avLst/>
          </a:prstGeom>
        </p:spPr>
      </p:pic>
      <p:pic>
        <p:nvPicPr>
          <p:cNvPr id="16" name="Image 13">
            <a:extLst xmlns:a="http://schemas.openxmlformats.org/drawingml/2006/main">
              <a:ext uri="{FF2B5EF4-FFF2-40B4-BE49-F238E27FC236}">
                <a16:creationId xmlns:a16="http://schemas.microsoft.com/office/drawing/2014/main" id="{2FC40D23-A64D-43EA-85B0-7A9430E1750E}"/>
              </a:ext>
            </a:extLst>
          </p:cNvPr>
          <p:cNvPicPr>
            <a:picLocks xmlns:a="http://schemas.openxmlformats.org/drawingml/2006/main" noChangeAspect="1"/>
          </p:cNvPicPr>
          <p:nvPr/>
        </p:nvPicPr>
        <p:blipFill>
          <a:blip xmlns:r="http://schemas.openxmlformats.org/officeDocument/2006/relationships" xmlns:a="http://schemas.openxmlformats.org/drawingml/2006/main" r:embed="R90a2a6a8dc44409e"/>
          <a:srcRect xmlns:a="http://schemas.openxmlformats.org/drawingml/2006/main" l="0" t="0" r="0" b="0"/>
          <a:stretch xmlns:a="http://schemas.openxmlformats.org/drawingml/2006/main"/>
        </p:blipFill>
        <p:spPr>
          <a:xfrm xmlns:a="http://schemas.openxmlformats.org/drawingml/2006/main">
            <a:off x="1187573" y="644917"/>
            <a:ext cx="304629" cy="306165"/>
          </a:xfrm>
          <a:prstGeom xmlns:a="http://schemas.openxmlformats.org/drawingml/2006/main" prst="rect">
            <a:avLst/>
          </a:prstGeom>
        </p:spPr>
      </p:pic>
      <p:pic>
        <p:nvPicPr>
          <p:cNvPr id="17" name="Image 14">
            <a:extLst xmlns:a="http://schemas.openxmlformats.org/drawingml/2006/main">
              <a:ext uri="{FF2B5EF4-FFF2-40B4-BE49-F238E27FC236}">
                <a16:creationId xmlns:a16="http://schemas.microsoft.com/office/drawing/2014/main" id="{E55BB103-98E3-432B-AF47-19BC08FEF3F2}"/>
              </a:ext>
            </a:extLst>
          </p:cNvPr>
          <p:cNvPicPr>
            <a:picLocks xmlns:a="http://schemas.openxmlformats.org/drawingml/2006/main" noChangeAspect="1"/>
          </p:cNvPicPr>
          <p:nvPr/>
        </p:nvPicPr>
        <p:blipFill>
          <a:blip xmlns:r="http://schemas.openxmlformats.org/officeDocument/2006/relationships" xmlns:a="http://schemas.openxmlformats.org/drawingml/2006/main" r:embed="R747467dcc84a483d"/>
          <a:srcRect xmlns:a="http://schemas.openxmlformats.org/drawingml/2006/main" l="0" t="0" r="0" b="0"/>
          <a:stretch xmlns:a="http://schemas.openxmlformats.org/drawingml/2006/main"/>
        </p:blipFill>
        <p:spPr>
          <a:xfrm xmlns:a="http://schemas.openxmlformats.org/drawingml/2006/main">
            <a:off x="809625" y="1219200"/>
            <a:ext cx="258166" cy="260263"/>
          </a:xfrm>
          <a:prstGeom xmlns:a="http://schemas.openxmlformats.org/drawingml/2006/main" prst="rect">
            <a:avLst/>
          </a:prstGeom>
        </p:spPr>
      </p:pic>
      <p:pic>
        <p:nvPicPr>
          <p:cNvPr id="18" name="Image 15">
            <a:extLst xmlns:a="http://schemas.openxmlformats.org/drawingml/2006/main">
              <a:ext uri="{FF2B5EF4-FFF2-40B4-BE49-F238E27FC236}">
                <a16:creationId xmlns:a16="http://schemas.microsoft.com/office/drawing/2014/main" id="{55893D49-8D31-4A94-92C0-982C4F67E686}"/>
              </a:ext>
            </a:extLst>
          </p:cNvPr>
          <p:cNvPicPr>
            <a:picLocks xmlns:a="http://schemas.openxmlformats.org/drawingml/2006/main" noChangeAspect="1"/>
          </p:cNvPicPr>
          <p:nvPr/>
        </p:nvPicPr>
        <p:blipFill>
          <a:blip xmlns:r="http://schemas.openxmlformats.org/officeDocument/2006/relationships" xmlns:a="http://schemas.openxmlformats.org/drawingml/2006/main" r:embed="R91a7b459301d4ead"/>
          <a:srcRect xmlns:a="http://schemas.openxmlformats.org/drawingml/2006/main" l="0" t="0" r="0" b="0"/>
          <a:stretch xmlns:a="http://schemas.openxmlformats.org/drawingml/2006/main"/>
        </p:blipFill>
        <p:spPr>
          <a:xfrm xmlns:a="http://schemas.openxmlformats.org/drawingml/2006/main">
            <a:off x="1323974" y="3562350"/>
            <a:ext cx="456576" cy="458674"/>
          </a:xfrm>
          <a:prstGeom xmlns:a="http://schemas.openxmlformats.org/drawingml/2006/main" prst="rect">
            <a:avLst/>
          </a:prstGeom>
        </p:spPr>
      </p:pic>
      <p:pic>
        <p:nvPicPr>
          <p:cNvPr id="19" name="Image 16">
            <a:extLst xmlns:a="http://schemas.openxmlformats.org/drawingml/2006/main">
              <a:ext uri="{FF2B5EF4-FFF2-40B4-BE49-F238E27FC236}">
                <a16:creationId xmlns:a16="http://schemas.microsoft.com/office/drawing/2014/main" id="{2B835415-DBD4-4165-A09E-FD53E6029D29}"/>
              </a:ext>
            </a:extLst>
          </p:cNvPr>
          <p:cNvPicPr>
            <a:picLocks xmlns:a="http://schemas.openxmlformats.org/drawingml/2006/main" noChangeAspect="1"/>
          </p:cNvPicPr>
          <p:nvPr/>
        </p:nvPicPr>
        <p:blipFill>
          <a:blip xmlns:r="http://schemas.openxmlformats.org/officeDocument/2006/relationships" xmlns:a="http://schemas.openxmlformats.org/drawingml/2006/main" r:embed="R90a2a6a8dc44409e"/>
          <a:srcRect xmlns:a="http://schemas.openxmlformats.org/drawingml/2006/main" l="0" t="0" r="0" b="0"/>
          <a:stretch xmlns:a="http://schemas.openxmlformats.org/drawingml/2006/main"/>
        </p:blipFill>
        <p:spPr>
          <a:xfrm xmlns:a="http://schemas.openxmlformats.org/drawingml/2006/main">
            <a:off x="2678236" y="3865476"/>
            <a:ext cx="304629" cy="306165"/>
          </a:xfrm>
          <a:prstGeom xmlns:a="http://schemas.openxmlformats.org/drawingml/2006/main" prst="rect">
            <a:avLst/>
          </a:prstGeom>
        </p:spPr>
      </p:pic>
      <p:pic>
        <p:nvPicPr>
          <p:cNvPr id="20" name="Image 17">
            <a:extLst xmlns:a="http://schemas.openxmlformats.org/drawingml/2006/main">
              <a:ext uri="{FF2B5EF4-FFF2-40B4-BE49-F238E27FC236}">
                <a16:creationId xmlns:a16="http://schemas.microsoft.com/office/drawing/2014/main" id="{46641EE9-490A-4C26-A787-AA16DD14A5DF}"/>
              </a:ext>
            </a:extLst>
          </p:cNvPr>
          <p:cNvPicPr>
            <a:picLocks xmlns:a="http://schemas.openxmlformats.org/drawingml/2006/main" noChangeAspect="1"/>
          </p:cNvPicPr>
          <p:nvPr/>
        </p:nvPicPr>
        <p:blipFill>
          <a:blip xmlns:r="http://schemas.openxmlformats.org/officeDocument/2006/relationships" xmlns:a="http://schemas.openxmlformats.org/drawingml/2006/main" r:embed="Rab629818735c4c6b"/>
          <a:srcRect xmlns:a="http://schemas.openxmlformats.org/drawingml/2006/main" l="0" t="0" r="0" b="12194"/>
          <a:stretch xmlns:a="http://schemas.openxmlformats.org/drawingml/2006/main"/>
        </p:blipFill>
        <p:spPr>
          <a:xfrm xmlns:a="http://schemas.openxmlformats.org/drawingml/2006/main">
            <a:off x="6748463" y="4595813"/>
            <a:ext cx="607244" cy="547688"/>
          </a:xfrm>
          <a:prstGeom xmlns:a="http://schemas.openxmlformats.org/drawingml/2006/main" prst="rect">
            <a:avLst/>
          </a:prstGeom>
        </p:spPr>
      </p:pic>
      <p:pic>
        <p:nvPicPr>
          <p:cNvPr id="21" name="Image 18">
            <a:extLst xmlns:a="http://schemas.openxmlformats.org/drawingml/2006/main">
              <a:ext uri="{FF2B5EF4-FFF2-40B4-BE49-F238E27FC236}">
                <a16:creationId xmlns:a16="http://schemas.microsoft.com/office/drawing/2014/main" id="{6B21F69B-5131-4D3E-8506-640D3E87D176}"/>
              </a:ext>
            </a:extLst>
          </p:cNvPr>
          <p:cNvPicPr>
            <a:picLocks xmlns:a="http://schemas.openxmlformats.org/drawingml/2006/main" noChangeAspect="1"/>
          </p:cNvPicPr>
          <p:nvPr/>
        </p:nvPicPr>
        <p:blipFill>
          <a:blip xmlns:r="http://schemas.openxmlformats.org/officeDocument/2006/relationships" xmlns:a="http://schemas.openxmlformats.org/drawingml/2006/main" r:embed="Rbc359d234db4409f"/>
          <a:srcRect xmlns:a="http://schemas.openxmlformats.org/drawingml/2006/main" l="0" t="0" r="0" b="0"/>
          <a:stretch xmlns:a="http://schemas.openxmlformats.org/drawingml/2006/main"/>
        </p:blipFill>
        <p:spPr>
          <a:xfrm xmlns:a="http://schemas.openxmlformats.org/drawingml/2006/main">
            <a:off x="8577262" y="3290888"/>
            <a:ext cx="463253" cy="499238"/>
          </a:xfrm>
          <a:prstGeom xmlns:a="http://schemas.openxmlformats.org/drawingml/2006/main" prst="rect">
            <a:avLst/>
          </a:prstGeom>
        </p:spPr>
      </p:pic>
      <p:pic>
        <p:nvPicPr>
          <p:cNvPr id="22" name="Image 19">
            <a:extLst xmlns:a="http://schemas.openxmlformats.org/drawingml/2006/main">
              <a:ext uri="{FF2B5EF4-FFF2-40B4-BE49-F238E27FC236}">
                <a16:creationId xmlns:a16="http://schemas.microsoft.com/office/drawing/2014/main" id="{2BC63F83-C2FC-45BF-B490-7BFF17597513}"/>
              </a:ext>
            </a:extLst>
          </p:cNvPr>
          <p:cNvPicPr>
            <a:picLocks xmlns:a="http://schemas.openxmlformats.org/drawingml/2006/main" noChangeAspect="1"/>
          </p:cNvPicPr>
          <p:nvPr/>
        </p:nvPicPr>
        <p:blipFill>
          <a:blip xmlns:r="http://schemas.openxmlformats.org/officeDocument/2006/relationships" xmlns:a="http://schemas.openxmlformats.org/drawingml/2006/main" r:embed="R747467dcc84a483d"/>
          <a:srcRect xmlns:a="http://schemas.openxmlformats.org/drawingml/2006/main" l="0" t="0" r="0" b="0"/>
          <a:stretch xmlns:a="http://schemas.openxmlformats.org/drawingml/2006/main"/>
        </p:blipFill>
        <p:spPr>
          <a:xfrm xmlns:a="http://schemas.openxmlformats.org/drawingml/2006/main">
            <a:off x="2300287" y="4439759"/>
            <a:ext cx="258166" cy="260263"/>
          </a:xfrm>
          <a:prstGeom xmlns:a="http://schemas.openxmlformats.org/drawingml/2006/main" prst="rect">
            <a:avLst/>
          </a:prstGeom>
        </p:spPr>
      </p:pic>
      <p:pic>
        <p:nvPicPr>
          <p:cNvPr id="23" name="Image 20">
            <a:extLst xmlns:a="http://schemas.openxmlformats.org/drawingml/2006/main">
              <a:ext uri="{FF2B5EF4-FFF2-40B4-BE49-F238E27FC236}">
                <a16:creationId xmlns:a16="http://schemas.microsoft.com/office/drawing/2014/main" id="{FE3D9E49-A0E6-49EB-A632-BA01AC06A511}"/>
              </a:ext>
            </a:extLst>
          </p:cNvPr>
          <p:cNvPicPr>
            <a:picLocks xmlns:a="http://schemas.openxmlformats.org/drawingml/2006/main" noChangeAspect="1"/>
          </p:cNvPicPr>
          <p:nvPr/>
        </p:nvPicPr>
        <p:blipFill>
          <a:blip xmlns:r="http://schemas.openxmlformats.org/officeDocument/2006/relationships" xmlns:a="http://schemas.openxmlformats.org/drawingml/2006/main" r:embed="R3982201a82bc4243"/>
          <a:srcRect xmlns:a="http://schemas.openxmlformats.org/drawingml/2006/main" l="0" t="0" r="21117" b="32066"/>
          <a:stretch xmlns:a="http://schemas.openxmlformats.org/drawingml/2006/main"/>
        </p:blipFill>
        <p:spPr>
          <a:xfrm xmlns:a="http://schemas.openxmlformats.org/drawingml/2006/main">
            <a:off x="6662738" y="2762250"/>
            <a:ext cx="2481263" cy="2381250"/>
          </a:xfrm>
          <a:prstGeom xmlns:a="http://schemas.openxmlformats.org/drawingml/2006/main" prst="rect">
            <a:avLst/>
          </a:prstGeom>
        </p:spPr>
      </p:pic>
      <p:pic>
        <p:nvPicPr>
          <p:cNvPr id="24" name="Image 21">
            <a:extLst xmlns:a="http://schemas.openxmlformats.org/drawingml/2006/main">
              <a:ext uri="{FF2B5EF4-FFF2-40B4-BE49-F238E27FC236}">
                <a16:creationId xmlns:a16="http://schemas.microsoft.com/office/drawing/2014/main" id="{BF5B49E5-648A-42EA-B717-EE09CAD49E5B}"/>
              </a:ext>
            </a:extLst>
          </p:cNvPr>
          <p:cNvPicPr>
            <a:picLocks xmlns:a="http://schemas.openxmlformats.org/drawingml/2006/main" noChangeAspect="1"/>
          </p:cNvPicPr>
          <p:nvPr/>
        </p:nvPicPr>
        <p:blipFill>
          <a:blip xmlns:r="http://schemas.openxmlformats.org/officeDocument/2006/relationships" xmlns:a="http://schemas.openxmlformats.org/drawingml/2006/main" r:embed="Reca976ddab5b413d"/>
          <a:srcRect xmlns:a="http://schemas.openxmlformats.org/drawingml/2006/main" l="0" t="0" r="0" b="15812"/>
          <a:stretch xmlns:a="http://schemas.openxmlformats.org/drawingml/2006/main"/>
        </p:blipFill>
        <p:spPr>
          <a:xfrm xmlns:a="http://schemas.openxmlformats.org/drawingml/2006/main">
            <a:off x="7191375" y="4205288"/>
            <a:ext cx="1123950" cy="938213"/>
          </a:xfrm>
          <a:prstGeom xmlns:a="http://schemas.openxmlformats.org/drawingml/2006/main" prst="rect">
            <a:avLst/>
          </a:prstGeom>
        </p:spPr>
      </p:pic>
      <p:pic>
        <p:nvPicPr>
          <p:cNvPr id="25" name="Image 22">
            <a:extLst xmlns:a="http://schemas.openxmlformats.org/drawingml/2006/main">
              <a:ext uri="{FF2B5EF4-FFF2-40B4-BE49-F238E27FC236}">
                <a16:creationId xmlns:a16="http://schemas.microsoft.com/office/drawing/2014/main" id="{65685F94-13E9-47D2-AB63-1308E0021D1A}"/>
              </a:ext>
            </a:extLst>
          </p:cNvPr>
          <p:cNvPicPr>
            <a:picLocks xmlns:a="http://schemas.openxmlformats.org/drawingml/2006/main" noChangeAspect="1"/>
          </p:cNvPicPr>
          <p:nvPr/>
        </p:nvPicPr>
        <p:blipFill>
          <a:blip xmlns:r="http://schemas.openxmlformats.org/officeDocument/2006/relationships" xmlns:a="http://schemas.openxmlformats.org/drawingml/2006/main" r:embed="R40c6c1b0c69a4857"/>
          <a:srcRect xmlns:a="http://schemas.openxmlformats.org/drawingml/2006/main" l="0" t="0" r="0" b="0"/>
          <a:stretch xmlns:a="http://schemas.openxmlformats.org/drawingml/2006/main"/>
        </p:blipFill>
        <p:spPr>
          <a:xfrm xmlns:a="http://schemas.openxmlformats.org/drawingml/2006/main">
            <a:off x="3338513" y="1552575"/>
            <a:ext cx="2286000" cy="2314575"/>
          </a:xfrm>
          <a:prstGeom xmlns:a="http://schemas.openxmlformats.org/drawingml/2006/main" prst="rect">
            <a:avLst/>
          </a:prstGeom>
        </p:spPr>
      </p:pic>
      <p:sp>
        <p:nvSpPr>
          <p:cNvPr id="26" name="Text 0">
            <a:extLst xmlns:a="http://schemas.openxmlformats.org/drawingml/2006/main">
              <a:ext uri="{FF2B5EF4-FFF2-40B4-BE49-F238E27FC236}">
                <a16:creationId xmlns:a16="http://schemas.microsoft.com/office/drawing/2014/main" id="{7F04E049-6000-447D-9973-D125BCCD8A60}"/>
              </a:ext>
            </a:extLst>
          </p:cNvPr>
          <p:cNvSpPr>
            <a:spLocks xmlns:a="http://schemas.openxmlformats.org/drawingml/2006/main" noGrp="1"/>
          </p:cNvSpPr>
          <p:nvPr/>
        </p:nvSpPr>
        <p:spPr>
          <a:xfrm xmlns:a="http://schemas.openxmlformats.org/drawingml/2006/main">
            <a:off x="3481388" y="785813"/>
            <a:ext cx="2324100" cy="5476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ts val="4104"/>
              </a:lnSpc>
              <a:buNone/>
            </a:pPr>
            <a:r>
              <a:rPr sz="3420" b="1" spc="-68">
                <a:solidFill>
                  <a:srgbClr val="FFFFFF">
                    <a:alpha val="99000"/>
                  </a:srgbClr>
                </a:solidFill>
                <a:latin typeface="Inter"/>
                <a:ea typeface="Inter"/>
                <a:cs typeface="Inter"/>
              </a:rPr>
              <a:t>Install now</a:t>
            </a:r>
            <a:endParaRPr sz="3420"/>
          </a:p>
        </p:txBody>
      </p:sp>
      <p:sp>
        <p:nvSpPr>
          <p:cNvPr id="27" name="Text 1">
            <a:extLst xmlns:a="http://schemas.openxmlformats.org/drawingml/2006/main">
              <a:ext uri="{FF2B5EF4-FFF2-40B4-BE49-F238E27FC236}">
                <a16:creationId xmlns:a16="http://schemas.microsoft.com/office/drawing/2014/main" id="{347781F6-DD3E-49B9-88F3-AAA17E41573F}"/>
              </a:ext>
            </a:extLst>
          </p:cNvPr>
          <p:cNvSpPr>
            <a:spLocks xmlns:a="http://schemas.openxmlformats.org/drawingml/2006/main" noGrp="1"/>
          </p:cNvSpPr>
          <p:nvPr/>
        </p:nvSpPr>
        <p:spPr>
          <a:xfrm xmlns:a="http://schemas.openxmlformats.org/drawingml/2006/main">
            <a:off x="8310562" y="4862513"/>
            <a:ext cx="619125" cy="1428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69"/>
              </a:lnSpc>
              <a:buNone/>
            </a:pPr>
            <a:r>
              <a:rPr sz="855">
                <a:solidFill>
                  <a:srgbClr val="BAD9CF">
                    <a:alpha val="99000"/>
                  </a:srgbClr>
                </a:solidFill>
                <a:latin typeface="Inter"/>
                <a:ea typeface="Inter"/>
                <a:cs typeface="Inter"/>
              </a:rPr>
              <a:t>02 / 29</a:t>
            </a:r>
            <a:endParaRPr sz="855"/>
          </a:p>
        </p:txBody>
      </p:sp>
      <p:pic>
        <p:nvPicPr>
          <p:cNvPr id="28" name="Image 23">
            <a:extLst xmlns:a="http://schemas.openxmlformats.org/drawingml/2006/main">
              <a:ext uri="{FF2B5EF4-FFF2-40B4-BE49-F238E27FC236}">
                <a16:creationId xmlns:a16="http://schemas.microsoft.com/office/drawing/2014/main" id="{6F156DA4-A5BA-4F20-A940-82D4D8590A31}"/>
              </a:ext>
            </a:extLst>
          </p:cNvPr>
          <p:cNvPicPr>
            <a:picLocks xmlns:a="http://schemas.openxmlformats.org/drawingml/2006/main" noChangeAspect="1"/>
          </p:cNvPicPr>
          <p:nvPr/>
        </p:nvPicPr>
        <p:blipFill>
          <a:blip xmlns:r="http://schemas.openxmlformats.org/officeDocument/2006/relationships" xmlns:a="http://schemas.openxmlformats.org/drawingml/2006/main" r:embed="Rff9c4194b2494334"/>
          <a:srcRect xmlns:a="http://schemas.openxmlformats.org/drawingml/2006/main" l="0" t="0" r="0" b="0"/>
          <a:stretch xmlns:a="http://schemas.openxmlformats.org/drawingml/2006/main"/>
        </p:blipFill>
        <p:spPr>
          <a:xfrm xmlns:a="http://schemas.openxmlformats.org/drawingml/2006/main">
            <a:off x="5886450" y="2052637"/>
            <a:ext cx="2333625" cy="1309688"/>
          </a:xfrm>
          <a:prstGeom xmlns:a="http://schemas.openxmlformats.org/drawingml/2006/main" prst="rect">
            <a:avLst/>
          </a:prstGeom>
        </p:spPr>
      </p:pic>
      <p:sp>
        <p:nvSpPr>
          <p:cNvPr id="29" name="Text 2">
            <a:extLst xmlns:a="http://schemas.openxmlformats.org/drawingml/2006/main">
              <a:ext uri="{FF2B5EF4-FFF2-40B4-BE49-F238E27FC236}">
                <a16:creationId xmlns:a16="http://schemas.microsoft.com/office/drawing/2014/main" id="{F52B5189-348C-4888-BDD6-189779989B57}"/>
              </a:ext>
            </a:extLst>
          </p:cNvPr>
          <p:cNvSpPr>
            <a:spLocks xmlns:a="http://schemas.openxmlformats.org/drawingml/2006/main" noGrp="1"/>
          </p:cNvSpPr>
          <p:nvPr/>
        </p:nvSpPr>
        <p:spPr>
          <a:xfrm xmlns:a="http://schemas.openxmlformats.org/drawingml/2006/main">
            <a:off x="528638" y="1743075"/>
            <a:ext cx="2119313"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3"/>
              </a:lnSpc>
              <a:buNone/>
            </a:pPr>
            <a:r>
              <a:rPr sz="1283" b="1" spc="-26">
                <a:solidFill>
                  <a:srgbClr val="FFFFFF">
                    <a:alpha val="99000"/>
                  </a:srgbClr>
                </a:solidFill>
                <a:latin typeface="Inter"/>
                <a:ea typeface="Inter"/>
                <a:cs typeface="Inter"/>
              </a:rPr>
              <a:t>SETUP · README.md</a:t>
            </a:r>
            <a:endParaRPr sz="1283"/>
          </a:p>
          <a:p xmlns:a="http://schemas.openxmlformats.org/drawingml/2006/main">
            <a:pPr marL="0" indent="0" algn="l">
              <a:lnSpc>
                <a:spcPts val="1693"/>
              </a:lnSpc>
              <a:buNone/>
            </a:pPr>
            <a:r>
              <a:rPr sz="1283" b="1" spc="-26">
                <a:solidFill>
                  <a:srgbClr val="FFFFFF">
                    <a:alpha val="99000"/>
                  </a:srgbClr>
                </a:solidFill>
                <a:latin typeface="Inter"/>
                <a:ea typeface="Inter"/>
                <a:cs typeface="Inter"/>
              </a:rPr>
              <a:t>Windows</a:t>
            </a:r>
            <a:endParaRPr sz="1283"/>
          </a:p>
          <a:p xmlns:a="http://schemas.openxmlformats.org/drawingml/2006/main">
            <a:pPr marL="0" indent="0" algn="l">
              <a:lnSpc>
                <a:spcPts val="1693"/>
              </a:lnSpc>
              <a:buNone/>
            </a:pPr>
            <a:r>
              <a:rPr sz="1283" b="1" spc="-26">
                <a:solidFill>
                  <a:srgbClr val="FFFFFF">
                    <a:alpha val="99000"/>
                  </a:srgbClr>
                </a:solidFill>
                <a:latin typeface="Inter"/>
                <a:ea typeface="Inter"/>
                <a:cs typeface="Inter"/>
              </a:rPr>
              <a:t>setup.ps1 -CoreOnly</a:t>
            </a:r>
            <a:endParaRPr sz="1283"/>
          </a:p>
          <a:p xmlns:a="http://schemas.openxmlformats.org/drawingml/2006/main">
            <a:pPr marL="0" indent="0" algn="l">
              <a:lnSpc>
                <a:spcPts val="1693"/>
              </a:lnSpc>
              <a:buNone/>
            </a:pPr>
            <a:r>
              <a:rPr sz="1283" b="1" spc="-26">
                <a:solidFill>
                  <a:srgbClr val="FFFFFF">
                    <a:alpha val="99000"/>
                  </a:srgbClr>
                </a:solidFill>
                <a:latin typeface="Inter"/>
                <a:ea typeface="Inter"/>
                <a:cs typeface="Inter"/>
              </a:rPr>
              <a:t>Mac</a:t>
            </a:r>
            <a:endParaRPr sz="1283"/>
          </a:p>
          <a:p xmlns:a="http://schemas.openxmlformats.org/drawingml/2006/main">
            <a:pPr marL="0" indent="0" algn="l">
              <a:lnSpc>
                <a:spcPts val="1693"/>
              </a:lnSpc>
              <a:buNone/>
            </a:pPr>
            <a:r>
              <a:rPr sz="1283" b="1" spc="-26">
                <a:solidFill>
                  <a:srgbClr val="FFFFFF">
                    <a:alpha val="99000"/>
                  </a:srgbClr>
                </a:solidFill>
                <a:latin typeface="Inter"/>
                <a:ea typeface="Inter"/>
                <a:cs typeface="Inter"/>
              </a:rPr>
              <a:t>bash setup.sh --core-only</a:t>
            </a:r>
            <a:endParaRPr sz="1283"/>
          </a:p>
          <a:p xmlns:a="http://schemas.openxmlformats.org/drawingml/2006/main">
            <a:pPr marL="0" indent="0" algn="l">
              <a:lnSpc>
                <a:spcPts val="1693"/>
              </a:lnSpc>
              <a:buNone/>
            </a:pPr>
            <a:r>
              <a:rPr sz="1283" b="1" spc="-26">
                <a:solidFill>
                  <a:srgbClr val="FFFFFF">
                    <a:alpha val="99000"/>
                  </a:srgbClr>
                </a:solidFill>
                <a:latin typeface="Inter"/>
                <a:ea typeface="Inter"/>
                <a:cs typeface="Inter"/>
              </a:rPr>
              <a:t>Pair if blocked</a:t>
            </a:r>
            <a:endParaRPr sz="1283"/>
          </a:p>
        </p:txBody>
      </p:sp>
      <p:sp>
        <p:nvSpPr>
          <p:cNvPr id="30" name="Text 3">
            <a:extLst xmlns:a="http://schemas.openxmlformats.org/drawingml/2006/main">
              <a:ext uri="{FF2B5EF4-FFF2-40B4-BE49-F238E27FC236}">
                <a16:creationId xmlns:a16="http://schemas.microsoft.com/office/drawing/2014/main" id="{F62C41F4-8E74-4078-A31A-A3A8F08D2725}"/>
              </a:ext>
            </a:extLst>
          </p:cNvPr>
          <p:cNvSpPr>
            <a:spLocks xmlns:a="http://schemas.openxmlformats.org/drawingml/2006/main" noGrp="1"/>
          </p:cNvSpPr>
          <p:nvPr/>
        </p:nvSpPr>
        <p:spPr>
          <a:xfrm xmlns:a="http://schemas.openxmlformats.org/drawingml/2006/main">
            <a:off x="3438525" y="4000500"/>
            <a:ext cx="153352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3"/>
              </a:lnSpc>
              <a:buNone/>
            </a:pPr>
            <a:r>
              <a:rPr sz="1283" b="1" spc="-26">
                <a:solidFill>
                  <a:srgbClr val="FFFFFF">
                    <a:alpha val="99000"/>
                  </a:srgbClr>
                </a:solidFill>
                <a:latin typeface="Inter"/>
                <a:ea typeface="Inter"/>
                <a:cs typeface="Inter"/>
              </a:rPr>
              <a:t>QR: event check-in</a:t>
            </a:r>
            <a:endParaRPr sz="1283"/>
          </a:p>
        </p:txBody>
      </p:sp>
    </p:spTree>
    <p:extLst>
      <p:ext uri="{BB962C8B-B14F-4D97-AF65-F5344CB8AC3E}">
        <p14:creationId xmlns:p14="http://schemas.microsoft.com/office/powerpoint/2010/main" val="266888175"/>
      </p:ext>
    </p:extLst>
  </p:cSld>
</p:sld>
</file>

<file path=ppt/slides/slide3.xml><?xml version="1.0" encoding="utf-8"?>
<p:sld xmlns:p="http://schemas.openxmlformats.org/presentationml/2006/main">
  <p:cSld>
    <p:bg>
      <p:bgPr>
        <a:blipFill xmlns:a="http://schemas.openxmlformats.org/drawingml/2006/main" rotWithShape="1">
          <a:blip xmlns:r="http://schemas.openxmlformats.org/officeDocument/2006/relationships" r:embed="R13ab7e1ddee840ce">
            <a:lum/>
          </a:blip>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764D8E3C-4426-4A32-AA5A-71CB6FA3C241}"/>
              </a:ext>
            </a:extLst>
          </p:cNvPr>
          <p:cNvSpPr>
            <a:spLocks xmlns:a="http://schemas.openxmlformats.org/drawingml/2006/main" noGrp="1"/>
          </p:cNvSpPr>
          <p:nvPr/>
        </p:nvSpPr>
        <p:spPr>
          <a:xfrm xmlns:a="http://schemas.openxmlformats.org/drawingml/2006/main">
            <a:off x="571500" y="304800"/>
            <a:ext cx="8001000" cy="4191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117"/>
              </a:lnSpc>
              <a:buNone/>
            </a:pPr>
            <a:r>
              <a:rPr sz="2494" b="1">
                <a:solidFill>
                  <a:srgbClr val="F5FFFA">
                    <a:alpha val="99000"/>
                  </a:srgbClr>
                </a:solidFill>
                <a:latin typeface="Inter"/>
                <a:ea typeface="Inter"/>
                <a:cs typeface="Inter"/>
              </a:rPr>
              <a:t>Today’s workshop</a:t>
            </a:r>
            <a:endParaRPr sz="2494"/>
          </a:p>
        </p:txBody>
      </p:sp>
      <p:sp>
        <p:nvSpPr>
          <p:cNvPr id="4" name="Shape 1">
            <a:extLst xmlns:a="http://schemas.openxmlformats.org/drawingml/2006/main">
              <a:ext uri="{FF2B5EF4-FFF2-40B4-BE49-F238E27FC236}">
                <a16:creationId xmlns:a16="http://schemas.microsoft.com/office/drawing/2014/main" id="{4173CBEB-3D93-4706-B6DE-04983643418E}"/>
              </a:ext>
            </a:extLst>
          </p:cNvPr>
          <p:cNvSpPr>
            <a:spLocks xmlns:a="http://schemas.openxmlformats.org/drawingml/2006/main" noGrp="1"/>
          </p:cNvSpPr>
          <p:nvPr/>
        </p:nvSpPr>
        <p:spPr>
          <a:xfrm xmlns:a="http://schemas.openxmlformats.org/drawingml/2006/main">
            <a:off x="581025" y="838200"/>
            <a:ext cx="523875" cy="33338"/>
          </a:xfrm>
          <a:prstGeom xmlns:a="http://schemas.openxmlformats.org/drawingml/2006/main" prst="rect">
            <a:avLst/>
          </a:prstGeom>
          <a:solidFill xmlns:a="http://schemas.openxmlformats.org/drawingml/2006/main">
            <a:srgbClr val="4FE3BD"/>
          </a:solidFill>
        </p:spPr>
      </p:sp>
      <p:sp>
        <p:nvSpPr>
          <p:cNvPr id="5" name="Shape 2">
            <a:extLst xmlns:a="http://schemas.openxmlformats.org/drawingml/2006/main">
              <a:ext uri="{FF2B5EF4-FFF2-40B4-BE49-F238E27FC236}">
                <a16:creationId xmlns:a16="http://schemas.microsoft.com/office/drawing/2014/main" id="{18E22024-B55D-4CEF-8DA4-966A1972F99A}"/>
              </a:ext>
            </a:extLst>
          </p:cNvPr>
          <p:cNvSpPr>
            <a:spLocks xmlns:a="http://schemas.openxmlformats.org/drawingml/2006/main" noGrp="1"/>
          </p:cNvSpPr>
          <p:nvPr/>
        </p:nvSpPr>
        <p:spPr>
          <a:xfrm xmlns:a="http://schemas.openxmlformats.org/drawingml/2006/main">
            <a:off x="571500" y="1285875"/>
            <a:ext cx="8001000" cy="762000"/>
          </a:xfrm>
          <a:prstGeom xmlns:a="http://schemas.openxmlformats.org/drawingml/2006/main" prst="rect">
            <a:avLst/>
          </a:prstGeom>
          <a:noFill xmlns:a="http://schemas.openxmlformats.org/drawingml/2006/main"/>
        </p:spPr>
      </p:sp>
      <p:sp>
        <p:nvSpPr>
          <p:cNvPr id="6" name="Text 3">
            <a:extLst xmlns:a="http://schemas.openxmlformats.org/drawingml/2006/main">
              <a:ext uri="{FF2B5EF4-FFF2-40B4-BE49-F238E27FC236}">
                <a16:creationId xmlns:a16="http://schemas.microsoft.com/office/drawing/2014/main" id="{1EC848B4-8293-4FB7-84BF-0BA74C301AA5}"/>
              </a:ext>
            </a:extLst>
          </p:cNvPr>
          <p:cNvSpPr>
            <a:spLocks xmlns:a="http://schemas.openxmlformats.org/drawingml/2006/main" noGrp="1"/>
          </p:cNvSpPr>
          <p:nvPr/>
        </p:nvSpPr>
        <p:spPr>
          <a:xfrm xmlns:a="http://schemas.openxmlformats.org/drawingml/2006/main">
            <a:off x="571500" y="1285875"/>
            <a:ext cx="8001000" cy="762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850"/>
              </a:lnSpc>
              <a:buNone/>
            </a:pPr>
            <a:r>
              <a:rPr sz="2280">
                <a:solidFill>
                  <a:srgbClr val="F5FFFA">
                    <a:alpha val="99000"/>
                  </a:srgbClr>
                </a:solidFill>
                <a:latin typeface="Inter"/>
                <a:ea typeface="Inter"/>
                <a:cs typeface="Inter"/>
              </a:rPr>
              <a:t>8 min setup · 10 theory · 7 demo · 15 practice</a:t>
            </a:r>
            <a:endParaRPr sz="2280"/>
          </a:p>
          <a:p xmlns:a="http://schemas.openxmlformats.org/drawingml/2006/main">
            <a:pPr marL="0" indent="0" algn="l">
              <a:lnSpc>
                <a:spcPts val="2850"/>
              </a:lnSpc>
              <a:buNone/>
            </a:pPr>
            <a:r>
              <a:rPr sz="2280">
                <a:solidFill>
                  <a:srgbClr val="F5FFFA">
                    <a:alpha val="99000"/>
                  </a:srgbClr>
                </a:solidFill>
                <a:latin typeface="Inter"/>
                <a:ea typeface="Inter"/>
                <a:cs typeface="Inter"/>
              </a:rPr>
              <a:t>7 security · 5 enterprise · 3 exit · 5 spare</a:t>
            </a:r>
            <a:endParaRPr sz="2280"/>
          </a:p>
        </p:txBody>
      </p:sp>
      <p:sp>
        <p:nvSpPr>
          <p:cNvPr id="7" name="Shape 4">
            <a:extLst xmlns:a="http://schemas.openxmlformats.org/drawingml/2006/main">
              <a:ext uri="{FF2B5EF4-FFF2-40B4-BE49-F238E27FC236}">
                <a16:creationId xmlns:a16="http://schemas.microsoft.com/office/drawing/2014/main" id="{C2391C34-5D3C-4AFB-98D7-A09CB0F7FE13}"/>
              </a:ext>
            </a:extLst>
          </p:cNvPr>
          <p:cNvSpPr>
            <a:spLocks xmlns:a="http://schemas.openxmlformats.org/drawingml/2006/main" noGrp="1"/>
          </p:cNvSpPr>
          <p:nvPr/>
        </p:nvSpPr>
        <p:spPr>
          <a:xfrm xmlns:a="http://schemas.openxmlformats.org/drawingml/2006/main">
            <a:off x="571500" y="2619375"/>
            <a:ext cx="2562225" cy="1352550"/>
          </a:xfrm>
          <a:prstGeom xmlns:a="http://schemas.openxmlformats.org/drawingml/2006/main" prst="roundRect">
            <a:avLst>
              <a:gd name="adj" fmla="val 14873"/>
            </a:avLst>
          </a:prstGeom>
          <a:solidFill xmlns:a="http://schemas.openxmlformats.org/drawingml/2006/main">
            <a:srgbClr val="092925">
              <a:alpha val="96000"/>
            </a:srgbClr>
          </a:solidFill>
          <a:ln xmlns:a="http://schemas.openxmlformats.org/drawingml/2006/main" w="4524">
            <a:solidFill>
              <a:srgbClr val="267863"/>
            </a:solidFill>
            <a:prstDash val="solid"/>
          </a:ln>
        </p:spPr>
      </p:sp>
      <p:sp>
        <p:nvSpPr>
          <p:cNvPr id="8" name="Text 5">
            <a:extLst xmlns:a="http://schemas.openxmlformats.org/drawingml/2006/main">
              <a:ext uri="{FF2B5EF4-FFF2-40B4-BE49-F238E27FC236}">
                <a16:creationId xmlns:a16="http://schemas.microsoft.com/office/drawing/2014/main" id="{696058A3-EFF4-435C-BB98-04B699D9F167}"/>
              </a:ext>
            </a:extLst>
          </p:cNvPr>
          <p:cNvSpPr>
            <a:spLocks xmlns:a="http://schemas.openxmlformats.org/drawingml/2006/main" noGrp="1"/>
          </p:cNvSpPr>
          <p:nvPr/>
        </p:nvSpPr>
        <p:spPr>
          <a:xfrm xmlns:a="http://schemas.openxmlformats.org/drawingml/2006/main">
            <a:off x="728663" y="2776538"/>
            <a:ext cx="2257425"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1"/>
              </a:lnSpc>
              <a:buNone/>
            </a:pPr>
            <a:r>
              <a:rPr sz="1425" b="1">
                <a:solidFill>
                  <a:srgbClr val="4FE3BD">
                    <a:alpha val="99000"/>
                  </a:srgbClr>
                </a:solidFill>
                <a:latin typeface="Inter"/>
                <a:ea typeface="Inter"/>
                <a:cs typeface="Inter"/>
              </a:rPr>
              <a:t>UNDERSTAND</a:t>
            </a:r>
            <a:endParaRPr sz="1425"/>
          </a:p>
        </p:txBody>
      </p:sp>
      <p:sp>
        <p:nvSpPr>
          <p:cNvPr id="9" name="Text 6">
            <a:extLst xmlns:a="http://schemas.openxmlformats.org/drawingml/2006/main">
              <a:ext uri="{FF2B5EF4-FFF2-40B4-BE49-F238E27FC236}">
                <a16:creationId xmlns:a16="http://schemas.microsoft.com/office/drawing/2014/main" id="{32CEEA02-7C05-42DC-BCED-AFD6351D2E10}"/>
              </a:ext>
            </a:extLst>
          </p:cNvPr>
          <p:cNvSpPr>
            <a:spLocks xmlns:a="http://schemas.openxmlformats.org/drawingml/2006/main" noGrp="1"/>
          </p:cNvSpPr>
          <p:nvPr/>
        </p:nvSpPr>
        <p:spPr>
          <a:xfrm xmlns:a="http://schemas.openxmlformats.org/drawingml/2006/main">
            <a:off x="728663" y="3128963"/>
            <a:ext cx="2257425"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2"/>
              </a:lnSpc>
              <a:buNone/>
            </a:pPr>
            <a:r>
              <a:rPr sz="1354">
                <a:solidFill>
                  <a:srgbClr val="F5FFFA">
                    <a:alpha val="99000"/>
                  </a:srgbClr>
                </a:solidFill>
                <a:latin typeface="Inter"/>
                <a:ea typeface="Inter"/>
                <a:cs typeface="Inter"/>
              </a:rPr>
              <a:t>Connect an AI Application to useful software capabilities.</a:t>
            </a:r>
            <a:endParaRPr sz="1354"/>
          </a:p>
        </p:txBody>
      </p:sp>
      <p:sp>
        <p:nvSpPr>
          <p:cNvPr id="10" name="Shape 7">
            <a:extLst xmlns:a="http://schemas.openxmlformats.org/drawingml/2006/main">
              <a:ext uri="{FF2B5EF4-FFF2-40B4-BE49-F238E27FC236}">
                <a16:creationId xmlns:a16="http://schemas.microsoft.com/office/drawing/2014/main" id="{34E9C9F8-85C6-4CDE-881E-C7E37D9812C6}"/>
              </a:ext>
            </a:extLst>
          </p:cNvPr>
          <p:cNvSpPr>
            <a:spLocks xmlns:a="http://schemas.openxmlformats.org/drawingml/2006/main" noGrp="1"/>
          </p:cNvSpPr>
          <p:nvPr/>
        </p:nvSpPr>
        <p:spPr>
          <a:xfrm xmlns:a="http://schemas.openxmlformats.org/drawingml/2006/main">
            <a:off x="3286125" y="2619375"/>
            <a:ext cx="2562225" cy="1352550"/>
          </a:xfrm>
          <a:prstGeom xmlns:a="http://schemas.openxmlformats.org/drawingml/2006/main" prst="roundRect">
            <a:avLst>
              <a:gd name="adj" fmla="val 14873"/>
            </a:avLst>
          </a:prstGeom>
          <a:solidFill xmlns:a="http://schemas.openxmlformats.org/drawingml/2006/main">
            <a:srgbClr val="092925">
              <a:alpha val="96000"/>
            </a:srgbClr>
          </a:solidFill>
          <a:ln xmlns:a="http://schemas.openxmlformats.org/drawingml/2006/main" w="4524">
            <a:solidFill>
              <a:srgbClr val="267863"/>
            </a:solidFill>
            <a:prstDash val="solid"/>
          </a:ln>
        </p:spPr>
      </p:sp>
      <p:sp>
        <p:nvSpPr>
          <p:cNvPr id="11" name="Text 8">
            <a:extLst xmlns:a="http://schemas.openxmlformats.org/drawingml/2006/main">
              <a:ext uri="{FF2B5EF4-FFF2-40B4-BE49-F238E27FC236}">
                <a16:creationId xmlns:a16="http://schemas.microsoft.com/office/drawing/2014/main" id="{C342BCC7-D014-4FBE-8AE9-C63C9ED0F384}"/>
              </a:ext>
            </a:extLst>
          </p:cNvPr>
          <p:cNvSpPr>
            <a:spLocks xmlns:a="http://schemas.openxmlformats.org/drawingml/2006/main" noGrp="1"/>
          </p:cNvSpPr>
          <p:nvPr/>
        </p:nvSpPr>
        <p:spPr>
          <a:xfrm xmlns:a="http://schemas.openxmlformats.org/drawingml/2006/main">
            <a:off x="3443288" y="2776538"/>
            <a:ext cx="2257425"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1"/>
              </a:lnSpc>
              <a:buNone/>
            </a:pPr>
            <a:r>
              <a:rPr sz="1425" b="1">
                <a:solidFill>
                  <a:srgbClr val="4FE3BD">
                    <a:alpha val="99000"/>
                  </a:srgbClr>
                </a:solidFill>
                <a:latin typeface="Inter"/>
                <a:ea typeface="Inter"/>
                <a:cs typeface="Inter"/>
              </a:rPr>
              <a:t>TRACE</a:t>
            </a:r>
            <a:endParaRPr sz="1425"/>
          </a:p>
        </p:txBody>
      </p:sp>
      <p:sp>
        <p:nvSpPr>
          <p:cNvPr id="12" name="Text 9">
            <a:extLst xmlns:a="http://schemas.openxmlformats.org/drawingml/2006/main">
              <a:ext uri="{FF2B5EF4-FFF2-40B4-BE49-F238E27FC236}">
                <a16:creationId xmlns:a16="http://schemas.microsoft.com/office/drawing/2014/main" id="{9B805D53-5CA6-4CB6-B60F-D9F898E1A031}"/>
              </a:ext>
            </a:extLst>
          </p:cNvPr>
          <p:cNvSpPr>
            <a:spLocks xmlns:a="http://schemas.openxmlformats.org/drawingml/2006/main" noGrp="1"/>
          </p:cNvSpPr>
          <p:nvPr/>
        </p:nvSpPr>
        <p:spPr>
          <a:xfrm xmlns:a="http://schemas.openxmlformats.org/drawingml/2006/main">
            <a:off x="3443288" y="3128963"/>
            <a:ext cx="2257425"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2"/>
              </a:lnSpc>
              <a:buNone/>
            </a:pPr>
            <a:r>
              <a:rPr sz="1354">
                <a:solidFill>
                  <a:srgbClr val="F5FFFA">
                    <a:alpha val="99000"/>
                  </a:srgbClr>
                </a:solidFill>
                <a:latin typeface="Inter"/>
                <a:ea typeface="Inter"/>
                <a:cs typeface="Inter"/>
              </a:rPr>
              <a:t>Follow a request from the host to the music Application.</a:t>
            </a:r>
            <a:endParaRPr sz="1354"/>
          </a:p>
        </p:txBody>
      </p:sp>
      <p:sp>
        <p:nvSpPr>
          <p:cNvPr id="13" name="Shape 10">
            <a:extLst xmlns:a="http://schemas.openxmlformats.org/drawingml/2006/main">
              <a:ext uri="{FF2B5EF4-FFF2-40B4-BE49-F238E27FC236}">
                <a16:creationId xmlns:a16="http://schemas.microsoft.com/office/drawing/2014/main" id="{8CBA0CEF-C347-4676-B37D-F98B76A8F3A9}"/>
              </a:ext>
            </a:extLst>
          </p:cNvPr>
          <p:cNvSpPr>
            <a:spLocks xmlns:a="http://schemas.openxmlformats.org/drawingml/2006/main" noGrp="1"/>
          </p:cNvSpPr>
          <p:nvPr/>
        </p:nvSpPr>
        <p:spPr>
          <a:xfrm xmlns:a="http://schemas.openxmlformats.org/drawingml/2006/main">
            <a:off x="6000750" y="2619375"/>
            <a:ext cx="2562225" cy="1352550"/>
          </a:xfrm>
          <a:prstGeom xmlns:a="http://schemas.openxmlformats.org/drawingml/2006/main" prst="roundRect">
            <a:avLst>
              <a:gd name="adj" fmla="val 14873"/>
            </a:avLst>
          </a:prstGeom>
          <a:solidFill xmlns:a="http://schemas.openxmlformats.org/drawingml/2006/main">
            <a:srgbClr val="092925">
              <a:alpha val="96000"/>
            </a:srgbClr>
          </a:solidFill>
          <a:ln xmlns:a="http://schemas.openxmlformats.org/drawingml/2006/main" w="4524">
            <a:solidFill>
              <a:srgbClr val="267863"/>
            </a:solidFill>
            <a:prstDash val="solid"/>
          </a:ln>
        </p:spPr>
      </p:sp>
      <p:sp>
        <p:nvSpPr>
          <p:cNvPr id="14" name="Text 11">
            <a:extLst xmlns:a="http://schemas.openxmlformats.org/drawingml/2006/main">
              <a:ext uri="{FF2B5EF4-FFF2-40B4-BE49-F238E27FC236}">
                <a16:creationId xmlns:a16="http://schemas.microsoft.com/office/drawing/2014/main" id="{A3946CE2-D0DF-4CC9-BCD5-F004E00400BF}"/>
              </a:ext>
            </a:extLst>
          </p:cNvPr>
          <p:cNvSpPr>
            <a:spLocks xmlns:a="http://schemas.openxmlformats.org/drawingml/2006/main" noGrp="1"/>
          </p:cNvSpPr>
          <p:nvPr/>
        </p:nvSpPr>
        <p:spPr>
          <a:xfrm xmlns:a="http://schemas.openxmlformats.org/drawingml/2006/main">
            <a:off x="6157913" y="2776538"/>
            <a:ext cx="2257425"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1"/>
              </a:lnSpc>
              <a:buNone/>
            </a:pPr>
            <a:r>
              <a:rPr sz="1425" b="1">
                <a:solidFill>
                  <a:srgbClr val="4FE3BD">
                    <a:alpha val="99000"/>
                  </a:srgbClr>
                </a:solidFill>
                <a:latin typeface="Inter"/>
                <a:ea typeface="Inter"/>
                <a:cs typeface="Inter"/>
              </a:rPr>
              <a:t>IMPLEMENT + TEST</a:t>
            </a:r>
            <a:endParaRPr sz="1425"/>
          </a:p>
        </p:txBody>
      </p:sp>
      <p:sp>
        <p:nvSpPr>
          <p:cNvPr id="15" name="Text 12">
            <a:extLst xmlns:a="http://schemas.openxmlformats.org/drawingml/2006/main">
              <a:ext uri="{FF2B5EF4-FFF2-40B4-BE49-F238E27FC236}">
                <a16:creationId xmlns:a16="http://schemas.microsoft.com/office/drawing/2014/main" id="{09DDBFB8-172A-4561-B321-E2924B1A6B79}"/>
              </a:ext>
            </a:extLst>
          </p:cNvPr>
          <p:cNvSpPr>
            <a:spLocks xmlns:a="http://schemas.openxmlformats.org/drawingml/2006/main" noGrp="1"/>
          </p:cNvSpPr>
          <p:nvPr/>
        </p:nvSpPr>
        <p:spPr>
          <a:xfrm xmlns:a="http://schemas.openxmlformats.org/drawingml/2006/main">
            <a:off x="6157913" y="3128963"/>
            <a:ext cx="2257425"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2"/>
              </a:lnSpc>
              <a:buNone/>
            </a:pPr>
            <a:r>
              <a:rPr sz="1354">
                <a:solidFill>
                  <a:srgbClr val="F5FFFA">
                    <a:alpha val="99000"/>
                  </a:srgbClr>
                </a:solidFill>
                <a:latin typeface="Inter"/>
                <a:ea typeface="Inter"/>
                <a:cs typeface="Inter"/>
              </a:rPr>
              <a:t>Extend the supplied server with one validated tool.</a:t>
            </a:r>
            <a:endParaRPr sz="1354"/>
          </a:p>
        </p:txBody>
      </p:sp>
      <p:sp>
        <p:nvSpPr>
          <p:cNvPr id="16" name="Text 13">
            <a:extLst xmlns:a="http://schemas.openxmlformats.org/drawingml/2006/main">
              <a:ext uri="{FF2B5EF4-FFF2-40B4-BE49-F238E27FC236}">
                <a16:creationId xmlns:a16="http://schemas.microsoft.com/office/drawing/2014/main" id="{7B19387F-1BE1-4559-903A-02C54A1D311B}"/>
              </a:ext>
            </a:extLst>
          </p:cNvPr>
          <p:cNvSpPr>
            <a:spLocks xmlns:a="http://schemas.openxmlformats.org/drawingml/2006/main" noGrp="1"/>
          </p:cNvSpPr>
          <p:nvPr/>
        </p:nvSpPr>
        <p:spPr>
          <a:xfrm xmlns:a="http://schemas.openxmlformats.org/drawingml/2006/main">
            <a:off x="8310562" y="4862513"/>
            <a:ext cx="619125" cy="1428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69"/>
              </a:lnSpc>
              <a:buNone/>
            </a:pPr>
            <a:r>
              <a:rPr sz="855">
                <a:solidFill>
                  <a:srgbClr val="BAD9CF">
                    <a:alpha val="99000"/>
                  </a:srgbClr>
                </a:solidFill>
                <a:latin typeface="Inter"/>
                <a:ea typeface="Inter"/>
                <a:cs typeface="Inter"/>
              </a:rPr>
              <a:t>03 / 29</a:t>
            </a:r>
            <a:endParaRPr sz="855"/>
          </a:p>
        </p:txBody>
      </p:sp>
    </p:spTree>
    <p:extLst>
      <p:ext uri="{BB962C8B-B14F-4D97-AF65-F5344CB8AC3E}">
        <p14:creationId xmlns:p14="http://schemas.microsoft.com/office/powerpoint/2010/main" val="871039615"/>
      </p:ext>
    </p:extLst>
  </p:cSld>
</p:sld>
</file>

<file path=ppt/slides/slide4.xml><?xml version="1.0" encoding="utf-8"?>
<p:sld xmlns:p="http://schemas.openxmlformats.org/presentationml/2006/main">
  <p:cSld>
    <p:bg>
      <p:bgPr>
        <a:blipFill xmlns:a="http://schemas.openxmlformats.org/drawingml/2006/main" rotWithShape="1">
          <a:blip xmlns:r="http://schemas.openxmlformats.org/officeDocument/2006/relationships" r:embed="Rae7f6e57d2424711">
            <a:lum/>
          </a:blip>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4B6D2BB4-7F71-4334-91FA-0BCD2F093E9C}"/>
              </a:ext>
            </a:extLst>
          </p:cNvPr>
          <p:cNvSpPr>
            <a:spLocks xmlns:a="http://schemas.openxmlformats.org/drawingml/2006/main" noGrp="1"/>
          </p:cNvSpPr>
          <p:nvPr/>
        </p:nvSpPr>
        <p:spPr>
          <a:xfrm xmlns:a="http://schemas.openxmlformats.org/drawingml/2006/main">
            <a:off x="571500" y="304800"/>
            <a:ext cx="8001000" cy="4191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117"/>
              </a:lnSpc>
              <a:buNone/>
            </a:pPr>
            <a:r>
              <a:rPr sz="2494" b="1">
                <a:solidFill>
                  <a:srgbClr val="F5FFFA">
                    <a:alpha val="99000"/>
                  </a:srgbClr>
                </a:solidFill>
                <a:latin typeface="Inter"/>
                <a:ea typeface="Inter"/>
                <a:cs typeface="Inter"/>
              </a:rPr>
              <a:t>What MCP is</a:t>
            </a:r>
            <a:endParaRPr sz="2494"/>
          </a:p>
        </p:txBody>
      </p:sp>
      <p:sp>
        <p:nvSpPr>
          <p:cNvPr id="4" name="Shape 1">
            <a:extLst xmlns:a="http://schemas.openxmlformats.org/drawingml/2006/main">
              <a:ext uri="{FF2B5EF4-FFF2-40B4-BE49-F238E27FC236}">
                <a16:creationId xmlns:a16="http://schemas.microsoft.com/office/drawing/2014/main" id="{7CA557BF-5AD6-4FF3-A6D6-A19AC34B9940}"/>
              </a:ext>
            </a:extLst>
          </p:cNvPr>
          <p:cNvSpPr>
            <a:spLocks xmlns:a="http://schemas.openxmlformats.org/drawingml/2006/main" noGrp="1"/>
          </p:cNvSpPr>
          <p:nvPr/>
        </p:nvSpPr>
        <p:spPr>
          <a:xfrm xmlns:a="http://schemas.openxmlformats.org/drawingml/2006/main">
            <a:off x="581025" y="838200"/>
            <a:ext cx="523875" cy="33338"/>
          </a:xfrm>
          <a:prstGeom xmlns:a="http://schemas.openxmlformats.org/drawingml/2006/main" prst="rect">
            <a:avLst/>
          </a:prstGeom>
          <a:solidFill xmlns:a="http://schemas.openxmlformats.org/drawingml/2006/main">
            <a:srgbClr val="4FE3BD"/>
          </a:solidFill>
        </p:spPr>
      </p:sp>
      <p:sp>
        <p:nvSpPr>
          <p:cNvPr id="5" name="Shape 2">
            <a:extLst xmlns:a="http://schemas.openxmlformats.org/drawingml/2006/main">
              <a:ext uri="{FF2B5EF4-FFF2-40B4-BE49-F238E27FC236}">
                <a16:creationId xmlns:a16="http://schemas.microsoft.com/office/drawing/2014/main" id="{4B9D46D9-38E0-4344-AA99-986563025F2A}"/>
              </a:ext>
            </a:extLst>
          </p:cNvPr>
          <p:cNvSpPr>
            <a:spLocks xmlns:a="http://schemas.openxmlformats.org/drawingml/2006/main" noGrp="1"/>
          </p:cNvSpPr>
          <p:nvPr/>
        </p:nvSpPr>
        <p:spPr>
          <a:xfrm xmlns:a="http://schemas.openxmlformats.org/drawingml/2006/main">
            <a:off x="571500" y="1228725"/>
            <a:ext cx="8001000" cy="1600200"/>
          </a:xfrm>
          <a:prstGeom xmlns:a="http://schemas.openxmlformats.org/drawingml/2006/main" prst="rect">
            <a:avLst/>
          </a:prstGeom>
          <a:noFill xmlns:a="http://schemas.openxmlformats.org/drawingml/2006/main"/>
        </p:spPr>
      </p:sp>
      <p:sp>
        <p:nvSpPr>
          <p:cNvPr id="6" name="Text 3">
            <a:extLst xmlns:a="http://schemas.openxmlformats.org/drawingml/2006/main">
              <a:ext uri="{FF2B5EF4-FFF2-40B4-BE49-F238E27FC236}">
                <a16:creationId xmlns:a16="http://schemas.microsoft.com/office/drawing/2014/main" id="{C5C4BD8D-06E4-45A0-BE27-839E28A16673}"/>
              </a:ext>
            </a:extLst>
          </p:cNvPr>
          <p:cNvSpPr>
            <a:spLocks xmlns:a="http://schemas.openxmlformats.org/drawingml/2006/main" noGrp="1"/>
          </p:cNvSpPr>
          <p:nvPr/>
        </p:nvSpPr>
        <p:spPr>
          <a:xfrm xmlns:a="http://schemas.openxmlformats.org/drawingml/2006/main">
            <a:off x="571500" y="1228725"/>
            <a:ext cx="800100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271"/>
              </a:lnSpc>
              <a:buNone/>
            </a:pPr>
            <a:r>
              <a:rPr sz="1817">
                <a:solidFill>
                  <a:srgbClr val="F5FFFA">
                    <a:alpha val="99000"/>
                  </a:srgbClr>
                </a:solidFill>
                <a:latin typeface="Inter"/>
                <a:ea typeface="Inter"/>
                <a:cs typeface="Inter"/>
              </a:rPr>
              <a:t>Model Context Protocol</a:t>
            </a:r>
            <a:endParaRPr sz="1817"/>
          </a:p>
        </p:txBody>
      </p:sp>
      <p:sp>
        <p:nvSpPr>
          <p:cNvPr id="7" name="Text 4">
            <a:extLst xmlns:a="http://schemas.openxmlformats.org/drawingml/2006/main">
              <a:ext uri="{FF2B5EF4-FFF2-40B4-BE49-F238E27FC236}">
                <a16:creationId xmlns:a16="http://schemas.microsoft.com/office/drawing/2014/main" id="{0FAF1F0D-3714-4539-9216-209D84432527}"/>
              </a:ext>
            </a:extLst>
          </p:cNvPr>
          <p:cNvSpPr>
            <a:spLocks xmlns:a="http://schemas.openxmlformats.org/drawingml/2006/main" noGrp="1"/>
          </p:cNvSpPr>
          <p:nvPr/>
        </p:nvSpPr>
        <p:spPr>
          <a:xfrm xmlns:a="http://schemas.openxmlformats.org/drawingml/2006/main">
            <a:off x="571500" y="1724025"/>
            <a:ext cx="8001000" cy="609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271"/>
              </a:lnSpc>
              <a:buNone/>
            </a:pPr>
            <a:r>
              <a:rPr sz="1817">
                <a:solidFill>
                  <a:srgbClr val="F5FFFA">
                    <a:alpha val="99000"/>
                  </a:srgbClr>
                </a:solidFill>
                <a:latin typeface="Inter"/>
                <a:ea typeface="Inter"/>
                <a:cs typeface="Inter"/>
              </a:rPr>
              <a:t>An open standard that connects AI Applications to tools, data, and reusable instructions.</a:t>
            </a:r>
            <a:endParaRPr sz="1817"/>
          </a:p>
        </p:txBody>
      </p:sp>
      <p:sp>
        <p:nvSpPr>
          <p:cNvPr id="8" name="Text 5">
            <a:extLst xmlns:a="http://schemas.openxmlformats.org/drawingml/2006/main">
              <a:ext uri="{FF2B5EF4-FFF2-40B4-BE49-F238E27FC236}">
                <a16:creationId xmlns:a16="http://schemas.microsoft.com/office/drawing/2014/main" id="{D2B26E21-64F0-4901-BBD8-DF123331A0FA}"/>
              </a:ext>
            </a:extLst>
          </p:cNvPr>
          <p:cNvSpPr>
            <a:spLocks xmlns:a="http://schemas.openxmlformats.org/drawingml/2006/main" noGrp="1"/>
          </p:cNvSpPr>
          <p:nvPr/>
        </p:nvSpPr>
        <p:spPr>
          <a:xfrm xmlns:a="http://schemas.openxmlformats.org/drawingml/2006/main">
            <a:off x="571500" y="2524125"/>
            <a:ext cx="8001000" cy="304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271"/>
              </a:lnSpc>
              <a:buNone/>
            </a:pPr>
            <a:r>
              <a:rPr sz="1817">
                <a:solidFill>
                  <a:srgbClr val="F5FFFA">
                    <a:alpha val="99000"/>
                  </a:srgbClr>
                </a:solidFill>
                <a:latin typeface="Inter"/>
                <a:ea typeface="Inter"/>
                <a:cs typeface="Inter"/>
              </a:rPr>
              <a:t>An MCP server is the program that exposes those capabilities.</a:t>
            </a:r>
            <a:endParaRPr sz="1817"/>
          </a:p>
        </p:txBody>
      </p:sp>
      <p:sp>
        <p:nvSpPr>
          <p:cNvPr id="9" name="Text 6">
            <a:extLst xmlns:a="http://schemas.openxmlformats.org/drawingml/2006/main">
              <a:ext uri="{FF2B5EF4-FFF2-40B4-BE49-F238E27FC236}">
                <a16:creationId xmlns:a16="http://schemas.microsoft.com/office/drawing/2014/main" id="{03F33F62-FB96-4AE1-A2A4-71D5EEFAF8A2}"/>
              </a:ext>
            </a:extLst>
          </p:cNvPr>
          <p:cNvSpPr>
            <a:spLocks xmlns:a="http://schemas.openxmlformats.org/drawingml/2006/main" noGrp="1"/>
          </p:cNvSpPr>
          <p:nvPr/>
        </p:nvSpPr>
        <p:spPr>
          <a:xfrm xmlns:a="http://schemas.openxmlformats.org/drawingml/2006/main">
            <a:off x="571500" y="4119562"/>
            <a:ext cx="8001000" cy="2571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15"/>
              </a:lnSpc>
              <a:buNone/>
            </a:pPr>
            <a:r>
              <a:rPr sz="1532" b="1">
                <a:solidFill>
                  <a:srgbClr val="4FE3BD">
                    <a:alpha val="99000"/>
                  </a:srgbClr>
                </a:solidFill>
                <a:latin typeface="Inter"/>
                <a:ea typeface="Inter"/>
                <a:cs typeface="Inter"/>
              </a:rPr>
              <a:t>Today: extend an existing server using the Python SDK.</a:t>
            </a:r>
            <a:endParaRPr sz="1532"/>
          </a:p>
        </p:txBody>
      </p:sp>
      <p:sp>
        <p:nvSpPr>
          <p:cNvPr id="10" name="Text 7">
            <a:extLst xmlns:a="http://schemas.openxmlformats.org/drawingml/2006/main">
              <a:ext uri="{FF2B5EF4-FFF2-40B4-BE49-F238E27FC236}">
                <a16:creationId xmlns:a16="http://schemas.microsoft.com/office/drawing/2014/main" id="{18DE17CC-A4A1-4AC2-9E0F-3DC5A5CAB49C}"/>
              </a:ext>
            </a:extLst>
          </p:cNvPr>
          <p:cNvSpPr>
            <a:spLocks xmlns:a="http://schemas.openxmlformats.org/drawingml/2006/main" noGrp="1"/>
          </p:cNvSpPr>
          <p:nvPr/>
        </p:nvSpPr>
        <p:spPr>
          <a:xfrm xmlns:a="http://schemas.openxmlformats.org/drawingml/2006/main">
            <a:off x="8310562" y="4862513"/>
            <a:ext cx="619125" cy="1428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69"/>
              </a:lnSpc>
              <a:buNone/>
            </a:pPr>
            <a:r>
              <a:rPr sz="855">
                <a:solidFill>
                  <a:srgbClr val="BAD9CF">
                    <a:alpha val="99000"/>
                  </a:srgbClr>
                </a:solidFill>
                <a:latin typeface="Inter"/>
                <a:ea typeface="Inter"/>
                <a:cs typeface="Inter"/>
              </a:rPr>
              <a:t>04 / 29</a:t>
            </a:r>
            <a:endParaRPr sz="855"/>
          </a:p>
        </p:txBody>
      </p:sp>
      <p:pic>
        <p:nvPicPr>
          <p:cNvPr id="11" name="Image 0">
            <a:extLst xmlns:a="http://schemas.openxmlformats.org/drawingml/2006/main">
              <a:ext uri="{FF2B5EF4-FFF2-40B4-BE49-F238E27FC236}">
                <a16:creationId xmlns:a16="http://schemas.microsoft.com/office/drawing/2014/main" id="{AE76BC0E-9B0A-4B85-8FF2-FE69DA220D36}"/>
              </a:ext>
            </a:extLst>
          </p:cNvPr>
          <p:cNvPicPr>
            <a:picLocks xmlns:a="http://schemas.openxmlformats.org/drawingml/2006/main" noChangeAspect="1"/>
          </p:cNvPicPr>
          <p:nvPr/>
        </p:nvPicPr>
        <p:blipFill>
          <a:blip xmlns:r="http://schemas.openxmlformats.org/officeDocument/2006/relationships" xmlns:a="http://schemas.openxmlformats.org/drawingml/2006/main" r:embed="R6924bb4176c84219"/>
          <a:srcRect xmlns:a="http://schemas.openxmlformats.org/drawingml/2006/main" l="0" t="0" r="0" b="0"/>
          <a:stretch xmlns:a="http://schemas.openxmlformats.org/drawingml/2006/main"/>
        </p:blipFill>
        <p:spPr>
          <a:xfrm xmlns:a="http://schemas.openxmlformats.org/drawingml/2006/main">
            <a:off x="6810375" y="2928938"/>
            <a:ext cx="1666875" cy="1304925"/>
          </a:xfrm>
          <a:prstGeom xmlns:a="http://schemas.openxmlformats.org/drawingml/2006/main" prst="rect">
            <a:avLst/>
          </a:prstGeom>
        </p:spPr>
      </p:pic>
    </p:spTree>
    <p:extLst>
      <p:ext uri="{BB962C8B-B14F-4D97-AF65-F5344CB8AC3E}">
        <p14:creationId xmlns:p14="http://schemas.microsoft.com/office/powerpoint/2010/main" val="1464807893"/>
      </p:ext>
    </p:extLst>
  </p:cSld>
</p:sld>
</file>

<file path=ppt/slides/slide5.xml><?xml version="1.0" encoding="utf-8"?>
<p:sld xmlns:p="http://schemas.openxmlformats.org/presentationml/2006/main">
  <p:cSld>
    <p:bg>
      <p:bgPr>
        <a:blipFill xmlns:a="http://schemas.openxmlformats.org/drawingml/2006/main" rotWithShape="1">
          <a:blip xmlns:r="http://schemas.openxmlformats.org/officeDocument/2006/relationships" r:embed="Re321ab6c89be4690">
            <a:lum/>
          </a:blip>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9F29009F-49E3-4F83-B643-7184AD8C4E2B}"/>
              </a:ext>
            </a:extLst>
          </p:cNvPr>
          <p:cNvSpPr>
            <a:spLocks xmlns:a="http://schemas.openxmlformats.org/drawingml/2006/main" noGrp="1"/>
          </p:cNvSpPr>
          <p:nvPr/>
        </p:nvSpPr>
        <p:spPr>
          <a:xfrm xmlns:a="http://schemas.openxmlformats.org/drawingml/2006/main">
            <a:off x="571500" y="304800"/>
            <a:ext cx="8001000" cy="4191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117"/>
              </a:lnSpc>
              <a:buNone/>
            </a:pPr>
            <a:r>
              <a:rPr sz="2494" b="1">
                <a:solidFill>
                  <a:srgbClr val="F5FFFA">
                    <a:alpha val="99000"/>
                  </a:srgbClr>
                </a:solidFill>
                <a:latin typeface="Inter"/>
                <a:ea typeface="Inter"/>
                <a:cs typeface="Inter"/>
              </a:rPr>
              <a:t>Why MCP instead of one prompt?</a:t>
            </a:r>
            <a:endParaRPr sz="2494"/>
          </a:p>
        </p:txBody>
      </p:sp>
      <p:sp>
        <p:nvSpPr>
          <p:cNvPr id="4" name="Shape 1">
            <a:extLst xmlns:a="http://schemas.openxmlformats.org/drawingml/2006/main">
              <a:ext uri="{FF2B5EF4-FFF2-40B4-BE49-F238E27FC236}">
                <a16:creationId xmlns:a16="http://schemas.microsoft.com/office/drawing/2014/main" id="{6C968EAA-067D-46D1-9E0D-204024EEAE57}"/>
              </a:ext>
            </a:extLst>
          </p:cNvPr>
          <p:cNvSpPr>
            <a:spLocks xmlns:a="http://schemas.openxmlformats.org/drawingml/2006/main" noGrp="1"/>
          </p:cNvSpPr>
          <p:nvPr/>
        </p:nvSpPr>
        <p:spPr>
          <a:xfrm xmlns:a="http://schemas.openxmlformats.org/drawingml/2006/main">
            <a:off x="581025" y="838200"/>
            <a:ext cx="523875" cy="33338"/>
          </a:xfrm>
          <a:prstGeom xmlns:a="http://schemas.openxmlformats.org/drawingml/2006/main" prst="rect">
            <a:avLst/>
          </a:prstGeom>
          <a:solidFill xmlns:a="http://schemas.openxmlformats.org/drawingml/2006/main">
            <a:srgbClr val="4FE3BD"/>
          </a:solidFill>
        </p:spPr>
      </p:sp>
      <p:sp>
        <p:nvSpPr>
          <p:cNvPr id="5" name="Shape 2">
            <a:extLst xmlns:a="http://schemas.openxmlformats.org/drawingml/2006/main">
              <a:ext uri="{FF2B5EF4-FFF2-40B4-BE49-F238E27FC236}">
                <a16:creationId xmlns:a16="http://schemas.microsoft.com/office/drawing/2014/main" id="{47B2280B-0702-4951-96AC-D341B9267577}"/>
              </a:ext>
            </a:extLst>
          </p:cNvPr>
          <p:cNvSpPr>
            <a:spLocks xmlns:a="http://schemas.openxmlformats.org/drawingml/2006/main" noGrp="1"/>
          </p:cNvSpPr>
          <p:nvPr/>
        </p:nvSpPr>
        <p:spPr>
          <a:xfrm xmlns:a="http://schemas.openxmlformats.org/drawingml/2006/main">
            <a:off x="571500" y="1357313"/>
            <a:ext cx="5686425" cy="2500313"/>
          </a:xfrm>
          <a:prstGeom xmlns:a="http://schemas.openxmlformats.org/drawingml/2006/main" prst="rect">
            <a:avLst/>
          </a:prstGeom>
          <a:noFill xmlns:a="http://schemas.openxmlformats.org/drawingml/2006/main"/>
        </p:spPr>
      </p:sp>
      <p:sp>
        <p:nvSpPr>
          <p:cNvPr id="6" name="Shape 3">
            <a:extLst xmlns:a="http://schemas.openxmlformats.org/drawingml/2006/main">
              <a:ext uri="{FF2B5EF4-FFF2-40B4-BE49-F238E27FC236}">
                <a16:creationId xmlns:a16="http://schemas.microsoft.com/office/drawing/2014/main" id="{AAD21E79-5388-4323-BBEA-630F75CAD302}"/>
              </a:ext>
            </a:extLst>
          </p:cNvPr>
          <p:cNvSpPr>
            <a:spLocks xmlns:a="http://schemas.openxmlformats.org/drawingml/2006/main" noGrp="1"/>
          </p:cNvSpPr>
          <p:nvPr/>
        </p:nvSpPr>
        <p:spPr>
          <a:xfrm xmlns:a="http://schemas.openxmlformats.org/drawingml/2006/main">
            <a:off x="571500" y="1357313"/>
            <a:ext cx="5686425" cy="442913"/>
          </a:xfrm>
          <a:prstGeom xmlns:a="http://schemas.openxmlformats.org/drawingml/2006/main" prst="rect">
            <a:avLst/>
          </a:prstGeom>
          <a:solidFill xmlns:a="http://schemas.openxmlformats.org/drawingml/2006/main">
            <a:srgbClr val="267863">
              <a:alpha val="96000"/>
            </a:srgbClr>
          </a:solidFill>
        </p:spPr>
      </p:sp>
      <p:sp>
        <p:nvSpPr>
          <p:cNvPr id="7" name="Text 4">
            <a:extLst xmlns:a="http://schemas.openxmlformats.org/drawingml/2006/main">
              <a:ext uri="{FF2B5EF4-FFF2-40B4-BE49-F238E27FC236}">
                <a16:creationId xmlns:a16="http://schemas.microsoft.com/office/drawing/2014/main" id="{45776EB7-9617-4D7D-B0A7-5A575F335020}"/>
              </a:ext>
            </a:extLst>
          </p:cNvPr>
          <p:cNvSpPr>
            <a:spLocks xmlns:a="http://schemas.openxmlformats.org/drawingml/2006/main" noGrp="1"/>
          </p:cNvSpPr>
          <p:nvPr/>
        </p:nvSpPr>
        <p:spPr>
          <a:xfrm xmlns:a="http://schemas.openxmlformats.org/drawingml/2006/main">
            <a:off x="676275" y="1462088"/>
            <a:ext cx="2047875" cy="23336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37"/>
              </a:lnSpc>
              <a:buNone/>
            </a:pPr>
            <a:r>
              <a:rPr sz="1389" b="1">
                <a:solidFill>
                  <a:srgbClr val="4FE3BD">
                    <a:alpha val="99000"/>
                  </a:srgbClr>
                </a:solidFill>
                <a:latin typeface="Inter"/>
                <a:ea typeface="Inter"/>
                <a:cs typeface="Inter"/>
              </a:rPr>
              <a:t>Workflow step</a:t>
            </a:r>
            <a:endParaRPr sz="1389"/>
          </a:p>
        </p:txBody>
      </p:sp>
      <p:sp>
        <p:nvSpPr>
          <p:cNvPr id="8" name="Text 5">
            <a:extLst xmlns:a="http://schemas.openxmlformats.org/drawingml/2006/main">
              <a:ext uri="{FF2B5EF4-FFF2-40B4-BE49-F238E27FC236}">
                <a16:creationId xmlns:a16="http://schemas.microsoft.com/office/drawing/2014/main" id="{B664E17D-61E9-4A91-84B2-F4CE1AA8DEDA}"/>
              </a:ext>
            </a:extLst>
          </p:cNvPr>
          <p:cNvSpPr>
            <a:spLocks xmlns:a="http://schemas.openxmlformats.org/drawingml/2006/main" noGrp="1"/>
          </p:cNvSpPr>
          <p:nvPr/>
        </p:nvSpPr>
        <p:spPr>
          <a:xfrm xmlns:a="http://schemas.openxmlformats.org/drawingml/2006/main">
            <a:off x="2724150" y="1462088"/>
            <a:ext cx="3429000" cy="2047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14"/>
              </a:lnSpc>
              <a:buNone/>
            </a:pPr>
            <a:r>
              <a:rPr sz="1211" b="1">
                <a:solidFill>
                  <a:srgbClr val="4FE3BD">
                    <a:alpha val="99000"/>
                  </a:srgbClr>
                </a:solidFill>
                <a:latin typeface="Inter"/>
                <a:ea typeface="Inter"/>
                <a:cs typeface="Inter"/>
              </a:rPr>
              <a:t>What MCP adds</a:t>
            </a:r>
            <a:endParaRPr sz="1211"/>
          </a:p>
        </p:txBody>
      </p:sp>
      <p:sp>
        <p:nvSpPr>
          <p:cNvPr id="9" name="Shape 6">
            <a:extLst xmlns:a="http://schemas.openxmlformats.org/drawingml/2006/main">
              <a:ext uri="{FF2B5EF4-FFF2-40B4-BE49-F238E27FC236}">
                <a16:creationId xmlns:a16="http://schemas.microsoft.com/office/drawing/2014/main" id="{A474A67E-398D-4FB0-8133-31124DFD034D}"/>
              </a:ext>
            </a:extLst>
          </p:cNvPr>
          <p:cNvSpPr>
            <a:spLocks xmlns:a="http://schemas.openxmlformats.org/drawingml/2006/main" noGrp="1"/>
          </p:cNvSpPr>
          <p:nvPr/>
        </p:nvSpPr>
        <p:spPr>
          <a:xfrm xmlns:a="http://schemas.openxmlformats.org/drawingml/2006/main">
            <a:off x="571500" y="1819275"/>
            <a:ext cx="5686425" cy="590550"/>
          </a:xfrm>
          <a:prstGeom xmlns:a="http://schemas.openxmlformats.org/drawingml/2006/main" prst="rect">
            <a:avLst/>
          </a:prstGeom>
          <a:solidFill xmlns:a="http://schemas.openxmlformats.org/drawingml/2006/main">
            <a:srgbClr val="092925">
              <a:alpha val="96000"/>
            </a:srgbClr>
          </a:solidFill>
        </p:spPr>
      </p:sp>
      <p:sp>
        <p:nvSpPr>
          <p:cNvPr id="10" name="Text 7">
            <a:extLst xmlns:a="http://schemas.openxmlformats.org/drawingml/2006/main">
              <a:ext uri="{FF2B5EF4-FFF2-40B4-BE49-F238E27FC236}">
                <a16:creationId xmlns:a16="http://schemas.microsoft.com/office/drawing/2014/main" id="{DEC6A914-E940-4432-BFAC-787E7915B0C2}"/>
              </a:ext>
            </a:extLst>
          </p:cNvPr>
          <p:cNvSpPr>
            <a:spLocks xmlns:a="http://schemas.openxmlformats.org/drawingml/2006/main" noGrp="1"/>
          </p:cNvSpPr>
          <p:nvPr/>
        </p:nvSpPr>
        <p:spPr>
          <a:xfrm xmlns:a="http://schemas.openxmlformats.org/drawingml/2006/main">
            <a:off x="676275" y="1924050"/>
            <a:ext cx="2047875"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25"/>
              </a:lnSpc>
              <a:buNone/>
            </a:pPr>
            <a:r>
              <a:rPr sz="1140">
                <a:solidFill>
                  <a:srgbClr val="F5FFFA">
                    <a:alpha val="99000"/>
                  </a:srgbClr>
                </a:solidFill>
                <a:latin typeface="Inter"/>
                <a:ea typeface="Inter"/>
                <a:cs typeface="Inter"/>
              </a:rPr>
              <a:t>One-shot prompt</a:t>
            </a:r>
            <a:endParaRPr sz="1140"/>
          </a:p>
        </p:txBody>
      </p:sp>
      <p:sp>
        <p:nvSpPr>
          <p:cNvPr id="11" name="Text 8">
            <a:extLst xmlns:a="http://schemas.openxmlformats.org/drawingml/2006/main">
              <a:ext uri="{FF2B5EF4-FFF2-40B4-BE49-F238E27FC236}">
                <a16:creationId xmlns:a16="http://schemas.microsoft.com/office/drawing/2014/main" id="{CE109D26-9E0A-4389-B72A-22F2BB354958}"/>
              </a:ext>
            </a:extLst>
          </p:cNvPr>
          <p:cNvSpPr>
            <a:spLocks xmlns:a="http://schemas.openxmlformats.org/drawingml/2006/main" noGrp="1"/>
          </p:cNvSpPr>
          <p:nvPr/>
        </p:nvSpPr>
        <p:spPr>
          <a:xfrm xmlns:a="http://schemas.openxmlformats.org/drawingml/2006/main">
            <a:off x="2724150" y="1924050"/>
            <a:ext cx="34290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25"/>
              </a:lnSpc>
              <a:buNone/>
            </a:pPr>
            <a:r>
              <a:rPr sz="1140">
                <a:solidFill>
                  <a:srgbClr val="F5FFFA">
                    <a:alpha val="99000"/>
                  </a:srgbClr>
                </a:solidFill>
                <a:latin typeface="Inter"/>
                <a:ea typeface="Inter"/>
                <a:cs typeface="Inter"/>
              </a:rPr>
              <a:t>Gives instructions; tools still need a connection.</a:t>
            </a:r>
            <a:endParaRPr sz="1140"/>
          </a:p>
        </p:txBody>
      </p:sp>
      <p:sp>
        <p:nvSpPr>
          <p:cNvPr id="12" name="Shape 9">
            <a:extLst xmlns:a="http://schemas.openxmlformats.org/drawingml/2006/main">
              <a:ext uri="{FF2B5EF4-FFF2-40B4-BE49-F238E27FC236}">
                <a16:creationId xmlns:a16="http://schemas.microsoft.com/office/drawing/2014/main" id="{E6EDF1B5-0476-4994-AD99-1B1B6F17FB89}"/>
              </a:ext>
            </a:extLst>
          </p:cNvPr>
          <p:cNvSpPr>
            <a:spLocks xmlns:a="http://schemas.openxmlformats.org/drawingml/2006/main" noGrp="1"/>
          </p:cNvSpPr>
          <p:nvPr/>
        </p:nvSpPr>
        <p:spPr>
          <a:xfrm xmlns:a="http://schemas.openxmlformats.org/drawingml/2006/main">
            <a:off x="571500" y="2428875"/>
            <a:ext cx="5686425" cy="400050"/>
          </a:xfrm>
          <a:prstGeom xmlns:a="http://schemas.openxmlformats.org/drawingml/2006/main" prst="rect">
            <a:avLst/>
          </a:prstGeom>
          <a:solidFill xmlns:a="http://schemas.openxmlformats.org/drawingml/2006/main">
            <a:srgbClr val="092925">
              <a:alpha val="96000"/>
            </a:srgbClr>
          </a:solidFill>
        </p:spPr>
      </p:sp>
      <p:sp>
        <p:nvSpPr>
          <p:cNvPr id="13" name="Text 10">
            <a:extLst xmlns:a="http://schemas.openxmlformats.org/drawingml/2006/main">
              <a:ext uri="{FF2B5EF4-FFF2-40B4-BE49-F238E27FC236}">
                <a16:creationId xmlns:a16="http://schemas.microsoft.com/office/drawing/2014/main" id="{854CB9F8-5D2C-40FF-8EF0-D596A3990588}"/>
              </a:ext>
            </a:extLst>
          </p:cNvPr>
          <p:cNvSpPr>
            <a:spLocks xmlns:a="http://schemas.openxmlformats.org/drawingml/2006/main" noGrp="1"/>
          </p:cNvSpPr>
          <p:nvPr/>
        </p:nvSpPr>
        <p:spPr>
          <a:xfrm xmlns:a="http://schemas.openxmlformats.org/drawingml/2006/main">
            <a:off x="676275" y="2533650"/>
            <a:ext cx="2047875"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25"/>
              </a:lnSpc>
              <a:buNone/>
            </a:pPr>
            <a:r>
              <a:rPr sz="1140">
                <a:solidFill>
                  <a:srgbClr val="F5FFFA">
                    <a:alpha val="99000"/>
                  </a:srgbClr>
                </a:solidFill>
                <a:latin typeface="Inter"/>
                <a:ea typeface="Inter"/>
                <a:cs typeface="Inter"/>
              </a:rPr>
              <a:t>Live capabilities</a:t>
            </a:r>
            <a:endParaRPr sz="1140"/>
          </a:p>
        </p:txBody>
      </p:sp>
      <p:sp>
        <p:nvSpPr>
          <p:cNvPr id="14" name="Text 11">
            <a:extLst xmlns:a="http://schemas.openxmlformats.org/drawingml/2006/main">
              <a:ext uri="{FF2B5EF4-FFF2-40B4-BE49-F238E27FC236}">
                <a16:creationId xmlns:a16="http://schemas.microsoft.com/office/drawing/2014/main" id="{CE3E76EB-14D9-4328-82DF-670CB243B1B0}"/>
              </a:ext>
            </a:extLst>
          </p:cNvPr>
          <p:cNvSpPr>
            <a:spLocks xmlns:a="http://schemas.openxmlformats.org/drawingml/2006/main" noGrp="1"/>
          </p:cNvSpPr>
          <p:nvPr/>
        </p:nvSpPr>
        <p:spPr>
          <a:xfrm xmlns:a="http://schemas.openxmlformats.org/drawingml/2006/main">
            <a:off x="2724150" y="2533650"/>
            <a:ext cx="3429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25"/>
              </a:lnSpc>
              <a:buNone/>
            </a:pPr>
            <a:r>
              <a:rPr sz="1140">
                <a:solidFill>
                  <a:srgbClr val="F5FFFA">
                    <a:alpha val="99000"/>
                  </a:srgbClr>
                </a:solidFill>
                <a:latin typeface="Inter"/>
                <a:ea typeface="Inter"/>
                <a:cs typeface="Inter"/>
              </a:rPr>
              <a:t>The host discovers tools and input schemas.</a:t>
            </a:r>
            <a:endParaRPr sz="1140"/>
          </a:p>
        </p:txBody>
      </p:sp>
      <p:sp>
        <p:nvSpPr>
          <p:cNvPr id="15" name="Shape 12">
            <a:extLst xmlns:a="http://schemas.openxmlformats.org/drawingml/2006/main">
              <a:ext uri="{FF2B5EF4-FFF2-40B4-BE49-F238E27FC236}">
                <a16:creationId xmlns:a16="http://schemas.microsoft.com/office/drawing/2014/main" id="{8C46D23F-4169-445D-980A-2A56F32E0A13}"/>
              </a:ext>
            </a:extLst>
          </p:cNvPr>
          <p:cNvSpPr>
            <a:spLocks xmlns:a="http://schemas.openxmlformats.org/drawingml/2006/main" noGrp="1"/>
          </p:cNvSpPr>
          <p:nvPr/>
        </p:nvSpPr>
        <p:spPr>
          <a:xfrm xmlns:a="http://schemas.openxmlformats.org/drawingml/2006/main">
            <a:off x="571500" y="2847975"/>
            <a:ext cx="5686425" cy="400050"/>
          </a:xfrm>
          <a:prstGeom xmlns:a="http://schemas.openxmlformats.org/drawingml/2006/main" prst="rect">
            <a:avLst/>
          </a:prstGeom>
          <a:solidFill xmlns:a="http://schemas.openxmlformats.org/drawingml/2006/main">
            <a:srgbClr val="092925">
              <a:alpha val="96000"/>
            </a:srgbClr>
          </a:solidFill>
        </p:spPr>
      </p:sp>
      <p:sp>
        <p:nvSpPr>
          <p:cNvPr id="16" name="Text 13">
            <a:extLst xmlns:a="http://schemas.openxmlformats.org/drawingml/2006/main">
              <a:ext uri="{FF2B5EF4-FFF2-40B4-BE49-F238E27FC236}">
                <a16:creationId xmlns:a16="http://schemas.microsoft.com/office/drawing/2014/main" id="{9340D58F-89BA-4A1B-81A5-C901BA1F484B}"/>
              </a:ext>
            </a:extLst>
          </p:cNvPr>
          <p:cNvSpPr>
            <a:spLocks xmlns:a="http://schemas.openxmlformats.org/drawingml/2006/main" noGrp="1"/>
          </p:cNvSpPr>
          <p:nvPr/>
        </p:nvSpPr>
        <p:spPr>
          <a:xfrm xmlns:a="http://schemas.openxmlformats.org/drawingml/2006/main">
            <a:off x="676275" y="2952750"/>
            <a:ext cx="2047875"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25"/>
              </a:lnSpc>
              <a:buNone/>
            </a:pPr>
            <a:r>
              <a:rPr sz="1140">
                <a:solidFill>
                  <a:srgbClr val="F5FFFA">
                    <a:alpha val="99000"/>
                  </a:srgbClr>
                </a:solidFill>
                <a:latin typeface="Inter"/>
                <a:ea typeface="Inter"/>
                <a:cs typeface="Inter"/>
              </a:rPr>
              <a:t>Act + observe</a:t>
            </a:r>
            <a:endParaRPr sz="1140"/>
          </a:p>
        </p:txBody>
      </p:sp>
      <p:sp>
        <p:nvSpPr>
          <p:cNvPr id="17" name="Text 14">
            <a:extLst xmlns:a="http://schemas.openxmlformats.org/drawingml/2006/main">
              <a:ext uri="{FF2B5EF4-FFF2-40B4-BE49-F238E27FC236}">
                <a16:creationId xmlns:a16="http://schemas.microsoft.com/office/drawing/2014/main" id="{CE545847-1136-4E33-9D2F-0B77D7C33310}"/>
              </a:ext>
            </a:extLst>
          </p:cNvPr>
          <p:cNvSpPr>
            <a:spLocks xmlns:a="http://schemas.openxmlformats.org/drawingml/2006/main" noGrp="1"/>
          </p:cNvSpPr>
          <p:nvPr/>
        </p:nvSpPr>
        <p:spPr>
          <a:xfrm xmlns:a="http://schemas.openxmlformats.org/drawingml/2006/main">
            <a:off x="2724150" y="2952750"/>
            <a:ext cx="3429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25"/>
              </a:lnSpc>
              <a:buNone/>
            </a:pPr>
            <a:r>
              <a:rPr sz="1140">
                <a:solidFill>
                  <a:srgbClr val="F5FFFA">
                    <a:alpha val="99000"/>
                  </a:srgbClr>
                </a:solidFill>
                <a:latin typeface="Inter"/>
                <a:ea typeface="Inter"/>
                <a:cs typeface="Inter"/>
              </a:rPr>
              <a:t>Call an action, read state, then adjust.</a:t>
            </a:r>
            <a:endParaRPr sz="1140"/>
          </a:p>
        </p:txBody>
      </p:sp>
      <p:sp>
        <p:nvSpPr>
          <p:cNvPr id="18" name="Shape 15">
            <a:extLst xmlns:a="http://schemas.openxmlformats.org/drawingml/2006/main">
              <a:ext uri="{FF2B5EF4-FFF2-40B4-BE49-F238E27FC236}">
                <a16:creationId xmlns:a16="http://schemas.microsoft.com/office/drawing/2014/main" id="{EFD27E66-439A-4BBD-B75C-AC9AD3111049}"/>
              </a:ext>
            </a:extLst>
          </p:cNvPr>
          <p:cNvSpPr>
            <a:spLocks xmlns:a="http://schemas.openxmlformats.org/drawingml/2006/main" noGrp="1"/>
          </p:cNvSpPr>
          <p:nvPr/>
        </p:nvSpPr>
        <p:spPr>
          <a:xfrm xmlns:a="http://schemas.openxmlformats.org/drawingml/2006/main">
            <a:off x="571500" y="3267075"/>
            <a:ext cx="5686425" cy="590550"/>
          </a:xfrm>
          <a:prstGeom xmlns:a="http://schemas.openxmlformats.org/drawingml/2006/main" prst="rect">
            <a:avLst/>
          </a:prstGeom>
          <a:solidFill xmlns:a="http://schemas.openxmlformats.org/drawingml/2006/main">
            <a:srgbClr val="092925">
              <a:alpha val="96000"/>
            </a:srgbClr>
          </a:solidFill>
        </p:spPr>
      </p:sp>
      <p:sp>
        <p:nvSpPr>
          <p:cNvPr id="19" name="Text 16">
            <a:extLst xmlns:a="http://schemas.openxmlformats.org/drawingml/2006/main">
              <a:ext uri="{FF2B5EF4-FFF2-40B4-BE49-F238E27FC236}">
                <a16:creationId xmlns:a16="http://schemas.microsoft.com/office/drawing/2014/main" id="{EF5D8CD7-EC3D-46C0-A367-D8F47F4249D2}"/>
              </a:ext>
            </a:extLst>
          </p:cNvPr>
          <p:cNvSpPr>
            <a:spLocks xmlns:a="http://schemas.openxmlformats.org/drawingml/2006/main" noGrp="1"/>
          </p:cNvSpPr>
          <p:nvPr/>
        </p:nvSpPr>
        <p:spPr>
          <a:xfrm xmlns:a="http://schemas.openxmlformats.org/drawingml/2006/main">
            <a:off x="676275" y="3371850"/>
            <a:ext cx="2047875"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25"/>
              </a:lnSpc>
              <a:buNone/>
            </a:pPr>
            <a:r>
              <a:rPr sz="1140">
                <a:solidFill>
                  <a:srgbClr val="F5FFFA">
                    <a:alpha val="99000"/>
                  </a:srgbClr>
                </a:solidFill>
                <a:latin typeface="Inter"/>
                <a:ea typeface="Inter"/>
                <a:cs typeface="Inter"/>
              </a:rPr>
              <a:t>Reusable workflow</a:t>
            </a:r>
            <a:endParaRPr sz="1140"/>
          </a:p>
        </p:txBody>
      </p:sp>
      <p:sp>
        <p:nvSpPr>
          <p:cNvPr id="20" name="Text 17">
            <a:extLst xmlns:a="http://schemas.openxmlformats.org/drawingml/2006/main">
              <a:ext uri="{FF2B5EF4-FFF2-40B4-BE49-F238E27FC236}">
                <a16:creationId xmlns:a16="http://schemas.microsoft.com/office/drawing/2014/main" id="{98C877CA-14D6-4300-B6C6-AE138EA46D53}"/>
              </a:ext>
            </a:extLst>
          </p:cNvPr>
          <p:cNvSpPr>
            <a:spLocks xmlns:a="http://schemas.openxmlformats.org/drawingml/2006/main" noGrp="1"/>
          </p:cNvSpPr>
          <p:nvPr/>
        </p:nvSpPr>
        <p:spPr>
          <a:xfrm xmlns:a="http://schemas.openxmlformats.org/drawingml/2006/main">
            <a:off x="2724150" y="3371850"/>
            <a:ext cx="34290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25"/>
              </a:lnSpc>
              <a:buNone/>
            </a:pPr>
            <a:r>
              <a:rPr sz="1140">
                <a:solidFill>
                  <a:srgbClr val="F5FFFA">
                    <a:alpha val="99000"/>
                  </a:srgbClr>
                </a:solidFill>
                <a:latin typeface="Inter"/>
                <a:ea typeface="Inter"/>
                <a:cs typeface="Inter"/>
              </a:rPr>
              <a:t>Compatible hosts reuse the same tool interface.</a:t>
            </a:r>
            <a:endParaRPr sz="1140"/>
          </a:p>
        </p:txBody>
      </p:sp>
      <p:pic>
        <p:nvPicPr>
          <p:cNvPr id="21" name="Image 0">
            <a:extLst xmlns:a="http://schemas.openxmlformats.org/drawingml/2006/main">
              <a:ext uri="{FF2B5EF4-FFF2-40B4-BE49-F238E27FC236}">
                <a16:creationId xmlns:a16="http://schemas.microsoft.com/office/drawing/2014/main" id="{EE480805-D8CD-44AF-82E9-630C920E2DF4}"/>
              </a:ext>
            </a:extLst>
          </p:cNvPr>
          <p:cNvPicPr>
            <a:picLocks xmlns:a="http://schemas.openxmlformats.org/drawingml/2006/main" noChangeAspect="1"/>
          </p:cNvPicPr>
          <p:nvPr/>
        </p:nvPicPr>
        <p:blipFill>
          <a:blip xmlns:r="http://schemas.openxmlformats.org/officeDocument/2006/relationships" xmlns:a="http://schemas.openxmlformats.org/drawingml/2006/main" r:embed="R3676a5b443c54d4b"/>
          <a:srcRect xmlns:a="http://schemas.openxmlformats.org/drawingml/2006/main" l="0" t="0" r="0" b="0"/>
          <a:stretch xmlns:a="http://schemas.openxmlformats.org/drawingml/2006/main"/>
        </p:blipFill>
        <p:spPr>
          <a:xfrm xmlns:a="http://schemas.openxmlformats.org/drawingml/2006/main">
            <a:off x="6691313" y="1428750"/>
            <a:ext cx="1833563" cy="1490663"/>
          </a:xfrm>
          <a:prstGeom xmlns:a="http://schemas.openxmlformats.org/drawingml/2006/main" prst="rect">
            <a:avLst/>
          </a:prstGeom>
        </p:spPr>
      </p:pic>
      <p:sp>
        <p:nvSpPr>
          <p:cNvPr id="22" name="Text 18">
            <a:extLst xmlns:a="http://schemas.openxmlformats.org/drawingml/2006/main">
              <a:ext uri="{FF2B5EF4-FFF2-40B4-BE49-F238E27FC236}">
                <a16:creationId xmlns:a16="http://schemas.microsoft.com/office/drawing/2014/main" id="{FD672223-1925-44F9-9162-F915767847F5}"/>
              </a:ext>
            </a:extLst>
          </p:cNvPr>
          <p:cNvSpPr>
            <a:spLocks xmlns:a="http://schemas.openxmlformats.org/drawingml/2006/main" noGrp="1"/>
          </p:cNvSpPr>
          <p:nvPr/>
        </p:nvSpPr>
        <p:spPr>
          <a:xfrm xmlns:a="http://schemas.openxmlformats.org/drawingml/2006/main">
            <a:off x="6691313" y="3171825"/>
            <a:ext cx="1905000" cy="6572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48"/>
              </a:lnSpc>
              <a:buNone/>
            </a:pPr>
            <a:r>
              <a:rPr sz="1318" b="1">
                <a:solidFill>
                  <a:srgbClr val="F5FFFA">
                    <a:alpha val="99000"/>
                  </a:srgbClr>
                </a:solidFill>
                <a:latin typeface="Inter"/>
                <a:ea typeface="Inter"/>
                <a:cs typeface="Inter"/>
              </a:rPr>
              <a:t>Me when the next</a:t>
            </a:r>
            <a:endParaRPr sz="1318"/>
          </a:p>
          <a:p xmlns:a="http://schemas.openxmlformats.org/drawingml/2006/main">
            <a:pPr marL="0" indent="0" algn="l">
              <a:lnSpc>
                <a:spcPts val="1648"/>
              </a:lnSpc>
              <a:buNone/>
            </a:pPr>
            <a:r>
              <a:rPr sz="1318" b="1">
                <a:solidFill>
                  <a:srgbClr val="F5FFFA">
                    <a:alpha val="99000"/>
                  </a:srgbClr>
                </a:solidFill>
                <a:latin typeface="Inter"/>
                <a:ea typeface="Inter"/>
                <a:cs typeface="Inter"/>
              </a:rPr>
              <a:t>compatible AI host</a:t>
            </a:r>
            <a:endParaRPr sz="1318"/>
          </a:p>
          <a:p xmlns:a="http://schemas.openxmlformats.org/drawingml/2006/main">
            <a:pPr marL="0" indent="0" algn="l">
              <a:lnSpc>
                <a:spcPts val="1648"/>
              </a:lnSpc>
              <a:buNone/>
            </a:pPr>
            <a:r>
              <a:rPr sz="1318" b="1">
                <a:solidFill>
                  <a:srgbClr val="F5FFFA">
                    <a:alpha val="99000"/>
                  </a:srgbClr>
                </a:solidFill>
                <a:latin typeface="Inter"/>
                <a:ea typeface="Inter"/>
                <a:cs typeface="Inter"/>
              </a:rPr>
              <a:t>uses the same server.</a:t>
            </a:r>
            <a:endParaRPr sz="1318"/>
          </a:p>
        </p:txBody>
      </p:sp>
      <p:sp>
        <p:nvSpPr>
          <p:cNvPr id="23" name="Text 19">
            <a:extLst xmlns:a="http://schemas.openxmlformats.org/drawingml/2006/main">
              <a:ext uri="{FF2B5EF4-FFF2-40B4-BE49-F238E27FC236}">
                <a16:creationId xmlns:a16="http://schemas.microsoft.com/office/drawing/2014/main" id="{61E2CAC4-16A6-4123-8338-F6A5B322E0FD}"/>
              </a:ext>
            </a:extLst>
          </p:cNvPr>
          <p:cNvSpPr>
            <a:spLocks xmlns:a="http://schemas.openxmlformats.org/drawingml/2006/main" noGrp="1"/>
          </p:cNvSpPr>
          <p:nvPr/>
        </p:nvSpPr>
        <p:spPr>
          <a:xfrm xmlns:a="http://schemas.openxmlformats.org/drawingml/2006/main">
            <a:off x="8310562" y="4862513"/>
            <a:ext cx="619125" cy="1428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69"/>
              </a:lnSpc>
              <a:buNone/>
            </a:pPr>
            <a:r>
              <a:rPr sz="855">
                <a:solidFill>
                  <a:srgbClr val="BAD9CF">
                    <a:alpha val="99000"/>
                  </a:srgbClr>
                </a:solidFill>
                <a:latin typeface="Inter"/>
                <a:ea typeface="Inter"/>
                <a:cs typeface="Inter"/>
              </a:rPr>
              <a:t>05 / 29</a:t>
            </a:r>
            <a:endParaRPr sz="855"/>
          </a:p>
        </p:txBody>
      </p:sp>
      <p:sp>
        <p:nvSpPr>
          <p:cNvPr id="24" name="Text 20">
            <a:extLst xmlns:a="http://schemas.openxmlformats.org/drawingml/2006/main">
              <a:ext uri="{FF2B5EF4-FFF2-40B4-BE49-F238E27FC236}">
                <a16:creationId xmlns:a16="http://schemas.microsoft.com/office/drawing/2014/main" id="{F08D0ED6-983D-4478-AEFF-7F7224566D4C}"/>
              </a:ext>
            </a:extLst>
          </p:cNvPr>
          <p:cNvSpPr>
            <a:spLocks xmlns:a="http://schemas.openxmlformats.org/drawingml/2006/main" noGrp="1"/>
          </p:cNvSpPr>
          <p:nvPr/>
        </p:nvSpPr>
        <p:spPr>
          <a:xfrm xmlns:a="http://schemas.openxmlformats.org/drawingml/2006/main">
            <a:off x="571500" y="4357688"/>
            <a:ext cx="8001000" cy="1809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37"/>
              </a:lnSpc>
              <a:buNone/>
            </a:pPr>
            <a:r>
              <a:rPr sz="1104" b="1">
                <a:solidFill>
                  <a:srgbClr val="5CE5BD">
                    <a:alpha val="99000"/>
                  </a:srgbClr>
                </a:solidFill>
                <a:latin typeface="Inter"/>
                <a:ea typeface="Inter"/>
                <a:cs typeface="Inter"/>
              </a:rPr>
              <a:t>MCP does not guarantee correctness. Test tools and verify outcomes.</a:t>
            </a:r>
            <a:endParaRPr sz="1104"/>
          </a:p>
        </p:txBody>
      </p:sp>
    </p:spTree>
    <p:extLst>
      <p:ext uri="{BB962C8B-B14F-4D97-AF65-F5344CB8AC3E}">
        <p14:creationId xmlns:p14="http://schemas.microsoft.com/office/powerpoint/2010/main" val="62045390"/>
      </p:ext>
    </p:extLst>
  </p:cSld>
</p:sld>
</file>

<file path=ppt/slides/slide6.xml><?xml version="1.0" encoding="utf-8"?>
<p:sld xmlns:p="http://schemas.openxmlformats.org/presentationml/2006/main">
  <p:cSld>
    <p:bg>
      <p:bgPr>
        <a:blipFill xmlns:a="http://schemas.openxmlformats.org/drawingml/2006/main" rotWithShape="1">
          <a:blip xmlns:r="http://schemas.openxmlformats.org/officeDocument/2006/relationships" r:embed="R948e316f5bc74a5b">
            <a:lum/>
          </a:blip>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C2AE26C6-1C11-4E4B-A135-9D13B9A70E05}"/>
              </a:ext>
            </a:extLst>
          </p:cNvPr>
          <p:cNvSpPr>
            <a:spLocks xmlns:a="http://schemas.openxmlformats.org/drawingml/2006/main" noGrp="1"/>
          </p:cNvSpPr>
          <p:nvPr/>
        </p:nvSpPr>
        <p:spPr>
          <a:xfrm xmlns:a="http://schemas.openxmlformats.org/drawingml/2006/main">
            <a:off x="571500" y="304800"/>
            <a:ext cx="8001000" cy="3714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761"/>
              </a:lnSpc>
              <a:buNone/>
            </a:pPr>
            <a:r>
              <a:rPr sz="2209" b="1">
                <a:solidFill>
                  <a:srgbClr val="F5FFFA">
                    <a:alpha val="99000"/>
                  </a:srgbClr>
                </a:solidFill>
                <a:latin typeface="Inter"/>
                <a:ea typeface="Inter"/>
                <a:cs typeface="Inter"/>
              </a:rPr>
              <a:t>Host, client, server: the apps you know</a:t>
            </a:r>
            <a:endParaRPr sz="2209"/>
          </a:p>
        </p:txBody>
      </p:sp>
      <p:sp>
        <p:nvSpPr>
          <p:cNvPr id="4" name="Shape 1">
            <a:extLst xmlns:a="http://schemas.openxmlformats.org/drawingml/2006/main">
              <a:ext uri="{FF2B5EF4-FFF2-40B4-BE49-F238E27FC236}">
                <a16:creationId xmlns:a16="http://schemas.microsoft.com/office/drawing/2014/main" id="{43247E42-80DE-4919-8464-55A540EA0DB0}"/>
              </a:ext>
            </a:extLst>
          </p:cNvPr>
          <p:cNvSpPr>
            <a:spLocks xmlns:a="http://schemas.openxmlformats.org/drawingml/2006/main" noGrp="1"/>
          </p:cNvSpPr>
          <p:nvPr/>
        </p:nvSpPr>
        <p:spPr>
          <a:xfrm xmlns:a="http://schemas.openxmlformats.org/drawingml/2006/main">
            <a:off x="581025" y="838200"/>
            <a:ext cx="523875" cy="33338"/>
          </a:xfrm>
          <a:prstGeom xmlns:a="http://schemas.openxmlformats.org/drawingml/2006/main" prst="rect">
            <a:avLst/>
          </a:prstGeom>
          <a:solidFill xmlns:a="http://schemas.openxmlformats.org/drawingml/2006/main">
            <a:srgbClr val="4FE3BD"/>
          </a:solidFill>
        </p:spPr>
      </p:sp>
      <p:sp>
        <p:nvSpPr>
          <p:cNvPr id="5" name="Shape 2">
            <a:extLst xmlns:a="http://schemas.openxmlformats.org/drawingml/2006/main">
              <a:ext uri="{FF2B5EF4-FFF2-40B4-BE49-F238E27FC236}">
                <a16:creationId xmlns:a16="http://schemas.microsoft.com/office/drawing/2014/main" id="{C7E80F37-3E61-4456-9FFF-7C3B340787F4}"/>
              </a:ext>
            </a:extLst>
          </p:cNvPr>
          <p:cNvSpPr>
            <a:spLocks xmlns:a="http://schemas.openxmlformats.org/drawingml/2006/main" noGrp="1"/>
          </p:cNvSpPr>
          <p:nvPr/>
        </p:nvSpPr>
        <p:spPr>
          <a:xfrm xmlns:a="http://schemas.openxmlformats.org/drawingml/2006/main">
            <a:off x="571500" y="1238250"/>
            <a:ext cx="4476750" cy="2338388"/>
          </a:xfrm>
          <a:prstGeom xmlns:a="http://schemas.openxmlformats.org/drawingml/2006/main" prst="roundRect">
            <a:avLst>
              <a:gd name="adj" fmla="val 8603"/>
            </a:avLst>
          </a:prstGeom>
          <a:solidFill xmlns:a="http://schemas.openxmlformats.org/drawingml/2006/main">
            <a:srgbClr val="092925">
              <a:alpha val="96000"/>
            </a:srgbClr>
          </a:solidFill>
          <a:ln xmlns:a="http://schemas.openxmlformats.org/drawingml/2006/main" w="4524">
            <a:solidFill>
              <a:srgbClr val="267863"/>
            </a:solidFill>
            <a:prstDash val="solid"/>
          </a:ln>
        </p:spPr>
      </p:sp>
      <p:sp>
        <p:nvSpPr>
          <p:cNvPr id="6" name="Text 3">
            <a:extLst xmlns:a="http://schemas.openxmlformats.org/drawingml/2006/main">
              <a:ext uri="{FF2B5EF4-FFF2-40B4-BE49-F238E27FC236}">
                <a16:creationId xmlns:a16="http://schemas.microsoft.com/office/drawing/2014/main" id="{E9BF46D0-F4D8-41FC-826D-1E467F9F6496}"/>
              </a:ext>
            </a:extLst>
          </p:cNvPr>
          <p:cNvSpPr>
            <a:spLocks xmlns:a="http://schemas.openxmlformats.org/drawingml/2006/main" noGrp="1"/>
          </p:cNvSpPr>
          <p:nvPr/>
        </p:nvSpPr>
        <p:spPr>
          <a:xfrm xmlns:a="http://schemas.openxmlformats.org/drawingml/2006/main">
            <a:off x="728663" y="1395413"/>
            <a:ext cx="417195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2"/>
              </a:lnSpc>
              <a:buNone/>
            </a:pPr>
            <a:r>
              <a:rPr sz="1354" b="1">
                <a:solidFill>
                  <a:srgbClr val="4FE3BD">
                    <a:alpha val="99000"/>
                  </a:srgbClr>
                </a:solidFill>
                <a:latin typeface="Inter"/>
                <a:ea typeface="Inter"/>
                <a:cs typeface="Inter"/>
              </a:rPr>
              <a:t>HOST · the AI Application you use</a:t>
            </a:r>
            <a:endParaRPr sz="1354"/>
          </a:p>
        </p:txBody>
      </p:sp>
      <p:sp>
        <p:nvSpPr>
          <p:cNvPr id="7" name="Text 4">
            <a:extLst xmlns:a="http://schemas.openxmlformats.org/drawingml/2006/main">
              <a:ext uri="{FF2B5EF4-FFF2-40B4-BE49-F238E27FC236}">
                <a16:creationId xmlns:a16="http://schemas.microsoft.com/office/drawing/2014/main" id="{1A218636-25BD-4C05-8A76-9D0D93E991E8}"/>
              </a:ext>
            </a:extLst>
          </p:cNvPr>
          <p:cNvSpPr>
            <a:spLocks xmlns:a="http://schemas.openxmlformats.org/drawingml/2006/main" noGrp="1"/>
          </p:cNvSpPr>
          <p:nvPr/>
        </p:nvSpPr>
        <p:spPr>
          <a:xfrm xmlns:a="http://schemas.openxmlformats.org/drawingml/2006/main">
            <a:off x="728663" y="1757363"/>
            <a:ext cx="4171950" cy="571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25"/>
              </a:lnSpc>
              <a:buNone/>
            </a:pPr>
            <a:r>
              <a:rPr sz="1140">
                <a:solidFill>
                  <a:srgbClr val="F5FFFA">
                    <a:alpha val="99000"/>
                  </a:srgbClr>
                </a:solidFill>
                <a:latin typeface="Inter"/>
                <a:ea typeface="Inter"/>
                <a:cs typeface="Inter"/>
              </a:rPr>
              <a:t>VS Code + GitHub Copilot</a:t>
            </a:r>
            <a:endParaRPr sz="1140"/>
          </a:p>
          <a:p xmlns:a="http://schemas.openxmlformats.org/drawingml/2006/main">
            <a:pPr marL="0" indent="0" algn="l">
              <a:lnSpc>
                <a:spcPts val="1425"/>
              </a:lnSpc>
              <a:buNone/>
            </a:pPr>
            <a:r>
              <a:rPr sz="1140">
                <a:solidFill>
                  <a:srgbClr val="F5FFFA">
                    <a:alpha val="99000"/>
                  </a:srgbClr>
                </a:solidFill>
                <a:latin typeface="Inter"/>
                <a:ea typeface="Inter"/>
                <a:cs typeface="Inter"/>
              </a:rPr>
              <a:t>Agent chat coordinates model, tools and permissions.</a:t>
            </a:r>
            <a:endParaRPr sz="1140"/>
          </a:p>
        </p:txBody>
      </p:sp>
      <p:sp>
        <p:nvSpPr>
          <p:cNvPr id="8" name="Shape 5">
            <a:extLst xmlns:a="http://schemas.openxmlformats.org/drawingml/2006/main">
              <a:ext uri="{FF2B5EF4-FFF2-40B4-BE49-F238E27FC236}">
                <a16:creationId xmlns:a16="http://schemas.microsoft.com/office/drawing/2014/main" id="{2D4B0B6D-81CD-4478-8AC1-35FD296C50C3}"/>
              </a:ext>
            </a:extLst>
          </p:cNvPr>
          <p:cNvSpPr>
            <a:spLocks xmlns:a="http://schemas.openxmlformats.org/drawingml/2006/main" noGrp="1"/>
          </p:cNvSpPr>
          <p:nvPr/>
        </p:nvSpPr>
        <p:spPr>
          <a:xfrm xmlns:a="http://schemas.openxmlformats.org/drawingml/2006/main">
            <a:off x="728663" y="2462213"/>
            <a:ext cx="4171950" cy="957263"/>
          </a:xfrm>
          <a:prstGeom xmlns:a="http://schemas.openxmlformats.org/drawingml/2006/main" prst="roundRect">
            <a:avLst>
              <a:gd name="adj" fmla="val 21015"/>
            </a:avLst>
          </a:prstGeom>
          <a:solidFill xmlns:a="http://schemas.openxmlformats.org/drawingml/2006/main">
            <a:srgbClr val="092925">
              <a:alpha val="96000"/>
            </a:srgbClr>
          </a:solidFill>
          <a:ln xmlns:a="http://schemas.openxmlformats.org/drawingml/2006/main" w="4524">
            <a:solidFill>
              <a:srgbClr val="267863"/>
            </a:solidFill>
            <a:prstDash val="solid"/>
          </a:ln>
        </p:spPr>
      </p:sp>
      <p:sp>
        <p:nvSpPr>
          <p:cNvPr id="9" name="Text 6">
            <a:extLst xmlns:a="http://schemas.openxmlformats.org/drawingml/2006/main">
              <a:ext uri="{FF2B5EF4-FFF2-40B4-BE49-F238E27FC236}">
                <a16:creationId xmlns:a16="http://schemas.microsoft.com/office/drawing/2014/main" id="{41171E76-CE7F-4F91-8C7F-32F7F436AC55}"/>
              </a:ext>
            </a:extLst>
          </p:cNvPr>
          <p:cNvSpPr>
            <a:spLocks xmlns:a="http://schemas.openxmlformats.org/drawingml/2006/main" noGrp="1"/>
          </p:cNvSpPr>
          <p:nvPr/>
        </p:nvSpPr>
        <p:spPr>
          <a:xfrm xmlns:a="http://schemas.openxmlformats.org/drawingml/2006/main">
            <a:off x="885825" y="2619375"/>
            <a:ext cx="3867150" cy="18573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80"/>
              </a:lnSpc>
              <a:buNone/>
            </a:pPr>
            <a:r>
              <a:rPr sz="1104" b="1">
                <a:solidFill>
                  <a:srgbClr val="4FE3BD">
                    <a:alpha val="99000"/>
                  </a:srgbClr>
                </a:solidFill>
                <a:latin typeface="Inter"/>
                <a:ea typeface="Inter"/>
                <a:cs typeface="Inter"/>
              </a:rPr>
              <a:t>CLIENT · the MCP connection inside it</a:t>
            </a:r>
            <a:endParaRPr sz="1104"/>
          </a:p>
        </p:txBody>
      </p:sp>
      <p:sp>
        <p:nvSpPr>
          <p:cNvPr id="10" name="Text 7">
            <a:extLst xmlns:a="http://schemas.openxmlformats.org/drawingml/2006/main">
              <a:ext uri="{FF2B5EF4-FFF2-40B4-BE49-F238E27FC236}">
                <a16:creationId xmlns:a16="http://schemas.microsoft.com/office/drawing/2014/main" id="{29F4D6B9-F363-47DC-8C8E-4A2795E5E6CD}"/>
              </a:ext>
            </a:extLst>
          </p:cNvPr>
          <p:cNvSpPr>
            <a:spLocks xmlns:a="http://schemas.openxmlformats.org/drawingml/2006/main" noGrp="1"/>
          </p:cNvSpPr>
          <p:nvPr/>
        </p:nvSpPr>
        <p:spPr>
          <a:xfrm xmlns:a="http://schemas.openxmlformats.org/drawingml/2006/main">
            <a:off x="885825" y="2900363"/>
            <a:ext cx="3867150" cy="3619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36"/>
              </a:lnSpc>
              <a:buNone/>
            </a:pPr>
            <a:r>
              <a:rPr sz="1069">
                <a:solidFill>
                  <a:srgbClr val="F5FFFA">
                    <a:alpha val="99000"/>
                  </a:srgbClr>
                </a:solidFill>
                <a:latin typeface="Inter"/>
                <a:ea typeface="Inter"/>
                <a:cs typeface="Inter"/>
              </a:rPr>
              <a:t>Built into the VS Code host</a:t>
            </a:r>
            <a:endParaRPr sz="1069"/>
          </a:p>
          <a:p xmlns:a="http://schemas.openxmlformats.org/drawingml/2006/main">
            <a:pPr marL="0" indent="0" algn="l">
              <a:lnSpc>
                <a:spcPts val="1336"/>
              </a:lnSpc>
              <a:buNone/>
            </a:pPr>
            <a:r>
              <a:rPr sz="1069">
                <a:solidFill>
                  <a:srgbClr val="F5FFFA">
                    <a:alpha val="99000"/>
                  </a:srgbClr>
                </a:solidFill>
                <a:latin typeface="Inter"/>
                <a:ea typeface="Inter"/>
                <a:cs typeface="Inter"/>
              </a:rPr>
              <a:t>Discovers tools, sends calls, receives results.</a:t>
            </a:r>
            <a:endParaRPr sz="1069"/>
          </a:p>
        </p:txBody>
      </p:sp>
      <p:sp>
        <p:nvSpPr>
          <p:cNvPr id="11" name="Text 8">
            <a:extLst xmlns:a="http://schemas.openxmlformats.org/drawingml/2006/main">
              <a:ext uri="{FF2B5EF4-FFF2-40B4-BE49-F238E27FC236}">
                <a16:creationId xmlns:a16="http://schemas.microsoft.com/office/drawing/2014/main" id="{47BD7FB9-3E6A-4BBF-9B21-A45E48AC931C}"/>
              </a:ext>
            </a:extLst>
          </p:cNvPr>
          <p:cNvSpPr>
            <a:spLocks xmlns:a="http://schemas.openxmlformats.org/drawingml/2006/main" noGrp="1"/>
          </p:cNvSpPr>
          <p:nvPr/>
        </p:nvSpPr>
        <p:spPr>
          <a:xfrm xmlns:a="http://schemas.openxmlformats.org/drawingml/2006/main">
            <a:off x="5191125" y="2119313"/>
            <a:ext cx="571500" cy="45243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384"/>
              </a:lnSpc>
              <a:buNone/>
            </a:pPr>
            <a:r>
              <a:rPr sz="2708" b="1">
                <a:solidFill>
                  <a:srgbClr val="4FE3BD">
                    <a:alpha val="99000"/>
                  </a:srgbClr>
                </a:solidFill>
                <a:latin typeface="Inter"/>
                <a:ea typeface="Inter"/>
                <a:cs typeface="Inter"/>
              </a:rPr>
              <a:t>↔</a:t>
            </a:r>
            <a:endParaRPr sz="2708"/>
          </a:p>
        </p:txBody>
      </p:sp>
      <p:sp>
        <p:nvSpPr>
          <p:cNvPr id="12" name="Text 9">
            <a:extLst xmlns:a="http://schemas.openxmlformats.org/drawingml/2006/main">
              <a:ext uri="{FF2B5EF4-FFF2-40B4-BE49-F238E27FC236}">
                <a16:creationId xmlns:a16="http://schemas.microsoft.com/office/drawing/2014/main" id="{F0D3B26D-5063-44A3-A7E2-BCE14015D4C6}"/>
              </a:ext>
            </a:extLst>
          </p:cNvPr>
          <p:cNvSpPr>
            <a:spLocks xmlns:a="http://schemas.openxmlformats.org/drawingml/2006/main" noGrp="1"/>
          </p:cNvSpPr>
          <p:nvPr/>
        </p:nvSpPr>
        <p:spPr>
          <a:xfrm xmlns:a="http://schemas.openxmlformats.org/drawingml/2006/main">
            <a:off x="5143500" y="2595563"/>
            <a:ext cx="619125" cy="1809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36"/>
              </a:lnSpc>
              <a:buNone/>
            </a:pPr>
            <a:r>
              <a:rPr sz="1069">
                <a:solidFill>
                  <a:srgbClr val="BAD9CF">
                    <a:alpha val="99000"/>
                  </a:srgbClr>
                </a:solidFill>
                <a:latin typeface="Inter"/>
                <a:ea typeface="Inter"/>
                <a:cs typeface="Inter"/>
              </a:rPr>
              <a:t>MCP</a:t>
            </a:r>
            <a:endParaRPr sz="1069"/>
          </a:p>
        </p:txBody>
      </p:sp>
      <p:sp>
        <p:nvSpPr>
          <p:cNvPr id="13" name="Shape 10">
            <a:extLst xmlns:a="http://schemas.openxmlformats.org/drawingml/2006/main">
              <a:ext uri="{FF2B5EF4-FFF2-40B4-BE49-F238E27FC236}">
                <a16:creationId xmlns:a16="http://schemas.microsoft.com/office/drawing/2014/main" id="{072F3C09-2614-49A1-A85D-7F299C86A7ED}"/>
              </a:ext>
            </a:extLst>
          </p:cNvPr>
          <p:cNvSpPr>
            <a:spLocks xmlns:a="http://schemas.openxmlformats.org/drawingml/2006/main" noGrp="1"/>
          </p:cNvSpPr>
          <p:nvPr/>
        </p:nvSpPr>
        <p:spPr>
          <a:xfrm xmlns:a="http://schemas.openxmlformats.org/drawingml/2006/main">
            <a:off x="5905500" y="1524000"/>
            <a:ext cx="2667000" cy="1323975"/>
          </a:xfrm>
          <a:prstGeom xmlns:a="http://schemas.openxmlformats.org/drawingml/2006/main" prst="roundRect">
            <a:avLst>
              <a:gd name="adj" fmla="val 15194"/>
            </a:avLst>
          </a:prstGeom>
          <a:solidFill xmlns:a="http://schemas.openxmlformats.org/drawingml/2006/main">
            <a:srgbClr val="092925">
              <a:alpha val="96000"/>
            </a:srgbClr>
          </a:solidFill>
          <a:ln xmlns:a="http://schemas.openxmlformats.org/drawingml/2006/main" w="4524">
            <a:solidFill>
              <a:srgbClr val="267863"/>
            </a:solidFill>
            <a:prstDash val="solid"/>
          </a:ln>
        </p:spPr>
      </p:sp>
      <p:sp>
        <p:nvSpPr>
          <p:cNvPr id="14" name="Text 11">
            <a:extLst xmlns:a="http://schemas.openxmlformats.org/drawingml/2006/main">
              <a:ext uri="{FF2B5EF4-FFF2-40B4-BE49-F238E27FC236}">
                <a16:creationId xmlns:a16="http://schemas.microsoft.com/office/drawing/2014/main" id="{F80C880D-F0DD-427A-A8EB-EA4BFAE77CDC}"/>
              </a:ext>
            </a:extLst>
          </p:cNvPr>
          <p:cNvSpPr>
            <a:spLocks xmlns:a="http://schemas.openxmlformats.org/drawingml/2006/main" noGrp="1"/>
          </p:cNvSpPr>
          <p:nvPr/>
        </p:nvSpPr>
        <p:spPr>
          <a:xfrm xmlns:a="http://schemas.openxmlformats.org/drawingml/2006/main">
            <a:off x="6062663" y="1681163"/>
            <a:ext cx="23622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25"/>
              </a:lnSpc>
              <a:buNone/>
            </a:pPr>
            <a:r>
              <a:rPr sz="1140" b="1">
                <a:solidFill>
                  <a:srgbClr val="4FE3BD">
                    <a:alpha val="99000"/>
                  </a:srgbClr>
                </a:solidFill>
                <a:latin typeface="Inter"/>
                <a:ea typeface="Inter"/>
                <a:cs typeface="Inter"/>
              </a:rPr>
              <a:t>SERVER · exposes tools</a:t>
            </a:r>
            <a:endParaRPr sz="1140"/>
          </a:p>
        </p:txBody>
      </p:sp>
      <p:sp>
        <p:nvSpPr>
          <p:cNvPr id="15" name="Text 12">
            <a:extLst xmlns:a="http://schemas.openxmlformats.org/drawingml/2006/main">
              <a:ext uri="{FF2B5EF4-FFF2-40B4-BE49-F238E27FC236}">
                <a16:creationId xmlns:a16="http://schemas.microsoft.com/office/drawing/2014/main" id="{B9FAA452-DB41-403B-AB8B-D1EF0DC39884}"/>
              </a:ext>
            </a:extLst>
          </p:cNvPr>
          <p:cNvSpPr>
            <a:spLocks xmlns:a="http://schemas.openxmlformats.org/drawingml/2006/main" noGrp="1"/>
          </p:cNvSpPr>
          <p:nvPr/>
        </p:nvSpPr>
        <p:spPr>
          <a:xfrm xmlns:a="http://schemas.openxmlformats.org/drawingml/2006/main">
            <a:off x="6062663" y="2005013"/>
            <a:ext cx="23622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91"/>
              </a:lnSpc>
              <a:buNone/>
            </a:pPr>
            <a:r>
              <a:rPr sz="1033">
                <a:solidFill>
                  <a:srgbClr val="F5FFFA">
                    <a:alpha val="99000"/>
                  </a:srgbClr>
                </a:solidFill>
                <a:latin typeface="Inter"/>
                <a:ea typeface="Inter"/>
                <a:cs typeface="Inter"/>
              </a:rPr>
              <a:t>Lab: workshop/starter/mcp_server_sdk.py</a:t>
            </a:r>
            <a:endParaRPr sz="1033"/>
          </a:p>
          <a:p xmlns:a="http://schemas.openxmlformats.org/drawingml/2006/main">
            <a:pPr marL="0" indent="0" algn="l">
              <a:lnSpc>
                <a:spcPts val="1291"/>
              </a:lnSpc>
              <a:buNone/>
            </a:pPr>
            <a:r>
              <a:rPr sz="1033">
                <a:solidFill>
                  <a:srgbClr val="F5FFFA">
                    <a:alpha val="99000"/>
                  </a:srgbClr>
                </a:solidFill>
                <a:latin typeface="Inter"/>
                <a:ea typeface="Inter"/>
                <a:cs typeface="Inter"/>
              </a:rPr>
              <a:t>Built with SDK FastMCP</a:t>
            </a:r>
            <a:endParaRPr sz="1033"/>
          </a:p>
          <a:p xmlns:a="http://schemas.openxmlformats.org/drawingml/2006/main">
            <a:pPr marL="0" indent="0" algn="l">
              <a:lnSpc>
                <a:spcPts val="1291"/>
              </a:lnSpc>
              <a:buNone/>
            </a:pPr>
            <a:r>
              <a:rPr sz="1033">
                <a:solidFill>
                  <a:srgbClr val="F5FFFA">
                    <a:alpha val="99000"/>
                  </a:srgbClr>
                </a:solidFill>
                <a:latin typeface="Inter"/>
                <a:ea typeface="Inter"/>
                <a:cs typeface="Inter"/>
              </a:rPr>
              <a:t>get_state + set_tempo; you add set_swing</a:t>
            </a:r>
            <a:endParaRPr sz="1033"/>
          </a:p>
        </p:txBody>
      </p:sp>
      <p:sp>
        <p:nvSpPr>
          <p:cNvPr id="16" name="Text 13">
            <a:extLst xmlns:a="http://schemas.openxmlformats.org/drawingml/2006/main">
              <a:ext uri="{FF2B5EF4-FFF2-40B4-BE49-F238E27FC236}">
                <a16:creationId xmlns:a16="http://schemas.microsoft.com/office/drawing/2014/main" id="{46FFFCA8-AA09-4782-89B4-364220EA3619}"/>
              </a:ext>
            </a:extLst>
          </p:cNvPr>
          <p:cNvSpPr>
            <a:spLocks xmlns:a="http://schemas.openxmlformats.org/drawingml/2006/main" noGrp="1"/>
          </p:cNvSpPr>
          <p:nvPr/>
        </p:nvSpPr>
        <p:spPr>
          <a:xfrm xmlns:a="http://schemas.openxmlformats.org/drawingml/2006/main">
            <a:off x="8310562" y="4862513"/>
            <a:ext cx="619125" cy="1428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69"/>
              </a:lnSpc>
              <a:buNone/>
            </a:pPr>
            <a:r>
              <a:rPr sz="855">
                <a:solidFill>
                  <a:srgbClr val="BAD9CF">
                    <a:alpha val="99000"/>
                  </a:srgbClr>
                </a:solidFill>
                <a:latin typeface="Inter"/>
                <a:ea typeface="Inter"/>
                <a:cs typeface="Inter"/>
              </a:rPr>
              <a:t>06 / 29</a:t>
            </a:r>
            <a:endParaRPr sz="855"/>
          </a:p>
        </p:txBody>
      </p:sp>
      <p:sp>
        <p:nvSpPr>
          <p:cNvPr id="17" name="Text 14">
            <a:extLst xmlns:a="http://schemas.openxmlformats.org/drawingml/2006/main">
              <a:ext uri="{FF2B5EF4-FFF2-40B4-BE49-F238E27FC236}">
                <a16:creationId xmlns:a16="http://schemas.microsoft.com/office/drawing/2014/main" id="{363CBE5B-5F01-4115-BA32-9C30784FAD68}"/>
              </a:ext>
            </a:extLst>
          </p:cNvPr>
          <p:cNvSpPr>
            <a:spLocks xmlns:a="http://schemas.openxmlformats.org/drawingml/2006/main" noGrp="1"/>
          </p:cNvSpPr>
          <p:nvPr/>
        </p:nvSpPr>
        <p:spPr>
          <a:xfrm xmlns:a="http://schemas.openxmlformats.org/drawingml/2006/main">
            <a:off x="571500" y="4029075"/>
            <a:ext cx="8001000" cy="342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93"/>
              </a:lnSpc>
              <a:buNone/>
            </a:pPr>
            <a:r>
              <a:rPr sz="1069">
                <a:solidFill>
                  <a:srgbClr val="F2FAF5">
                    <a:alpha val="99000"/>
                  </a:srgbClr>
                </a:solidFill>
                <a:latin typeface="Inter"/>
                <a:ea typeface="Inter"/>
                <a:cs typeface="Inter"/>
              </a:rPr>
              <a:t>Model ≠ host: the selected model reasons; VS Code coordinates the calls.</a:t>
            </a:r>
            <a:endParaRPr sz="1069"/>
          </a:p>
          <a:p xmlns:a="http://schemas.openxmlformats.org/drawingml/2006/main">
            <a:pPr marL="0" indent="0" algn="l">
              <a:lnSpc>
                <a:spcPts val="1293"/>
              </a:lnSpc>
              <a:buNone/>
            </a:pPr>
            <a:r>
              <a:rPr sz="1069">
                <a:solidFill>
                  <a:srgbClr val="F2FAF5">
                    <a:alpha val="99000"/>
                  </a:srgbClr>
                </a:solidFill>
                <a:latin typeface="Inter"/>
                <a:ea typeface="Inter"/>
                <a:cs typeface="Inter"/>
              </a:rPr>
              <a:t>Backend ≠ MCP server: app.py changes the music; the server exposes its controls.</a:t>
            </a:r>
            <a:endParaRPr sz="1069"/>
          </a:p>
        </p:txBody>
      </p:sp>
    </p:spTree>
    <p:extLst>
      <p:ext uri="{BB962C8B-B14F-4D97-AF65-F5344CB8AC3E}">
        <p14:creationId xmlns:p14="http://schemas.microsoft.com/office/powerpoint/2010/main" val="1334966838"/>
      </p:ext>
    </p:extLst>
  </p:cSld>
</p:sld>
</file>

<file path=ppt/slides/slide7.xml><?xml version="1.0" encoding="utf-8"?>
<p:sld xmlns:p="http://schemas.openxmlformats.org/presentationml/2006/main">
  <p:cSld>
    <p:bg>
      <p:bgPr>
        <a:blipFill xmlns:a="http://schemas.openxmlformats.org/drawingml/2006/main" rotWithShape="1">
          <a:blip xmlns:r="http://schemas.openxmlformats.org/officeDocument/2006/relationships" r:embed="R21851f1b7e0642b7">
            <a:lum/>
          </a:blip>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646D2B87-85B3-4A65-9F44-20D607E4F0EF}"/>
              </a:ext>
            </a:extLst>
          </p:cNvPr>
          <p:cNvSpPr>
            <a:spLocks xmlns:a="http://schemas.openxmlformats.org/drawingml/2006/main" noGrp="1"/>
          </p:cNvSpPr>
          <p:nvPr/>
        </p:nvSpPr>
        <p:spPr>
          <a:xfrm xmlns:a="http://schemas.openxmlformats.org/drawingml/2006/main">
            <a:off x="571500" y="304800"/>
            <a:ext cx="8001000" cy="4191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117"/>
              </a:lnSpc>
              <a:buNone/>
            </a:pPr>
            <a:r>
              <a:rPr sz="2494" b="1">
                <a:solidFill>
                  <a:srgbClr val="F5FFFA">
                    <a:alpha val="99000"/>
                  </a:srgbClr>
                </a:solidFill>
                <a:latin typeface="Inter"/>
                <a:ea typeface="Inter"/>
                <a:cs typeface="Inter"/>
              </a:rPr>
              <a:t>Where an API fits</a:t>
            </a:r>
            <a:endParaRPr sz="2494"/>
          </a:p>
        </p:txBody>
      </p:sp>
      <p:sp>
        <p:nvSpPr>
          <p:cNvPr id="4" name="Shape 1">
            <a:extLst xmlns:a="http://schemas.openxmlformats.org/drawingml/2006/main">
              <a:ext uri="{FF2B5EF4-FFF2-40B4-BE49-F238E27FC236}">
                <a16:creationId xmlns:a16="http://schemas.microsoft.com/office/drawing/2014/main" id="{C9C29475-3966-49F3-97D7-0AAE344C7D84}"/>
              </a:ext>
            </a:extLst>
          </p:cNvPr>
          <p:cNvSpPr>
            <a:spLocks xmlns:a="http://schemas.openxmlformats.org/drawingml/2006/main" noGrp="1"/>
          </p:cNvSpPr>
          <p:nvPr/>
        </p:nvSpPr>
        <p:spPr>
          <a:xfrm xmlns:a="http://schemas.openxmlformats.org/drawingml/2006/main">
            <a:off x="581025" y="838200"/>
            <a:ext cx="523875" cy="33338"/>
          </a:xfrm>
          <a:prstGeom xmlns:a="http://schemas.openxmlformats.org/drawingml/2006/main" prst="rect">
            <a:avLst/>
          </a:prstGeom>
          <a:solidFill xmlns:a="http://schemas.openxmlformats.org/drawingml/2006/main">
            <a:srgbClr val="4FE3BD"/>
          </a:solidFill>
        </p:spPr>
      </p:sp>
      <p:sp>
        <p:nvSpPr>
          <p:cNvPr id="5" name="Shape 2">
            <a:extLst xmlns:a="http://schemas.openxmlformats.org/drawingml/2006/main">
              <a:ext uri="{FF2B5EF4-FFF2-40B4-BE49-F238E27FC236}">
                <a16:creationId xmlns:a16="http://schemas.microsoft.com/office/drawing/2014/main" id="{3AE5D214-D9A9-44B9-A5FB-3B1D926DE748}"/>
              </a:ext>
            </a:extLst>
          </p:cNvPr>
          <p:cNvSpPr>
            <a:spLocks xmlns:a="http://schemas.openxmlformats.org/drawingml/2006/main" noGrp="1"/>
          </p:cNvSpPr>
          <p:nvPr/>
        </p:nvSpPr>
        <p:spPr>
          <a:xfrm xmlns:a="http://schemas.openxmlformats.org/drawingml/2006/main">
            <a:off x="571500" y="1428750"/>
            <a:ext cx="1885950" cy="1123950"/>
          </a:xfrm>
          <a:prstGeom xmlns:a="http://schemas.openxmlformats.org/drawingml/2006/main" prst="roundRect">
            <a:avLst>
              <a:gd name="adj" fmla="val 17898"/>
            </a:avLst>
          </a:prstGeom>
          <a:solidFill xmlns:a="http://schemas.openxmlformats.org/drawingml/2006/main">
            <a:srgbClr val="092925">
              <a:alpha val="96000"/>
            </a:srgbClr>
          </a:solidFill>
          <a:ln xmlns:a="http://schemas.openxmlformats.org/drawingml/2006/main" w="4524">
            <a:solidFill>
              <a:srgbClr val="267863"/>
            </a:solidFill>
            <a:prstDash val="solid"/>
          </a:ln>
        </p:spPr>
      </p:sp>
      <p:sp>
        <p:nvSpPr>
          <p:cNvPr id="6" name="Text 3">
            <a:extLst xmlns:a="http://schemas.openxmlformats.org/drawingml/2006/main">
              <a:ext uri="{FF2B5EF4-FFF2-40B4-BE49-F238E27FC236}">
                <a16:creationId xmlns:a16="http://schemas.microsoft.com/office/drawing/2014/main" id="{0366094F-B90B-4D0C-81D5-ED819FCFDA40}"/>
              </a:ext>
            </a:extLst>
          </p:cNvPr>
          <p:cNvSpPr>
            <a:spLocks xmlns:a="http://schemas.openxmlformats.org/drawingml/2006/main" noGrp="1"/>
          </p:cNvSpPr>
          <p:nvPr/>
        </p:nvSpPr>
        <p:spPr>
          <a:xfrm xmlns:a="http://schemas.openxmlformats.org/drawingml/2006/main">
            <a:off x="728663" y="1585913"/>
            <a:ext cx="15811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1"/>
              </a:lnSpc>
              <a:buNone/>
            </a:pPr>
            <a:r>
              <a:rPr sz="1425" b="1">
                <a:solidFill>
                  <a:srgbClr val="4FE3BD">
                    <a:alpha val="99000"/>
                  </a:srgbClr>
                </a:solidFill>
                <a:latin typeface="Inter"/>
                <a:ea typeface="Inter"/>
                <a:cs typeface="Inter"/>
              </a:rPr>
              <a:t>AI HOST</a:t>
            </a:r>
            <a:endParaRPr sz="1425"/>
          </a:p>
        </p:txBody>
      </p:sp>
      <p:sp>
        <p:nvSpPr>
          <p:cNvPr id="7" name="Text 4">
            <a:extLst xmlns:a="http://schemas.openxmlformats.org/drawingml/2006/main">
              <a:ext uri="{FF2B5EF4-FFF2-40B4-BE49-F238E27FC236}">
                <a16:creationId xmlns:a16="http://schemas.microsoft.com/office/drawing/2014/main" id="{CCE61E8B-1BFA-49D5-BDC7-CEA6FCD116A8}"/>
              </a:ext>
            </a:extLst>
          </p:cNvPr>
          <p:cNvSpPr>
            <a:spLocks xmlns:a="http://schemas.openxmlformats.org/drawingml/2006/main" noGrp="1"/>
          </p:cNvSpPr>
          <p:nvPr/>
        </p:nvSpPr>
        <p:spPr>
          <a:xfrm xmlns:a="http://schemas.openxmlformats.org/drawingml/2006/main">
            <a:off x="728663" y="1938337"/>
            <a:ext cx="158115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2"/>
              </a:lnSpc>
              <a:buNone/>
            </a:pPr>
            <a:r>
              <a:rPr sz="1354">
                <a:solidFill>
                  <a:srgbClr val="F5FFFA">
                    <a:alpha val="99000"/>
                  </a:srgbClr>
                </a:solidFill>
                <a:latin typeface="Inter"/>
                <a:ea typeface="Inter"/>
                <a:cs typeface="Inter"/>
              </a:rPr>
              <a:t>Contains the MCP client</a:t>
            </a:r>
            <a:endParaRPr sz="1354"/>
          </a:p>
        </p:txBody>
      </p:sp>
      <p:sp>
        <p:nvSpPr>
          <p:cNvPr id="8" name="Shape 5">
            <a:extLst xmlns:a="http://schemas.openxmlformats.org/drawingml/2006/main">
              <a:ext uri="{FF2B5EF4-FFF2-40B4-BE49-F238E27FC236}">
                <a16:creationId xmlns:a16="http://schemas.microsoft.com/office/drawing/2014/main" id="{6F921F97-8497-48AB-888E-4A7CD0657711}"/>
              </a:ext>
            </a:extLst>
          </p:cNvPr>
          <p:cNvSpPr>
            <a:spLocks xmlns:a="http://schemas.openxmlformats.org/drawingml/2006/main" noGrp="1"/>
          </p:cNvSpPr>
          <p:nvPr/>
        </p:nvSpPr>
        <p:spPr>
          <a:xfrm xmlns:a="http://schemas.openxmlformats.org/drawingml/2006/main">
            <a:off x="2609850" y="1428750"/>
            <a:ext cx="1885950" cy="1123950"/>
          </a:xfrm>
          <a:prstGeom xmlns:a="http://schemas.openxmlformats.org/drawingml/2006/main" prst="roundRect">
            <a:avLst>
              <a:gd name="adj" fmla="val 17898"/>
            </a:avLst>
          </a:prstGeom>
          <a:solidFill xmlns:a="http://schemas.openxmlformats.org/drawingml/2006/main">
            <a:srgbClr val="092925">
              <a:alpha val="96000"/>
            </a:srgbClr>
          </a:solidFill>
          <a:ln xmlns:a="http://schemas.openxmlformats.org/drawingml/2006/main" w="4524">
            <a:solidFill>
              <a:srgbClr val="267863"/>
            </a:solidFill>
            <a:prstDash val="solid"/>
          </a:ln>
        </p:spPr>
      </p:sp>
      <p:sp>
        <p:nvSpPr>
          <p:cNvPr id="9" name="Text 6">
            <a:extLst xmlns:a="http://schemas.openxmlformats.org/drawingml/2006/main">
              <a:ext uri="{FF2B5EF4-FFF2-40B4-BE49-F238E27FC236}">
                <a16:creationId xmlns:a16="http://schemas.microsoft.com/office/drawing/2014/main" id="{84A17932-C873-49F3-B8BF-7AFA7D7E2247}"/>
              </a:ext>
            </a:extLst>
          </p:cNvPr>
          <p:cNvSpPr>
            <a:spLocks xmlns:a="http://schemas.openxmlformats.org/drawingml/2006/main" noGrp="1"/>
          </p:cNvSpPr>
          <p:nvPr/>
        </p:nvSpPr>
        <p:spPr>
          <a:xfrm xmlns:a="http://schemas.openxmlformats.org/drawingml/2006/main">
            <a:off x="2767013" y="1585913"/>
            <a:ext cx="15811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1"/>
              </a:lnSpc>
              <a:buNone/>
            </a:pPr>
            <a:r>
              <a:rPr sz="1425" b="1">
                <a:solidFill>
                  <a:srgbClr val="4FE3BD">
                    <a:alpha val="99000"/>
                  </a:srgbClr>
                </a:solidFill>
                <a:latin typeface="Inter"/>
                <a:ea typeface="Inter"/>
                <a:cs typeface="Inter"/>
              </a:rPr>
              <a:t>MCP SERVER</a:t>
            </a:r>
            <a:endParaRPr sz="1425"/>
          </a:p>
        </p:txBody>
      </p:sp>
      <p:sp>
        <p:nvSpPr>
          <p:cNvPr id="10" name="Text 7">
            <a:extLst xmlns:a="http://schemas.openxmlformats.org/drawingml/2006/main">
              <a:ext uri="{FF2B5EF4-FFF2-40B4-BE49-F238E27FC236}">
                <a16:creationId xmlns:a16="http://schemas.microsoft.com/office/drawing/2014/main" id="{DD32066C-4A99-44A6-AE53-AE7C01E9DBAD}"/>
              </a:ext>
            </a:extLst>
          </p:cNvPr>
          <p:cNvSpPr>
            <a:spLocks xmlns:a="http://schemas.openxmlformats.org/drawingml/2006/main" noGrp="1"/>
          </p:cNvSpPr>
          <p:nvPr/>
        </p:nvSpPr>
        <p:spPr>
          <a:xfrm xmlns:a="http://schemas.openxmlformats.org/drawingml/2006/main">
            <a:off x="2767013" y="1938337"/>
            <a:ext cx="158115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2"/>
              </a:lnSpc>
              <a:buNone/>
            </a:pPr>
            <a:r>
              <a:rPr sz="1354">
                <a:solidFill>
                  <a:srgbClr val="F5FFFA">
                    <a:alpha val="99000"/>
                  </a:srgbClr>
                </a:solidFill>
                <a:latin typeface="Inter"/>
                <a:ea typeface="Inter"/>
                <a:cs typeface="Inter"/>
              </a:rPr>
              <a:t>Exposes a useful tool</a:t>
            </a:r>
            <a:endParaRPr sz="1354"/>
          </a:p>
        </p:txBody>
      </p:sp>
      <p:sp>
        <p:nvSpPr>
          <p:cNvPr id="11" name="Shape 8">
            <a:extLst xmlns:a="http://schemas.openxmlformats.org/drawingml/2006/main">
              <a:ext uri="{FF2B5EF4-FFF2-40B4-BE49-F238E27FC236}">
                <a16:creationId xmlns:a16="http://schemas.microsoft.com/office/drawing/2014/main" id="{6A3D2E41-5DC5-4F44-99B8-2044C0CCBE4E}"/>
              </a:ext>
            </a:extLst>
          </p:cNvPr>
          <p:cNvSpPr>
            <a:spLocks xmlns:a="http://schemas.openxmlformats.org/drawingml/2006/main" noGrp="1"/>
          </p:cNvSpPr>
          <p:nvPr/>
        </p:nvSpPr>
        <p:spPr>
          <a:xfrm xmlns:a="http://schemas.openxmlformats.org/drawingml/2006/main">
            <a:off x="4648200" y="1428750"/>
            <a:ext cx="1885950" cy="1123950"/>
          </a:xfrm>
          <a:prstGeom xmlns:a="http://schemas.openxmlformats.org/drawingml/2006/main" prst="roundRect">
            <a:avLst>
              <a:gd name="adj" fmla="val 17898"/>
            </a:avLst>
          </a:prstGeom>
          <a:solidFill xmlns:a="http://schemas.openxmlformats.org/drawingml/2006/main">
            <a:srgbClr val="092925">
              <a:alpha val="96000"/>
            </a:srgbClr>
          </a:solidFill>
          <a:ln xmlns:a="http://schemas.openxmlformats.org/drawingml/2006/main" w="4524">
            <a:solidFill>
              <a:srgbClr val="267863"/>
            </a:solidFill>
            <a:prstDash val="solid"/>
          </a:ln>
        </p:spPr>
      </p:sp>
      <p:sp>
        <p:nvSpPr>
          <p:cNvPr id="12" name="Text 9">
            <a:extLst xmlns:a="http://schemas.openxmlformats.org/drawingml/2006/main">
              <a:ext uri="{FF2B5EF4-FFF2-40B4-BE49-F238E27FC236}">
                <a16:creationId xmlns:a16="http://schemas.microsoft.com/office/drawing/2014/main" id="{1DBDFBAE-4335-4C56-944C-82AAB6D9FB92}"/>
              </a:ext>
            </a:extLst>
          </p:cNvPr>
          <p:cNvSpPr>
            <a:spLocks xmlns:a="http://schemas.openxmlformats.org/drawingml/2006/main" noGrp="1"/>
          </p:cNvSpPr>
          <p:nvPr/>
        </p:nvSpPr>
        <p:spPr>
          <a:xfrm xmlns:a="http://schemas.openxmlformats.org/drawingml/2006/main">
            <a:off x="4805363" y="1585913"/>
            <a:ext cx="15811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1"/>
              </a:lnSpc>
              <a:buNone/>
            </a:pPr>
            <a:r>
              <a:rPr sz="1425" b="1">
                <a:solidFill>
                  <a:srgbClr val="4FE3BD">
                    <a:alpha val="99000"/>
                  </a:srgbClr>
                </a:solidFill>
                <a:latin typeface="Inter"/>
                <a:ea typeface="Inter"/>
                <a:cs typeface="Inter"/>
              </a:rPr>
              <a:t>EXISTING API</a:t>
            </a:r>
            <a:endParaRPr sz="1425"/>
          </a:p>
        </p:txBody>
      </p:sp>
      <p:sp>
        <p:nvSpPr>
          <p:cNvPr id="13" name="Text 10">
            <a:extLst xmlns:a="http://schemas.openxmlformats.org/drawingml/2006/main">
              <a:ext uri="{FF2B5EF4-FFF2-40B4-BE49-F238E27FC236}">
                <a16:creationId xmlns:a16="http://schemas.microsoft.com/office/drawing/2014/main" id="{AFB510C1-4808-41DA-BAE9-2DD1514EE363}"/>
              </a:ext>
            </a:extLst>
          </p:cNvPr>
          <p:cNvSpPr>
            <a:spLocks xmlns:a="http://schemas.openxmlformats.org/drawingml/2006/main" noGrp="1"/>
          </p:cNvSpPr>
          <p:nvPr/>
        </p:nvSpPr>
        <p:spPr>
          <a:xfrm xmlns:a="http://schemas.openxmlformats.org/drawingml/2006/main">
            <a:off x="4805363" y="1938337"/>
            <a:ext cx="158115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2"/>
              </a:lnSpc>
              <a:buNone/>
            </a:pPr>
            <a:r>
              <a:rPr sz="1354">
                <a:solidFill>
                  <a:srgbClr val="F5FFFA">
                    <a:alpha val="99000"/>
                  </a:srgbClr>
                </a:solidFill>
                <a:latin typeface="Inter"/>
                <a:ea typeface="Inter"/>
                <a:cs typeface="Inter"/>
              </a:rPr>
              <a:t>Applies Application rules</a:t>
            </a:r>
            <a:endParaRPr sz="1354"/>
          </a:p>
        </p:txBody>
      </p:sp>
      <p:sp>
        <p:nvSpPr>
          <p:cNvPr id="14" name="Shape 11">
            <a:extLst xmlns:a="http://schemas.openxmlformats.org/drawingml/2006/main">
              <a:ext uri="{FF2B5EF4-FFF2-40B4-BE49-F238E27FC236}">
                <a16:creationId xmlns:a16="http://schemas.microsoft.com/office/drawing/2014/main" id="{0A4895AD-5CD6-413C-B48E-4FC792000225}"/>
              </a:ext>
            </a:extLst>
          </p:cNvPr>
          <p:cNvSpPr>
            <a:spLocks xmlns:a="http://schemas.openxmlformats.org/drawingml/2006/main" noGrp="1"/>
          </p:cNvSpPr>
          <p:nvPr/>
        </p:nvSpPr>
        <p:spPr>
          <a:xfrm xmlns:a="http://schemas.openxmlformats.org/drawingml/2006/main">
            <a:off x="6686550" y="1428750"/>
            <a:ext cx="1885950" cy="1123950"/>
          </a:xfrm>
          <a:prstGeom xmlns:a="http://schemas.openxmlformats.org/drawingml/2006/main" prst="roundRect">
            <a:avLst>
              <a:gd name="adj" fmla="val 17898"/>
            </a:avLst>
          </a:prstGeom>
          <a:solidFill xmlns:a="http://schemas.openxmlformats.org/drawingml/2006/main">
            <a:srgbClr val="092925">
              <a:alpha val="96000"/>
            </a:srgbClr>
          </a:solidFill>
          <a:ln xmlns:a="http://schemas.openxmlformats.org/drawingml/2006/main" w="4524">
            <a:solidFill>
              <a:srgbClr val="267863"/>
            </a:solidFill>
            <a:prstDash val="solid"/>
          </a:ln>
        </p:spPr>
      </p:sp>
      <p:sp>
        <p:nvSpPr>
          <p:cNvPr id="15" name="Text 12">
            <a:extLst xmlns:a="http://schemas.openxmlformats.org/drawingml/2006/main">
              <a:ext uri="{FF2B5EF4-FFF2-40B4-BE49-F238E27FC236}">
                <a16:creationId xmlns:a16="http://schemas.microsoft.com/office/drawing/2014/main" id="{B54E6DDF-CE35-4F88-ADEA-C5BA12589252}"/>
              </a:ext>
            </a:extLst>
          </p:cNvPr>
          <p:cNvSpPr>
            <a:spLocks xmlns:a="http://schemas.openxmlformats.org/drawingml/2006/main" noGrp="1"/>
          </p:cNvSpPr>
          <p:nvPr/>
        </p:nvSpPr>
        <p:spPr>
          <a:xfrm xmlns:a="http://schemas.openxmlformats.org/drawingml/2006/main">
            <a:off x="6843713" y="1585913"/>
            <a:ext cx="158115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1"/>
              </a:lnSpc>
              <a:buNone/>
            </a:pPr>
            <a:r>
              <a:rPr sz="1425" b="1">
                <a:solidFill>
                  <a:srgbClr val="4FE3BD">
                    <a:alpha val="99000"/>
                  </a:srgbClr>
                </a:solidFill>
                <a:latin typeface="Inter"/>
                <a:ea typeface="Inter"/>
                <a:cs typeface="Inter"/>
              </a:rPr>
              <a:t>DATA / ACTION</a:t>
            </a:r>
            <a:endParaRPr sz="1425"/>
          </a:p>
        </p:txBody>
      </p:sp>
      <p:sp>
        <p:nvSpPr>
          <p:cNvPr id="16" name="Text 13">
            <a:extLst xmlns:a="http://schemas.openxmlformats.org/drawingml/2006/main">
              <a:ext uri="{FF2B5EF4-FFF2-40B4-BE49-F238E27FC236}">
                <a16:creationId xmlns:a16="http://schemas.microsoft.com/office/drawing/2014/main" id="{3619CE76-33D0-43D4-A98A-C3A883A7DCEC}"/>
              </a:ext>
            </a:extLst>
          </p:cNvPr>
          <p:cNvSpPr>
            <a:spLocks xmlns:a="http://schemas.openxmlformats.org/drawingml/2006/main" noGrp="1"/>
          </p:cNvSpPr>
          <p:nvPr/>
        </p:nvSpPr>
        <p:spPr>
          <a:xfrm xmlns:a="http://schemas.openxmlformats.org/drawingml/2006/main">
            <a:off x="6843713" y="1938337"/>
            <a:ext cx="158115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2"/>
              </a:lnSpc>
              <a:buNone/>
            </a:pPr>
            <a:r>
              <a:rPr sz="1354">
                <a:solidFill>
                  <a:srgbClr val="F5FFFA">
                    <a:alpha val="99000"/>
                  </a:srgbClr>
                </a:solidFill>
                <a:latin typeface="Inter"/>
                <a:ea typeface="Inter"/>
                <a:cs typeface="Inter"/>
              </a:rPr>
              <a:t>Reads or changes the app</a:t>
            </a:r>
            <a:endParaRPr sz="1354"/>
          </a:p>
        </p:txBody>
      </p:sp>
      <p:sp>
        <p:nvSpPr>
          <p:cNvPr id="17" name="Text 14">
            <a:extLst xmlns:a="http://schemas.openxmlformats.org/drawingml/2006/main">
              <a:ext uri="{FF2B5EF4-FFF2-40B4-BE49-F238E27FC236}">
                <a16:creationId xmlns:a16="http://schemas.microsoft.com/office/drawing/2014/main" id="{4A8A60E1-3310-4C1E-AEE6-3546279EC304}"/>
              </a:ext>
            </a:extLst>
          </p:cNvPr>
          <p:cNvSpPr>
            <a:spLocks xmlns:a="http://schemas.openxmlformats.org/drawingml/2006/main" noGrp="1"/>
          </p:cNvSpPr>
          <p:nvPr/>
        </p:nvSpPr>
        <p:spPr>
          <a:xfrm xmlns:a="http://schemas.openxmlformats.org/drawingml/2006/main">
            <a:off x="1047750" y="2809875"/>
            <a:ext cx="1762125" cy="19526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70"/>
              </a:lnSpc>
              <a:buNone/>
            </a:pPr>
            <a:r>
              <a:rPr sz="1176" b="1">
                <a:solidFill>
                  <a:srgbClr val="4FE3BD">
                    <a:alpha val="99000"/>
                  </a:srgbClr>
                </a:solidFill>
                <a:latin typeface="Inter"/>
                <a:ea typeface="Inter"/>
                <a:cs typeface="Inter"/>
              </a:rPr>
              <a:t>MCP request →</a:t>
            </a:r>
            <a:endParaRPr sz="1176"/>
          </a:p>
        </p:txBody>
      </p:sp>
      <p:sp>
        <p:nvSpPr>
          <p:cNvPr id="18" name="Text 15">
            <a:extLst xmlns:a="http://schemas.openxmlformats.org/drawingml/2006/main">
              <a:ext uri="{FF2B5EF4-FFF2-40B4-BE49-F238E27FC236}">
                <a16:creationId xmlns:a16="http://schemas.microsoft.com/office/drawing/2014/main" id="{4B2EB02C-81E3-47CC-B2AB-31116FC3B6A2}"/>
              </a:ext>
            </a:extLst>
          </p:cNvPr>
          <p:cNvSpPr>
            <a:spLocks xmlns:a="http://schemas.openxmlformats.org/drawingml/2006/main" noGrp="1"/>
          </p:cNvSpPr>
          <p:nvPr/>
        </p:nvSpPr>
        <p:spPr>
          <a:xfrm xmlns:a="http://schemas.openxmlformats.org/drawingml/2006/main">
            <a:off x="3238500" y="2809875"/>
            <a:ext cx="1619250" cy="19526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70"/>
              </a:lnSpc>
              <a:buNone/>
            </a:pPr>
            <a:r>
              <a:rPr sz="1176" b="1">
                <a:solidFill>
                  <a:srgbClr val="4FE3BD">
                    <a:alpha val="99000"/>
                  </a:srgbClr>
                </a:solidFill>
                <a:latin typeface="Inter"/>
                <a:ea typeface="Inter"/>
                <a:cs typeface="Inter"/>
              </a:rPr>
              <a:t>API call →</a:t>
            </a:r>
            <a:endParaRPr sz="1176"/>
          </a:p>
        </p:txBody>
      </p:sp>
      <p:sp>
        <p:nvSpPr>
          <p:cNvPr id="19" name="Text 16">
            <a:extLst xmlns:a="http://schemas.openxmlformats.org/drawingml/2006/main">
              <a:ext uri="{FF2B5EF4-FFF2-40B4-BE49-F238E27FC236}">
                <a16:creationId xmlns:a16="http://schemas.microsoft.com/office/drawing/2014/main" id="{C54ACD4A-B3C8-4B3A-AC3B-45640B46AF8C}"/>
              </a:ext>
            </a:extLst>
          </p:cNvPr>
          <p:cNvSpPr>
            <a:spLocks xmlns:a="http://schemas.openxmlformats.org/drawingml/2006/main" noGrp="1"/>
          </p:cNvSpPr>
          <p:nvPr/>
        </p:nvSpPr>
        <p:spPr>
          <a:xfrm xmlns:a="http://schemas.openxmlformats.org/drawingml/2006/main">
            <a:off x="5191125" y="2809875"/>
            <a:ext cx="1952625" cy="19526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70"/>
              </a:lnSpc>
              <a:buNone/>
            </a:pPr>
            <a:r>
              <a:rPr sz="1176" b="1">
                <a:solidFill>
                  <a:srgbClr val="4FE3BD">
                    <a:alpha val="99000"/>
                  </a:srgbClr>
                </a:solidFill>
                <a:latin typeface="Inter"/>
                <a:ea typeface="Inter"/>
                <a:cs typeface="Inter"/>
              </a:rPr>
              <a:t>Read / write →</a:t>
            </a:r>
            <a:endParaRPr sz="1176"/>
          </a:p>
        </p:txBody>
      </p:sp>
      <p:sp>
        <p:nvSpPr>
          <p:cNvPr id="20" name="Shape 17">
            <a:extLst xmlns:a="http://schemas.openxmlformats.org/drawingml/2006/main">
              <a:ext uri="{FF2B5EF4-FFF2-40B4-BE49-F238E27FC236}">
                <a16:creationId xmlns:a16="http://schemas.microsoft.com/office/drawing/2014/main" id="{61244465-21E7-40C9-A408-872BE5514F6B}"/>
              </a:ext>
            </a:extLst>
          </p:cNvPr>
          <p:cNvSpPr>
            <a:spLocks xmlns:a="http://schemas.openxmlformats.org/drawingml/2006/main" noGrp="1"/>
          </p:cNvSpPr>
          <p:nvPr/>
        </p:nvSpPr>
        <p:spPr>
          <a:xfrm xmlns:a="http://schemas.openxmlformats.org/drawingml/2006/main">
            <a:off x="571500" y="3400425"/>
            <a:ext cx="8001000" cy="552450"/>
          </a:xfrm>
          <a:prstGeom xmlns:a="http://schemas.openxmlformats.org/drawingml/2006/main" prst="rect">
            <a:avLst/>
          </a:prstGeom>
          <a:noFill xmlns:a="http://schemas.openxmlformats.org/drawingml/2006/main"/>
        </p:spPr>
      </p:sp>
      <p:sp>
        <p:nvSpPr>
          <p:cNvPr id="21" name="Text 18">
            <a:extLst xmlns:a="http://schemas.openxmlformats.org/drawingml/2006/main">
              <a:ext uri="{FF2B5EF4-FFF2-40B4-BE49-F238E27FC236}">
                <a16:creationId xmlns:a16="http://schemas.microsoft.com/office/drawing/2014/main" id="{158488F5-3A65-458A-823D-AB4517320763}"/>
              </a:ext>
            </a:extLst>
          </p:cNvPr>
          <p:cNvSpPr>
            <a:spLocks xmlns:a="http://schemas.openxmlformats.org/drawingml/2006/main" noGrp="1"/>
          </p:cNvSpPr>
          <p:nvPr/>
        </p:nvSpPr>
        <p:spPr>
          <a:xfrm xmlns:a="http://schemas.openxmlformats.org/drawingml/2006/main">
            <a:off x="571500" y="3400425"/>
            <a:ext cx="8001000" cy="5524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048"/>
              </a:lnSpc>
              <a:buNone/>
            </a:pPr>
            <a:r>
              <a:rPr sz="1639">
                <a:solidFill>
                  <a:srgbClr val="F5FFFA">
                    <a:alpha val="99000"/>
                  </a:srgbClr>
                </a:solidFill>
                <a:latin typeface="Inter"/>
                <a:ea typeface="Inter"/>
                <a:cs typeface="Inter"/>
              </a:rPr>
              <a:t>An MCP tool can call an EXISTING API, Python function, or supported Application command.</a:t>
            </a:r>
            <a:endParaRPr sz="1639"/>
          </a:p>
        </p:txBody>
      </p:sp>
      <p:sp>
        <p:nvSpPr>
          <p:cNvPr id="22" name="Text 19">
            <a:extLst xmlns:a="http://schemas.openxmlformats.org/drawingml/2006/main">
              <a:ext uri="{FF2B5EF4-FFF2-40B4-BE49-F238E27FC236}">
                <a16:creationId xmlns:a16="http://schemas.microsoft.com/office/drawing/2014/main" id="{C5D4915E-BB9C-4029-868B-07369C574B28}"/>
              </a:ext>
            </a:extLst>
          </p:cNvPr>
          <p:cNvSpPr>
            <a:spLocks xmlns:a="http://schemas.openxmlformats.org/drawingml/2006/main" noGrp="1"/>
          </p:cNvSpPr>
          <p:nvPr/>
        </p:nvSpPr>
        <p:spPr>
          <a:xfrm xmlns:a="http://schemas.openxmlformats.org/drawingml/2006/main">
            <a:off x="8310562" y="4862513"/>
            <a:ext cx="619125" cy="1428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69"/>
              </a:lnSpc>
              <a:buNone/>
            </a:pPr>
            <a:r>
              <a:rPr sz="855">
                <a:solidFill>
                  <a:srgbClr val="BAD9CF">
                    <a:alpha val="99000"/>
                  </a:srgbClr>
                </a:solidFill>
                <a:latin typeface="Inter"/>
                <a:ea typeface="Inter"/>
                <a:cs typeface="Inter"/>
              </a:rPr>
              <a:t>07 / 29</a:t>
            </a:r>
            <a:endParaRPr sz="855"/>
          </a:p>
        </p:txBody>
      </p:sp>
      <p:sp>
        <p:nvSpPr>
          <p:cNvPr id="23" name="Shape 20">
            <a:extLst xmlns:a="http://schemas.openxmlformats.org/drawingml/2006/main">
              <a:ext uri="{FF2B5EF4-FFF2-40B4-BE49-F238E27FC236}">
                <a16:creationId xmlns:a16="http://schemas.microsoft.com/office/drawing/2014/main" id="{A27F1AEA-AAF3-4516-9558-7496B86FEC3F}"/>
              </a:ext>
            </a:extLst>
          </p:cNvPr>
          <p:cNvSpPr>
            <a:spLocks xmlns:a="http://schemas.openxmlformats.org/drawingml/2006/main" noGrp="1"/>
          </p:cNvSpPr>
          <p:nvPr/>
        </p:nvSpPr>
        <p:spPr>
          <a:xfrm xmlns:a="http://schemas.openxmlformats.org/drawingml/2006/main">
            <a:off x="571500" y="4005262"/>
            <a:ext cx="8001000" cy="714375"/>
          </a:xfrm>
          <a:prstGeom xmlns:a="http://schemas.openxmlformats.org/drawingml/2006/main" prst="roundRect">
            <a:avLst>
              <a:gd name="adj" fmla="val 15360"/>
            </a:avLst>
          </a:prstGeom>
          <a:solidFill xmlns:a="http://schemas.openxmlformats.org/drawingml/2006/main">
            <a:srgbClr val="092925"/>
          </a:solidFill>
        </p:spPr>
      </p:sp>
      <p:sp>
        <p:nvSpPr>
          <p:cNvPr id="24" name="Text 21">
            <a:extLst xmlns:a="http://schemas.openxmlformats.org/drawingml/2006/main">
              <a:ext uri="{FF2B5EF4-FFF2-40B4-BE49-F238E27FC236}">
                <a16:creationId xmlns:a16="http://schemas.microsoft.com/office/drawing/2014/main" id="{6EB617F7-3C20-48E8-AEC7-A812C0C5734F}"/>
              </a:ext>
            </a:extLst>
          </p:cNvPr>
          <p:cNvSpPr>
            <a:spLocks xmlns:a="http://schemas.openxmlformats.org/drawingml/2006/main" noGrp="1"/>
          </p:cNvSpPr>
          <p:nvPr/>
        </p:nvSpPr>
        <p:spPr>
          <a:xfrm xmlns:a="http://schemas.openxmlformats.org/drawingml/2006/main">
            <a:off x="666750" y="4062412"/>
            <a:ext cx="7810500" cy="1285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49"/>
              </a:lnSpc>
              <a:buNone/>
            </a:pPr>
            <a:r>
              <a:rPr sz="784" b="1">
                <a:solidFill>
                  <a:srgbClr val="5CE5BD">
                    <a:alpha val="99000"/>
                  </a:srgbClr>
                </a:solidFill>
                <a:latin typeface="Inter"/>
                <a:ea typeface="Inter"/>
                <a:cs typeface="Inter"/>
              </a:rPr>
              <a:t>1 / 3 · PRIZE QUESTION  ·  Hands up!</a:t>
            </a:r>
            <a:endParaRPr sz="784"/>
          </a:p>
        </p:txBody>
      </p:sp>
      <p:sp>
        <p:nvSpPr>
          <p:cNvPr id="25" name="Text 22">
            <a:extLst xmlns:a="http://schemas.openxmlformats.org/drawingml/2006/main">
              <a:ext uri="{FF2B5EF4-FFF2-40B4-BE49-F238E27FC236}">
                <a16:creationId xmlns:a16="http://schemas.microsoft.com/office/drawing/2014/main" id="{281BC7F3-0062-4EC3-9D1F-2C340EEBBFBC}"/>
              </a:ext>
            </a:extLst>
          </p:cNvPr>
          <p:cNvSpPr>
            <a:spLocks xmlns:a="http://schemas.openxmlformats.org/drawingml/2006/main" noGrp="1"/>
          </p:cNvSpPr>
          <p:nvPr/>
        </p:nvSpPr>
        <p:spPr>
          <a:xfrm xmlns:a="http://schemas.openxmlformats.org/drawingml/2006/main">
            <a:off x="666750" y="4219575"/>
            <a:ext cx="7810500" cy="18573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80"/>
              </a:lnSpc>
              <a:buNone/>
            </a:pPr>
            <a:r>
              <a:rPr sz="1140">
                <a:solidFill>
                  <a:srgbClr val="F2FAF5">
                    <a:alpha val="99000"/>
                  </a:srgbClr>
                </a:solidFill>
                <a:latin typeface="Inter"/>
                <a:ea typeface="Inter"/>
                <a:cs typeface="Inter"/>
              </a:rPr>
              <a:t>Who chooses which MCP tool to call?</a:t>
            </a:r>
            <a:endParaRPr sz="1140"/>
          </a:p>
        </p:txBody>
      </p:sp>
      <p:sp>
        <p:nvSpPr>
          <p:cNvPr id="26" name="Text 23">
            <a:extLst xmlns:a="http://schemas.openxmlformats.org/drawingml/2006/main">
              <a:ext uri="{FF2B5EF4-FFF2-40B4-BE49-F238E27FC236}">
                <a16:creationId xmlns:a16="http://schemas.microsoft.com/office/drawing/2014/main" id="{BD177830-ED7A-412C-B470-0EB6C12F0801}"/>
              </a:ext>
            </a:extLst>
          </p:cNvPr>
          <p:cNvSpPr>
            <a:spLocks xmlns:a="http://schemas.openxmlformats.org/drawingml/2006/main" noGrp="1"/>
          </p:cNvSpPr>
          <p:nvPr/>
        </p:nvSpPr>
        <p:spPr>
          <a:xfrm xmlns:a="http://schemas.openxmlformats.org/drawingml/2006/main">
            <a:off x="666750" y="4433888"/>
            <a:ext cx="7810500" cy="15716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64"/>
              </a:lnSpc>
              <a:buNone/>
            </a:pPr>
            <a:r>
              <a:rPr sz="962">
                <a:solidFill>
                  <a:srgbClr val="F2FAF5">
                    <a:alpha val="99000"/>
                  </a:srgbClr>
                </a:solidFill>
                <a:latin typeface="Inter"/>
                <a:ea typeface="Inter"/>
                <a:cs typeface="Inter"/>
              </a:rPr>
              <a:t>A  The host       B  The server       C  JSON</a:t>
            </a:r>
            <a:endParaRPr sz="962"/>
          </a:p>
        </p:txBody>
      </p:sp>
    </p:spTree>
    <p:extLst>
      <p:ext uri="{BB962C8B-B14F-4D97-AF65-F5344CB8AC3E}">
        <p14:creationId xmlns:p14="http://schemas.microsoft.com/office/powerpoint/2010/main" val="2119172451"/>
      </p:ext>
    </p:extLst>
  </p:cSld>
</p:sld>
</file>

<file path=ppt/slides/slide8.xml><?xml version="1.0" encoding="utf-8"?>
<p:sld xmlns:p="http://schemas.openxmlformats.org/presentationml/2006/main">
  <p:cSld>
    <p:bg>
      <p:bgPr>
        <a:blipFill xmlns:a="http://schemas.openxmlformats.org/drawingml/2006/main" rotWithShape="1">
          <a:blip xmlns:r="http://schemas.openxmlformats.org/officeDocument/2006/relationships" r:embed="R9e501a15249f4263">
            <a:lum/>
          </a:blip>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14E1084F-20B3-4050-9B3C-E0A08C5A5B40}"/>
              </a:ext>
            </a:extLst>
          </p:cNvPr>
          <p:cNvSpPr>
            <a:spLocks xmlns:a="http://schemas.openxmlformats.org/drawingml/2006/main" noGrp="1"/>
          </p:cNvSpPr>
          <p:nvPr/>
        </p:nvSpPr>
        <p:spPr>
          <a:xfrm xmlns:a="http://schemas.openxmlformats.org/drawingml/2006/main">
            <a:off x="571500" y="304800"/>
            <a:ext cx="80010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850"/>
              </a:lnSpc>
              <a:buNone/>
            </a:pPr>
            <a:r>
              <a:rPr sz="2280" b="1">
                <a:solidFill>
                  <a:srgbClr val="F5FFFA">
                    <a:alpha val="99000"/>
                  </a:srgbClr>
                </a:solidFill>
                <a:latin typeface="Inter"/>
                <a:ea typeface="Inter"/>
                <a:cs typeface="Inter"/>
              </a:rPr>
              <a:t>12 AM. Your team’s MCP power tools.</a:t>
            </a:r>
            <a:endParaRPr sz="2280"/>
          </a:p>
        </p:txBody>
      </p:sp>
      <p:sp>
        <p:nvSpPr>
          <p:cNvPr id="4" name="Shape 1">
            <a:extLst xmlns:a="http://schemas.openxmlformats.org/drawingml/2006/main">
              <a:ext uri="{FF2B5EF4-FFF2-40B4-BE49-F238E27FC236}">
                <a16:creationId xmlns:a16="http://schemas.microsoft.com/office/drawing/2014/main" id="{EFFEEDDE-9626-4AA4-9858-3A35D38CF9AD}"/>
              </a:ext>
            </a:extLst>
          </p:cNvPr>
          <p:cNvSpPr>
            <a:spLocks xmlns:a="http://schemas.openxmlformats.org/drawingml/2006/main" noGrp="1"/>
          </p:cNvSpPr>
          <p:nvPr/>
        </p:nvSpPr>
        <p:spPr>
          <a:xfrm xmlns:a="http://schemas.openxmlformats.org/drawingml/2006/main">
            <a:off x="581025" y="838200"/>
            <a:ext cx="523875" cy="33338"/>
          </a:xfrm>
          <a:prstGeom xmlns:a="http://schemas.openxmlformats.org/drawingml/2006/main" prst="rect">
            <a:avLst/>
          </a:prstGeom>
          <a:solidFill xmlns:a="http://schemas.openxmlformats.org/drawingml/2006/main">
            <a:srgbClr val="4FE3BD"/>
          </a:solidFill>
        </p:spPr>
      </p:sp>
      <p:sp>
        <p:nvSpPr>
          <p:cNvPr id="5" name="Text 2">
            <a:extLst xmlns:a="http://schemas.openxmlformats.org/drawingml/2006/main">
              <a:ext uri="{FF2B5EF4-FFF2-40B4-BE49-F238E27FC236}">
                <a16:creationId xmlns:a16="http://schemas.microsoft.com/office/drawing/2014/main" id="{F264A466-2322-4D0E-9E13-3BFF07367E5D}"/>
              </a:ext>
            </a:extLst>
          </p:cNvPr>
          <p:cNvSpPr>
            <a:spLocks xmlns:a="http://schemas.openxmlformats.org/drawingml/2006/main" noGrp="1"/>
          </p:cNvSpPr>
          <p:nvPr/>
        </p:nvSpPr>
        <p:spPr>
          <a:xfrm xmlns:a="http://schemas.openxmlformats.org/drawingml/2006/main">
            <a:off x="571500" y="4629150"/>
            <a:ext cx="8001000" cy="13811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24"/>
              </a:lnSpc>
              <a:buNone/>
            </a:pPr>
            <a:r>
              <a:rPr sz="819">
                <a:solidFill>
                  <a:srgbClr val="BAD9CF">
                    <a:alpha val="99000"/>
                  </a:srgbClr>
                </a:solidFill>
                <a:latin typeface="Inter"/>
                <a:ea typeface="Inter"/>
                <a:cs typeface="Inter"/>
              </a:rPr>
              <a:t>Start with the 2–3 servers your demo needs. Access and features depend on permissions and plans.</a:t>
            </a:r>
            <a:endParaRPr sz="819"/>
          </a:p>
        </p:txBody>
      </p:sp>
      <p:sp>
        <p:nvSpPr>
          <p:cNvPr id="6" name="Text 3">
            <a:extLst xmlns:a="http://schemas.openxmlformats.org/drawingml/2006/main">
              <a:ext uri="{FF2B5EF4-FFF2-40B4-BE49-F238E27FC236}">
                <a16:creationId xmlns:a16="http://schemas.microsoft.com/office/drawing/2014/main" id="{71793E69-5DFB-4F62-BAEE-404C4EF1D32C}"/>
              </a:ext>
            </a:extLst>
          </p:cNvPr>
          <p:cNvSpPr>
            <a:spLocks xmlns:a="http://schemas.openxmlformats.org/drawingml/2006/main" noGrp="1"/>
          </p:cNvSpPr>
          <p:nvPr/>
        </p:nvSpPr>
        <p:spPr>
          <a:xfrm xmlns:a="http://schemas.openxmlformats.org/drawingml/2006/main">
            <a:off x="8310562" y="4862513"/>
            <a:ext cx="619125" cy="1428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69"/>
              </a:lnSpc>
              <a:buNone/>
            </a:pPr>
            <a:r>
              <a:rPr sz="855">
                <a:solidFill>
                  <a:srgbClr val="BAD9CF">
                    <a:alpha val="99000"/>
                  </a:srgbClr>
                </a:solidFill>
                <a:latin typeface="Inter"/>
                <a:ea typeface="Inter"/>
                <a:cs typeface="Inter"/>
              </a:rPr>
              <a:t>08 / 29</a:t>
            </a:r>
            <a:endParaRPr sz="855"/>
          </a:p>
        </p:txBody>
      </p:sp>
      <p:sp>
        <p:nvSpPr>
          <p:cNvPr id="7" name="Text 4">
            <a:extLst xmlns:a="http://schemas.openxmlformats.org/drawingml/2006/main">
              <a:ext uri="{FF2B5EF4-FFF2-40B4-BE49-F238E27FC236}">
                <a16:creationId xmlns:a16="http://schemas.microsoft.com/office/drawing/2014/main" id="{659C9E8E-0761-45D6-A44C-B814CFB084A3}"/>
              </a:ext>
            </a:extLst>
          </p:cNvPr>
          <p:cNvSpPr>
            <a:spLocks xmlns:a="http://schemas.openxmlformats.org/drawingml/2006/main" noGrp="1"/>
          </p:cNvSpPr>
          <p:nvPr/>
        </p:nvSpPr>
        <p:spPr>
          <a:xfrm xmlns:a="http://schemas.openxmlformats.org/drawingml/2006/main">
            <a:off x="571500" y="1004887"/>
            <a:ext cx="8001000" cy="19526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66"/>
              </a:lnSpc>
              <a:buNone/>
            </a:pPr>
            <a:r>
              <a:rPr sz="1211">
                <a:solidFill>
                  <a:srgbClr val="F2FAF5">
                    <a:alpha val="99000"/>
                  </a:srgbClr>
                </a:solidFill>
                <a:latin typeface="Inter"/>
                <a:ea typeface="Inter"/>
                <a:cs typeface="Inter"/>
              </a:rPr>
              <a:t>Connect existing servers. Spend your time on the idea.</a:t>
            </a:r>
            <a:endParaRPr sz="1211"/>
          </a:p>
        </p:txBody>
      </p:sp>
      <p:sp>
        <p:nvSpPr>
          <p:cNvPr id="8" name="Shape 5">
            <a:extLst xmlns:a="http://schemas.openxmlformats.org/drawingml/2006/main">
              <a:ext uri="{FF2B5EF4-FFF2-40B4-BE49-F238E27FC236}">
                <a16:creationId xmlns:a16="http://schemas.microsoft.com/office/drawing/2014/main" id="{E873013D-470B-42B6-9322-ADA5F05B626C}"/>
              </a:ext>
            </a:extLst>
          </p:cNvPr>
          <p:cNvSpPr>
            <a:spLocks xmlns:a="http://schemas.openxmlformats.org/drawingml/2006/main" noGrp="1"/>
          </p:cNvSpPr>
          <p:nvPr/>
        </p:nvSpPr>
        <p:spPr>
          <a:xfrm xmlns:a="http://schemas.openxmlformats.org/drawingml/2006/main">
            <a:off x="571500" y="1343025"/>
            <a:ext cx="1885950" cy="1190625"/>
          </a:xfrm>
          <a:prstGeom xmlns:a="http://schemas.openxmlformats.org/drawingml/2006/main" prst="roundRect">
            <a:avLst>
              <a:gd name="adj" fmla="val 13824"/>
            </a:avLst>
          </a:prstGeom>
          <a:solidFill xmlns:a="http://schemas.openxmlformats.org/drawingml/2006/main">
            <a:srgbClr val="092925"/>
          </a:solidFill>
        </p:spPr>
      </p:sp>
      <p:sp>
        <p:nvSpPr>
          <p:cNvPr id="9" name="Shape 6">
            <a:extLst xmlns:a="http://schemas.openxmlformats.org/drawingml/2006/main">
              <a:ext uri="{FF2B5EF4-FFF2-40B4-BE49-F238E27FC236}">
                <a16:creationId xmlns:a16="http://schemas.microsoft.com/office/drawing/2014/main" id="{C0C7D39D-88BF-421B-BEA6-5753055CC6D7}"/>
              </a:ext>
            </a:extLst>
          </p:cNvPr>
          <p:cNvSpPr>
            <a:spLocks xmlns:a="http://schemas.openxmlformats.org/drawingml/2006/main" noGrp="1"/>
          </p:cNvSpPr>
          <p:nvPr/>
        </p:nvSpPr>
        <p:spPr>
          <a:xfrm xmlns:a="http://schemas.openxmlformats.org/drawingml/2006/main">
            <a:off x="685800" y="1447800"/>
            <a:ext cx="1638300" cy="209550"/>
          </a:xfrm>
          <a:prstGeom xmlns:a="http://schemas.openxmlformats.org/drawingml/2006/main" prst="rect">
            <a:avLst/>
          </a:prstGeom>
          <a:noFill xmlns:a="http://schemas.openxmlformats.org/drawingml/2006/main"/>
        </p:spPr>
      </p:sp>
      <p:pic>
        <p:nvPicPr>
          <p:cNvPr id="10" name="Image 0">
            <a:extLst xmlns:a="http://schemas.openxmlformats.org/drawingml/2006/main">
              <a:ext uri="{FF2B5EF4-FFF2-40B4-BE49-F238E27FC236}">
                <a16:creationId xmlns:a16="http://schemas.microsoft.com/office/drawing/2014/main" id="{83E680CE-6415-4DC5-9DB0-68A56CC1268E}"/>
              </a:ext>
            </a:extLst>
          </p:cNvPr>
          <p:cNvPicPr>
            <a:picLocks xmlns:a="http://schemas.openxmlformats.org/drawingml/2006/main" noChangeAspect="1"/>
          </p:cNvPicPr>
          <p:nvPr/>
        </p:nvPicPr>
        <p:blipFill>
          <a:blip xmlns:r="http://schemas.openxmlformats.org/officeDocument/2006/relationships" xmlns:a="http://schemas.openxmlformats.org/drawingml/2006/main" r:embed="Rd75d48d3eaae4290"/>
          <a:srcRect xmlns:a="http://schemas.openxmlformats.org/drawingml/2006/main" l="0" t="0" r="0" b="0"/>
          <a:stretch xmlns:a="http://schemas.openxmlformats.org/drawingml/2006/main"/>
        </p:blipFill>
        <p:spPr>
          <a:xfrm xmlns:a="http://schemas.openxmlformats.org/drawingml/2006/main">
            <a:off x="685800" y="1447800"/>
            <a:ext cx="209550" cy="209550"/>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9D1AB993-6988-4374-A74B-6A5D1EAA8F97}"/>
              </a:ext>
            </a:extLst>
          </p:cNvPr>
          <p:cNvSpPr>
            <a:spLocks xmlns:a="http://schemas.openxmlformats.org/drawingml/2006/main" noGrp="1"/>
          </p:cNvSpPr>
          <p:nvPr/>
        </p:nvSpPr>
        <p:spPr>
          <a:xfrm xmlns:a="http://schemas.openxmlformats.org/drawingml/2006/main">
            <a:off x="962025" y="1466850"/>
            <a:ext cx="1362075" cy="1714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93"/>
              </a:lnSpc>
              <a:buNone/>
            </a:pPr>
            <a:r>
              <a:rPr sz="1069" b="1">
                <a:solidFill>
                  <a:srgbClr val="5CE5BD">
                    <a:alpha val="99000"/>
                  </a:srgbClr>
                </a:solidFill>
                <a:latin typeface="Inter"/>
                <a:ea typeface="Inter"/>
                <a:cs typeface="Inter"/>
              </a:rPr>
              <a:t>Figma</a:t>
            </a:r>
            <a:endParaRPr sz="1069"/>
          </a:p>
        </p:txBody>
      </p:sp>
      <p:sp>
        <p:nvSpPr>
          <p:cNvPr id="12" name="Text 8">
            <a:extLst xmlns:a="http://schemas.openxmlformats.org/drawingml/2006/main">
              <a:ext uri="{FF2B5EF4-FFF2-40B4-BE49-F238E27FC236}">
                <a16:creationId xmlns:a16="http://schemas.microsoft.com/office/drawing/2014/main" id="{4633481D-C29C-4B2F-8467-9B139BB0D039}"/>
              </a:ext>
            </a:extLst>
          </p:cNvPr>
          <p:cNvSpPr>
            <a:spLocks xmlns:a="http://schemas.openxmlformats.org/drawingml/2006/main" noGrp="1"/>
          </p:cNvSpPr>
          <p:nvPr/>
        </p:nvSpPr>
        <p:spPr>
          <a:xfrm xmlns:a="http://schemas.openxmlformats.org/drawingml/2006/main">
            <a:off x="685800" y="1724025"/>
            <a:ext cx="1657350" cy="1285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49"/>
              </a:lnSpc>
              <a:buNone/>
            </a:pPr>
            <a:r>
              <a:rPr sz="784" b="1">
                <a:solidFill>
                  <a:srgbClr val="5CE5BD">
                    <a:alpha val="99000"/>
                  </a:srgbClr>
                </a:solidFill>
                <a:latin typeface="Inter"/>
                <a:ea typeface="Inter"/>
                <a:cs typeface="Inter"/>
              </a:rPr>
              <a:t>DESIGN</a:t>
            </a:r>
            <a:endParaRPr sz="784"/>
          </a:p>
        </p:txBody>
      </p:sp>
      <p:sp>
        <p:nvSpPr>
          <p:cNvPr id="13" name="Text 9">
            <a:extLst xmlns:a="http://schemas.openxmlformats.org/drawingml/2006/main">
              <a:ext uri="{FF2B5EF4-FFF2-40B4-BE49-F238E27FC236}">
                <a16:creationId xmlns:a16="http://schemas.microsoft.com/office/drawing/2014/main" id="{91A91E05-C438-4280-971E-4BAD89B46F2C}"/>
              </a:ext>
            </a:extLst>
          </p:cNvPr>
          <p:cNvSpPr>
            <a:spLocks xmlns:a="http://schemas.openxmlformats.org/drawingml/2006/main" noGrp="1"/>
          </p:cNvSpPr>
          <p:nvPr/>
        </p:nvSpPr>
        <p:spPr>
          <a:xfrm xmlns:a="http://schemas.openxmlformats.org/drawingml/2006/main">
            <a:off x="685800" y="1919288"/>
            <a:ext cx="1657350" cy="3238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7"/>
              </a:lnSpc>
              <a:buNone/>
            </a:pPr>
            <a:r>
              <a:rPr sz="998">
                <a:solidFill>
                  <a:srgbClr val="F2FAF5">
                    <a:alpha val="99000"/>
                  </a:srgbClr>
                </a:solidFill>
                <a:latin typeface="Inter"/>
                <a:ea typeface="Inter"/>
                <a:cs typeface="Inter"/>
              </a:rPr>
              <a:t>Bring UI designs into your coding workflow.</a:t>
            </a:r>
            <a:endParaRPr sz="998"/>
          </a:p>
        </p:txBody>
      </p:sp>
      <p:sp>
        <p:nvSpPr>
          <p:cNvPr id="14" name="Shape 10">
            <a:extLst xmlns:a="http://schemas.openxmlformats.org/drawingml/2006/main">
              <a:ext uri="{FF2B5EF4-FFF2-40B4-BE49-F238E27FC236}">
                <a16:creationId xmlns:a16="http://schemas.microsoft.com/office/drawing/2014/main" id="{199D0093-CE1F-4BA5-883C-D6AAAAAB298F}"/>
              </a:ext>
            </a:extLst>
          </p:cNvPr>
          <p:cNvSpPr>
            <a:spLocks xmlns:a="http://schemas.openxmlformats.org/drawingml/2006/main" noGrp="1"/>
          </p:cNvSpPr>
          <p:nvPr/>
        </p:nvSpPr>
        <p:spPr>
          <a:xfrm xmlns:a="http://schemas.openxmlformats.org/drawingml/2006/main">
            <a:off x="2609850" y="1343025"/>
            <a:ext cx="1885950" cy="1190625"/>
          </a:xfrm>
          <a:prstGeom xmlns:a="http://schemas.openxmlformats.org/drawingml/2006/main" prst="roundRect">
            <a:avLst>
              <a:gd name="adj" fmla="val 13824"/>
            </a:avLst>
          </a:prstGeom>
          <a:solidFill xmlns:a="http://schemas.openxmlformats.org/drawingml/2006/main">
            <a:srgbClr val="092925"/>
          </a:solidFill>
        </p:spPr>
      </p:sp>
      <p:sp>
        <p:nvSpPr>
          <p:cNvPr id="15" name="Shape 11">
            <a:extLst xmlns:a="http://schemas.openxmlformats.org/drawingml/2006/main">
              <a:ext uri="{FF2B5EF4-FFF2-40B4-BE49-F238E27FC236}">
                <a16:creationId xmlns:a16="http://schemas.microsoft.com/office/drawing/2014/main" id="{C488BAA8-8F84-4B20-94B3-EEC229805116}"/>
              </a:ext>
            </a:extLst>
          </p:cNvPr>
          <p:cNvSpPr>
            <a:spLocks xmlns:a="http://schemas.openxmlformats.org/drawingml/2006/main" noGrp="1"/>
          </p:cNvSpPr>
          <p:nvPr/>
        </p:nvSpPr>
        <p:spPr>
          <a:xfrm xmlns:a="http://schemas.openxmlformats.org/drawingml/2006/main">
            <a:off x="2724150" y="1447800"/>
            <a:ext cx="1638300" cy="209550"/>
          </a:xfrm>
          <a:prstGeom xmlns:a="http://schemas.openxmlformats.org/drawingml/2006/main" prst="rect">
            <a:avLst/>
          </a:prstGeom>
          <a:noFill xmlns:a="http://schemas.openxmlformats.org/drawingml/2006/main"/>
        </p:spPr>
      </p:sp>
      <p:pic>
        <p:nvPicPr>
          <p:cNvPr id="16" name="Image 1">
            <a:extLst xmlns:a="http://schemas.openxmlformats.org/drawingml/2006/main">
              <a:ext uri="{FF2B5EF4-FFF2-40B4-BE49-F238E27FC236}">
                <a16:creationId xmlns:a16="http://schemas.microsoft.com/office/drawing/2014/main" id="{A9DACADF-0C95-4ECA-9ED1-1BCF843E63E7}"/>
              </a:ext>
            </a:extLst>
          </p:cNvPr>
          <p:cNvPicPr>
            <a:picLocks xmlns:a="http://schemas.openxmlformats.org/drawingml/2006/main" noChangeAspect="1"/>
          </p:cNvPicPr>
          <p:nvPr/>
        </p:nvPicPr>
        <p:blipFill>
          <a:blip xmlns:r="http://schemas.openxmlformats.org/officeDocument/2006/relationships" xmlns:a="http://schemas.openxmlformats.org/drawingml/2006/main" r:embed="R969fce251a6143ba"/>
          <a:srcRect xmlns:a="http://schemas.openxmlformats.org/drawingml/2006/main" l="0" t="0" r="0" b="0"/>
          <a:stretch xmlns:a="http://schemas.openxmlformats.org/drawingml/2006/main"/>
        </p:blipFill>
        <p:spPr>
          <a:xfrm xmlns:a="http://schemas.openxmlformats.org/drawingml/2006/main">
            <a:off x="2724150" y="1447800"/>
            <a:ext cx="209550" cy="209550"/>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C6A02CA5-BD84-4114-981F-EF4D774970DA}"/>
              </a:ext>
            </a:extLst>
          </p:cNvPr>
          <p:cNvSpPr>
            <a:spLocks xmlns:a="http://schemas.openxmlformats.org/drawingml/2006/main" noGrp="1"/>
          </p:cNvSpPr>
          <p:nvPr/>
        </p:nvSpPr>
        <p:spPr>
          <a:xfrm xmlns:a="http://schemas.openxmlformats.org/drawingml/2006/main">
            <a:off x="3000375" y="1466850"/>
            <a:ext cx="1362075" cy="1714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93"/>
              </a:lnSpc>
              <a:buNone/>
            </a:pPr>
            <a:r>
              <a:rPr sz="1069" b="1">
                <a:solidFill>
                  <a:srgbClr val="5CE5BD">
                    <a:alpha val="99000"/>
                  </a:srgbClr>
                </a:solidFill>
                <a:latin typeface="Inter"/>
                <a:ea typeface="Inter"/>
                <a:cs typeface="Inter"/>
              </a:rPr>
              <a:t>GitHub</a:t>
            </a:r>
            <a:endParaRPr sz="1069"/>
          </a:p>
        </p:txBody>
      </p:sp>
      <p:sp>
        <p:nvSpPr>
          <p:cNvPr id="18" name="Text 13">
            <a:extLst xmlns:a="http://schemas.openxmlformats.org/drawingml/2006/main">
              <a:ext uri="{FF2B5EF4-FFF2-40B4-BE49-F238E27FC236}">
                <a16:creationId xmlns:a16="http://schemas.microsoft.com/office/drawing/2014/main" id="{1A184275-352B-4849-8604-F2844854401B}"/>
              </a:ext>
            </a:extLst>
          </p:cNvPr>
          <p:cNvSpPr>
            <a:spLocks xmlns:a="http://schemas.openxmlformats.org/drawingml/2006/main" noGrp="1"/>
          </p:cNvSpPr>
          <p:nvPr/>
        </p:nvSpPr>
        <p:spPr>
          <a:xfrm xmlns:a="http://schemas.openxmlformats.org/drawingml/2006/main">
            <a:off x="2724150" y="1724025"/>
            <a:ext cx="1657350" cy="1285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49"/>
              </a:lnSpc>
              <a:buNone/>
            </a:pPr>
            <a:r>
              <a:rPr sz="784" b="1">
                <a:solidFill>
                  <a:srgbClr val="5CE5BD">
                    <a:alpha val="99000"/>
                  </a:srgbClr>
                </a:solidFill>
                <a:latin typeface="Inter"/>
                <a:ea typeface="Inter"/>
                <a:cs typeface="Inter"/>
              </a:rPr>
              <a:t>BUILD</a:t>
            </a:r>
            <a:endParaRPr sz="784"/>
          </a:p>
        </p:txBody>
      </p:sp>
      <p:sp>
        <p:nvSpPr>
          <p:cNvPr id="19" name="Text 14">
            <a:extLst xmlns:a="http://schemas.openxmlformats.org/drawingml/2006/main">
              <a:ext uri="{FF2B5EF4-FFF2-40B4-BE49-F238E27FC236}">
                <a16:creationId xmlns:a16="http://schemas.microsoft.com/office/drawing/2014/main" id="{F8F63CD7-3395-416B-B7DE-86C20DED0FAA}"/>
              </a:ext>
            </a:extLst>
          </p:cNvPr>
          <p:cNvSpPr>
            <a:spLocks xmlns:a="http://schemas.openxmlformats.org/drawingml/2006/main" noGrp="1"/>
          </p:cNvSpPr>
          <p:nvPr/>
        </p:nvSpPr>
        <p:spPr>
          <a:xfrm xmlns:a="http://schemas.openxmlformats.org/drawingml/2006/main">
            <a:off x="2724150" y="1919288"/>
            <a:ext cx="1657350" cy="3238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7"/>
              </a:lnSpc>
              <a:buNone/>
            </a:pPr>
            <a:r>
              <a:rPr sz="998">
                <a:solidFill>
                  <a:srgbClr val="F2FAF5">
                    <a:alpha val="99000"/>
                  </a:srgbClr>
                </a:solidFill>
                <a:latin typeface="Inter"/>
                <a:ea typeface="Inter"/>
                <a:cs typeface="Inter"/>
              </a:rPr>
              <a:t>Inspect code, track issues and work with PRs.</a:t>
            </a:r>
            <a:endParaRPr sz="998"/>
          </a:p>
        </p:txBody>
      </p:sp>
      <p:sp>
        <p:nvSpPr>
          <p:cNvPr id="20" name="Shape 15">
            <a:extLst xmlns:a="http://schemas.openxmlformats.org/drawingml/2006/main">
              <a:ext uri="{FF2B5EF4-FFF2-40B4-BE49-F238E27FC236}">
                <a16:creationId xmlns:a16="http://schemas.microsoft.com/office/drawing/2014/main" id="{8952FAE7-925B-4204-9FF7-CD1944B16C48}"/>
              </a:ext>
            </a:extLst>
          </p:cNvPr>
          <p:cNvSpPr>
            <a:spLocks xmlns:a="http://schemas.openxmlformats.org/drawingml/2006/main" noGrp="1"/>
          </p:cNvSpPr>
          <p:nvPr/>
        </p:nvSpPr>
        <p:spPr>
          <a:xfrm xmlns:a="http://schemas.openxmlformats.org/drawingml/2006/main">
            <a:off x="4648200" y="1343025"/>
            <a:ext cx="1885950" cy="1190625"/>
          </a:xfrm>
          <a:prstGeom xmlns:a="http://schemas.openxmlformats.org/drawingml/2006/main" prst="roundRect">
            <a:avLst>
              <a:gd name="adj" fmla="val 13824"/>
            </a:avLst>
          </a:prstGeom>
          <a:solidFill xmlns:a="http://schemas.openxmlformats.org/drawingml/2006/main">
            <a:srgbClr val="092925"/>
          </a:solidFill>
        </p:spPr>
      </p:sp>
      <p:sp>
        <p:nvSpPr>
          <p:cNvPr id="21" name="Shape 16">
            <a:extLst xmlns:a="http://schemas.openxmlformats.org/drawingml/2006/main">
              <a:ext uri="{FF2B5EF4-FFF2-40B4-BE49-F238E27FC236}">
                <a16:creationId xmlns:a16="http://schemas.microsoft.com/office/drawing/2014/main" id="{2A9D8BDC-A14F-4CF3-A4C8-61837E91F74E}"/>
              </a:ext>
            </a:extLst>
          </p:cNvPr>
          <p:cNvSpPr>
            <a:spLocks xmlns:a="http://schemas.openxmlformats.org/drawingml/2006/main" noGrp="1"/>
          </p:cNvSpPr>
          <p:nvPr/>
        </p:nvSpPr>
        <p:spPr>
          <a:xfrm xmlns:a="http://schemas.openxmlformats.org/drawingml/2006/main">
            <a:off x="4762500" y="1447800"/>
            <a:ext cx="1638300" cy="209550"/>
          </a:xfrm>
          <a:prstGeom xmlns:a="http://schemas.openxmlformats.org/drawingml/2006/main" prst="rect">
            <a:avLst/>
          </a:prstGeom>
          <a:noFill xmlns:a="http://schemas.openxmlformats.org/drawingml/2006/main"/>
        </p:spPr>
      </p:sp>
      <p:pic>
        <p:nvPicPr>
          <p:cNvPr id="22" name="Image 2">
            <a:extLst xmlns:a="http://schemas.openxmlformats.org/drawingml/2006/main">
              <a:ext uri="{FF2B5EF4-FFF2-40B4-BE49-F238E27FC236}">
                <a16:creationId xmlns:a16="http://schemas.microsoft.com/office/drawing/2014/main" id="{78EA6D16-82ED-49EE-9874-24E1DB0CC6E6}"/>
              </a:ext>
            </a:extLst>
          </p:cNvPr>
          <p:cNvPicPr>
            <a:picLocks xmlns:a="http://schemas.openxmlformats.org/drawingml/2006/main" noChangeAspect="1"/>
          </p:cNvPicPr>
          <p:nvPr/>
        </p:nvPicPr>
        <p:blipFill>
          <a:blip xmlns:r="http://schemas.openxmlformats.org/officeDocument/2006/relationships" xmlns:a="http://schemas.openxmlformats.org/drawingml/2006/main" r:embed="R8ffa85fa65d4432b"/>
          <a:srcRect xmlns:a="http://schemas.openxmlformats.org/drawingml/2006/main" l="0" t="0" r="0" b="0"/>
          <a:stretch xmlns:a="http://schemas.openxmlformats.org/drawingml/2006/main"/>
        </p:blipFill>
        <p:spPr>
          <a:xfrm xmlns:a="http://schemas.openxmlformats.org/drawingml/2006/main">
            <a:off x="4762500" y="1447800"/>
            <a:ext cx="209550" cy="209550"/>
          </a:xfrm>
          <a:prstGeom xmlns:a="http://schemas.openxmlformats.org/drawingml/2006/main" prst="rect">
            <a:avLst/>
          </a:prstGeom>
        </p:spPr>
      </p:pic>
      <p:sp>
        <p:nvSpPr>
          <p:cNvPr id="23" name="Text 17">
            <a:extLst xmlns:a="http://schemas.openxmlformats.org/drawingml/2006/main">
              <a:ext uri="{FF2B5EF4-FFF2-40B4-BE49-F238E27FC236}">
                <a16:creationId xmlns:a16="http://schemas.microsoft.com/office/drawing/2014/main" id="{D973D123-700E-4EF2-88F5-D2038A14C753}"/>
              </a:ext>
            </a:extLst>
          </p:cNvPr>
          <p:cNvSpPr>
            <a:spLocks xmlns:a="http://schemas.openxmlformats.org/drawingml/2006/main" noGrp="1"/>
          </p:cNvSpPr>
          <p:nvPr/>
        </p:nvSpPr>
        <p:spPr>
          <a:xfrm xmlns:a="http://schemas.openxmlformats.org/drawingml/2006/main">
            <a:off x="5038725" y="1466850"/>
            <a:ext cx="1362075" cy="1714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93"/>
              </a:lnSpc>
              <a:buNone/>
            </a:pPr>
            <a:r>
              <a:rPr sz="1069" b="1">
                <a:solidFill>
                  <a:srgbClr val="5CE5BD">
                    <a:alpha val="99000"/>
                  </a:srgbClr>
                </a:solidFill>
                <a:latin typeface="Inter"/>
                <a:ea typeface="Inter"/>
                <a:cs typeface="Inter"/>
              </a:rPr>
              <a:t>Supabase</a:t>
            </a:r>
            <a:endParaRPr sz="1069"/>
          </a:p>
        </p:txBody>
      </p:sp>
      <p:sp>
        <p:nvSpPr>
          <p:cNvPr id="24" name="Text 18">
            <a:extLst xmlns:a="http://schemas.openxmlformats.org/drawingml/2006/main">
              <a:ext uri="{FF2B5EF4-FFF2-40B4-BE49-F238E27FC236}">
                <a16:creationId xmlns:a16="http://schemas.microsoft.com/office/drawing/2014/main" id="{F70612AA-A129-4A0C-A8EA-6960254E7154}"/>
              </a:ext>
            </a:extLst>
          </p:cNvPr>
          <p:cNvSpPr>
            <a:spLocks xmlns:a="http://schemas.openxmlformats.org/drawingml/2006/main" noGrp="1"/>
          </p:cNvSpPr>
          <p:nvPr/>
        </p:nvSpPr>
        <p:spPr>
          <a:xfrm xmlns:a="http://schemas.openxmlformats.org/drawingml/2006/main">
            <a:off x="4762500" y="1724025"/>
            <a:ext cx="1657350" cy="1285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49"/>
              </a:lnSpc>
              <a:buNone/>
            </a:pPr>
            <a:r>
              <a:rPr sz="784" b="1">
                <a:solidFill>
                  <a:srgbClr val="5CE5BD">
                    <a:alpha val="99000"/>
                  </a:srgbClr>
                </a:solidFill>
                <a:latin typeface="Inter"/>
                <a:ea typeface="Inter"/>
                <a:cs typeface="Inter"/>
              </a:rPr>
              <a:t>DATA</a:t>
            </a:r>
            <a:endParaRPr sz="784"/>
          </a:p>
        </p:txBody>
      </p:sp>
      <p:sp>
        <p:nvSpPr>
          <p:cNvPr id="25" name="Text 19">
            <a:extLst xmlns:a="http://schemas.openxmlformats.org/drawingml/2006/main">
              <a:ext uri="{FF2B5EF4-FFF2-40B4-BE49-F238E27FC236}">
                <a16:creationId xmlns:a16="http://schemas.microsoft.com/office/drawing/2014/main" id="{F7EBF3AC-F73A-4A03-99BD-9DD9564E5514}"/>
              </a:ext>
            </a:extLst>
          </p:cNvPr>
          <p:cNvSpPr>
            <a:spLocks xmlns:a="http://schemas.openxmlformats.org/drawingml/2006/main" noGrp="1"/>
          </p:cNvSpPr>
          <p:nvPr/>
        </p:nvSpPr>
        <p:spPr>
          <a:xfrm xmlns:a="http://schemas.openxmlformats.org/drawingml/2006/main">
            <a:off x="4762500" y="1919288"/>
            <a:ext cx="1657350" cy="4857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7"/>
              </a:lnSpc>
              <a:buNone/>
            </a:pPr>
            <a:r>
              <a:rPr sz="998">
                <a:solidFill>
                  <a:srgbClr val="F2FAF5">
                    <a:alpha val="99000"/>
                  </a:srgbClr>
                </a:solidFill>
                <a:latin typeface="Inter"/>
                <a:ea typeface="Inter"/>
                <a:cs typeface="Inter"/>
              </a:rPr>
              <a:t>Inspect schemas, query data and manage migrations.</a:t>
            </a:r>
            <a:endParaRPr sz="998"/>
          </a:p>
        </p:txBody>
      </p:sp>
      <p:sp>
        <p:nvSpPr>
          <p:cNvPr id="26" name="Shape 20">
            <a:extLst xmlns:a="http://schemas.openxmlformats.org/drawingml/2006/main">
              <a:ext uri="{FF2B5EF4-FFF2-40B4-BE49-F238E27FC236}">
                <a16:creationId xmlns:a16="http://schemas.microsoft.com/office/drawing/2014/main" id="{8CF95EE8-1AA9-4CC3-94BF-E3C5556DC65C}"/>
              </a:ext>
            </a:extLst>
          </p:cNvPr>
          <p:cNvSpPr>
            <a:spLocks xmlns:a="http://schemas.openxmlformats.org/drawingml/2006/main" noGrp="1"/>
          </p:cNvSpPr>
          <p:nvPr/>
        </p:nvSpPr>
        <p:spPr>
          <a:xfrm xmlns:a="http://schemas.openxmlformats.org/drawingml/2006/main">
            <a:off x="6686550" y="1343025"/>
            <a:ext cx="1885950" cy="1190625"/>
          </a:xfrm>
          <a:prstGeom xmlns:a="http://schemas.openxmlformats.org/drawingml/2006/main" prst="roundRect">
            <a:avLst>
              <a:gd name="adj" fmla="val 13824"/>
            </a:avLst>
          </a:prstGeom>
          <a:solidFill xmlns:a="http://schemas.openxmlformats.org/drawingml/2006/main">
            <a:srgbClr val="092925"/>
          </a:solidFill>
        </p:spPr>
      </p:sp>
      <p:sp>
        <p:nvSpPr>
          <p:cNvPr id="27" name="Shape 21">
            <a:extLst xmlns:a="http://schemas.openxmlformats.org/drawingml/2006/main">
              <a:ext uri="{FF2B5EF4-FFF2-40B4-BE49-F238E27FC236}">
                <a16:creationId xmlns:a16="http://schemas.microsoft.com/office/drawing/2014/main" id="{93E3A3B6-5DBF-4A33-9F3C-704F667AA7B0}"/>
              </a:ext>
            </a:extLst>
          </p:cNvPr>
          <p:cNvSpPr>
            <a:spLocks xmlns:a="http://schemas.openxmlformats.org/drawingml/2006/main" noGrp="1"/>
          </p:cNvSpPr>
          <p:nvPr/>
        </p:nvSpPr>
        <p:spPr>
          <a:xfrm xmlns:a="http://schemas.openxmlformats.org/drawingml/2006/main">
            <a:off x="6800850" y="1447800"/>
            <a:ext cx="1638300" cy="209550"/>
          </a:xfrm>
          <a:prstGeom xmlns:a="http://schemas.openxmlformats.org/drawingml/2006/main" prst="rect">
            <a:avLst/>
          </a:prstGeom>
          <a:noFill xmlns:a="http://schemas.openxmlformats.org/drawingml/2006/main"/>
        </p:spPr>
      </p:sp>
      <p:pic>
        <p:nvPicPr>
          <p:cNvPr id="28" name="Image 3">
            <a:extLst xmlns:a="http://schemas.openxmlformats.org/drawingml/2006/main">
              <a:ext uri="{FF2B5EF4-FFF2-40B4-BE49-F238E27FC236}">
                <a16:creationId xmlns:a16="http://schemas.microsoft.com/office/drawing/2014/main" id="{36BF6BBD-FB0F-4547-A8FE-8CDFFAF33C9A}"/>
              </a:ext>
            </a:extLst>
          </p:cNvPr>
          <p:cNvPicPr>
            <a:picLocks xmlns:a="http://schemas.openxmlformats.org/drawingml/2006/main" noChangeAspect="1"/>
          </p:cNvPicPr>
          <p:nvPr/>
        </p:nvPicPr>
        <p:blipFill>
          <a:blip xmlns:r="http://schemas.openxmlformats.org/officeDocument/2006/relationships" xmlns:a="http://schemas.openxmlformats.org/drawingml/2006/main" r:embed="Rd2242f688ec4418d"/>
          <a:srcRect xmlns:a="http://schemas.openxmlformats.org/drawingml/2006/main" l="0" t="0" r="0" b="0"/>
          <a:stretch xmlns:a="http://schemas.openxmlformats.org/drawingml/2006/main"/>
        </p:blipFill>
        <p:spPr>
          <a:xfrm xmlns:a="http://schemas.openxmlformats.org/drawingml/2006/main">
            <a:off x="6800850" y="1447800"/>
            <a:ext cx="209550" cy="209550"/>
          </a:xfrm>
          <a:prstGeom xmlns:a="http://schemas.openxmlformats.org/drawingml/2006/main" prst="rect">
            <a:avLst/>
          </a:prstGeom>
        </p:spPr>
      </p:pic>
      <p:sp>
        <p:nvSpPr>
          <p:cNvPr id="29" name="Text 22">
            <a:extLst xmlns:a="http://schemas.openxmlformats.org/drawingml/2006/main">
              <a:ext uri="{FF2B5EF4-FFF2-40B4-BE49-F238E27FC236}">
                <a16:creationId xmlns:a16="http://schemas.microsoft.com/office/drawing/2014/main" id="{14857AFF-09AA-4014-B123-A90BDF18C36B}"/>
              </a:ext>
            </a:extLst>
          </p:cNvPr>
          <p:cNvSpPr>
            <a:spLocks xmlns:a="http://schemas.openxmlformats.org/drawingml/2006/main" noGrp="1"/>
          </p:cNvSpPr>
          <p:nvPr/>
        </p:nvSpPr>
        <p:spPr>
          <a:xfrm xmlns:a="http://schemas.openxmlformats.org/drawingml/2006/main">
            <a:off x="7077075" y="1466850"/>
            <a:ext cx="1362075" cy="1714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93"/>
              </a:lnSpc>
              <a:buNone/>
            </a:pPr>
            <a:r>
              <a:rPr sz="1069" b="1">
                <a:solidFill>
                  <a:srgbClr val="5CE5BD">
                    <a:alpha val="99000"/>
                  </a:srgbClr>
                </a:solidFill>
                <a:latin typeface="Inter"/>
                <a:ea typeface="Inter"/>
                <a:cs typeface="Inter"/>
              </a:rPr>
              <a:t>Playwright</a:t>
            </a:r>
            <a:endParaRPr sz="1069"/>
          </a:p>
        </p:txBody>
      </p:sp>
      <p:sp>
        <p:nvSpPr>
          <p:cNvPr id="30" name="Text 23">
            <a:extLst xmlns:a="http://schemas.openxmlformats.org/drawingml/2006/main">
              <a:ext uri="{FF2B5EF4-FFF2-40B4-BE49-F238E27FC236}">
                <a16:creationId xmlns:a16="http://schemas.microsoft.com/office/drawing/2014/main" id="{69AEE7E8-6550-4FB8-896C-0C9A840BC86B}"/>
              </a:ext>
            </a:extLst>
          </p:cNvPr>
          <p:cNvSpPr>
            <a:spLocks xmlns:a="http://schemas.openxmlformats.org/drawingml/2006/main" noGrp="1"/>
          </p:cNvSpPr>
          <p:nvPr/>
        </p:nvSpPr>
        <p:spPr>
          <a:xfrm xmlns:a="http://schemas.openxmlformats.org/drawingml/2006/main">
            <a:off x="6800850" y="1724025"/>
            <a:ext cx="1657350" cy="1285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49"/>
              </a:lnSpc>
              <a:buNone/>
            </a:pPr>
            <a:r>
              <a:rPr sz="784" b="1">
                <a:solidFill>
                  <a:srgbClr val="5CE5BD">
                    <a:alpha val="99000"/>
                  </a:srgbClr>
                </a:solidFill>
                <a:latin typeface="Inter"/>
                <a:ea typeface="Inter"/>
                <a:cs typeface="Inter"/>
              </a:rPr>
              <a:t>TEST</a:t>
            </a:r>
            <a:endParaRPr sz="784"/>
          </a:p>
        </p:txBody>
      </p:sp>
      <p:sp>
        <p:nvSpPr>
          <p:cNvPr id="31" name="Text 24">
            <a:extLst xmlns:a="http://schemas.openxmlformats.org/drawingml/2006/main">
              <a:ext uri="{FF2B5EF4-FFF2-40B4-BE49-F238E27FC236}">
                <a16:creationId xmlns:a16="http://schemas.microsoft.com/office/drawing/2014/main" id="{C24918F0-3795-435D-BF2E-1B1347212892}"/>
              </a:ext>
            </a:extLst>
          </p:cNvPr>
          <p:cNvSpPr>
            <a:spLocks xmlns:a="http://schemas.openxmlformats.org/drawingml/2006/main" noGrp="1"/>
          </p:cNvSpPr>
          <p:nvPr/>
        </p:nvSpPr>
        <p:spPr>
          <a:xfrm xmlns:a="http://schemas.openxmlformats.org/drawingml/2006/main">
            <a:off x="6800850" y="1919288"/>
            <a:ext cx="1657350" cy="3238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7"/>
              </a:lnSpc>
              <a:buNone/>
            </a:pPr>
            <a:r>
              <a:rPr sz="998">
                <a:solidFill>
                  <a:srgbClr val="F2FAF5">
                    <a:alpha val="99000"/>
                  </a:srgbClr>
                </a:solidFill>
                <a:latin typeface="Inter"/>
                <a:ea typeface="Inter"/>
                <a:cs typeface="Inter"/>
              </a:rPr>
              <a:t>Drive the browser and verify the demo flow.</a:t>
            </a:r>
            <a:endParaRPr sz="998"/>
          </a:p>
        </p:txBody>
      </p:sp>
      <p:sp>
        <p:nvSpPr>
          <p:cNvPr id="32" name="Shape 25">
            <a:extLst xmlns:a="http://schemas.openxmlformats.org/drawingml/2006/main">
              <a:ext uri="{FF2B5EF4-FFF2-40B4-BE49-F238E27FC236}">
                <a16:creationId xmlns:a16="http://schemas.microsoft.com/office/drawing/2014/main" id="{4DA63899-9577-4223-A13C-C28E7AC41E58}"/>
              </a:ext>
            </a:extLst>
          </p:cNvPr>
          <p:cNvSpPr>
            <a:spLocks xmlns:a="http://schemas.openxmlformats.org/drawingml/2006/main" noGrp="1"/>
          </p:cNvSpPr>
          <p:nvPr/>
        </p:nvSpPr>
        <p:spPr>
          <a:xfrm xmlns:a="http://schemas.openxmlformats.org/drawingml/2006/main">
            <a:off x="571500" y="2662238"/>
            <a:ext cx="1885950" cy="1190625"/>
          </a:xfrm>
          <a:prstGeom xmlns:a="http://schemas.openxmlformats.org/drawingml/2006/main" prst="roundRect">
            <a:avLst>
              <a:gd name="adj" fmla="val 13824"/>
            </a:avLst>
          </a:prstGeom>
          <a:solidFill xmlns:a="http://schemas.openxmlformats.org/drawingml/2006/main">
            <a:srgbClr val="092925"/>
          </a:solidFill>
        </p:spPr>
      </p:sp>
      <p:sp>
        <p:nvSpPr>
          <p:cNvPr id="33" name="Shape 26">
            <a:extLst xmlns:a="http://schemas.openxmlformats.org/drawingml/2006/main">
              <a:ext uri="{FF2B5EF4-FFF2-40B4-BE49-F238E27FC236}">
                <a16:creationId xmlns:a16="http://schemas.microsoft.com/office/drawing/2014/main" id="{CF2802B1-9E29-49E0-A7E1-5FA22D0D818D}"/>
              </a:ext>
            </a:extLst>
          </p:cNvPr>
          <p:cNvSpPr>
            <a:spLocks xmlns:a="http://schemas.openxmlformats.org/drawingml/2006/main" noGrp="1"/>
          </p:cNvSpPr>
          <p:nvPr/>
        </p:nvSpPr>
        <p:spPr>
          <a:xfrm xmlns:a="http://schemas.openxmlformats.org/drawingml/2006/main">
            <a:off x="685800" y="2767013"/>
            <a:ext cx="1638300" cy="209550"/>
          </a:xfrm>
          <a:prstGeom xmlns:a="http://schemas.openxmlformats.org/drawingml/2006/main" prst="rect">
            <a:avLst/>
          </a:prstGeom>
          <a:noFill xmlns:a="http://schemas.openxmlformats.org/drawingml/2006/main"/>
        </p:spPr>
      </p:sp>
      <p:pic>
        <p:nvPicPr>
          <p:cNvPr id="34" name="Image 4">
            <a:extLst xmlns:a="http://schemas.openxmlformats.org/drawingml/2006/main">
              <a:ext uri="{FF2B5EF4-FFF2-40B4-BE49-F238E27FC236}">
                <a16:creationId xmlns:a16="http://schemas.microsoft.com/office/drawing/2014/main" id="{1DB17147-C056-4A83-B440-CE8D942963EF}"/>
              </a:ext>
            </a:extLst>
          </p:cNvPr>
          <p:cNvPicPr>
            <a:picLocks xmlns:a="http://schemas.openxmlformats.org/drawingml/2006/main" noChangeAspect="1"/>
          </p:cNvPicPr>
          <p:nvPr/>
        </p:nvPicPr>
        <p:blipFill>
          <a:blip xmlns:r="http://schemas.openxmlformats.org/officeDocument/2006/relationships" xmlns:a="http://schemas.openxmlformats.org/drawingml/2006/main" r:embed="R881f6fcf2a7a4551"/>
          <a:srcRect xmlns:a="http://schemas.openxmlformats.org/drawingml/2006/main" l="0" t="0" r="0" b="0"/>
          <a:stretch xmlns:a="http://schemas.openxmlformats.org/drawingml/2006/main"/>
        </p:blipFill>
        <p:spPr>
          <a:xfrm xmlns:a="http://schemas.openxmlformats.org/drawingml/2006/main">
            <a:off x="685800" y="2767013"/>
            <a:ext cx="209550" cy="209550"/>
          </a:xfrm>
          <a:prstGeom xmlns:a="http://schemas.openxmlformats.org/drawingml/2006/main" prst="rect">
            <a:avLst/>
          </a:prstGeom>
        </p:spPr>
      </p:pic>
      <p:sp>
        <p:nvSpPr>
          <p:cNvPr id="35" name="Text 27">
            <a:extLst xmlns:a="http://schemas.openxmlformats.org/drawingml/2006/main">
              <a:ext uri="{FF2B5EF4-FFF2-40B4-BE49-F238E27FC236}">
                <a16:creationId xmlns:a16="http://schemas.microsoft.com/office/drawing/2014/main" id="{73BB77D2-7B9E-4395-9133-150FED8A66A1}"/>
              </a:ext>
            </a:extLst>
          </p:cNvPr>
          <p:cNvSpPr>
            <a:spLocks xmlns:a="http://schemas.openxmlformats.org/drawingml/2006/main" noGrp="1"/>
          </p:cNvSpPr>
          <p:nvPr/>
        </p:nvSpPr>
        <p:spPr>
          <a:xfrm xmlns:a="http://schemas.openxmlformats.org/drawingml/2006/main">
            <a:off x="962025" y="2786063"/>
            <a:ext cx="1362075" cy="1714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93"/>
              </a:lnSpc>
              <a:buNone/>
            </a:pPr>
            <a:r>
              <a:rPr sz="1069" b="1">
                <a:solidFill>
                  <a:srgbClr val="5CE5BD">
                    <a:alpha val="99000"/>
                  </a:srgbClr>
                </a:solidFill>
                <a:latin typeface="Inter"/>
                <a:ea typeface="Inter"/>
                <a:cs typeface="Inter"/>
              </a:rPr>
              <a:t>Vercel</a:t>
            </a:r>
            <a:endParaRPr sz="1069"/>
          </a:p>
        </p:txBody>
      </p:sp>
      <p:sp>
        <p:nvSpPr>
          <p:cNvPr id="36" name="Text 28">
            <a:extLst xmlns:a="http://schemas.openxmlformats.org/drawingml/2006/main">
              <a:ext uri="{FF2B5EF4-FFF2-40B4-BE49-F238E27FC236}">
                <a16:creationId xmlns:a16="http://schemas.microsoft.com/office/drawing/2014/main" id="{770CF49D-8060-4B6D-A921-BAEAF95FDE10}"/>
              </a:ext>
            </a:extLst>
          </p:cNvPr>
          <p:cNvSpPr>
            <a:spLocks xmlns:a="http://schemas.openxmlformats.org/drawingml/2006/main" noGrp="1"/>
          </p:cNvSpPr>
          <p:nvPr/>
        </p:nvSpPr>
        <p:spPr>
          <a:xfrm xmlns:a="http://schemas.openxmlformats.org/drawingml/2006/main">
            <a:off x="685800" y="3043238"/>
            <a:ext cx="1657350" cy="1285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49"/>
              </a:lnSpc>
              <a:buNone/>
            </a:pPr>
            <a:r>
              <a:rPr sz="784" b="1">
                <a:solidFill>
                  <a:srgbClr val="5CE5BD">
                    <a:alpha val="99000"/>
                  </a:srgbClr>
                </a:solidFill>
                <a:latin typeface="Inter"/>
                <a:ea typeface="Inter"/>
                <a:cs typeface="Inter"/>
              </a:rPr>
              <a:t>SHIP</a:t>
            </a:r>
            <a:endParaRPr sz="784"/>
          </a:p>
        </p:txBody>
      </p:sp>
      <p:sp>
        <p:nvSpPr>
          <p:cNvPr id="37" name="Text 29">
            <a:extLst xmlns:a="http://schemas.openxmlformats.org/drawingml/2006/main">
              <a:ext uri="{FF2B5EF4-FFF2-40B4-BE49-F238E27FC236}">
                <a16:creationId xmlns:a16="http://schemas.microsoft.com/office/drawing/2014/main" id="{B26B04B0-BCA5-4A66-A9DA-CB525AB4C9E4}"/>
              </a:ext>
            </a:extLst>
          </p:cNvPr>
          <p:cNvSpPr>
            <a:spLocks xmlns:a="http://schemas.openxmlformats.org/drawingml/2006/main" noGrp="1"/>
          </p:cNvSpPr>
          <p:nvPr/>
        </p:nvSpPr>
        <p:spPr>
          <a:xfrm xmlns:a="http://schemas.openxmlformats.org/drawingml/2006/main">
            <a:off x="685800" y="3238500"/>
            <a:ext cx="1657350" cy="3238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7"/>
              </a:lnSpc>
              <a:buNone/>
            </a:pPr>
            <a:r>
              <a:rPr sz="998">
                <a:solidFill>
                  <a:srgbClr val="F2FAF5">
                    <a:alpha val="99000"/>
                  </a:srgbClr>
                </a:solidFill>
                <a:latin typeface="Inter"/>
                <a:ea typeface="Inter"/>
                <a:cs typeface="Inter"/>
              </a:rPr>
              <a:t>Manage deployments and inspect deployment logs.</a:t>
            </a:r>
            <a:endParaRPr sz="998"/>
          </a:p>
        </p:txBody>
      </p:sp>
      <p:sp>
        <p:nvSpPr>
          <p:cNvPr id="38" name="Shape 30">
            <a:extLst xmlns:a="http://schemas.openxmlformats.org/drawingml/2006/main">
              <a:ext uri="{FF2B5EF4-FFF2-40B4-BE49-F238E27FC236}">
                <a16:creationId xmlns:a16="http://schemas.microsoft.com/office/drawing/2014/main" id="{F2176D4E-0210-4764-843A-0F84975E3F76}"/>
              </a:ext>
            </a:extLst>
          </p:cNvPr>
          <p:cNvSpPr>
            <a:spLocks xmlns:a="http://schemas.openxmlformats.org/drawingml/2006/main" noGrp="1"/>
          </p:cNvSpPr>
          <p:nvPr/>
        </p:nvSpPr>
        <p:spPr>
          <a:xfrm xmlns:a="http://schemas.openxmlformats.org/drawingml/2006/main">
            <a:off x="2609850" y="2662238"/>
            <a:ext cx="1885950" cy="1190625"/>
          </a:xfrm>
          <a:prstGeom xmlns:a="http://schemas.openxmlformats.org/drawingml/2006/main" prst="roundRect">
            <a:avLst>
              <a:gd name="adj" fmla="val 13824"/>
            </a:avLst>
          </a:prstGeom>
          <a:solidFill xmlns:a="http://schemas.openxmlformats.org/drawingml/2006/main">
            <a:srgbClr val="092925"/>
          </a:solidFill>
        </p:spPr>
      </p:sp>
      <p:sp>
        <p:nvSpPr>
          <p:cNvPr id="39" name="Shape 31">
            <a:extLst xmlns:a="http://schemas.openxmlformats.org/drawingml/2006/main">
              <a:ext uri="{FF2B5EF4-FFF2-40B4-BE49-F238E27FC236}">
                <a16:creationId xmlns:a16="http://schemas.microsoft.com/office/drawing/2014/main" id="{9697EE65-1E51-42DE-B785-A8344C2E863E}"/>
              </a:ext>
            </a:extLst>
          </p:cNvPr>
          <p:cNvSpPr>
            <a:spLocks xmlns:a="http://schemas.openxmlformats.org/drawingml/2006/main" noGrp="1"/>
          </p:cNvSpPr>
          <p:nvPr/>
        </p:nvSpPr>
        <p:spPr>
          <a:xfrm xmlns:a="http://schemas.openxmlformats.org/drawingml/2006/main">
            <a:off x="2724150" y="2767013"/>
            <a:ext cx="1638300" cy="209550"/>
          </a:xfrm>
          <a:prstGeom xmlns:a="http://schemas.openxmlformats.org/drawingml/2006/main" prst="rect">
            <a:avLst/>
          </a:prstGeom>
          <a:noFill xmlns:a="http://schemas.openxmlformats.org/drawingml/2006/main"/>
        </p:spPr>
      </p:sp>
      <p:pic>
        <p:nvPicPr>
          <p:cNvPr id="40" name="Image 5">
            <a:extLst xmlns:a="http://schemas.openxmlformats.org/drawingml/2006/main">
              <a:ext uri="{FF2B5EF4-FFF2-40B4-BE49-F238E27FC236}">
                <a16:creationId xmlns:a16="http://schemas.microsoft.com/office/drawing/2014/main" id="{F978664F-21D6-493E-AAA0-F0C41DAAA52A}"/>
              </a:ext>
            </a:extLst>
          </p:cNvPr>
          <p:cNvPicPr>
            <a:picLocks xmlns:a="http://schemas.openxmlformats.org/drawingml/2006/main" noChangeAspect="1"/>
          </p:cNvPicPr>
          <p:nvPr/>
        </p:nvPicPr>
        <p:blipFill>
          <a:blip xmlns:r="http://schemas.openxmlformats.org/officeDocument/2006/relationships" xmlns:a="http://schemas.openxmlformats.org/drawingml/2006/main" r:embed="Rc4d0c0e481e3403d"/>
          <a:srcRect xmlns:a="http://schemas.openxmlformats.org/drawingml/2006/main" l="0" t="0" r="0" b="0"/>
          <a:stretch xmlns:a="http://schemas.openxmlformats.org/drawingml/2006/main"/>
        </p:blipFill>
        <p:spPr>
          <a:xfrm xmlns:a="http://schemas.openxmlformats.org/drawingml/2006/main">
            <a:off x="2724150" y="2767013"/>
            <a:ext cx="209550" cy="209550"/>
          </a:xfrm>
          <a:prstGeom xmlns:a="http://schemas.openxmlformats.org/drawingml/2006/main" prst="rect">
            <a:avLst/>
          </a:prstGeom>
        </p:spPr>
      </p:pic>
      <p:sp>
        <p:nvSpPr>
          <p:cNvPr id="41" name="Text 32">
            <a:extLst xmlns:a="http://schemas.openxmlformats.org/drawingml/2006/main">
              <a:ext uri="{FF2B5EF4-FFF2-40B4-BE49-F238E27FC236}">
                <a16:creationId xmlns:a16="http://schemas.microsoft.com/office/drawing/2014/main" id="{B11EDC04-3D0B-468C-BCD8-17FCC2FAE141}"/>
              </a:ext>
            </a:extLst>
          </p:cNvPr>
          <p:cNvSpPr>
            <a:spLocks xmlns:a="http://schemas.openxmlformats.org/drawingml/2006/main" noGrp="1"/>
          </p:cNvSpPr>
          <p:nvPr/>
        </p:nvSpPr>
        <p:spPr>
          <a:xfrm xmlns:a="http://schemas.openxmlformats.org/drawingml/2006/main">
            <a:off x="3000375" y="2786063"/>
            <a:ext cx="1362075" cy="1714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93"/>
              </a:lnSpc>
              <a:buNone/>
            </a:pPr>
            <a:r>
              <a:rPr sz="1069" b="1">
                <a:solidFill>
                  <a:srgbClr val="5CE5BD">
                    <a:alpha val="99000"/>
                  </a:srgbClr>
                </a:solidFill>
                <a:latin typeface="Inter"/>
                <a:ea typeface="Inter"/>
                <a:cs typeface="Inter"/>
              </a:rPr>
              <a:t>Sentry</a:t>
            </a:r>
            <a:endParaRPr sz="1069"/>
          </a:p>
        </p:txBody>
      </p:sp>
      <p:sp>
        <p:nvSpPr>
          <p:cNvPr id="42" name="Text 33">
            <a:extLst xmlns:a="http://schemas.openxmlformats.org/drawingml/2006/main">
              <a:ext uri="{FF2B5EF4-FFF2-40B4-BE49-F238E27FC236}">
                <a16:creationId xmlns:a16="http://schemas.microsoft.com/office/drawing/2014/main" id="{B4EC1488-F3C3-42C2-AA50-981B3C19C474}"/>
              </a:ext>
            </a:extLst>
          </p:cNvPr>
          <p:cNvSpPr>
            <a:spLocks xmlns:a="http://schemas.openxmlformats.org/drawingml/2006/main" noGrp="1"/>
          </p:cNvSpPr>
          <p:nvPr/>
        </p:nvSpPr>
        <p:spPr>
          <a:xfrm xmlns:a="http://schemas.openxmlformats.org/drawingml/2006/main">
            <a:off x="2724150" y="3043238"/>
            <a:ext cx="1657350" cy="1285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49"/>
              </a:lnSpc>
              <a:buNone/>
            </a:pPr>
            <a:r>
              <a:rPr sz="784" b="1">
                <a:solidFill>
                  <a:srgbClr val="5CE5BD">
                    <a:alpha val="99000"/>
                  </a:srgbClr>
                </a:solidFill>
                <a:latin typeface="Inter"/>
                <a:ea typeface="Inter"/>
                <a:cs typeface="Inter"/>
              </a:rPr>
              <a:t>DEBUG</a:t>
            </a:r>
            <a:endParaRPr sz="784"/>
          </a:p>
        </p:txBody>
      </p:sp>
      <p:sp>
        <p:nvSpPr>
          <p:cNvPr id="43" name="Text 34">
            <a:extLst xmlns:a="http://schemas.openxmlformats.org/drawingml/2006/main">
              <a:ext uri="{FF2B5EF4-FFF2-40B4-BE49-F238E27FC236}">
                <a16:creationId xmlns:a16="http://schemas.microsoft.com/office/drawing/2014/main" id="{82EE03B9-8A4F-49AF-B8AE-8A1ACA20B1B5}"/>
              </a:ext>
            </a:extLst>
          </p:cNvPr>
          <p:cNvSpPr>
            <a:spLocks xmlns:a="http://schemas.openxmlformats.org/drawingml/2006/main" noGrp="1"/>
          </p:cNvSpPr>
          <p:nvPr/>
        </p:nvSpPr>
        <p:spPr>
          <a:xfrm xmlns:a="http://schemas.openxmlformats.org/drawingml/2006/main">
            <a:off x="2724150" y="3238500"/>
            <a:ext cx="1657350" cy="3238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7"/>
              </a:lnSpc>
              <a:buNone/>
            </a:pPr>
            <a:r>
              <a:rPr sz="998">
                <a:solidFill>
                  <a:srgbClr val="F2FAF5">
                    <a:alpha val="99000"/>
                  </a:srgbClr>
                </a:solidFill>
                <a:latin typeface="Inter"/>
                <a:ea typeface="Inter"/>
                <a:cs typeface="Inter"/>
              </a:rPr>
              <a:t>Investigate errors before the judges find them.</a:t>
            </a:r>
            <a:endParaRPr sz="998"/>
          </a:p>
        </p:txBody>
      </p:sp>
      <p:sp>
        <p:nvSpPr>
          <p:cNvPr id="44" name="Shape 35">
            <a:extLst xmlns:a="http://schemas.openxmlformats.org/drawingml/2006/main">
              <a:ext uri="{FF2B5EF4-FFF2-40B4-BE49-F238E27FC236}">
                <a16:creationId xmlns:a16="http://schemas.microsoft.com/office/drawing/2014/main" id="{B57CF231-1B6E-4247-B32F-74EAB4E5E450}"/>
              </a:ext>
            </a:extLst>
          </p:cNvPr>
          <p:cNvSpPr>
            <a:spLocks xmlns:a="http://schemas.openxmlformats.org/drawingml/2006/main" noGrp="1"/>
          </p:cNvSpPr>
          <p:nvPr/>
        </p:nvSpPr>
        <p:spPr>
          <a:xfrm xmlns:a="http://schemas.openxmlformats.org/drawingml/2006/main">
            <a:off x="4648200" y="2662238"/>
            <a:ext cx="1885950" cy="1190625"/>
          </a:xfrm>
          <a:prstGeom xmlns:a="http://schemas.openxmlformats.org/drawingml/2006/main" prst="roundRect">
            <a:avLst>
              <a:gd name="adj" fmla="val 13824"/>
            </a:avLst>
          </a:prstGeom>
          <a:solidFill xmlns:a="http://schemas.openxmlformats.org/drawingml/2006/main">
            <a:srgbClr val="092925"/>
          </a:solidFill>
        </p:spPr>
      </p:sp>
      <p:sp>
        <p:nvSpPr>
          <p:cNvPr id="45" name="Shape 36">
            <a:extLst xmlns:a="http://schemas.openxmlformats.org/drawingml/2006/main">
              <a:ext uri="{FF2B5EF4-FFF2-40B4-BE49-F238E27FC236}">
                <a16:creationId xmlns:a16="http://schemas.microsoft.com/office/drawing/2014/main" id="{983BD976-469F-415F-9F6C-BD0D7D67E64C}"/>
              </a:ext>
            </a:extLst>
          </p:cNvPr>
          <p:cNvSpPr>
            <a:spLocks xmlns:a="http://schemas.openxmlformats.org/drawingml/2006/main" noGrp="1"/>
          </p:cNvSpPr>
          <p:nvPr/>
        </p:nvSpPr>
        <p:spPr>
          <a:xfrm xmlns:a="http://schemas.openxmlformats.org/drawingml/2006/main">
            <a:off x="4762500" y="2767013"/>
            <a:ext cx="1638300" cy="209550"/>
          </a:xfrm>
          <a:prstGeom xmlns:a="http://schemas.openxmlformats.org/drawingml/2006/main" prst="rect">
            <a:avLst/>
          </a:prstGeom>
          <a:noFill xmlns:a="http://schemas.openxmlformats.org/drawingml/2006/main"/>
        </p:spPr>
      </p:sp>
      <p:pic>
        <p:nvPicPr>
          <p:cNvPr id="46" name="Image 6">
            <a:extLst xmlns:a="http://schemas.openxmlformats.org/drawingml/2006/main">
              <a:ext uri="{FF2B5EF4-FFF2-40B4-BE49-F238E27FC236}">
                <a16:creationId xmlns:a16="http://schemas.microsoft.com/office/drawing/2014/main" id="{D69C484E-9B91-479A-AC7C-96BD9D5691FF}"/>
              </a:ext>
            </a:extLst>
          </p:cNvPr>
          <p:cNvPicPr>
            <a:picLocks xmlns:a="http://schemas.openxmlformats.org/drawingml/2006/main" noChangeAspect="1"/>
          </p:cNvPicPr>
          <p:nvPr/>
        </p:nvPicPr>
        <p:blipFill>
          <a:blip xmlns:r="http://schemas.openxmlformats.org/officeDocument/2006/relationships" xmlns:a="http://schemas.openxmlformats.org/drawingml/2006/main" r:embed="R1a91a109df95463d"/>
          <a:srcRect xmlns:a="http://schemas.openxmlformats.org/drawingml/2006/main" l="0" t="0" r="0" b="0"/>
          <a:stretch xmlns:a="http://schemas.openxmlformats.org/drawingml/2006/main"/>
        </p:blipFill>
        <p:spPr>
          <a:xfrm xmlns:a="http://schemas.openxmlformats.org/drawingml/2006/main">
            <a:off x="4762500" y="2767013"/>
            <a:ext cx="209550" cy="209550"/>
          </a:xfrm>
          <a:prstGeom xmlns:a="http://schemas.openxmlformats.org/drawingml/2006/main" prst="rect">
            <a:avLst/>
          </a:prstGeom>
        </p:spPr>
      </p:pic>
      <p:sp>
        <p:nvSpPr>
          <p:cNvPr id="47" name="Text 37">
            <a:extLst xmlns:a="http://schemas.openxmlformats.org/drawingml/2006/main">
              <a:ext uri="{FF2B5EF4-FFF2-40B4-BE49-F238E27FC236}">
                <a16:creationId xmlns:a16="http://schemas.microsoft.com/office/drawing/2014/main" id="{F63FDDDF-3AC3-4DDB-B646-D99A20FC9026}"/>
              </a:ext>
            </a:extLst>
          </p:cNvPr>
          <p:cNvSpPr>
            <a:spLocks xmlns:a="http://schemas.openxmlformats.org/drawingml/2006/main" noGrp="1"/>
          </p:cNvSpPr>
          <p:nvPr/>
        </p:nvSpPr>
        <p:spPr>
          <a:xfrm xmlns:a="http://schemas.openxmlformats.org/drawingml/2006/main">
            <a:off x="5038725" y="2786063"/>
            <a:ext cx="1362075" cy="1714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93"/>
              </a:lnSpc>
              <a:buNone/>
            </a:pPr>
            <a:r>
              <a:rPr sz="1069" b="1">
                <a:solidFill>
                  <a:srgbClr val="5CE5BD">
                    <a:alpha val="99000"/>
                  </a:srgbClr>
                </a:solidFill>
                <a:latin typeface="Inter"/>
                <a:ea typeface="Inter"/>
                <a:cs typeface="Inter"/>
              </a:rPr>
              <a:t>Stripe</a:t>
            </a:r>
            <a:endParaRPr sz="1069"/>
          </a:p>
        </p:txBody>
      </p:sp>
      <p:sp>
        <p:nvSpPr>
          <p:cNvPr id="48" name="Text 38">
            <a:extLst xmlns:a="http://schemas.openxmlformats.org/drawingml/2006/main">
              <a:ext uri="{FF2B5EF4-FFF2-40B4-BE49-F238E27FC236}">
                <a16:creationId xmlns:a16="http://schemas.microsoft.com/office/drawing/2014/main" id="{E81559FA-65D0-4B19-9F82-3E6379B58509}"/>
              </a:ext>
            </a:extLst>
          </p:cNvPr>
          <p:cNvSpPr>
            <a:spLocks xmlns:a="http://schemas.openxmlformats.org/drawingml/2006/main" noGrp="1"/>
          </p:cNvSpPr>
          <p:nvPr/>
        </p:nvSpPr>
        <p:spPr>
          <a:xfrm xmlns:a="http://schemas.openxmlformats.org/drawingml/2006/main">
            <a:off x="4762500" y="3043238"/>
            <a:ext cx="1657350" cy="1285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49"/>
              </a:lnSpc>
              <a:buNone/>
            </a:pPr>
            <a:r>
              <a:rPr sz="784" b="1">
                <a:solidFill>
                  <a:srgbClr val="5CE5BD">
                    <a:alpha val="99000"/>
                  </a:srgbClr>
                </a:solidFill>
                <a:latin typeface="Inter"/>
                <a:ea typeface="Inter"/>
                <a:cs typeface="Inter"/>
              </a:rPr>
              <a:t>PAYMENTS</a:t>
            </a:r>
            <a:endParaRPr sz="784"/>
          </a:p>
        </p:txBody>
      </p:sp>
      <p:sp>
        <p:nvSpPr>
          <p:cNvPr id="49" name="Text 39">
            <a:extLst xmlns:a="http://schemas.openxmlformats.org/drawingml/2006/main">
              <a:ext uri="{FF2B5EF4-FFF2-40B4-BE49-F238E27FC236}">
                <a16:creationId xmlns:a16="http://schemas.microsoft.com/office/drawing/2014/main" id="{DE8507FA-28BB-4BF2-8BF6-09AABE69A445}"/>
              </a:ext>
            </a:extLst>
          </p:cNvPr>
          <p:cNvSpPr>
            <a:spLocks xmlns:a="http://schemas.openxmlformats.org/drawingml/2006/main" noGrp="1"/>
          </p:cNvSpPr>
          <p:nvPr/>
        </p:nvSpPr>
        <p:spPr>
          <a:xfrm xmlns:a="http://schemas.openxmlformats.org/drawingml/2006/main">
            <a:off x="4762500" y="3238500"/>
            <a:ext cx="1657350" cy="3238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7"/>
              </a:lnSpc>
              <a:buNone/>
            </a:pPr>
            <a:r>
              <a:rPr sz="998">
                <a:solidFill>
                  <a:srgbClr val="F2FAF5">
                    <a:alpha val="99000"/>
                  </a:srgbClr>
                </a:solidFill>
                <a:latin typeface="Inter"/>
                <a:ea typeface="Inter"/>
                <a:cs typeface="Inter"/>
              </a:rPr>
              <a:t>Explore APIs and build a sandbox payment demo.</a:t>
            </a:r>
            <a:endParaRPr sz="998"/>
          </a:p>
        </p:txBody>
      </p:sp>
      <p:sp>
        <p:nvSpPr>
          <p:cNvPr id="50" name="Shape 40">
            <a:extLst xmlns:a="http://schemas.openxmlformats.org/drawingml/2006/main">
              <a:ext uri="{FF2B5EF4-FFF2-40B4-BE49-F238E27FC236}">
                <a16:creationId xmlns:a16="http://schemas.microsoft.com/office/drawing/2014/main" id="{BD825832-270D-4CE9-BFF1-A8FAEBE367C1}"/>
              </a:ext>
            </a:extLst>
          </p:cNvPr>
          <p:cNvSpPr>
            <a:spLocks xmlns:a="http://schemas.openxmlformats.org/drawingml/2006/main" noGrp="1"/>
          </p:cNvSpPr>
          <p:nvPr/>
        </p:nvSpPr>
        <p:spPr>
          <a:xfrm xmlns:a="http://schemas.openxmlformats.org/drawingml/2006/main">
            <a:off x="6686550" y="2662238"/>
            <a:ext cx="1885950" cy="1190625"/>
          </a:xfrm>
          <a:prstGeom xmlns:a="http://schemas.openxmlformats.org/drawingml/2006/main" prst="roundRect">
            <a:avLst>
              <a:gd name="adj" fmla="val 13824"/>
            </a:avLst>
          </a:prstGeom>
          <a:solidFill xmlns:a="http://schemas.openxmlformats.org/drawingml/2006/main">
            <a:srgbClr val="092925"/>
          </a:solidFill>
        </p:spPr>
      </p:sp>
      <p:sp>
        <p:nvSpPr>
          <p:cNvPr id="51" name="Shape 41">
            <a:extLst xmlns:a="http://schemas.openxmlformats.org/drawingml/2006/main">
              <a:ext uri="{FF2B5EF4-FFF2-40B4-BE49-F238E27FC236}">
                <a16:creationId xmlns:a16="http://schemas.microsoft.com/office/drawing/2014/main" id="{230F8E6C-49FD-425F-94CD-DBB38369D5D0}"/>
              </a:ext>
            </a:extLst>
          </p:cNvPr>
          <p:cNvSpPr>
            <a:spLocks xmlns:a="http://schemas.openxmlformats.org/drawingml/2006/main" noGrp="1"/>
          </p:cNvSpPr>
          <p:nvPr/>
        </p:nvSpPr>
        <p:spPr>
          <a:xfrm xmlns:a="http://schemas.openxmlformats.org/drawingml/2006/main">
            <a:off x="6800850" y="2767013"/>
            <a:ext cx="1638300" cy="209550"/>
          </a:xfrm>
          <a:prstGeom xmlns:a="http://schemas.openxmlformats.org/drawingml/2006/main" prst="rect">
            <a:avLst/>
          </a:prstGeom>
          <a:noFill xmlns:a="http://schemas.openxmlformats.org/drawingml/2006/main"/>
        </p:spPr>
      </p:sp>
      <p:pic>
        <p:nvPicPr>
          <p:cNvPr id="52" name="Image 7">
            <a:extLst xmlns:a="http://schemas.openxmlformats.org/drawingml/2006/main">
              <a:ext uri="{FF2B5EF4-FFF2-40B4-BE49-F238E27FC236}">
                <a16:creationId xmlns:a16="http://schemas.microsoft.com/office/drawing/2014/main" id="{3C0CACEE-28E8-48BF-9C04-54DA09308488}"/>
              </a:ext>
            </a:extLst>
          </p:cNvPr>
          <p:cNvPicPr>
            <a:picLocks xmlns:a="http://schemas.openxmlformats.org/drawingml/2006/main" noChangeAspect="1"/>
          </p:cNvPicPr>
          <p:nvPr/>
        </p:nvPicPr>
        <p:blipFill>
          <a:blip xmlns:r="http://schemas.openxmlformats.org/officeDocument/2006/relationships" xmlns:a="http://schemas.openxmlformats.org/drawingml/2006/main" r:embed="R44e5ddabb3f84049"/>
          <a:srcRect xmlns:a="http://schemas.openxmlformats.org/drawingml/2006/main" l="0" t="0" r="0" b="0"/>
          <a:stretch xmlns:a="http://schemas.openxmlformats.org/drawingml/2006/main"/>
        </p:blipFill>
        <p:spPr>
          <a:xfrm xmlns:a="http://schemas.openxmlformats.org/drawingml/2006/main">
            <a:off x="6800850" y="2767013"/>
            <a:ext cx="209550" cy="209550"/>
          </a:xfrm>
          <a:prstGeom xmlns:a="http://schemas.openxmlformats.org/drawingml/2006/main" prst="rect">
            <a:avLst/>
          </a:prstGeom>
        </p:spPr>
      </p:pic>
      <p:sp>
        <p:nvSpPr>
          <p:cNvPr id="53" name="Text 42">
            <a:extLst xmlns:a="http://schemas.openxmlformats.org/drawingml/2006/main">
              <a:ext uri="{FF2B5EF4-FFF2-40B4-BE49-F238E27FC236}">
                <a16:creationId xmlns:a16="http://schemas.microsoft.com/office/drawing/2014/main" id="{90F0BC97-53EA-4C66-9DAA-65D4DE355086}"/>
              </a:ext>
            </a:extLst>
          </p:cNvPr>
          <p:cNvSpPr>
            <a:spLocks xmlns:a="http://schemas.openxmlformats.org/drawingml/2006/main" noGrp="1"/>
          </p:cNvSpPr>
          <p:nvPr/>
        </p:nvSpPr>
        <p:spPr>
          <a:xfrm xmlns:a="http://schemas.openxmlformats.org/drawingml/2006/main">
            <a:off x="7077075" y="2786063"/>
            <a:ext cx="1362075" cy="1714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93"/>
              </a:lnSpc>
              <a:buNone/>
            </a:pPr>
            <a:r>
              <a:rPr sz="1069" b="1">
                <a:solidFill>
                  <a:srgbClr val="5CE5BD">
                    <a:alpha val="99000"/>
                  </a:srgbClr>
                </a:solidFill>
                <a:latin typeface="Inter"/>
                <a:ea typeface="Inter"/>
                <a:cs typeface="Inter"/>
              </a:rPr>
              <a:t>Context7 · Upstash</a:t>
            </a:r>
            <a:endParaRPr sz="1069"/>
          </a:p>
        </p:txBody>
      </p:sp>
      <p:sp>
        <p:nvSpPr>
          <p:cNvPr id="54" name="Text 43">
            <a:extLst xmlns:a="http://schemas.openxmlformats.org/drawingml/2006/main">
              <a:ext uri="{FF2B5EF4-FFF2-40B4-BE49-F238E27FC236}">
                <a16:creationId xmlns:a16="http://schemas.microsoft.com/office/drawing/2014/main" id="{64AD9057-5D7B-4E44-812C-6FA38E439E21}"/>
              </a:ext>
            </a:extLst>
          </p:cNvPr>
          <p:cNvSpPr>
            <a:spLocks xmlns:a="http://schemas.openxmlformats.org/drawingml/2006/main" noGrp="1"/>
          </p:cNvSpPr>
          <p:nvPr/>
        </p:nvSpPr>
        <p:spPr>
          <a:xfrm xmlns:a="http://schemas.openxmlformats.org/drawingml/2006/main">
            <a:off x="6800850" y="3043238"/>
            <a:ext cx="1657350" cy="1285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49"/>
              </a:lnSpc>
              <a:buNone/>
            </a:pPr>
            <a:r>
              <a:rPr sz="784" b="1">
                <a:solidFill>
                  <a:srgbClr val="5CE5BD">
                    <a:alpha val="99000"/>
                  </a:srgbClr>
                </a:solidFill>
                <a:latin typeface="Inter"/>
                <a:ea typeface="Inter"/>
                <a:cs typeface="Inter"/>
              </a:rPr>
              <a:t>DOCS</a:t>
            </a:r>
            <a:endParaRPr sz="784"/>
          </a:p>
        </p:txBody>
      </p:sp>
      <p:sp>
        <p:nvSpPr>
          <p:cNvPr id="55" name="Text 44">
            <a:extLst xmlns:a="http://schemas.openxmlformats.org/drawingml/2006/main">
              <a:ext uri="{FF2B5EF4-FFF2-40B4-BE49-F238E27FC236}">
                <a16:creationId xmlns:a16="http://schemas.microsoft.com/office/drawing/2014/main" id="{358B101C-120E-47E0-A2DD-961DA40B156A}"/>
              </a:ext>
            </a:extLst>
          </p:cNvPr>
          <p:cNvSpPr>
            <a:spLocks xmlns:a="http://schemas.openxmlformats.org/drawingml/2006/main" noGrp="1"/>
          </p:cNvSpPr>
          <p:nvPr/>
        </p:nvSpPr>
        <p:spPr>
          <a:xfrm xmlns:a="http://schemas.openxmlformats.org/drawingml/2006/main">
            <a:off x="6800850" y="3238500"/>
            <a:ext cx="1657350" cy="3238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7"/>
              </a:lnSpc>
              <a:buNone/>
            </a:pPr>
            <a:r>
              <a:rPr sz="998">
                <a:solidFill>
                  <a:srgbClr val="F2FAF5">
                    <a:alpha val="99000"/>
                  </a:srgbClr>
                </a:solidFill>
                <a:latin typeface="Inter"/>
                <a:ea typeface="Inter"/>
                <a:cs typeface="Inter"/>
              </a:rPr>
              <a:t>Pull current library docs and code examples.</a:t>
            </a:r>
            <a:endParaRPr sz="998"/>
          </a:p>
        </p:txBody>
      </p:sp>
      <p:sp>
        <p:nvSpPr>
          <p:cNvPr id="56" name="Text 45">
            <a:extLst xmlns:a="http://schemas.openxmlformats.org/drawingml/2006/main">
              <a:ext uri="{FF2B5EF4-FFF2-40B4-BE49-F238E27FC236}">
                <a16:creationId xmlns:a16="http://schemas.microsoft.com/office/drawing/2014/main" id="{C5AA856F-4D34-4801-B706-6DF1ED03C96E}"/>
              </a:ext>
            </a:extLst>
          </p:cNvPr>
          <p:cNvSpPr>
            <a:spLocks xmlns:a="http://schemas.openxmlformats.org/drawingml/2006/main" noGrp="1"/>
          </p:cNvSpPr>
          <p:nvPr/>
        </p:nvSpPr>
        <p:spPr>
          <a:xfrm xmlns:a="http://schemas.openxmlformats.org/drawingml/2006/main">
            <a:off x="571500" y="4057650"/>
            <a:ext cx="80010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52"/>
              </a:lnSpc>
              <a:buNone/>
            </a:pPr>
            <a:r>
              <a:rPr sz="1283" b="1">
                <a:solidFill>
                  <a:srgbClr val="5CE5BD">
                    <a:alpha val="99000"/>
                  </a:srgbClr>
                </a:solidFill>
                <a:latin typeface="Inter"/>
                <a:ea typeface="Inter"/>
                <a:cs typeface="Inter"/>
              </a:rPr>
              <a:t>Design → build → connect data → test → deploy → fix</a:t>
            </a:r>
            <a:endParaRPr sz="1283"/>
          </a:p>
        </p:txBody>
      </p:sp>
      <p:sp>
        <p:nvSpPr>
          <p:cNvPr id="57" name="Text 46">
            <a:extLst xmlns:a="http://schemas.openxmlformats.org/drawingml/2006/main">
              <a:ext uri="{FF2B5EF4-FFF2-40B4-BE49-F238E27FC236}">
                <a16:creationId xmlns:a16="http://schemas.microsoft.com/office/drawing/2014/main" id="{A9763D99-9EAE-4712-8127-6923F11D4D39}"/>
              </a:ext>
            </a:extLst>
          </p:cNvPr>
          <p:cNvSpPr>
            <a:spLocks xmlns:a="http://schemas.openxmlformats.org/drawingml/2006/main" noGrp="1"/>
          </p:cNvSpPr>
          <p:nvPr/>
        </p:nvSpPr>
        <p:spPr>
          <a:xfrm xmlns:a="http://schemas.openxmlformats.org/drawingml/2006/main">
            <a:off x="571500" y="4343400"/>
            <a:ext cx="8001000" cy="1619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7"/>
              </a:lnSpc>
              <a:buNone/>
            </a:pPr>
            <a:r>
              <a:rPr sz="998">
                <a:solidFill>
                  <a:srgbClr val="F2FAF5">
                    <a:alpha val="99000"/>
                  </a:srgbClr>
                </a:solidFill>
                <a:latin typeface="Inter"/>
                <a:ea typeface="Inter"/>
                <a:cs typeface="Inter"/>
              </a:rPr>
              <a:t>Pick a compatible host → add a server → authorize → inspect tools → use it</a:t>
            </a:r>
            <a:endParaRPr sz="998"/>
          </a:p>
        </p:txBody>
      </p:sp>
    </p:spTree>
    <p:extLst>
      <p:ext uri="{BB962C8B-B14F-4D97-AF65-F5344CB8AC3E}">
        <p14:creationId xmlns:p14="http://schemas.microsoft.com/office/powerpoint/2010/main" val="1029510168"/>
      </p:ext>
    </p:extLst>
  </p:cSld>
</p:sld>
</file>

<file path=ppt/slides/slide9.xml><?xml version="1.0" encoding="utf-8"?>
<p:sld xmlns:p="http://schemas.openxmlformats.org/presentationml/2006/main">
  <p:cSld>
    <p:bg>
      <p:bgPr>
        <a:blipFill xmlns:a="http://schemas.openxmlformats.org/drawingml/2006/main" rotWithShape="1">
          <a:blip xmlns:r="http://schemas.openxmlformats.org/officeDocument/2006/relationships" r:embed="R21ef4d05391945ae">
            <a:lum/>
          </a:blip>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D898A1F8-1266-48AD-BC90-5C28343FD300}"/>
              </a:ext>
            </a:extLst>
          </p:cNvPr>
          <p:cNvSpPr>
            <a:spLocks xmlns:a="http://schemas.openxmlformats.org/drawingml/2006/main" noGrp="1"/>
          </p:cNvSpPr>
          <p:nvPr/>
        </p:nvSpPr>
        <p:spPr>
          <a:xfrm xmlns:a="http://schemas.openxmlformats.org/drawingml/2006/main">
            <a:off x="571500" y="304800"/>
            <a:ext cx="8001000" cy="4191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117"/>
              </a:lnSpc>
              <a:buNone/>
            </a:pPr>
            <a:r>
              <a:rPr sz="2494" b="1">
                <a:solidFill>
                  <a:srgbClr val="F5FFFA">
                    <a:alpha val="99000"/>
                  </a:srgbClr>
                </a:solidFill>
                <a:latin typeface="Inter"/>
                <a:ea typeface="Inter"/>
                <a:cs typeface="Inter"/>
              </a:rPr>
              <a:t>Tools, resources, and prompts</a:t>
            </a:r>
            <a:endParaRPr sz="2494"/>
          </a:p>
        </p:txBody>
      </p:sp>
      <p:sp>
        <p:nvSpPr>
          <p:cNvPr id="4" name="Shape 1">
            <a:extLst xmlns:a="http://schemas.openxmlformats.org/drawingml/2006/main">
              <a:ext uri="{FF2B5EF4-FFF2-40B4-BE49-F238E27FC236}">
                <a16:creationId xmlns:a16="http://schemas.microsoft.com/office/drawing/2014/main" id="{FA6BF641-5BF2-4F05-8A3D-861765B9F46E}"/>
              </a:ext>
            </a:extLst>
          </p:cNvPr>
          <p:cNvSpPr>
            <a:spLocks xmlns:a="http://schemas.openxmlformats.org/drawingml/2006/main" noGrp="1"/>
          </p:cNvSpPr>
          <p:nvPr/>
        </p:nvSpPr>
        <p:spPr>
          <a:xfrm xmlns:a="http://schemas.openxmlformats.org/drawingml/2006/main">
            <a:off x="581025" y="838200"/>
            <a:ext cx="523875" cy="33338"/>
          </a:xfrm>
          <a:prstGeom xmlns:a="http://schemas.openxmlformats.org/drawingml/2006/main" prst="rect">
            <a:avLst/>
          </a:prstGeom>
          <a:solidFill xmlns:a="http://schemas.openxmlformats.org/drawingml/2006/main">
            <a:srgbClr val="4FE3BD"/>
          </a:solidFill>
        </p:spPr>
      </p:sp>
      <p:sp>
        <p:nvSpPr>
          <p:cNvPr id="5" name="Shape 2">
            <a:extLst xmlns:a="http://schemas.openxmlformats.org/drawingml/2006/main">
              <a:ext uri="{FF2B5EF4-FFF2-40B4-BE49-F238E27FC236}">
                <a16:creationId xmlns:a16="http://schemas.microsoft.com/office/drawing/2014/main" id="{A0AD1071-260B-4894-8A95-612577C0E956}"/>
              </a:ext>
            </a:extLst>
          </p:cNvPr>
          <p:cNvSpPr>
            <a:spLocks xmlns:a="http://schemas.openxmlformats.org/drawingml/2006/main" noGrp="1"/>
          </p:cNvSpPr>
          <p:nvPr/>
        </p:nvSpPr>
        <p:spPr>
          <a:xfrm xmlns:a="http://schemas.openxmlformats.org/drawingml/2006/main">
            <a:off x="571500" y="1404938"/>
            <a:ext cx="2562225" cy="1581150"/>
          </a:xfrm>
          <a:prstGeom xmlns:a="http://schemas.openxmlformats.org/drawingml/2006/main" prst="roundRect">
            <a:avLst>
              <a:gd name="adj" fmla="val 12723"/>
            </a:avLst>
          </a:prstGeom>
          <a:solidFill xmlns:a="http://schemas.openxmlformats.org/drawingml/2006/main">
            <a:srgbClr val="092925">
              <a:alpha val="96000"/>
            </a:srgbClr>
          </a:solidFill>
          <a:ln xmlns:a="http://schemas.openxmlformats.org/drawingml/2006/main" w="4524">
            <a:solidFill>
              <a:srgbClr val="267863"/>
            </a:solidFill>
            <a:prstDash val="solid"/>
          </a:ln>
        </p:spPr>
      </p:sp>
      <p:sp>
        <p:nvSpPr>
          <p:cNvPr id="6" name="Text 3">
            <a:extLst xmlns:a="http://schemas.openxmlformats.org/drawingml/2006/main">
              <a:ext uri="{FF2B5EF4-FFF2-40B4-BE49-F238E27FC236}">
                <a16:creationId xmlns:a16="http://schemas.microsoft.com/office/drawing/2014/main" id="{8FC4E819-37CF-4BB5-8B6E-C58C23AFB8B3}"/>
              </a:ext>
            </a:extLst>
          </p:cNvPr>
          <p:cNvSpPr>
            <a:spLocks xmlns:a="http://schemas.openxmlformats.org/drawingml/2006/main" noGrp="1"/>
          </p:cNvSpPr>
          <p:nvPr/>
        </p:nvSpPr>
        <p:spPr>
          <a:xfrm xmlns:a="http://schemas.openxmlformats.org/drawingml/2006/main">
            <a:off x="728663" y="1562100"/>
            <a:ext cx="2257425"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1"/>
              </a:lnSpc>
              <a:buNone/>
            </a:pPr>
            <a:r>
              <a:rPr sz="1425" b="1">
                <a:solidFill>
                  <a:srgbClr val="4FE3BD">
                    <a:alpha val="99000"/>
                  </a:srgbClr>
                </a:solidFill>
                <a:latin typeface="Inter"/>
                <a:ea typeface="Inter"/>
                <a:cs typeface="Inter"/>
              </a:rPr>
              <a:t>TOOLS</a:t>
            </a:r>
            <a:endParaRPr sz="1425"/>
          </a:p>
        </p:txBody>
      </p:sp>
      <p:sp>
        <p:nvSpPr>
          <p:cNvPr id="7" name="Text 4">
            <a:extLst xmlns:a="http://schemas.openxmlformats.org/drawingml/2006/main">
              <a:ext uri="{FF2B5EF4-FFF2-40B4-BE49-F238E27FC236}">
                <a16:creationId xmlns:a16="http://schemas.microsoft.com/office/drawing/2014/main" id="{384F48BA-DCA4-4729-8888-7D6996BE19E5}"/>
              </a:ext>
            </a:extLst>
          </p:cNvPr>
          <p:cNvSpPr>
            <a:spLocks xmlns:a="http://schemas.openxmlformats.org/drawingml/2006/main" noGrp="1"/>
          </p:cNvSpPr>
          <p:nvPr/>
        </p:nvSpPr>
        <p:spPr>
          <a:xfrm xmlns:a="http://schemas.openxmlformats.org/drawingml/2006/main">
            <a:off x="728663" y="1914525"/>
            <a:ext cx="2257425"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2"/>
              </a:lnSpc>
              <a:buNone/>
            </a:pPr>
            <a:r>
              <a:rPr sz="1354">
                <a:solidFill>
                  <a:srgbClr val="F5FFFA">
                    <a:alpha val="99000"/>
                  </a:srgbClr>
                </a:solidFill>
                <a:latin typeface="Inter"/>
                <a:ea typeface="Inter"/>
                <a:cs typeface="Inter"/>
              </a:rPr>
              <a:t>Callable operations</a:t>
            </a:r>
            <a:endParaRPr sz="1354"/>
          </a:p>
          <a:p xmlns:a="http://schemas.openxmlformats.org/drawingml/2006/main">
            <a:pPr marL="0" indent="0" algn="l">
              <a:lnSpc>
                <a:spcPts val="1692"/>
              </a:lnSpc>
              <a:buNone/>
            </a:pPr>
            <a:r>
              <a:rPr sz="1354">
                <a:solidFill>
                  <a:srgbClr val="F5FFFA">
                    <a:alpha val="99000"/>
                  </a:srgbClr>
                </a:solidFill>
                <a:latin typeface="Inter"/>
                <a:ea typeface="Inter"/>
                <a:cs typeface="Inter"/>
              </a:rPr>
              <a:t>Example: set_tempo or get_state</a:t>
            </a:r>
            <a:endParaRPr sz="1354"/>
          </a:p>
        </p:txBody>
      </p:sp>
      <p:sp>
        <p:nvSpPr>
          <p:cNvPr id="8" name="Shape 5">
            <a:extLst xmlns:a="http://schemas.openxmlformats.org/drawingml/2006/main">
              <a:ext uri="{FF2B5EF4-FFF2-40B4-BE49-F238E27FC236}">
                <a16:creationId xmlns:a16="http://schemas.microsoft.com/office/drawing/2014/main" id="{0F8D35AB-1CA5-462D-A66E-5195ED206381}"/>
              </a:ext>
            </a:extLst>
          </p:cNvPr>
          <p:cNvSpPr>
            <a:spLocks xmlns:a="http://schemas.openxmlformats.org/drawingml/2006/main" noGrp="1"/>
          </p:cNvSpPr>
          <p:nvPr/>
        </p:nvSpPr>
        <p:spPr>
          <a:xfrm xmlns:a="http://schemas.openxmlformats.org/drawingml/2006/main">
            <a:off x="3286125" y="1404938"/>
            <a:ext cx="2562225" cy="1504950"/>
          </a:xfrm>
          <a:prstGeom xmlns:a="http://schemas.openxmlformats.org/drawingml/2006/main" prst="roundRect">
            <a:avLst>
              <a:gd name="adj" fmla="val 13367"/>
            </a:avLst>
          </a:prstGeom>
          <a:solidFill xmlns:a="http://schemas.openxmlformats.org/drawingml/2006/main">
            <a:srgbClr val="092925">
              <a:alpha val="96000"/>
            </a:srgbClr>
          </a:solidFill>
          <a:ln xmlns:a="http://schemas.openxmlformats.org/drawingml/2006/main" w="4524">
            <a:solidFill>
              <a:srgbClr val="267863"/>
            </a:solidFill>
            <a:prstDash val="solid"/>
          </a:ln>
        </p:spPr>
      </p:sp>
      <p:sp>
        <p:nvSpPr>
          <p:cNvPr id="9" name="Text 6">
            <a:extLst xmlns:a="http://schemas.openxmlformats.org/drawingml/2006/main">
              <a:ext uri="{FF2B5EF4-FFF2-40B4-BE49-F238E27FC236}">
                <a16:creationId xmlns:a16="http://schemas.microsoft.com/office/drawing/2014/main" id="{F6C8F279-9628-4FE2-8AFA-04EB97BBC2C8}"/>
              </a:ext>
            </a:extLst>
          </p:cNvPr>
          <p:cNvSpPr>
            <a:spLocks xmlns:a="http://schemas.openxmlformats.org/drawingml/2006/main" noGrp="1"/>
          </p:cNvSpPr>
          <p:nvPr/>
        </p:nvSpPr>
        <p:spPr>
          <a:xfrm xmlns:a="http://schemas.openxmlformats.org/drawingml/2006/main">
            <a:off x="3443288" y="1562100"/>
            <a:ext cx="2257425"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1"/>
              </a:lnSpc>
              <a:buNone/>
            </a:pPr>
            <a:r>
              <a:rPr sz="1425" b="1">
                <a:solidFill>
                  <a:srgbClr val="4FE3BD">
                    <a:alpha val="99000"/>
                  </a:srgbClr>
                </a:solidFill>
                <a:latin typeface="Inter"/>
                <a:ea typeface="Inter"/>
                <a:cs typeface="Inter"/>
              </a:rPr>
              <a:t>RESOURCES</a:t>
            </a:r>
            <a:endParaRPr sz="1425"/>
          </a:p>
        </p:txBody>
      </p:sp>
      <p:sp>
        <p:nvSpPr>
          <p:cNvPr id="10" name="Text 7">
            <a:extLst xmlns:a="http://schemas.openxmlformats.org/drawingml/2006/main">
              <a:ext uri="{FF2B5EF4-FFF2-40B4-BE49-F238E27FC236}">
                <a16:creationId xmlns:a16="http://schemas.microsoft.com/office/drawing/2014/main" id="{C946AA60-430B-4F10-B1D4-11AC6AD26703}"/>
              </a:ext>
            </a:extLst>
          </p:cNvPr>
          <p:cNvSpPr>
            <a:spLocks xmlns:a="http://schemas.openxmlformats.org/drawingml/2006/main" noGrp="1"/>
          </p:cNvSpPr>
          <p:nvPr/>
        </p:nvSpPr>
        <p:spPr>
          <a:xfrm xmlns:a="http://schemas.openxmlformats.org/drawingml/2006/main">
            <a:off x="3443288" y="1914525"/>
            <a:ext cx="2257425" cy="838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59"/>
              </a:lnSpc>
              <a:buNone/>
            </a:pPr>
            <a:r>
              <a:rPr sz="1247">
                <a:solidFill>
                  <a:srgbClr val="F5FFFA">
                    <a:alpha val="99000"/>
                  </a:srgbClr>
                </a:solidFill>
                <a:latin typeface="Inter"/>
                <a:ea typeface="Inter"/>
                <a:cs typeface="Inter"/>
              </a:rPr>
              <a:t>Read-only context and data</a:t>
            </a:r>
            <a:endParaRPr sz="1247"/>
          </a:p>
          <a:p xmlns:a="http://schemas.openxmlformats.org/drawingml/2006/main">
            <a:pPr marL="0" indent="0" algn="l">
              <a:lnSpc>
                <a:spcPts val="1559"/>
              </a:lnSpc>
              <a:buNone/>
            </a:pPr>
            <a:r>
              <a:rPr sz="1247">
                <a:solidFill>
                  <a:srgbClr val="F5FFFA">
                    <a:alpha val="99000"/>
                  </a:srgbClr>
                </a:solidFill>
                <a:latin typeface="Inter"/>
                <a:ea typeface="Inter"/>
                <a:cs typeface="Inter"/>
              </a:rPr>
              <a:t>Our app: GeneralUser GS instrument catalog</a:t>
            </a:r>
            <a:endParaRPr sz="1247"/>
          </a:p>
        </p:txBody>
      </p:sp>
      <p:sp>
        <p:nvSpPr>
          <p:cNvPr id="11" name="Shape 8">
            <a:extLst xmlns:a="http://schemas.openxmlformats.org/drawingml/2006/main">
              <a:ext uri="{FF2B5EF4-FFF2-40B4-BE49-F238E27FC236}">
                <a16:creationId xmlns:a16="http://schemas.microsoft.com/office/drawing/2014/main" id="{A6F7C0F4-EC2E-4DEF-95C4-1F5AF5E5C03F}"/>
              </a:ext>
            </a:extLst>
          </p:cNvPr>
          <p:cNvSpPr>
            <a:spLocks xmlns:a="http://schemas.openxmlformats.org/drawingml/2006/main" noGrp="1"/>
          </p:cNvSpPr>
          <p:nvPr/>
        </p:nvSpPr>
        <p:spPr>
          <a:xfrm xmlns:a="http://schemas.openxmlformats.org/drawingml/2006/main">
            <a:off x="6000750" y="1404938"/>
            <a:ext cx="2562225" cy="1581150"/>
          </a:xfrm>
          <a:prstGeom xmlns:a="http://schemas.openxmlformats.org/drawingml/2006/main" prst="roundRect">
            <a:avLst>
              <a:gd name="adj" fmla="val 12723"/>
            </a:avLst>
          </a:prstGeom>
          <a:solidFill xmlns:a="http://schemas.openxmlformats.org/drawingml/2006/main">
            <a:srgbClr val="092925">
              <a:alpha val="96000"/>
            </a:srgbClr>
          </a:solidFill>
          <a:ln xmlns:a="http://schemas.openxmlformats.org/drawingml/2006/main" w="4524">
            <a:solidFill>
              <a:srgbClr val="267863"/>
            </a:solidFill>
            <a:prstDash val="solid"/>
          </a:ln>
        </p:spPr>
      </p:sp>
      <p:sp>
        <p:nvSpPr>
          <p:cNvPr id="12" name="Text 9">
            <a:extLst xmlns:a="http://schemas.openxmlformats.org/drawingml/2006/main">
              <a:ext uri="{FF2B5EF4-FFF2-40B4-BE49-F238E27FC236}">
                <a16:creationId xmlns:a16="http://schemas.microsoft.com/office/drawing/2014/main" id="{2C7F6D8E-A913-4F05-83A2-0B99610C5B4B}"/>
              </a:ext>
            </a:extLst>
          </p:cNvPr>
          <p:cNvSpPr>
            <a:spLocks xmlns:a="http://schemas.openxmlformats.org/drawingml/2006/main" noGrp="1"/>
          </p:cNvSpPr>
          <p:nvPr/>
        </p:nvSpPr>
        <p:spPr>
          <a:xfrm xmlns:a="http://schemas.openxmlformats.org/drawingml/2006/main">
            <a:off x="6157913" y="1562100"/>
            <a:ext cx="2257425"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1"/>
              </a:lnSpc>
              <a:buNone/>
            </a:pPr>
            <a:r>
              <a:rPr sz="1425" b="1">
                <a:solidFill>
                  <a:srgbClr val="4FE3BD">
                    <a:alpha val="99000"/>
                  </a:srgbClr>
                </a:solidFill>
                <a:latin typeface="Inter"/>
                <a:ea typeface="Inter"/>
                <a:cs typeface="Inter"/>
              </a:rPr>
              <a:t>PROMPTS</a:t>
            </a:r>
            <a:endParaRPr sz="1425"/>
          </a:p>
        </p:txBody>
      </p:sp>
      <p:sp>
        <p:nvSpPr>
          <p:cNvPr id="13" name="Text 10">
            <a:extLst xmlns:a="http://schemas.openxmlformats.org/drawingml/2006/main">
              <a:ext uri="{FF2B5EF4-FFF2-40B4-BE49-F238E27FC236}">
                <a16:creationId xmlns:a16="http://schemas.microsoft.com/office/drawing/2014/main" id="{7C031595-0E76-457C-B940-B90F119E5CA1}"/>
              </a:ext>
            </a:extLst>
          </p:cNvPr>
          <p:cNvSpPr>
            <a:spLocks xmlns:a="http://schemas.openxmlformats.org/drawingml/2006/main" noGrp="1"/>
          </p:cNvSpPr>
          <p:nvPr/>
        </p:nvSpPr>
        <p:spPr>
          <a:xfrm xmlns:a="http://schemas.openxmlformats.org/drawingml/2006/main">
            <a:off x="6157913" y="1914525"/>
            <a:ext cx="2257425"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2"/>
              </a:lnSpc>
              <a:buNone/>
            </a:pPr>
            <a:r>
              <a:rPr sz="1354">
                <a:solidFill>
                  <a:srgbClr val="F5FFFA">
                    <a:alpha val="99000"/>
                  </a:srgbClr>
                </a:solidFill>
                <a:latin typeface="Inter"/>
                <a:ea typeface="Inter"/>
                <a:cs typeface="Inter"/>
              </a:rPr>
              <a:t>Reusable task instructions</a:t>
            </a:r>
            <a:endParaRPr sz="1354"/>
          </a:p>
          <a:p xmlns:a="http://schemas.openxmlformats.org/drawingml/2006/main">
            <a:pPr marL="0" indent="0" algn="l">
              <a:lnSpc>
                <a:spcPts val="1692"/>
              </a:lnSpc>
              <a:buNone/>
            </a:pPr>
            <a:r>
              <a:rPr sz="1354">
                <a:solidFill>
                  <a:srgbClr val="F5FFFA">
                    <a:alpha val="99000"/>
                  </a:srgbClr>
                </a:solidFill>
                <a:latin typeface="Inter"/>
                <a:ea typeface="Inter"/>
                <a:cs typeface="Inter"/>
              </a:rPr>
              <a:t>Music demo: compose_music(description)</a:t>
            </a:r>
            <a:endParaRPr sz="1354"/>
          </a:p>
        </p:txBody>
      </p:sp>
      <p:sp>
        <p:nvSpPr>
          <p:cNvPr id="14" name="Text 11">
            <a:extLst xmlns:a="http://schemas.openxmlformats.org/drawingml/2006/main">
              <a:ext uri="{FF2B5EF4-FFF2-40B4-BE49-F238E27FC236}">
                <a16:creationId xmlns:a16="http://schemas.microsoft.com/office/drawing/2014/main" id="{65C515F4-00CE-4011-B600-3CDDF1045A0E}"/>
              </a:ext>
            </a:extLst>
          </p:cNvPr>
          <p:cNvSpPr>
            <a:spLocks xmlns:a="http://schemas.openxmlformats.org/drawingml/2006/main" noGrp="1"/>
          </p:cNvSpPr>
          <p:nvPr/>
        </p:nvSpPr>
        <p:spPr>
          <a:xfrm xmlns:a="http://schemas.openxmlformats.org/drawingml/2006/main">
            <a:off x="8310562" y="4862513"/>
            <a:ext cx="619125" cy="1428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69"/>
              </a:lnSpc>
              <a:buNone/>
            </a:pPr>
            <a:r>
              <a:rPr sz="855">
                <a:solidFill>
                  <a:srgbClr val="BAD9CF">
                    <a:alpha val="99000"/>
                  </a:srgbClr>
                </a:solidFill>
                <a:latin typeface="Inter"/>
                <a:ea typeface="Inter"/>
                <a:cs typeface="Inter"/>
              </a:rPr>
              <a:t>09 / 29</a:t>
            </a:r>
            <a:endParaRPr sz="855"/>
          </a:p>
        </p:txBody>
      </p:sp>
      <p:pic>
        <p:nvPicPr>
          <p:cNvPr id="15" name="Image 0">
            <a:extLst xmlns:a="http://schemas.openxmlformats.org/drawingml/2006/main">
              <a:ext uri="{FF2B5EF4-FFF2-40B4-BE49-F238E27FC236}">
                <a16:creationId xmlns:a16="http://schemas.microsoft.com/office/drawing/2014/main" id="{E5F8541C-D0B0-4C09-A84B-FA450D4B56F5}"/>
              </a:ext>
            </a:extLst>
          </p:cNvPr>
          <p:cNvPicPr>
            <a:picLocks xmlns:a="http://schemas.openxmlformats.org/drawingml/2006/main" noChangeAspect="1"/>
          </p:cNvPicPr>
          <p:nvPr/>
        </p:nvPicPr>
        <p:blipFill>
          <a:blip xmlns:r="http://schemas.openxmlformats.org/officeDocument/2006/relationships" xmlns:a="http://schemas.openxmlformats.org/drawingml/2006/main" r:embed="R76000d26c36e4d7f"/>
          <a:srcRect xmlns:a="http://schemas.openxmlformats.org/drawingml/2006/main" l="0" t="0" r="0" b="0"/>
          <a:stretch xmlns:a="http://schemas.openxmlformats.org/drawingml/2006/main"/>
        </p:blipFill>
        <p:spPr>
          <a:xfrm xmlns:a="http://schemas.openxmlformats.org/drawingml/2006/main">
            <a:off x="1633538" y="3495675"/>
            <a:ext cx="438150" cy="438150"/>
          </a:xfrm>
          <a:prstGeom xmlns:a="http://schemas.openxmlformats.org/drawingml/2006/main" prst="rect">
            <a:avLst/>
          </a:prstGeom>
        </p:spPr>
      </p:pic>
      <p:pic>
        <p:nvPicPr>
          <p:cNvPr id="16" name="Image 1">
            <a:extLst xmlns:a="http://schemas.openxmlformats.org/drawingml/2006/main">
              <a:ext uri="{FF2B5EF4-FFF2-40B4-BE49-F238E27FC236}">
                <a16:creationId xmlns:a16="http://schemas.microsoft.com/office/drawing/2014/main" id="{90A24A70-94F3-4047-B4B1-3E00241C8C20}"/>
              </a:ext>
            </a:extLst>
          </p:cNvPr>
          <p:cNvPicPr>
            <a:picLocks xmlns:a="http://schemas.openxmlformats.org/drawingml/2006/main" noChangeAspect="1"/>
          </p:cNvPicPr>
          <p:nvPr/>
        </p:nvPicPr>
        <p:blipFill>
          <a:blip xmlns:r="http://schemas.openxmlformats.org/officeDocument/2006/relationships" xmlns:a="http://schemas.openxmlformats.org/drawingml/2006/main" r:embed="R870ecba1d7284b31"/>
          <a:srcRect xmlns:a="http://schemas.openxmlformats.org/drawingml/2006/main" l="0" t="0" r="0" b="0"/>
          <a:stretch xmlns:a="http://schemas.openxmlformats.org/drawingml/2006/main"/>
        </p:blipFill>
        <p:spPr>
          <a:xfrm xmlns:a="http://schemas.openxmlformats.org/drawingml/2006/main">
            <a:off x="4348163" y="3495675"/>
            <a:ext cx="438150" cy="438150"/>
          </a:xfrm>
          <a:prstGeom xmlns:a="http://schemas.openxmlformats.org/drawingml/2006/main" prst="rect">
            <a:avLst/>
          </a:prstGeom>
        </p:spPr>
      </p:pic>
      <p:pic>
        <p:nvPicPr>
          <p:cNvPr id="17" name="Image 2">
            <a:extLst xmlns:a="http://schemas.openxmlformats.org/drawingml/2006/main">
              <a:ext uri="{FF2B5EF4-FFF2-40B4-BE49-F238E27FC236}">
                <a16:creationId xmlns:a16="http://schemas.microsoft.com/office/drawing/2014/main" id="{27973088-6959-4372-A07C-154FCFD11ABB}"/>
              </a:ext>
            </a:extLst>
          </p:cNvPr>
          <p:cNvPicPr>
            <a:picLocks xmlns:a="http://schemas.openxmlformats.org/drawingml/2006/main" noChangeAspect="1"/>
          </p:cNvPicPr>
          <p:nvPr/>
        </p:nvPicPr>
        <p:blipFill>
          <a:blip xmlns:r="http://schemas.openxmlformats.org/officeDocument/2006/relationships" xmlns:a="http://schemas.openxmlformats.org/drawingml/2006/main" r:embed="R33a30e7237c64208"/>
          <a:srcRect xmlns:a="http://schemas.openxmlformats.org/drawingml/2006/main" l="0" t="0" r="0" b="0"/>
          <a:stretch xmlns:a="http://schemas.openxmlformats.org/drawingml/2006/main"/>
        </p:blipFill>
        <p:spPr>
          <a:xfrm xmlns:a="http://schemas.openxmlformats.org/drawingml/2006/main">
            <a:off x="7062788" y="3495675"/>
            <a:ext cx="438150" cy="438150"/>
          </a:xfrm>
          <a:prstGeom xmlns:a="http://schemas.openxmlformats.org/drawingml/2006/main" prst="rect">
            <a:avLst/>
          </a:prstGeom>
        </p:spPr>
      </p:pic>
    </p:spTree>
    <p:extLst>
      <p:ext uri="{BB962C8B-B14F-4D97-AF65-F5344CB8AC3E}">
        <p14:creationId xmlns:p14="http://schemas.microsoft.com/office/powerpoint/2010/main" val="1875344728"/>
      </p:ext>
    </p:extLst>
  </p:cSld>
</p:sld>
</file>

<file path=ppt/slides/slide10.xml><?xml version="1.0" encoding="utf-8"?>
<p:sld xmlns:p="http://schemas.openxmlformats.org/presentationml/2006/main">
  <p:cSld>
    <p:bg>
      <p:bgPr>
        <a:blipFill xmlns:a="http://schemas.openxmlformats.org/drawingml/2006/main" rotWithShape="1">
          <a:blip xmlns:r="http://schemas.openxmlformats.org/officeDocument/2006/relationships" r:embed="R174de042b71945b5">
            <a:lum/>
          </a:blip>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E88EB537-3BE8-488F-AB0D-F76BA1FE0144}"/>
              </a:ext>
            </a:extLst>
          </p:cNvPr>
          <p:cNvSpPr>
            <a:spLocks xmlns:a="http://schemas.openxmlformats.org/drawingml/2006/main" noGrp="1"/>
          </p:cNvSpPr>
          <p:nvPr/>
        </p:nvSpPr>
        <p:spPr>
          <a:xfrm xmlns:a="http://schemas.openxmlformats.org/drawingml/2006/main">
            <a:off x="571500" y="304800"/>
            <a:ext cx="8001000" cy="4191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117"/>
              </a:lnSpc>
              <a:buNone/>
            </a:pPr>
            <a:r>
              <a:rPr sz="2494" b="1">
                <a:solidFill>
                  <a:srgbClr val="F5FFFA">
                    <a:alpha val="99000"/>
                  </a:srgbClr>
                </a:solidFill>
                <a:latin typeface="Inter"/>
                <a:ea typeface="Inter"/>
                <a:cs typeface="Inter"/>
              </a:rPr>
              <a:t>Discover → select → invoke</a:t>
            </a:r>
            <a:endParaRPr sz="2494"/>
          </a:p>
        </p:txBody>
      </p:sp>
      <p:sp>
        <p:nvSpPr>
          <p:cNvPr id="4" name="Shape 1">
            <a:extLst xmlns:a="http://schemas.openxmlformats.org/drawingml/2006/main">
              <a:ext uri="{FF2B5EF4-FFF2-40B4-BE49-F238E27FC236}">
                <a16:creationId xmlns:a16="http://schemas.microsoft.com/office/drawing/2014/main" id="{D6502B78-9CB1-4391-B1C3-0CFEDE9797FE}"/>
              </a:ext>
            </a:extLst>
          </p:cNvPr>
          <p:cNvSpPr>
            <a:spLocks xmlns:a="http://schemas.openxmlformats.org/drawingml/2006/main" noGrp="1"/>
          </p:cNvSpPr>
          <p:nvPr/>
        </p:nvSpPr>
        <p:spPr>
          <a:xfrm xmlns:a="http://schemas.openxmlformats.org/drawingml/2006/main">
            <a:off x="581025" y="838200"/>
            <a:ext cx="523875" cy="33338"/>
          </a:xfrm>
          <a:prstGeom xmlns:a="http://schemas.openxmlformats.org/drawingml/2006/main" prst="rect">
            <a:avLst/>
          </a:prstGeom>
          <a:solidFill xmlns:a="http://schemas.openxmlformats.org/drawingml/2006/main">
            <a:srgbClr val="4FE3BD"/>
          </a:solidFill>
        </p:spPr>
      </p:sp>
      <p:sp>
        <p:nvSpPr>
          <p:cNvPr id="5" name="Shape 2">
            <a:extLst xmlns:a="http://schemas.openxmlformats.org/drawingml/2006/main">
              <a:ext uri="{FF2B5EF4-FFF2-40B4-BE49-F238E27FC236}">
                <a16:creationId xmlns:a16="http://schemas.microsoft.com/office/drawing/2014/main" id="{C97D4039-1EAA-4FD2-898D-9B6B99138460}"/>
              </a:ext>
            </a:extLst>
          </p:cNvPr>
          <p:cNvSpPr>
            <a:spLocks xmlns:a="http://schemas.openxmlformats.org/drawingml/2006/main" noGrp="1"/>
          </p:cNvSpPr>
          <p:nvPr/>
        </p:nvSpPr>
        <p:spPr>
          <a:xfrm xmlns:a="http://schemas.openxmlformats.org/drawingml/2006/main">
            <a:off x="571500" y="1309688"/>
            <a:ext cx="2562225" cy="1352550"/>
          </a:xfrm>
          <a:prstGeom xmlns:a="http://schemas.openxmlformats.org/drawingml/2006/main" prst="roundRect">
            <a:avLst>
              <a:gd name="adj" fmla="val 14873"/>
            </a:avLst>
          </a:prstGeom>
          <a:solidFill xmlns:a="http://schemas.openxmlformats.org/drawingml/2006/main">
            <a:srgbClr val="092925">
              <a:alpha val="96000"/>
            </a:srgbClr>
          </a:solidFill>
          <a:ln xmlns:a="http://schemas.openxmlformats.org/drawingml/2006/main" w="4524">
            <a:solidFill>
              <a:srgbClr val="267863"/>
            </a:solidFill>
            <a:prstDash val="solid"/>
          </a:ln>
        </p:spPr>
      </p:sp>
      <p:sp>
        <p:nvSpPr>
          <p:cNvPr id="6" name="Text 3">
            <a:extLst xmlns:a="http://schemas.openxmlformats.org/drawingml/2006/main">
              <a:ext uri="{FF2B5EF4-FFF2-40B4-BE49-F238E27FC236}">
                <a16:creationId xmlns:a16="http://schemas.microsoft.com/office/drawing/2014/main" id="{8B499676-5A38-483A-907A-F51FC482480C}"/>
              </a:ext>
            </a:extLst>
          </p:cNvPr>
          <p:cNvSpPr>
            <a:spLocks xmlns:a="http://schemas.openxmlformats.org/drawingml/2006/main" noGrp="1"/>
          </p:cNvSpPr>
          <p:nvPr/>
        </p:nvSpPr>
        <p:spPr>
          <a:xfrm xmlns:a="http://schemas.openxmlformats.org/drawingml/2006/main">
            <a:off x="728663" y="1466850"/>
            <a:ext cx="2257425"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1"/>
              </a:lnSpc>
              <a:buNone/>
            </a:pPr>
            <a:r>
              <a:rPr sz="1425" b="1">
                <a:solidFill>
                  <a:srgbClr val="4FE3BD">
                    <a:alpha val="99000"/>
                  </a:srgbClr>
                </a:solidFill>
                <a:latin typeface="Inter"/>
                <a:ea typeface="Inter"/>
                <a:cs typeface="Inter"/>
              </a:rPr>
              <a:t>1 · DISCOVER</a:t>
            </a:r>
            <a:endParaRPr sz="1425"/>
          </a:p>
        </p:txBody>
      </p:sp>
      <p:sp>
        <p:nvSpPr>
          <p:cNvPr id="7" name="Text 4">
            <a:extLst xmlns:a="http://schemas.openxmlformats.org/drawingml/2006/main">
              <a:ext uri="{FF2B5EF4-FFF2-40B4-BE49-F238E27FC236}">
                <a16:creationId xmlns:a16="http://schemas.microsoft.com/office/drawing/2014/main" id="{643C04E8-4955-4905-B2B5-768AD19A6D94}"/>
              </a:ext>
            </a:extLst>
          </p:cNvPr>
          <p:cNvSpPr>
            <a:spLocks xmlns:a="http://schemas.openxmlformats.org/drawingml/2006/main" noGrp="1"/>
          </p:cNvSpPr>
          <p:nvPr/>
        </p:nvSpPr>
        <p:spPr>
          <a:xfrm xmlns:a="http://schemas.openxmlformats.org/drawingml/2006/main">
            <a:off x="728663" y="1819275"/>
            <a:ext cx="2257425"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2"/>
              </a:lnSpc>
              <a:buNone/>
            </a:pPr>
            <a:r>
              <a:rPr sz="1354">
                <a:solidFill>
                  <a:srgbClr val="F5FFFA">
                    <a:alpha val="99000"/>
                  </a:srgbClr>
                </a:solidFill>
                <a:latin typeface="Inter"/>
                <a:ea typeface="Inter"/>
                <a:cs typeface="Inter"/>
              </a:rPr>
              <a:t>The client lists tools with their names, descriptions, and input schemas.</a:t>
            </a:r>
            <a:endParaRPr sz="1354"/>
          </a:p>
        </p:txBody>
      </p:sp>
      <p:sp>
        <p:nvSpPr>
          <p:cNvPr id="8" name="Shape 5">
            <a:extLst xmlns:a="http://schemas.openxmlformats.org/drawingml/2006/main">
              <a:ext uri="{FF2B5EF4-FFF2-40B4-BE49-F238E27FC236}">
                <a16:creationId xmlns:a16="http://schemas.microsoft.com/office/drawing/2014/main" id="{7F30C075-7336-4A56-AAD2-EC0FA46A3E8E}"/>
              </a:ext>
            </a:extLst>
          </p:cNvPr>
          <p:cNvSpPr>
            <a:spLocks xmlns:a="http://schemas.openxmlformats.org/drawingml/2006/main" noGrp="1"/>
          </p:cNvSpPr>
          <p:nvPr/>
        </p:nvSpPr>
        <p:spPr>
          <a:xfrm xmlns:a="http://schemas.openxmlformats.org/drawingml/2006/main">
            <a:off x="3286125" y="1309688"/>
            <a:ext cx="2562225" cy="1352550"/>
          </a:xfrm>
          <a:prstGeom xmlns:a="http://schemas.openxmlformats.org/drawingml/2006/main" prst="roundRect">
            <a:avLst>
              <a:gd name="adj" fmla="val 14873"/>
            </a:avLst>
          </a:prstGeom>
          <a:solidFill xmlns:a="http://schemas.openxmlformats.org/drawingml/2006/main">
            <a:srgbClr val="092925">
              <a:alpha val="96000"/>
            </a:srgbClr>
          </a:solidFill>
          <a:ln xmlns:a="http://schemas.openxmlformats.org/drawingml/2006/main" w="4524">
            <a:solidFill>
              <a:srgbClr val="267863"/>
            </a:solidFill>
            <a:prstDash val="solid"/>
          </a:ln>
        </p:spPr>
      </p:sp>
      <p:sp>
        <p:nvSpPr>
          <p:cNvPr id="9" name="Text 6">
            <a:extLst xmlns:a="http://schemas.openxmlformats.org/drawingml/2006/main">
              <a:ext uri="{FF2B5EF4-FFF2-40B4-BE49-F238E27FC236}">
                <a16:creationId xmlns:a16="http://schemas.microsoft.com/office/drawing/2014/main" id="{3BE7A38E-37C9-4013-A22D-3797321F0949}"/>
              </a:ext>
            </a:extLst>
          </p:cNvPr>
          <p:cNvSpPr>
            <a:spLocks xmlns:a="http://schemas.openxmlformats.org/drawingml/2006/main" noGrp="1"/>
          </p:cNvSpPr>
          <p:nvPr/>
        </p:nvSpPr>
        <p:spPr>
          <a:xfrm xmlns:a="http://schemas.openxmlformats.org/drawingml/2006/main">
            <a:off x="3443288" y="1466850"/>
            <a:ext cx="2257425"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1"/>
              </a:lnSpc>
              <a:buNone/>
            </a:pPr>
            <a:r>
              <a:rPr sz="1425" b="1">
                <a:solidFill>
                  <a:srgbClr val="4FE3BD">
                    <a:alpha val="99000"/>
                  </a:srgbClr>
                </a:solidFill>
                <a:latin typeface="Inter"/>
                <a:ea typeface="Inter"/>
                <a:cs typeface="Inter"/>
              </a:rPr>
              <a:t>2 · SELECT</a:t>
            </a:r>
            <a:endParaRPr sz="1425"/>
          </a:p>
        </p:txBody>
      </p:sp>
      <p:sp>
        <p:nvSpPr>
          <p:cNvPr id="10" name="Text 7">
            <a:extLst xmlns:a="http://schemas.openxmlformats.org/drawingml/2006/main">
              <a:ext uri="{FF2B5EF4-FFF2-40B4-BE49-F238E27FC236}">
                <a16:creationId xmlns:a16="http://schemas.microsoft.com/office/drawing/2014/main" id="{E25BEC5C-8F07-4321-8DB0-9D0933A2D918}"/>
              </a:ext>
            </a:extLst>
          </p:cNvPr>
          <p:cNvSpPr>
            <a:spLocks xmlns:a="http://schemas.openxmlformats.org/drawingml/2006/main" noGrp="1"/>
          </p:cNvSpPr>
          <p:nvPr/>
        </p:nvSpPr>
        <p:spPr>
          <a:xfrm xmlns:a="http://schemas.openxmlformats.org/drawingml/2006/main">
            <a:off x="3443288" y="1819275"/>
            <a:ext cx="2257425"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2"/>
              </a:lnSpc>
              <a:buNone/>
            </a:pPr>
            <a:r>
              <a:rPr sz="1354">
                <a:solidFill>
                  <a:srgbClr val="F5FFFA">
                    <a:alpha val="99000"/>
                  </a:srgbClr>
                </a:solidFill>
                <a:latin typeface="Inter"/>
                <a:ea typeface="Inter"/>
                <a:cs typeface="Inter"/>
              </a:rPr>
              <a:t>The model proposes a tool and arguments; the host coordinates the call.</a:t>
            </a:r>
            <a:endParaRPr sz="1354"/>
          </a:p>
        </p:txBody>
      </p:sp>
      <p:sp>
        <p:nvSpPr>
          <p:cNvPr id="11" name="Shape 8">
            <a:extLst xmlns:a="http://schemas.openxmlformats.org/drawingml/2006/main">
              <a:ext uri="{FF2B5EF4-FFF2-40B4-BE49-F238E27FC236}">
                <a16:creationId xmlns:a16="http://schemas.microsoft.com/office/drawing/2014/main" id="{94A604D7-CA0A-40B1-99F4-0E9BE3C4A595}"/>
              </a:ext>
            </a:extLst>
          </p:cNvPr>
          <p:cNvSpPr>
            <a:spLocks xmlns:a="http://schemas.openxmlformats.org/drawingml/2006/main" noGrp="1"/>
          </p:cNvSpPr>
          <p:nvPr/>
        </p:nvSpPr>
        <p:spPr>
          <a:xfrm xmlns:a="http://schemas.openxmlformats.org/drawingml/2006/main">
            <a:off x="6000750" y="1309688"/>
            <a:ext cx="2562225" cy="1581150"/>
          </a:xfrm>
          <a:prstGeom xmlns:a="http://schemas.openxmlformats.org/drawingml/2006/main" prst="roundRect">
            <a:avLst>
              <a:gd name="adj" fmla="val 12723"/>
            </a:avLst>
          </a:prstGeom>
          <a:solidFill xmlns:a="http://schemas.openxmlformats.org/drawingml/2006/main">
            <a:srgbClr val="092925">
              <a:alpha val="96000"/>
            </a:srgbClr>
          </a:solidFill>
          <a:ln xmlns:a="http://schemas.openxmlformats.org/drawingml/2006/main" w="4524">
            <a:solidFill>
              <a:srgbClr val="267863"/>
            </a:solidFill>
            <a:prstDash val="solid"/>
          </a:ln>
        </p:spPr>
      </p:sp>
      <p:sp>
        <p:nvSpPr>
          <p:cNvPr id="12" name="Text 9">
            <a:extLst xmlns:a="http://schemas.openxmlformats.org/drawingml/2006/main">
              <a:ext uri="{FF2B5EF4-FFF2-40B4-BE49-F238E27FC236}">
                <a16:creationId xmlns:a16="http://schemas.microsoft.com/office/drawing/2014/main" id="{50FD037C-FBA0-477C-A4B4-ACA94D2F640B}"/>
              </a:ext>
            </a:extLst>
          </p:cNvPr>
          <p:cNvSpPr>
            <a:spLocks xmlns:a="http://schemas.openxmlformats.org/drawingml/2006/main" noGrp="1"/>
          </p:cNvSpPr>
          <p:nvPr/>
        </p:nvSpPr>
        <p:spPr>
          <a:xfrm xmlns:a="http://schemas.openxmlformats.org/drawingml/2006/main">
            <a:off x="6157913" y="1466850"/>
            <a:ext cx="2257425"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1"/>
              </a:lnSpc>
              <a:buNone/>
            </a:pPr>
            <a:r>
              <a:rPr sz="1425" b="1">
                <a:solidFill>
                  <a:srgbClr val="4FE3BD">
                    <a:alpha val="99000"/>
                  </a:srgbClr>
                </a:solidFill>
                <a:latin typeface="Inter"/>
                <a:ea typeface="Inter"/>
                <a:cs typeface="Inter"/>
              </a:rPr>
              <a:t>3 · INVOKE</a:t>
            </a:r>
            <a:endParaRPr sz="1425"/>
          </a:p>
        </p:txBody>
      </p:sp>
      <p:sp>
        <p:nvSpPr>
          <p:cNvPr id="13" name="Text 10">
            <a:extLst xmlns:a="http://schemas.openxmlformats.org/drawingml/2006/main">
              <a:ext uri="{FF2B5EF4-FFF2-40B4-BE49-F238E27FC236}">
                <a16:creationId xmlns:a16="http://schemas.microsoft.com/office/drawing/2014/main" id="{DECFEE92-34F0-4A27-8BEA-1EDB5DCDA78D}"/>
              </a:ext>
            </a:extLst>
          </p:cNvPr>
          <p:cNvSpPr>
            <a:spLocks xmlns:a="http://schemas.openxmlformats.org/drawingml/2006/main" noGrp="1"/>
          </p:cNvSpPr>
          <p:nvPr/>
        </p:nvSpPr>
        <p:spPr>
          <a:xfrm xmlns:a="http://schemas.openxmlformats.org/drawingml/2006/main">
            <a:off x="6157913" y="1819275"/>
            <a:ext cx="2257425"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2"/>
              </a:lnSpc>
              <a:buNone/>
            </a:pPr>
            <a:r>
              <a:rPr sz="1354">
                <a:solidFill>
                  <a:srgbClr val="F5FFFA">
                    <a:alpha val="99000"/>
                  </a:srgbClr>
                </a:solidFill>
                <a:latin typeface="Inter"/>
                <a:ea typeface="Inter"/>
                <a:cs typeface="Inter"/>
              </a:rPr>
              <a:t>The client calls the tool. The server validates, executes, and returns a result.</a:t>
            </a:r>
            <a:endParaRPr sz="1354"/>
          </a:p>
        </p:txBody>
      </p:sp>
      <p:sp>
        <p:nvSpPr>
          <p:cNvPr id="14" name="Text 11">
            <a:extLst xmlns:a="http://schemas.openxmlformats.org/drawingml/2006/main">
              <a:ext uri="{FF2B5EF4-FFF2-40B4-BE49-F238E27FC236}">
                <a16:creationId xmlns:a16="http://schemas.microsoft.com/office/drawing/2014/main" id="{FDA34EA7-11EF-457D-9380-9918C99FA3EC}"/>
              </a:ext>
            </a:extLst>
          </p:cNvPr>
          <p:cNvSpPr>
            <a:spLocks xmlns:a="http://schemas.openxmlformats.org/drawingml/2006/main" noGrp="1"/>
          </p:cNvSpPr>
          <p:nvPr/>
        </p:nvSpPr>
        <p:spPr>
          <a:xfrm xmlns:a="http://schemas.openxmlformats.org/drawingml/2006/main">
            <a:off x="571500" y="4167188"/>
            <a:ext cx="8001000" cy="5048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70"/>
              </a:lnSpc>
              <a:buNone/>
            </a:pPr>
            <a:r>
              <a:rPr sz="1496" b="1">
                <a:solidFill>
                  <a:srgbClr val="4FE3BD">
                    <a:alpha val="99000"/>
                  </a:srgbClr>
                </a:solidFill>
                <a:latin typeface="Inter"/>
                <a:ea typeface="Inter"/>
                <a:cs typeface="Inter"/>
              </a:rPr>
              <a:t>set_tempo accepts bpm, an integer.</a:t>
            </a:r>
            <a:endParaRPr sz="1496"/>
          </a:p>
          <a:p xmlns:a="http://schemas.openxmlformats.org/drawingml/2006/main">
            <a:pPr marL="0" indent="0" algn="l">
              <a:lnSpc>
                <a:spcPts val="1870"/>
              </a:lnSpc>
              <a:buNone/>
            </a:pPr>
            <a:r>
              <a:rPr sz="1496" b="1">
                <a:solidFill>
                  <a:srgbClr val="4FE3BD">
                    <a:alpha val="99000"/>
                  </a:srgbClr>
                </a:solidFill>
                <a:latin typeface="Inter"/>
                <a:ea typeface="Inter"/>
                <a:cs typeface="Inter"/>
              </a:rPr>
              <a:t>Python validation enforces the allowed range.</a:t>
            </a:r>
            <a:endParaRPr sz="1496"/>
          </a:p>
        </p:txBody>
      </p:sp>
      <p:sp>
        <p:nvSpPr>
          <p:cNvPr id="15" name="Text 12">
            <a:extLst xmlns:a="http://schemas.openxmlformats.org/drawingml/2006/main">
              <a:ext uri="{FF2B5EF4-FFF2-40B4-BE49-F238E27FC236}">
                <a16:creationId xmlns:a16="http://schemas.microsoft.com/office/drawing/2014/main" id="{1B238254-1B2D-47DA-AF23-666501F7B7E7}"/>
              </a:ext>
            </a:extLst>
          </p:cNvPr>
          <p:cNvSpPr>
            <a:spLocks xmlns:a="http://schemas.openxmlformats.org/drawingml/2006/main" noGrp="1"/>
          </p:cNvSpPr>
          <p:nvPr/>
        </p:nvSpPr>
        <p:spPr>
          <a:xfrm xmlns:a="http://schemas.openxmlformats.org/drawingml/2006/main">
            <a:off x="8310562" y="4862513"/>
            <a:ext cx="619125" cy="1428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69"/>
              </a:lnSpc>
              <a:buNone/>
            </a:pPr>
            <a:r>
              <a:rPr sz="855">
                <a:solidFill>
                  <a:srgbClr val="BAD9CF">
                    <a:alpha val="99000"/>
                  </a:srgbClr>
                </a:solidFill>
                <a:latin typeface="Inter"/>
                <a:ea typeface="Inter"/>
                <a:cs typeface="Inter"/>
              </a:rPr>
              <a:t>10 / 29</a:t>
            </a:r>
            <a:endParaRPr sz="855"/>
          </a:p>
        </p:txBody>
      </p:sp>
    </p:spTree>
    <p:extLst>
      <p:ext uri="{BB962C8B-B14F-4D97-AF65-F5344CB8AC3E}">
        <p14:creationId xmlns:p14="http://schemas.microsoft.com/office/powerpoint/2010/main" val="1331311674"/>
      </p:ext>
    </p:extLst>
  </p:cSld>
</p:sld>
</file>

<file path=ppt/slides/slide11.xml><?xml version="1.0" encoding="utf-8"?>
<p:sld xmlns:p="http://schemas.openxmlformats.org/presentationml/2006/main">
  <p:cSld>
    <p:bg>
      <p:bgPr>
        <a:blipFill xmlns:a="http://schemas.openxmlformats.org/drawingml/2006/main" rotWithShape="1">
          <a:blip xmlns:r="http://schemas.openxmlformats.org/officeDocument/2006/relationships" r:embed="R68cbe87f43c24e66">
            <a:lum/>
          </a:blip>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76FC7B4F-BCC0-4282-9FAA-810EE5D1B405}"/>
              </a:ext>
            </a:extLst>
          </p:cNvPr>
          <p:cNvSpPr>
            <a:spLocks xmlns:a="http://schemas.openxmlformats.org/drawingml/2006/main" noGrp="1"/>
          </p:cNvSpPr>
          <p:nvPr/>
        </p:nvSpPr>
        <p:spPr>
          <a:xfrm xmlns:a="http://schemas.openxmlformats.org/drawingml/2006/main">
            <a:off x="571500" y="304800"/>
            <a:ext cx="8001000" cy="4191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117"/>
              </a:lnSpc>
              <a:buNone/>
            </a:pPr>
            <a:r>
              <a:rPr sz="2494" b="1">
                <a:solidFill>
                  <a:srgbClr val="F5FFFA">
                    <a:alpha val="99000"/>
                  </a:srgbClr>
                </a:solidFill>
                <a:latin typeface="Inter"/>
                <a:ea typeface="Inter"/>
                <a:cs typeface="Inter"/>
              </a:rPr>
              <a:t>Ways to build or connect MCP</a:t>
            </a:r>
            <a:endParaRPr sz="2494"/>
          </a:p>
        </p:txBody>
      </p:sp>
      <p:sp>
        <p:nvSpPr>
          <p:cNvPr id="4" name="Shape 1">
            <a:extLst xmlns:a="http://schemas.openxmlformats.org/drawingml/2006/main">
              <a:ext uri="{FF2B5EF4-FFF2-40B4-BE49-F238E27FC236}">
                <a16:creationId xmlns:a16="http://schemas.microsoft.com/office/drawing/2014/main" id="{3B008670-E101-4C9A-BF06-1F97503EE24D}"/>
              </a:ext>
            </a:extLst>
          </p:cNvPr>
          <p:cNvSpPr>
            <a:spLocks xmlns:a="http://schemas.openxmlformats.org/drawingml/2006/main" noGrp="1"/>
          </p:cNvSpPr>
          <p:nvPr/>
        </p:nvSpPr>
        <p:spPr>
          <a:xfrm xmlns:a="http://schemas.openxmlformats.org/drawingml/2006/main">
            <a:off x="581025" y="838200"/>
            <a:ext cx="523875" cy="33338"/>
          </a:xfrm>
          <a:prstGeom xmlns:a="http://schemas.openxmlformats.org/drawingml/2006/main" prst="rect">
            <a:avLst/>
          </a:prstGeom>
          <a:solidFill xmlns:a="http://schemas.openxmlformats.org/drawingml/2006/main">
            <a:srgbClr val="4FE3BD"/>
          </a:solidFill>
        </p:spPr>
      </p:sp>
      <p:sp>
        <p:nvSpPr>
          <p:cNvPr id="5" name="Shape 2">
            <a:extLst xmlns:a="http://schemas.openxmlformats.org/drawingml/2006/main">
              <a:ext uri="{FF2B5EF4-FFF2-40B4-BE49-F238E27FC236}">
                <a16:creationId xmlns:a16="http://schemas.microsoft.com/office/drawing/2014/main" id="{9EBCB681-DE32-4886-9B4F-2B4A2812BB62}"/>
              </a:ext>
            </a:extLst>
          </p:cNvPr>
          <p:cNvSpPr>
            <a:spLocks xmlns:a="http://schemas.openxmlformats.org/drawingml/2006/main" noGrp="1"/>
          </p:cNvSpPr>
          <p:nvPr/>
        </p:nvSpPr>
        <p:spPr>
          <a:xfrm xmlns:a="http://schemas.openxmlformats.org/drawingml/2006/main">
            <a:off x="571500" y="1190625"/>
            <a:ext cx="8001000" cy="2457450"/>
          </a:xfrm>
          <a:prstGeom xmlns:a="http://schemas.openxmlformats.org/drawingml/2006/main" prst="rect">
            <a:avLst/>
          </a:prstGeom>
          <a:noFill xmlns:a="http://schemas.openxmlformats.org/drawingml/2006/main"/>
        </p:spPr>
      </p:sp>
      <p:sp>
        <p:nvSpPr>
          <p:cNvPr id="6" name="Shape 3">
            <a:extLst xmlns:a="http://schemas.openxmlformats.org/drawingml/2006/main">
              <a:ext uri="{FF2B5EF4-FFF2-40B4-BE49-F238E27FC236}">
                <a16:creationId xmlns:a16="http://schemas.microsoft.com/office/drawing/2014/main" id="{CCC6B42B-F1CC-4F17-A5BF-74D1383FEB85}"/>
              </a:ext>
            </a:extLst>
          </p:cNvPr>
          <p:cNvSpPr>
            <a:spLocks xmlns:a="http://schemas.openxmlformats.org/drawingml/2006/main" noGrp="1"/>
          </p:cNvSpPr>
          <p:nvPr/>
        </p:nvSpPr>
        <p:spPr>
          <a:xfrm xmlns:a="http://schemas.openxmlformats.org/drawingml/2006/main">
            <a:off x="571500" y="1190625"/>
            <a:ext cx="8001000" cy="428625"/>
          </a:xfrm>
          <a:prstGeom xmlns:a="http://schemas.openxmlformats.org/drawingml/2006/main" prst="rect">
            <a:avLst/>
          </a:prstGeom>
          <a:solidFill xmlns:a="http://schemas.openxmlformats.org/drawingml/2006/main">
            <a:srgbClr val="267863"/>
          </a:solidFill>
        </p:spPr>
      </p:sp>
      <p:sp>
        <p:nvSpPr>
          <p:cNvPr id="7" name="Text 4">
            <a:extLst xmlns:a="http://schemas.openxmlformats.org/drawingml/2006/main">
              <a:ext uri="{FF2B5EF4-FFF2-40B4-BE49-F238E27FC236}">
                <a16:creationId xmlns:a16="http://schemas.microsoft.com/office/drawing/2014/main" id="{82560409-8A82-4408-AA48-2A19D0386B78}"/>
              </a:ext>
            </a:extLst>
          </p:cNvPr>
          <p:cNvSpPr>
            <a:spLocks xmlns:a="http://schemas.openxmlformats.org/drawingml/2006/main" noGrp="1"/>
          </p:cNvSpPr>
          <p:nvPr/>
        </p:nvSpPr>
        <p:spPr>
          <a:xfrm xmlns:a="http://schemas.openxmlformats.org/drawingml/2006/main">
            <a:off x="676275" y="1285875"/>
            <a:ext cx="1762125"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1"/>
              </a:lnSpc>
              <a:buNone/>
            </a:pPr>
            <a:r>
              <a:rPr sz="1425" b="1">
                <a:solidFill>
                  <a:srgbClr val="4FE3BD">
                    <a:alpha val="99000"/>
                  </a:srgbClr>
                </a:solidFill>
                <a:latin typeface="Inter"/>
                <a:ea typeface="Inter"/>
                <a:cs typeface="Inter"/>
              </a:rPr>
              <a:t>Option</a:t>
            </a:r>
            <a:endParaRPr sz="1425"/>
          </a:p>
        </p:txBody>
      </p:sp>
      <p:sp>
        <p:nvSpPr>
          <p:cNvPr id="8" name="Text 5">
            <a:extLst xmlns:a="http://schemas.openxmlformats.org/drawingml/2006/main">
              <a:ext uri="{FF2B5EF4-FFF2-40B4-BE49-F238E27FC236}">
                <a16:creationId xmlns:a16="http://schemas.microsoft.com/office/drawing/2014/main" id="{BBBD600D-8242-43C6-B312-2ED3ACCEFA01}"/>
              </a:ext>
            </a:extLst>
          </p:cNvPr>
          <p:cNvSpPr>
            <a:spLocks xmlns:a="http://schemas.openxmlformats.org/drawingml/2006/main" noGrp="1"/>
          </p:cNvSpPr>
          <p:nvPr/>
        </p:nvSpPr>
        <p:spPr>
          <a:xfrm xmlns:a="http://schemas.openxmlformats.org/drawingml/2006/main">
            <a:off x="2438400" y="1285875"/>
            <a:ext cx="6029325"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1"/>
              </a:lnSpc>
              <a:buNone/>
            </a:pPr>
            <a:r>
              <a:rPr sz="1425" b="1">
                <a:solidFill>
                  <a:srgbClr val="4FE3BD">
                    <a:alpha val="99000"/>
                  </a:srgbClr>
                </a:solidFill>
                <a:latin typeface="Inter"/>
                <a:ea typeface="Inter"/>
                <a:cs typeface="Inter"/>
              </a:rPr>
              <a:t>When to choose it</a:t>
            </a:r>
            <a:endParaRPr sz="1425"/>
          </a:p>
        </p:txBody>
      </p:sp>
      <p:sp>
        <p:nvSpPr>
          <p:cNvPr id="9" name="Shape 6">
            <a:extLst xmlns:a="http://schemas.openxmlformats.org/drawingml/2006/main">
              <a:ext uri="{FF2B5EF4-FFF2-40B4-BE49-F238E27FC236}">
                <a16:creationId xmlns:a16="http://schemas.microsoft.com/office/drawing/2014/main" id="{A227E613-4DCF-4FC0-8C2A-F3271124034D}"/>
              </a:ext>
            </a:extLst>
          </p:cNvPr>
          <p:cNvSpPr>
            <a:spLocks xmlns:a="http://schemas.openxmlformats.org/drawingml/2006/main" noGrp="1"/>
          </p:cNvSpPr>
          <p:nvPr/>
        </p:nvSpPr>
        <p:spPr>
          <a:xfrm xmlns:a="http://schemas.openxmlformats.org/drawingml/2006/main">
            <a:off x="571500" y="1638300"/>
            <a:ext cx="8001000" cy="428625"/>
          </a:xfrm>
          <a:prstGeom xmlns:a="http://schemas.openxmlformats.org/drawingml/2006/main" prst="rect">
            <a:avLst/>
          </a:prstGeom>
          <a:solidFill xmlns:a="http://schemas.openxmlformats.org/drawingml/2006/main">
            <a:srgbClr val="092925">
              <a:alpha val="94000"/>
            </a:srgbClr>
          </a:solidFill>
        </p:spPr>
      </p:sp>
      <p:sp>
        <p:nvSpPr>
          <p:cNvPr id="10" name="Text 7">
            <a:extLst xmlns:a="http://schemas.openxmlformats.org/drawingml/2006/main">
              <a:ext uri="{FF2B5EF4-FFF2-40B4-BE49-F238E27FC236}">
                <a16:creationId xmlns:a16="http://schemas.microsoft.com/office/drawing/2014/main" id="{AB7AE5E1-9E77-40AD-8F1B-DC146293EF51}"/>
              </a:ext>
            </a:extLst>
          </p:cNvPr>
          <p:cNvSpPr>
            <a:spLocks xmlns:a="http://schemas.openxmlformats.org/drawingml/2006/main" noGrp="1"/>
          </p:cNvSpPr>
          <p:nvPr/>
        </p:nvSpPr>
        <p:spPr>
          <a:xfrm xmlns:a="http://schemas.openxmlformats.org/drawingml/2006/main">
            <a:off x="676275" y="1733550"/>
            <a:ext cx="1762125"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1"/>
              </a:lnSpc>
              <a:buNone/>
            </a:pPr>
            <a:r>
              <a:rPr sz="1425">
                <a:solidFill>
                  <a:srgbClr val="F5FFFA">
                    <a:alpha val="99000"/>
                  </a:srgbClr>
                </a:solidFill>
                <a:latin typeface="Inter"/>
                <a:ea typeface="Inter"/>
                <a:cs typeface="Inter"/>
              </a:rPr>
              <a:t>SDK FASTMCP</a:t>
            </a:r>
            <a:endParaRPr sz="1425"/>
          </a:p>
        </p:txBody>
      </p:sp>
      <p:sp>
        <p:nvSpPr>
          <p:cNvPr id="11" name="Text 8">
            <a:extLst xmlns:a="http://schemas.openxmlformats.org/drawingml/2006/main">
              <a:ext uri="{FF2B5EF4-FFF2-40B4-BE49-F238E27FC236}">
                <a16:creationId xmlns:a16="http://schemas.microsoft.com/office/drawing/2014/main" id="{0EE95A41-6B08-49E7-9613-58F45FF37EEF}"/>
              </a:ext>
            </a:extLst>
          </p:cNvPr>
          <p:cNvSpPr>
            <a:spLocks xmlns:a="http://schemas.openxmlformats.org/drawingml/2006/main" noGrp="1"/>
          </p:cNvSpPr>
          <p:nvPr/>
        </p:nvSpPr>
        <p:spPr>
          <a:xfrm xmlns:a="http://schemas.openxmlformats.org/drawingml/2006/main">
            <a:off x="2438400" y="1733550"/>
            <a:ext cx="6029325"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1"/>
              </a:lnSpc>
              <a:buNone/>
            </a:pPr>
            <a:r>
              <a:rPr sz="1425">
                <a:solidFill>
                  <a:srgbClr val="F5FFFA">
                    <a:alpha val="99000"/>
                  </a:srgbClr>
                </a:solidFill>
                <a:latin typeface="Inter"/>
                <a:ea typeface="Inter"/>
                <a:cs typeface="Inter"/>
              </a:rPr>
              <a:t>Official Python SDK v1; used in this workshop.</a:t>
            </a:r>
            <a:endParaRPr sz="1425"/>
          </a:p>
        </p:txBody>
      </p:sp>
      <p:sp>
        <p:nvSpPr>
          <p:cNvPr id="12" name="Shape 9">
            <a:extLst xmlns:a="http://schemas.openxmlformats.org/drawingml/2006/main">
              <a:ext uri="{FF2B5EF4-FFF2-40B4-BE49-F238E27FC236}">
                <a16:creationId xmlns:a16="http://schemas.microsoft.com/office/drawing/2014/main" id="{4191AD91-4BFA-4FD3-9798-627A05383659}"/>
              </a:ext>
            </a:extLst>
          </p:cNvPr>
          <p:cNvSpPr>
            <a:spLocks xmlns:a="http://schemas.openxmlformats.org/drawingml/2006/main" noGrp="1"/>
          </p:cNvSpPr>
          <p:nvPr/>
        </p:nvSpPr>
        <p:spPr>
          <a:xfrm xmlns:a="http://schemas.openxmlformats.org/drawingml/2006/main">
            <a:off x="571500" y="2085975"/>
            <a:ext cx="8001000" cy="666750"/>
          </a:xfrm>
          <a:prstGeom xmlns:a="http://schemas.openxmlformats.org/drawingml/2006/main" prst="rect">
            <a:avLst/>
          </a:prstGeom>
          <a:solidFill xmlns:a="http://schemas.openxmlformats.org/drawingml/2006/main">
            <a:srgbClr val="092925">
              <a:alpha val="94000"/>
            </a:srgbClr>
          </a:solidFill>
        </p:spPr>
      </p:sp>
      <p:sp>
        <p:nvSpPr>
          <p:cNvPr id="13" name="Text 10">
            <a:extLst xmlns:a="http://schemas.openxmlformats.org/drawingml/2006/main">
              <a:ext uri="{FF2B5EF4-FFF2-40B4-BE49-F238E27FC236}">
                <a16:creationId xmlns:a16="http://schemas.microsoft.com/office/drawing/2014/main" id="{8C6CB433-FC08-4B77-AD47-3DCD047E82F1}"/>
              </a:ext>
            </a:extLst>
          </p:cNvPr>
          <p:cNvSpPr>
            <a:spLocks xmlns:a="http://schemas.openxmlformats.org/drawingml/2006/main" noGrp="1"/>
          </p:cNvSpPr>
          <p:nvPr/>
        </p:nvSpPr>
        <p:spPr>
          <a:xfrm xmlns:a="http://schemas.openxmlformats.org/drawingml/2006/main">
            <a:off x="676275" y="2181225"/>
            <a:ext cx="1762125" cy="4762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1"/>
              </a:lnSpc>
              <a:buNone/>
            </a:pPr>
            <a:r>
              <a:rPr sz="1425">
                <a:solidFill>
                  <a:srgbClr val="F5FFFA">
                    <a:alpha val="99000"/>
                  </a:srgbClr>
                </a:solidFill>
                <a:latin typeface="Inter"/>
                <a:ea typeface="Inter"/>
                <a:cs typeface="Inter"/>
              </a:rPr>
              <a:t>Standalone FastMCP</a:t>
            </a:r>
            <a:endParaRPr sz="1425"/>
          </a:p>
        </p:txBody>
      </p:sp>
      <p:sp>
        <p:nvSpPr>
          <p:cNvPr id="14" name="Text 11">
            <a:extLst xmlns:a="http://schemas.openxmlformats.org/drawingml/2006/main">
              <a:ext uri="{FF2B5EF4-FFF2-40B4-BE49-F238E27FC236}">
                <a16:creationId xmlns:a16="http://schemas.microsoft.com/office/drawing/2014/main" id="{31622D38-49D7-4B5B-B53D-88C8F1A7A217}"/>
              </a:ext>
            </a:extLst>
          </p:cNvPr>
          <p:cNvSpPr>
            <a:spLocks xmlns:a="http://schemas.openxmlformats.org/drawingml/2006/main" noGrp="1"/>
          </p:cNvSpPr>
          <p:nvPr/>
        </p:nvSpPr>
        <p:spPr>
          <a:xfrm xmlns:a="http://schemas.openxmlformats.org/drawingml/2006/main">
            <a:off x="2438400" y="2181225"/>
            <a:ext cx="6029325"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1"/>
              </a:lnSpc>
              <a:buNone/>
            </a:pPr>
            <a:r>
              <a:rPr sz="1425">
                <a:solidFill>
                  <a:srgbClr val="F5FFFA">
                    <a:alpha val="99000"/>
                  </a:srgbClr>
                </a:solidFill>
                <a:latin typeface="Inter"/>
                <a:ea typeface="Inter"/>
                <a:cs typeface="Inter"/>
              </a:rPr>
              <a:t>Separate Python package: from fastmcp import FastMCP.</a:t>
            </a:r>
            <a:endParaRPr sz="1425"/>
          </a:p>
        </p:txBody>
      </p:sp>
      <p:sp>
        <p:nvSpPr>
          <p:cNvPr id="15" name="Shape 12">
            <a:extLst xmlns:a="http://schemas.openxmlformats.org/drawingml/2006/main">
              <a:ext uri="{FF2B5EF4-FFF2-40B4-BE49-F238E27FC236}">
                <a16:creationId xmlns:a16="http://schemas.microsoft.com/office/drawing/2014/main" id="{01CA1718-6658-4E95-AF7C-9DB8BC394C59}"/>
              </a:ext>
            </a:extLst>
          </p:cNvPr>
          <p:cNvSpPr>
            <a:spLocks xmlns:a="http://schemas.openxmlformats.org/drawingml/2006/main" noGrp="1"/>
          </p:cNvSpPr>
          <p:nvPr/>
        </p:nvSpPr>
        <p:spPr>
          <a:xfrm xmlns:a="http://schemas.openxmlformats.org/drawingml/2006/main">
            <a:off x="571500" y="2771775"/>
            <a:ext cx="8001000" cy="428625"/>
          </a:xfrm>
          <a:prstGeom xmlns:a="http://schemas.openxmlformats.org/drawingml/2006/main" prst="rect">
            <a:avLst/>
          </a:prstGeom>
          <a:solidFill xmlns:a="http://schemas.openxmlformats.org/drawingml/2006/main">
            <a:srgbClr val="092925">
              <a:alpha val="94000"/>
            </a:srgbClr>
          </a:solidFill>
        </p:spPr>
      </p:sp>
      <p:sp>
        <p:nvSpPr>
          <p:cNvPr id="16" name="Text 13">
            <a:extLst xmlns:a="http://schemas.openxmlformats.org/drawingml/2006/main">
              <a:ext uri="{FF2B5EF4-FFF2-40B4-BE49-F238E27FC236}">
                <a16:creationId xmlns:a16="http://schemas.microsoft.com/office/drawing/2014/main" id="{406038F5-F052-464F-AC13-8E6D01CBBFC5}"/>
              </a:ext>
            </a:extLst>
          </p:cNvPr>
          <p:cNvSpPr>
            <a:spLocks xmlns:a="http://schemas.openxmlformats.org/drawingml/2006/main" noGrp="1"/>
          </p:cNvSpPr>
          <p:nvPr/>
        </p:nvSpPr>
        <p:spPr>
          <a:xfrm xmlns:a="http://schemas.openxmlformats.org/drawingml/2006/main">
            <a:off x="676275" y="2867025"/>
            <a:ext cx="1762125"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1"/>
              </a:lnSpc>
              <a:buNone/>
            </a:pPr>
            <a:r>
              <a:rPr sz="1425">
                <a:solidFill>
                  <a:srgbClr val="F5FFFA">
                    <a:alpha val="99000"/>
                  </a:srgbClr>
                </a:solidFill>
                <a:latin typeface="Inter"/>
                <a:ea typeface="Inter"/>
                <a:cs typeface="Inter"/>
              </a:rPr>
              <a:t>Other SDKs</a:t>
            </a:r>
            <a:endParaRPr sz="1425"/>
          </a:p>
        </p:txBody>
      </p:sp>
      <p:sp>
        <p:nvSpPr>
          <p:cNvPr id="17" name="Text 14">
            <a:extLst xmlns:a="http://schemas.openxmlformats.org/drawingml/2006/main">
              <a:ext uri="{FF2B5EF4-FFF2-40B4-BE49-F238E27FC236}">
                <a16:creationId xmlns:a16="http://schemas.microsoft.com/office/drawing/2014/main" id="{39DC71AB-A932-4B37-8F8C-5BA0A672C4E7}"/>
              </a:ext>
            </a:extLst>
          </p:cNvPr>
          <p:cNvSpPr>
            <a:spLocks xmlns:a="http://schemas.openxmlformats.org/drawingml/2006/main" noGrp="1"/>
          </p:cNvSpPr>
          <p:nvPr/>
        </p:nvSpPr>
        <p:spPr>
          <a:xfrm xmlns:a="http://schemas.openxmlformats.org/drawingml/2006/main">
            <a:off x="2438400" y="2867025"/>
            <a:ext cx="6029325"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1"/>
              </a:lnSpc>
              <a:buNone/>
            </a:pPr>
            <a:r>
              <a:rPr sz="1425">
                <a:solidFill>
                  <a:srgbClr val="F5FFFA">
                    <a:alpha val="99000"/>
                  </a:srgbClr>
                </a:solidFill>
                <a:latin typeface="Inter"/>
                <a:ea typeface="Inter"/>
                <a:cs typeface="Inter"/>
              </a:rPr>
              <a:t>Official SDKs for your stack, including TypeScript.</a:t>
            </a:r>
            <a:endParaRPr sz="1425"/>
          </a:p>
        </p:txBody>
      </p:sp>
      <p:sp>
        <p:nvSpPr>
          <p:cNvPr id="18" name="Shape 15">
            <a:extLst xmlns:a="http://schemas.openxmlformats.org/drawingml/2006/main">
              <a:ext uri="{FF2B5EF4-FFF2-40B4-BE49-F238E27FC236}">
                <a16:creationId xmlns:a16="http://schemas.microsoft.com/office/drawing/2014/main" id="{5B230978-9C81-4BF0-8CEC-B7B8070F173B}"/>
              </a:ext>
            </a:extLst>
          </p:cNvPr>
          <p:cNvSpPr>
            <a:spLocks xmlns:a="http://schemas.openxmlformats.org/drawingml/2006/main" noGrp="1"/>
          </p:cNvSpPr>
          <p:nvPr/>
        </p:nvSpPr>
        <p:spPr>
          <a:xfrm xmlns:a="http://schemas.openxmlformats.org/drawingml/2006/main">
            <a:off x="571500" y="3219450"/>
            <a:ext cx="8001000" cy="428625"/>
          </a:xfrm>
          <a:prstGeom xmlns:a="http://schemas.openxmlformats.org/drawingml/2006/main" prst="rect">
            <a:avLst/>
          </a:prstGeom>
          <a:solidFill xmlns:a="http://schemas.openxmlformats.org/drawingml/2006/main">
            <a:srgbClr val="092925">
              <a:alpha val="94000"/>
            </a:srgbClr>
          </a:solidFill>
        </p:spPr>
      </p:sp>
      <p:sp>
        <p:nvSpPr>
          <p:cNvPr id="19" name="Text 16">
            <a:extLst xmlns:a="http://schemas.openxmlformats.org/drawingml/2006/main">
              <a:ext uri="{FF2B5EF4-FFF2-40B4-BE49-F238E27FC236}">
                <a16:creationId xmlns:a16="http://schemas.microsoft.com/office/drawing/2014/main" id="{56B71AB2-5A9A-4329-B513-12AFF69C775D}"/>
              </a:ext>
            </a:extLst>
          </p:cNvPr>
          <p:cNvSpPr>
            <a:spLocks xmlns:a="http://schemas.openxmlformats.org/drawingml/2006/main" noGrp="1"/>
          </p:cNvSpPr>
          <p:nvPr/>
        </p:nvSpPr>
        <p:spPr>
          <a:xfrm xmlns:a="http://schemas.openxmlformats.org/drawingml/2006/main">
            <a:off x="676275" y="3314700"/>
            <a:ext cx="1762125"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1"/>
              </a:lnSpc>
              <a:buNone/>
            </a:pPr>
            <a:r>
              <a:rPr sz="1425">
                <a:solidFill>
                  <a:srgbClr val="F5FFFA">
                    <a:alpha val="99000"/>
                  </a:srgbClr>
                </a:solidFill>
                <a:latin typeface="Inter"/>
                <a:ea typeface="Inter"/>
                <a:cs typeface="Inter"/>
              </a:rPr>
              <a:t>Zapier MCP</a:t>
            </a:r>
            <a:endParaRPr sz="1425"/>
          </a:p>
        </p:txBody>
      </p:sp>
      <p:sp>
        <p:nvSpPr>
          <p:cNvPr id="20" name="Text 17">
            <a:extLst xmlns:a="http://schemas.openxmlformats.org/drawingml/2006/main">
              <a:ext uri="{FF2B5EF4-FFF2-40B4-BE49-F238E27FC236}">
                <a16:creationId xmlns:a16="http://schemas.microsoft.com/office/drawing/2014/main" id="{BB11870F-C378-4469-AB15-1705EF43578D}"/>
              </a:ext>
            </a:extLst>
          </p:cNvPr>
          <p:cNvSpPr>
            <a:spLocks xmlns:a="http://schemas.openxmlformats.org/drawingml/2006/main" noGrp="1"/>
          </p:cNvSpPr>
          <p:nvPr/>
        </p:nvSpPr>
        <p:spPr>
          <a:xfrm xmlns:a="http://schemas.openxmlformats.org/drawingml/2006/main">
            <a:off x="2438400" y="3314700"/>
            <a:ext cx="6029325"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1"/>
              </a:lnSpc>
              <a:buNone/>
            </a:pPr>
            <a:r>
              <a:rPr sz="1425">
                <a:solidFill>
                  <a:srgbClr val="F5FFFA">
                    <a:alpha val="99000"/>
                  </a:srgbClr>
                </a:solidFill>
                <a:latin typeface="Inter"/>
                <a:ea typeface="Inter"/>
                <a:cs typeface="Inter"/>
              </a:rPr>
              <a:t>Managed app actions via Zapier MCP; a Zap is trigger → actions.</a:t>
            </a:r>
            <a:endParaRPr sz="1425"/>
          </a:p>
        </p:txBody>
      </p:sp>
      <p:sp>
        <p:nvSpPr>
          <p:cNvPr id="21" name="Text 18">
            <a:extLst xmlns:a="http://schemas.openxmlformats.org/drawingml/2006/main">
              <a:ext uri="{FF2B5EF4-FFF2-40B4-BE49-F238E27FC236}">
                <a16:creationId xmlns:a16="http://schemas.microsoft.com/office/drawing/2014/main" id="{9FE4633D-A50E-47BF-90D3-1A987F98B7BC}"/>
              </a:ext>
            </a:extLst>
          </p:cNvPr>
          <p:cNvSpPr>
            <a:spLocks xmlns:a="http://schemas.openxmlformats.org/drawingml/2006/main" noGrp="1"/>
          </p:cNvSpPr>
          <p:nvPr/>
        </p:nvSpPr>
        <p:spPr>
          <a:xfrm xmlns:a="http://schemas.openxmlformats.org/drawingml/2006/main">
            <a:off x="8310562" y="4862513"/>
            <a:ext cx="619125" cy="1428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69"/>
              </a:lnSpc>
              <a:buNone/>
            </a:pPr>
            <a:r>
              <a:rPr sz="855">
                <a:solidFill>
                  <a:srgbClr val="BAD9CF">
                    <a:alpha val="99000"/>
                  </a:srgbClr>
                </a:solidFill>
                <a:latin typeface="Inter"/>
                <a:ea typeface="Inter"/>
                <a:cs typeface="Inter"/>
              </a:rPr>
              <a:t>11 / 29</a:t>
            </a:r>
            <a:endParaRPr sz="855"/>
          </a:p>
        </p:txBody>
      </p:sp>
      <p:sp>
        <p:nvSpPr>
          <p:cNvPr id="22" name="Shape 19">
            <a:extLst xmlns:a="http://schemas.openxmlformats.org/drawingml/2006/main">
              <a:ext uri="{FF2B5EF4-FFF2-40B4-BE49-F238E27FC236}">
                <a16:creationId xmlns:a16="http://schemas.microsoft.com/office/drawing/2014/main" id="{E3A16F90-24A9-449C-B041-932D145AEA54}"/>
              </a:ext>
            </a:extLst>
          </p:cNvPr>
          <p:cNvSpPr>
            <a:spLocks xmlns:a="http://schemas.openxmlformats.org/drawingml/2006/main" noGrp="1"/>
          </p:cNvSpPr>
          <p:nvPr/>
        </p:nvSpPr>
        <p:spPr>
          <a:xfrm xmlns:a="http://schemas.openxmlformats.org/drawingml/2006/main">
            <a:off x="571500" y="3976687"/>
            <a:ext cx="8001000" cy="714375"/>
          </a:xfrm>
          <a:prstGeom xmlns:a="http://schemas.openxmlformats.org/drawingml/2006/main" prst="roundRect">
            <a:avLst>
              <a:gd name="adj" fmla="val 15360"/>
            </a:avLst>
          </a:prstGeom>
          <a:solidFill xmlns:a="http://schemas.openxmlformats.org/drawingml/2006/main">
            <a:srgbClr val="092925"/>
          </a:solidFill>
        </p:spPr>
      </p:sp>
      <p:sp>
        <p:nvSpPr>
          <p:cNvPr id="23" name="Text 20">
            <a:extLst xmlns:a="http://schemas.openxmlformats.org/drawingml/2006/main">
              <a:ext uri="{FF2B5EF4-FFF2-40B4-BE49-F238E27FC236}">
                <a16:creationId xmlns:a16="http://schemas.microsoft.com/office/drawing/2014/main" id="{9AAB6476-AD23-46B3-AACB-7DD780851478}"/>
              </a:ext>
            </a:extLst>
          </p:cNvPr>
          <p:cNvSpPr>
            <a:spLocks xmlns:a="http://schemas.openxmlformats.org/drawingml/2006/main" noGrp="1"/>
          </p:cNvSpPr>
          <p:nvPr/>
        </p:nvSpPr>
        <p:spPr>
          <a:xfrm xmlns:a="http://schemas.openxmlformats.org/drawingml/2006/main">
            <a:off x="666750" y="4033837"/>
            <a:ext cx="7810500" cy="1285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49"/>
              </a:lnSpc>
              <a:buNone/>
            </a:pPr>
            <a:r>
              <a:rPr sz="784" b="1">
                <a:solidFill>
                  <a:srgbClr val="5CE5BD">
                    <a:alpha val="99000"/>
                  </a:srgbClr>
                </a:solidFill>
                <a:latin typeface="Inter"/>
                <a:ea typeface="Inter"/>
                <a:cs typeface="Inter"/>
              </a:rPr>
              <a:t>DATABUTTON · adjacent app builder</a:t>
            </a:r>
            <a:endParaRPr sz="784"/>
          </a:p>
        </p:txBody>
      </p:sp>
      <p:sp>
        <p:nvSpPr>
          <p:cNvPr id="24" name="Text 21">
            <a:extLst xmlns:a="http://schemas.openxmlformats.org/drawingml/2006/main">
              <a:ext uri="{FF2B5EF4-FFF2-40B4-BE49-F238E27FC236}">
                <a16:creationId xmlns:a16="http://schemas.microsoft.com/office/drawing/2014/main" id="{56ED96F1-A91A-49DB-AFE3-B0EBE6495745}"/>
              </a:ext>
            </a:extLst>
          </p:cNvPr>
          <p:cNvSpPr>
            <a:spLocks xmlns:a="http://schemas.openxmlformats.org/drawingml/2006/main" noGrp="1"/>
          </p:cNvSpPr>
          <p:nvPr/>
        </p:nvSpPr>
        <p:spPr>
          <a:xfrm xmlns:a="http://schemas.openxmlformats.org/drawingml/2006/main">
            <a:off x="666750" y="4191000"/>
            <a:ext cx="7810500" cy="18573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80"/>
              </a:lnSpc>
              <a:buNone/>
            </a:pPr>
            <a:r>
              <a:rPr sz="1140">
                <a:solidFill>
                  <a:srgbClr val="F2FAF5">
                    <a:alpha val="99000"/>
                  </a:srgbClr>
                </a:solidFill>
                <a:latin typeface="Inter"/>
                <a:ea typeface="Inter"/>
                <a:cs typeface="Inter"/>
              </a:rPr>
              <a:t>An app builder is not itself an MCP framework.</a:t>
            </a:r>
            <a:endParaRPr sz="1140"/>
          </a:p>
        </p:txBody>
      </p:sp>
      <p:sp>
        <p:nvSpPr>
          <p:cNvPr id="25" name="Text 22">
            <a:extLst xmlns:a="http://schemas.openxmlformats.org/drawingml/2006/main">
              <a:ext uri="{FF2B5EF4-FFF2-40B4-BE49-F238E27FC236}">
                <a16:creationId xmlns:a16="http://schemas.microsoft.com/office/drawing/2014/main" id="{48EB7076-230B-4692-9D89-570142EA991F}"/>
              </a:ext>
            </a:extLst>
          </p:cNvPr>
          <p:cNvSpPr>
            <a:spLocks xmlns:a="http://schemas.openxmlformats.org/drawingml/2006/main" noGrp="1"/>
          </p:cNvSpPr>
          <p:nvPr/>
        </p:nvSpPr>
        <p:spPr>
          <a:xfrm xmlns:a="http://schemas.openxmlformats.org/drawingml/2006/main">
            <a:off x="666750" y="4405313"/>
            <a:ext cx="7810500" cy="15716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64"/>
              </a:lnSpc>
              <a:buNone/>
            </a:pPr>
            <a:r>
              <a:rPr sz="962">
                <a:solidFill>
                  <a:srgbClr val="F2FAF5">
                    <a:alpha val="99000"/>
                  </a:srgbClr>
                </a:solidFill>
                <a:latin typeface="Inter"/>
                <a:ea typeface="Inter"/>
                <a:cs typeface="Inter"/>
              </a:rPr>
              <a:t>Choose by tools exposed, host support, auth and deployment.</a:t>
            </a:r>
            <a:endParaRPr sz="962"/>
          </a:p>
        </p:txBody>
      </p:sp>
    </p:spTree>
    <p:extLst>
      <p:ext uri="{BB962C8B-B14F-4D97-AF65-F5344CB8AC3E}">
        <p14:creationId xmlns:p14="http://schemas.microsoft.com/office/powerpoint/2010/main" val="1365388771"/>
      </p:ext>
    </p:extLst>
  </p:cSld>
</p:sld>
</file>

<file path=ppt/slides/slide12.xml><?xml version="1.0" encoding="utf-8"?>
<p:sld xmlns:p="http://schemas.openxmlformats.org/presentationml/2006/main">
  <p:cSld>
    <p:bg>
      <p:bgPr>
        <a:blipFill xmlns:a="http://schemas.openxmlformats.org/drawingml/2006/main" rotWithShape="1">
          <a:blip xmlns:r="http://schemas.openxmlformats.org/officeDocument/2006/relationships" r:embed="R4a8a94253ca745a0">
            <a:lum/>
          </a:blip>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0D8276AF-258C-4187-AD17-4E6D4471D29C}"/>
              </a:ext>
            </a:extLst>
          </p:cNvPr>
          <p:cNvSpPr>
            <a:spLocks xmlns:a="http://schemas.openxmlformats.org/drawingml/2006/main" noGrp="1"/>
          </p:cNvSpPr>
          <p:nvPr/>
        </p:nvSpPr>
        <p:spPr>
          <a:xfrm xmlns:a="http://schemas.openxmlformats.org/drawingml/2006/main">
            <a:off x="571500" y="304800"/>
            <a:ext cx="8001000" cy="4191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117"/>
              </a:lnSpc>
              <a:buNone/>
            </a:pPr>
            <a:r>
              <a:rPr sz="2494" b="1">
                <a:solidFill>
                  <a:srgbClr val="F5FFFA">
                    <a:alpha val="99000"/>
                  </a:srgbClr>
                </a:solidFill>
                <a:latin typeface="Inter"/>
                <a:ea typeface="Inter"/>
                <a:cs typeface="Inter"/>
              </a:rPr>
              <a:t>VS Code Copilot: setup and readiness</a:t>
            </a:r>
            <a:endParaRPr sz="2494"/>
          </a:p>
        </p:txBody>
      </p:sp>
      <p:sp>
        <p:nvSpPr>
          <p:cNvPr id="4" name="Shape 1">
            <a:extLst xmlns:a="http://schemas.openxmlformats.org/drawingml/2006/main">
              <a:ext uri="{FF2B5EF4-FFF2-40B4-BE49-F238E27FC236}">
                <a16:creationId xmlns:a16="http://schemas.microsoft.com/office/drawing/2014/main" id="{D6FEAF80-A7E7-4881-A48B-A9D8E60154E5}"/>
              </a:ext>
            </a:extLst>
          </p:cNvPr>
          <p:cNvSpPr>
            <a:spLocks xmlns:a="http://schemas.openxmlformats.org/drawingml/2006/main" noGrp="1"/>
          </p:cNvSpPr>
          <p:nvPr/>
        </p:nvSpPr>
        <p:spPr>
          <a:xfrm xmlns:a="http://schemas.openxmlformats.org/drawingml/2006/main">
            <a:off x="581025" y="838200"/>
            <a:ext cx="523875" cy="33338"/>
          </a:xfrm>
          <a:prstGeom xmlns:a="http://schemas.openxmlformats.org/drawingml/2006/main" prst="rect">
            <a:avLst/>
          </a:prstGeom>
          <a:solidFill xmlns:a="http://schemas.openxmlformats.org/drawingml/2006/main">
            <a:srgbClr val="4FE3BD"/>
          </a:solidFill>
        </p:spPr>
      </p:sp>
      <p:sp>
        <p:nvSpPr>
          <p:cNvPr id="5" name="Text 2">
            <a:extLst xmlns:a="http://schemas.openxmlformats.org/drawingml/2006/main">
              <a:ext uri="{FF2B5EF4-FFF2-40B4-BE49-F238E27FC236}">
                <a16:creationId xmlns:a16="http://schemas.microsoft.com/office/drawing/2014/main" id="{B3534A31-541F-4E79-A5F1-4B6041D1D8A9}"/>
              </a:ext>
            </a:extLst>
          </p:cNvPr>
          <p:cNvSpPr>
            <a:spLocks xmlns:a="http://schemas.openxmlformats.org/drawingml/2006/main" noGrp="1"/>
          </p:cNvSpPr>
          <p:nvPr/>
        </p:nvSpPr>
        <p:spPr>
          <a:xfrm xmlns:a="http://schemas.openxmlformats.org/drawingml/2006/main">
            <a:off x="571500" y="1181100"/>
            <a:ext cx="8001000" cy="30956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16"/>
              </a:lnSpc>
              <a:buNone/>
            </a:pPr>
            <a:r>
              <a:rPr sz="1852" b="1">
                <a:solidFill>
                  <a:srgbClr val="4FE3BD">
                    <a:alpha val="99000"/>
                  </a:srgbClr>
                </a:solidFill>
                <a:latin typeface="Inter"/>
                <a:ea typeface="Inter"/>
                <a:cs typeface="Inter"/>
              </a:rPr>
              <a:t>github.com/pranavsaigandikota/MCPJAM</a:t>
            </a:r>
            <a:endParaRPr sz="1852"/>
          </a:p>
        </p:txBody>
      </p:sp>
      <p:sp>
        <p:nvSpPr>
          <p:cNvPr id="6" name="Text 3">
            <a:extLst xmlns:a="http://schemas.openxmlformats.org/drawingml/2006/main">
              <a:ext uri="{FF2B5EF4-FFF2-40B4-BE49-F238E27FC236}">
                <a16:creationId xmlns:a16="http://schemas.microsoft.com/office/drawing/2014/main" id="{FA1458DC-3F4F-45CB-8FA6-615663A47EFE}"/>
              </a:ext>
            </a:extLst>
          </p:cNvPr>
          <p:cNvSpPr>
            <a:spLocks xmlns:a="http://schemas.openxmlformats.org/drawingml/2006/main" noGrp="1"/>
          </p:cNvSpPr>
          <p:nvPr/>
        </p:nvSpPr>
        <p:spPr>
          <a:xfrm xmlns:a="http://schemas.openxmlformats.org/drawingml/2006/main">
            <a:off x="571500" y="1647825"/>
            <a:ext cx="8001000" cy="30956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16"/>
              </a:lnSpc>
              <a:buNone/>
            </a:pPr>
            <a:r>
              <a:rPr sz="1852" b="1">
                <a:solidFill>
                  <a:srgbClr val="4FE3BD">
                    <a:alpha val="99000"/>
                  </a:srgbClr>
                </a:solidFill>
                <a:latin typeface="Inter"/>
                <a:ea typeface="Inter"/>
                <a:cs typeface="Inter"/>
              </a:rPr>
              <a:t>Windows + Mac · Copilot account with agent access</a:t>
            </a:r>
            <a:endParaRPr sz="1852"/>
          </a:p>
        </p:txBody>
      </p:sp>
      <p:sp>
        <p:nvSpPr>
          <p:cNvPr id="7" name="Shape 4">
            <a:extLst xmlns:a="http://schemas.openxmlformats.org/drawingml/2006/main">
              <a:ext uri="{FF2B5EF4-FFF2-40B4-BE49-F238E27FC236}">
                <a16:creationId xmlns:a16="http://schemas.microsoft.com/office/drawing/2014/main" id="{A47A51B4-59F9-4BE3-BFBC-A681D6636734}"/>
              </a:ext>
            </a:extLst>
          </p:cNvPr>
          <p:cNvSpPr>
            <a:spLocks xmlns:a="http://schemas.openxmlformats.org/drawingml/2006/main" noGrp="1"/>
          </p:cNvSpPr>
          <p:nvPr/>
        </p:nvSpPr>
        <p:spPr>
          <a:xfrm xmlns:a="http://schemas.openxmlformats.org/drawingml/2006/main">
            <a:off x="571500" y="2333625"/>
            <a:ext cx="8001000" cy="1385888"/>
          </a:xfrm>
          <a:prstGeom xmlns:a="http://schemas.openxmlformats.org/drawingml/2006/main" prst="rect">
            <a:avLst/>
          </a:prstGeom>
          <a:noFill xmlns:a="http://schemas.openxmlformats.org/drawingml/2006/main"/>
        </p:spPr>
      </p:sp>
      <p:sp>
        <p:nvSpPr>
          <p:cNvPr id="8" name="Text 5">
            <a:extLst xmlns:a="http://schemas.openxmlformats.org/drawingml/2006/main">
              <a:ext uri="{FF2B5EF4-FFF2-40B4-BE49-F238E27FC236}">
                <a16:creationId xmlns:a16="http://schemas.microsoft.com/office/drawing/2014/main" id="{3C55E804-FCE1-417A-9672-C884CF41A69C}"/>
              </a:ext>
            </a:extLst>
          </p:cNvPr>
          <p:cNvSpPr>
            <a:spLocks xmlns:a="http://schemas.openxmlformats.org/drawingml/2006/main" noGrp="1"/>
          </p:cNvSpPr>
          <p:nvPr/>
        </p:nvSpPr>
        <p:spPr>
          <a:xfrm xmlns:a="http://schemas.openxmlformats.org/drawingml/2006/main">
            <a:off x="571500" y="2333625"/>
            <a:ext cx="8001000" cy="2571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15"/>
              </a:lnSpc>
              <a:buNone/>
            </a:pPr>
            <a:r>
              <a:rPr sz="1532">
                <a:solidFill>
                  <a:srgbClr val="F5FFFA">
                    <a:alpha val="99000"/>
                  </a:srgbClr>
                </a:solidFill>
                <a:latin typeface="Inter"/>
                <a:ea typeface="Inter"/>
                <a:cs typeface="Inter"/>
              </a:rPr>
              <a:t>1  Clone the repo; run the Windows or Mac setup.</a:t>
            </a:r>
            <a:endParaRPr sz="1532"/>
          </a:p>
        </p:txBody>
      </p:sp>
      <p:sp>
        <p:nvSpPr>
          <p:cNvPr id="9" name="Text 6">
            <a:extLst xmlns:a="http://schemas.openxmlformats.org/drawingml/2006/main">
              <a:ext uri="{FF2B5EF4-FFF2-40B4-BE49-F238E27FC236}">
                <a16:creationId xmlns:a16="http://schemas.microsoft.com/office/drawing/2014/main" id="{4C5473BF-6B15-480B-A426-BF59859984B0}"/>
              </a:ext>
            </a:extLst>
          </p:cNvPr>
          <p:cNvSpPr>
            <a:spLocks xmlns:a="http://schemas.openxmlformats.org/drawingml/2006/main" noGrp="1"/>
          </p:cNvSpPr>
          <p:nvPr/>
        </p:nvSpPr>
        <p:spPr>
          <a:xfrm xmlns:a="http://schemas.openxmlformats.org/drawingml/2006/main">
            <a:off x="571500" y="2709863"/>
            <a:ext cx="8001000" cy="2571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15"/>
              </a:lnSpc>
              <a:buNone/>
            </a:pPr>
            <a:r>
              <a:rPr sz="1532">
                <a:solidFill>
                  <a:srgbClr val="F5FFFA">
                    <a:alpha val="99000"/>
                  </a:srgbClr>
                </a:solidFill>
                <a:latin typeface="Inter"/>
                <a:ea typeface="Inter"/>
                <a:cs typeface="Inter"/>
              </a:rPr>
              <a:t>2  Open the whole MCPJAM folder in VS Code.</a:t>
            </a:r>
            <a:endParaRPr sz="1532"/>
          </a:p>
        </p:txBody>
      </p:sp>
      <p:sp>
        <p:nvSpPr>
          <p:cNvPr id="10" name="Text 7">
            <a:extLst xmlns:a="http://schemas.openxmlformats.org/drawingml/2006/main">
              <a:ext uri="{FF2B5EF4-FFF2-40B4-BE49-F238E27FC236}">
                <a16:creationId xmlns:a16="http://schemas.microsoft.com/office/drawing/2014/main" id="{5C77E2DC-9C50-4B8F-85A7-841AC9265F38}"/>
              </a:ext>
            </a:extLst>
          </p:cNvPr>
          <p:cNvSpPr>
            <a:spLocks xmlns:a="http://schemas.openxmlformats.org/drawingml/2006/main" noGrp="1"/>
          </p:cNvSpPr>
          <p:nvPr/>
        </p:nvSpPr>
        <p:spPr>
          <a:xfrm xmlns:a="http://schemas.openxmlformats.org/drawingml/2006/main">
            <a:off x="571500" y="3086100"/>
            <a:ext cx="8001000" cy="2571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15"/>
              </a:lnSpc>
              <a:buNone/>
            </a:pPr>
            <a:r>
              <a:rPr sz="1532">
                <a:solidFill>
                  <a:srgbClr val="F5FFFA">
                    <a:alpha val="99000"/>
                  </a:srgbClr>
                </a:solidFill>
                <a:latin typeface="Inter"/>
                <a:ea typeface="Inter"/>
                <a:cs typeface="Inter"/>
              </a:rPr>
              <a:t>3  Sign into Copilot; start the app for the lab.</a:t>
            </a:r>
            <a:endParaRPr sz="1532"/>
          </a:p>
        </p:txBody>
      </p:sp>
      <p:sp>
        <p:nvSpPr>
          <p:cNvPr id="11" name="Text 8">
            <a:extLst xmlns:a="http://schemas.openxmlformats.org/drawingml/2006/main">
              <a:ext uri="{FF2B5EF4-FFF2-40B4-BE49-F238E27FC236}">
                <a16:creationId xmlns:a16="http://schemas.microsoft.com/office/drawing/2014/main" id="{99B1BF0E-9DA4-46E6-96B7-2E74AF871B56}"/>
              </a:ext>
            </a:extLst>
          </p:cNvPr>
          <p:cNvSpPr>
            <a:spLocks xmlns:a="http://schemas.openxmlformats.org/drawingml/2006/main" noGrp="1"/>
          </p:cNvSpPr>
          <p:nvPr/>
        </p:nvSpPr>
        <p:spPr>
          <a:xfrm xmlns:a="http://schemas.openxmlformats.org/drawingml/2006/main">
            <a:off x="571500" y="3462338"/>
            <a:ext cx="8001000" cy="2571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15"/>
              </a:lnSpc>
              <a:buNone/>
            </a:pPr>
            <a:r>
              <a:rPr sz="1532">
                <a:solidFill>
                  <a:srgbClr val="F5FFFA">
                    <a:alpha val="99000"/>
                  </a:srgbClr>
                </a:solidFill>
                <a:latin typeface="Inter"/>
                <a:ea typeface="Inter"/>
                <a:cs typeface="Inter"/>
              </a:rPr>
              <a:t>4  Open .vscode/mcp.json; select your .venv Python.</a:t>
            </a:r>
            <a:endParaRPr sz="1532"/>
          </a:p>
        </p:txBody>
      </p:sp>
      <p:sp>
        <p:nvSpPr>
          <p:cNvPr id="12" name="Text 9">
            <a:extLst xmlns:a="http://schemas.openxmlformats.org/drawingml/2006/main">
              <a:ext uri="{FF2B5EF4-FFF2-40B4-BE49-F238E27FC236}">
                <a16:creationId xmlns:a16="http://schemas.microsoft.com/office/drawing/2014/main" id="{5CEF967C-8E74-450A-B26A-B0E556801961}"/>
              </a:ext>
            </a:extLst>
          </p:cNvPr>
          <p:cNvSpPr>
            <a:spLocks xmlns:a="http://schemas.openxmlformats.org/drawingml/2006/main" noGrp="1"/>
          </p:cNvSpPr>
          <p:nvPr/>
        </p:nvSpPr>
        <p:spPr>
          <a:xfrm xmlns:a="http://schemas.openxmlformats.org/drawingml/2006/main">
            <a:off x="571500" y="4367213"/>
            <a:ext cx="80010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2"/>
              </a:lnSpc>
              <a:buNone/>
            </a:pPr>
            <a:r>
              <a:rPr sz="1354" b="1">
                <a:solidFill>
                  <a:srgbClr val="4FE3BD">
                    <a:alpha val="99000"/>
                  </a:srgbClr>
                </a:solidFill>
                <a:latin typeface="Inter"/>
                <a:ea typeface="Inter"/>
                <a:cs typeface="Inter"/>
              </a:rPr>
              <a:t>Copilot uses your account. Explicit CLI tests are the fallback.</a:t>
            </a:r>
            <a:endParaRPr sz="1354"/>
          </a:p>
        </p:txBody>
      </p:sp>
      <p:sp>
        <p:nvSpPr>
          <p:cNvPr id="13" name="Text 10">
            <a:extLst xmlns:a="http://schemas.openxmlformats.org/drawingml/2006/main">
              <a:ext uri="{FF2B5EF4-FFF2-40B4-BE49-F238E27FC236}">
                <a16:creationId xmlns:a16="http://schemas.microsoft.com/office/drawing/2014/main" id="{E8064F3F-C3C7-44F4-A327-CA55C496DE27}"/>
              </a:ext>
            </a:extLst>
          </p:cNvPr>
          <p:cNvSpPr>
            <a:spLocks xmlns:a="http://schemas.openxmlformats.org/drawingml/2006/main" noGrp="1"/>
          </p:cNvSpPr>
          <p:nvPr/>
        </p:nvSpPr>
        <p:spPr>
          <a:xfrm xmlns:a="http://schemas.openxmlformats.org/drawingml/2006/main">
            <a:off x="8310562" y="4862513"/>
            <a:ext cx="619125" cy="1428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69"/>
              </a:lnSpc>
              <a:buNone/>
            </a:pPr>
            <a:r>
              <a:rPr sz="855">
                <a:solidFill>
                  <a:srgbClr val="BAD9CF">
                    <a:alpha val="99000"/>
                  </a:srgbClr>
                </a:solidFill>
                <a:latin typeface="Inter"/>
                <a:ea typeface="Inter"/>
                <a:cs typeface="Inter"/>
              </a:rPr>
              <a:t>12 / 29</a:t>
            </a:r>
            <a:endParaRPr sz="855"/>
          </a:p>
        </p:txBody>
      </p:sp>
    </p:spTree>
    <p:extLst>
      <p:ext uri="{BB962C8B-B14F-4D97-AF65-F5344CB8AC3E}">
        <p14:creationId xmlns:p14="http://schemas.microsoft.com/office/powerpoint/2010/main" val="1427842965"/>
      </p:ext>
    </p:extLst>
  </p:cSld>
</p:sld>
</file>

<file path=ppt/slides/slide13.xml><?xml version="1.0" encoding="utf-8"?>
<p:sld xmlns:p="http://schemas.openxmlformats.org/presentationml/2006/main">
  <p:cSld>
    <p:bg>
      <p:bgPr>
        <a:blipFill xmlns:a="http://schemas.openxmlformats.org/drawingml/2006/main" rotWithShape="1">
          <a:blip xmlns:r="http://schemas.openxmlformats.org/officeDocument/2006/relationships" r:embed="R966c8714cc134023">
            <a:lum/>
          </a:blip>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34632038-1884-4385-9FCC-01B0E152E420}"/>
              </a:ext>
            </a:extLst>
          </p:cNvPr>
          <p:cNvSpPr>
            <a:spLocks xmlns:a="http://schemas.openxmlformats.org/drawingml/2006/main" noGrp="1"/>
          </p:cNvSpPr>
          <p:nvPr/>
        </p:nvSpPr>
        <p:spPr>
          <a:xfrm xmlns:a="http://schemas.openxmlformats.org/drawingml/2006/main">
            <a:off x="571500" y="304800"/>
            <a:ext cx="8001000" cy="4191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117"/>
              </a:lnSpc>
              <a:buNone/>
            </a:pPr>
            <a:r>
              <a:rPr sz="2494" b="1">
                <a:solidFill>
                  <a:srgbClr val="F5FFFA">
                    <a:alpha val="99000"/>
                  </a:srgbClr>
                </a:solidFill>
                <a:latin typeface="Inter"/>
                <a:ea typeface="Inter"/>
                <a:cs typeface="Inter"/>
              </a:rPr>
              <a:t>Copilot demo: tempo + verified state</a:t>
            </a:r>
            <a:endParaRPr sz="2494"/>
          </a:p>
        </p:txBody>
      </p:sp>
      <p:sp>
        <p:nvSpPr>
          <p:cNvPr id="4" name="Shape 1">
            <a:extLst xmlns:a="http://schemas.openxmlformats.org/drawingml/2006/main">
              <a:ext uri="{FF2B5EF4-FFF2-40B4-BE49-F238E27FC236}">
                <a16:creationId xmlns:a16="http://schemas.microsoft.com/office/drawing/2014/main" id="{072A884C-0AA2-4564-A748-566FB405D47E}"/>
              </a:ext>
            </a:extLst>
          </p:cNvPr>
          <p:cNvSpPr>
            <a:spLocks xmlns:a="http://schemas.openxmlformats.org/drawingml/2006/main" noGrp="1"/>
          </p:cNvSpPr>
          <p:nvPr/>
        </p:nvSpPr>
        <p:spPr>
          <a:xfrm xmlns:a="http://schemas.openxmlformats.org/drawingml/2006/main">
            <a:off x="581025" y="838200"/>
            <a:ext cx="523875" cy="33338"/>
          </a:xfrm>
          <a:prstGeom xmlns:a="http://schemas.openxmlformats.org/drawingml/2006/main" prst="rect">
            <a:avLst/>
          </a:prstGeom>
          <a:solidFill xmlns:a="http://schemas.openxmlformats.org/drawingml/2006/main">
            <a:srgbClr val="4FE3BD"/>
          </a:solidFill>
        </p:spPr>
      </p:sp>
      <p:sp>
        <p:nvSpPr>
          <p:cNvPr id="5" name="Text 2">
            <a:extLst xmlns:a="http://schemas.openxmlformats.org/drawingml/2006/main">
              <a:ext uri="{FF2B5EF4-FFF2-40B4-BE49-F238E27FC236}">
                <a16:creationId xmlns:a16="http://schemas.microsoft.com/office/drawing/2014/main" id="{7E7D59B5-D1AB-410D-ACE8-A545A5B86E29}"/>
              </a:ext>
            </a:extLst>
          </p:cNvPr>
          <p:cNvSpPr>
            <a:spLocks xmlns:a="http://schemas.openxmlformats.org/drawingml/2006/main" noGrp="1"/>
          </p:cNvSpPr>
          <p:nvPr/>
        </p:nvSpPr>
        <p:spPr>
          <a:xfrm xmlns:a="http://schemas.openxmlformats.org/drawingml/2006/main">
            <a:off x="571500" y="1323975"/>
            <a:ext cx="8001000" cy="4667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473"/>
              </a:lnSpc>
              <a:buNone/>
            </a:pPr>
            <a:r>
              <a:rPr sz="2779" b="1">
                <a:solidFill>
                  <a:srgbClr val="4FE3BD">
                    <a:alpha val="99000"/>
                  </a:srgbClr>
                </a:solidFill>
                <a:latin typeface="Inter"/>
                <a:ea typeface="Inter"/>
                <a:cs typeface="Inter"/>
              </a:rPr>
              <a:t>“Set tempo to 120, then verify it.”</a:t>
            </a:r>
            <a:endParaRPr sz="2779"/>
          </a:p>
        </p:txBody>
      </p:sp>
      <p:sp>
        <p:nvSpPr>
          <p:cNvPr id="6" name="Shape 3">
            <a:extLst xmlns:a="http://schemas.openxmlformats.org/drawingml/2006/main">
              <a:ext uri="{FF2B5EF4-FFF2-40B4-BE49-F238E27FC236}">
                <a16:creationId xmlns:a16="http://schemas.microsoft.com/office/drawing/2014/main" id="{3286B656-593B-40FC-863E-00CC51A8CCE3}"/>
              </a:ext>
            </a:extLst>
          </p:cNvPr>
          <p:cNvSpPr>
            <a:spLocks xmlns:a="http://schemas.openxmlformats.org/drawingml/2006/main" noGrp="1"/>
          </p:cNvSpPr>
          <p:nvPr/>
        </p:nvSpPr>
        <p:spPr>
          <a:xfrm xmlns:a="http://schemas.openxmlformats.org/drawingml/2006/main">
            <a:off x="571500" y="2276475"/>
            <a:ext cx="5286375" cy="1200150"/>
          </a:xfrm>
          <a:prstGeom xmlns:a="http://schemas.openxmlformats.org/drawingml/2006/main" prst="rect">
            <a:avLst/>
          </a:prstGeom>
          <a:noFill xmlns:a="http://schemas.openxmlformats.org/drawingml/2006/main"/>
        </p:spPr>
      </p:sp>
      <p:sp>
        <p:nvSpPr>
          <p:cNvPr id="7" name="Text 4">
            <a:extLst xmlns:a="http://schemas.openxmlformats.org/drawingml/2006/main">
              <a:ext uri="{FF2B5EF4-FFF2-40B4-BE49-F238E27FC236}">
                <a16:creationId xmlns:a16="http://schemas.microsoft.com/office/drawing/2014/main" id="{9F0F8B34-3BF8-40B6-A8F4-DB50493E911A}"/>
              </a:ext>
            </a:extLst>
          </p:cNvPr>
          <p:cNvSpPr>
            <a:spLocks xmlns:a="http://schemas.openxmlformats.org/drawingml/2006/main" noGrp="1"/>
          </p:cNvSpPr>
          <p:nvPr/>
        </p:nvSpPr>
        <p:spPr>
          <a:xfrm xmlns:a="http://schemas.openxmlformats.org/drawingml/2006/main">
            <a:off x="571500" y="2276475"/>
            <a:ext cx="5286375" cy="2571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15"/>
              </a:lnSpc>
              <a:buNone/>
            </a:pPr>
            <a:r>
              <a:rPr sz="1532">
                <a:solidFill>
                  <a:srgbClr val="F5FFFA">
                    <a:alpha val="99000"/>
                  </a:srgbClr>
                </a:solidFill>
                <a:latin typeface="Inter"/>
                <a:ea typeface="Inter"/>
                <a:cs typeface="Inter"/>
              </a:rPr>
              <a:t>1  Open Copilot agent chat; enable MCPJAM tools.</a:t>
            </a:r>
            <a:endParaRPr sz="1532"/>
          </a:p>
        </p:txBody>
      </p:sp>
      <p:sp>
        <p:nvSpPr>
          <p:cNvPr id="8" name="Text 5">
            <a:extLst xmlns:a="http://schemas.openxmlformats.org/drawingml/2006/main">
              <a:ext uri="{FF2B5EF4-FFF2-40B4-BE49-F238E27FC236}">
                <a16:creationId xmlns:a16="http://schemas.microsoft.com/office/drawing/2014/main" id="{270B5C0E-1C2B-4C52-99CF-A71BC06AB045}"/>
              </a:ext>
            </a:extLst>
          </p:cNvPr>
          <p:cNvSpPr>
            <a:spLocks xmlns:a="http://schemas.openxmlformats.org/drawingml/2006/main" noGrp="1"/>
          </p:cNvSpPr>
          <p:nvPr/>
        </p:nvSpPr>
        <p:spPr>
          <a:xfrm xmlns:a="http://schemas.openxmlformats.org/drawingml/2006/main">
            <a:off x="571500" y="2747963"/>
            <a:ext cx="5286375" cy="2571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15"/>
              </a:lnSpc>
              <a:buNone/>
            </a:pPr>
            <a:r>
              <a:rPr sz="1532">
                <a:solidFill>
                  <a:srgbClr val="F5FFFA">
                    <a:alpha val="99000"/>
                  </a:srgbClr>
                </a:solidFill>
                <a:latin typeface="Inter"/>
                <a:ea typeface="Inter"/>
                <a:cs typeface="Inter"/>
              </a:rPr>
              <a:t>2  Inspect set_tempo(bpm=120) and its result.</a:t>
            </a:r>
            <a:endParaRPr sz="1532"/>
          </a:p>
        </p:txBody>
      </p:sp>
      <p:sp>
        <p:nvSpPr>
          <p:cNvPr id="9" name="Text 6">
            <a:extLst xmlns:a="http://schemas.openxmlformats.org/drawingml/2006/main">
              <a:ext uri="{FF2B5EF4-FFF2-40B4-BE49-F238E27FC236}">
                <a16:creationId xmlns:a16="http://schemas.microsoft.com/office/drawing/2014/main" id="{2FFFA634-6801-4215-A9A9-944BACBCE576}"/>
              </a:ext>
            </a:extLst>
          </p:cNvPr>
          <p:cNvSpPr>
            <a:spLocks xmlns:a="http://schemas.openxmlformats.org/drawingml/2006/main" noGrp="1"/>
          </p:cNvSpPr>
          <p:nvPr/>
        </p:nvSpPr>
        <p:spPr>
          <a:xfrm xmlns:a="http://schemas.openxmlformats.org/drawingml/2006/main">
            <a:off x="571500" y="3219450"/>
            <a:ext cx="5286375" cy="2571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15"/>
              </a:lnSpc>
              <a:buNone/>
            </a:pPr>
            <a:r>
              <a:rPr sz="1532">
                <a:solidFill>
                  <a:srgbClr val="F5FFFA">
                    <a:alpha val="99000"/>
                  </a:srgbClr>
                </a:solidFill>
                <a:latin typeface="Inter"/>
                <a:ea typeface="Inter"/>
                <a:cs typeface="Inter"/>
              </a:rPr>
              <a:t>3  Call get_state; check bpm is actually 120.</a:t>
            </a:r>
            <a:endParaRPr sz="1532"/>
          </a:p>
        </p:txBody>
      </p:sp>
      <p:sp>
        <p:nvSpPr>
          <p:cNvPr id="10" name="Text 7">
            <a:extLst xmlns:a="http://schemas.openxmlformats.org/drawingml/2006/main">
              <a:ext uri="{FF2B5EF4-FFF2-40B4-BE49-F238E27FC236}">
                <a16:creationId xmlns:a16="http://schemas.microsoft.com/office/drawing/2014/main" id="{6862F7AB-CCEE-42F6-9936-1D9E7DD8EB11}"/>
              </a:ext>
            </a:extLst>
          </p:cNvPr>
          <p:cNvSpPr>
            <a:spLocks xmlns:a="http://schemas.openxmlformats.org/drawingml/2006/main" noGrp="1"/>
          </p:cNvSpPr>
          <p:nvPr/>
        </p:nvSpPr>
        <p:spPr>
          <a:xfrm xmlns:a="http://schemas.openxmlformats.org/drawingml/2006/main">
            <a:off x="8310562" y="4862513"/>
            <a:ext cx="619125" cy="1428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69"/>
              </a:lnSpc>
              <a:buNone/>
            </a:pPr>
            <a:r>
              <a:rPr sz="855">
                <a:solidFill>
                  <a:srgbClr val="BAD9CF">
                    <a:alpha val="99000"/>
                  </a:srgbClr>
                </a:solidFill>
                <a:latin typeface="Inter"/>
                <a:ea typeface="Inter"/>
                <a:cs typeface="Inter"/>
              </a:rPr>
              <a:t>13 / 29</a:t>
            </a:r>
            <a:endParaRPr sz="855"/>
          </a:p>
        </p:txBody>
      </p:sp>
      <p:pic>
        <p:nvPicPr>
          <p:cNvPr id="11" name="Image 0">
            <a:extLst xmlns:a="http://schemas.openxmlformats.org/drawingml/2006/main">
              <a:ext uri="{FF2B5EF4-FFF2-40B4-BE49-F238E27FC236}">
                <a16:creationId xmlns:a16="http://schemas.microsoft.com/office/drawing/2014/main" id="{BDA0F639-2A37-469D-8C5B-9A7BB6B23B70}"/>
              </a:ext>
            </a:extLst>
          </p:cNvPr>
          <p:cNvPicPr>
            <a:picLocks xmlns:a="http://schemas.openxmlformats.org/drawingml/2006/main" noChangeAspect="1"/>
          </p:cNvPicPr>
          <p:nvPr/>
        </p:nvPicPr>
        <p:blipFill>
          <a:blip xmlns:r="http://schemas.openxmlformats.org/officeDocument/2006/relationships" xmlns:a="http://schemas.openxmlformats.org/drawingml/2006/main" r:embed="R7dc65e563ad942eb"/>
          <a:srcRect xmlns:a="http://schemas.openxmlformats.org/drawingml/2006/main" l="0" t="0" r="0" b="0"/>
          <a:stretch xmlns:a="http://schemas.openxmlformats.org/drawingml/2006/main"/>
        </p:blipFill>
        <p:spPr>
          <a:xfrm xmlns:a="http://schemas.openxmlformats.org/drawingml/2006/main">
            <a:off x="6715125" y="1952625"/>
            <a:ext cx="1714500" cy="2143125"/>
          </a:xfrm>
          <a:prstGeom xmlns:a="http://schemas.openxmlformats.org/drawingml/2006/main" prst="rect">
            <a:avLst/>
          </a:prstGeom>
        </p:spPr>
      </p:pic>
      <p:pic>
        <p:nvPicPr>
          <p:cNvPr id="12" name="Image 1">
            <a:extLst xmlns:a="http://schemas.openxmlformats.org/drawingml/2006/main">
              <a:ext uri="{FF2B5EF4-FFF2-40B4-BE49-F238E27FC236}">
                <a16:creationId xmlns:a16="http://schemas.microsoft.com/office/drawing/2014/main" id="{84D49F6B-2EF2-4891-A64B-E40BAFBB171C}"/>
              </a:ext>
            </a:extLst>
          </p:cNvPr>
          <p:cNvPicPr>
            <a:picLocks xmlns:a="http://schemas.openxmlformats.org/drawingml/2006/main" noChangeAspect="1"/>
          </p:cNvPicPr>
          <p:nvPr/>
        </p:nvPicPr>
        <p:blipFill>
          <a:blip xmlns:r="http://schemas.openxmlformats.org/officeDocument/2006/relationships" xmlns:a="http://schemas.openxmlformats.org/drawingml/2006/main" r:embed="R7dc65e563ad942eb"/>
          <a:srcRect xmlns:a="http://schemas.openxmlformats.org/drawingml/2006/main" l="0" t="0" r="0" b="0"/>
          <a:stretch xmlns:a="http://schemas.openxmlformats.org/drawingml/2006/main"/>
        </p:blipFill>
        <p:spPr>
          <a:xfrm xmlns:a="http://schemas.openxmlformats.org/drawingml/2006/main">
            <a:off x="6715125" y="1952625"/>
            <a:ext cx="1714500" cy="2143125"/>
          </a:xfrm>
          <a:prstGeom xmlns:a="http://schemas.openxmlformats.org/drawingml/2006/main" prst="rect">
            <a:avLst/>
          </a:prstGeom>
        </p:spPr>
      </p:pic>
    </p:spTree>
    <p:extLst>
      <p:ext uri="{BB962C8B-B14F-4D97-AF65-F5344CB8AC3E}">
        <p14:creationId xmlns:p14="http://schemas.microsoft.com/office/powerpoint/2010/main" val="286285354"/>
      </p:ext>
    </p:extLst>
  </p:cSld>
</p:sld>
</file>

<file path=ppt/slides/slide14.xml><?xml version="1.0" encoding="utf-8"?>
<p:sld xmlns:p="http://schemas.openxmlformats.org/presentationml/2006/main">
  <p:cSld>
    <p:bg>
      <p:bgPr>
        <a:blipFill xmlns:a="http://schemas.openxmlformats.org/drawingml/2006/main" rotWithShape="1">
          <a:blip xmlns:r="http://schemas.openxmlformats.org/officeDocument/2006/relationships" r:embed="R4d79a7dd5e964157">
            <a:lum/>
          </a:blip>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D53AB6C7-665C-45FC-B79C-94B7FC7B1A45}"/>
              </a:ext>
            </a:extLst>
          </p:cNvPr>
          <p:cNvSpPr>
            <a:spLocks xmlns:a="http://schemas.openxmlformats.org/drawingml/2006/main" noGrp="1"/>
          </p:cNvSpPr>
          <p:nvPr/>
        </p:nvSpPr>
        <p:spPr>
          <a:xfrm xmlns:a="http://schemas.openxmlformats.org/drawingml/2006/main">
            <a:off x="571500" y="304800"/>
            <a:ext cx="8001000" cy="4191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117"/>
              </a:lnSpc>
              <a:buNone/>
            </a:pPr>
            <a:r>
              <a:rPr sz="2494" b="1">
                <a:solidFill>
                  <a:srgbClr val="F5FFFA">
                    <a:alpha val="99000"/>
                  </a:srgbClr>
                </a:solidFill>
                <a:latin typeface="Inter"/>
                <a:ea typeface="Inter"/>
                <a:cs typeface="Inter"/>
              </a:rPr>
              <a:t>MCP ACTIVITY · trace the call</a:t>
            </a:r>
            <a:endParaRPr sz="2494"/>
          </a:p>
        </p:txBody>
      </p:sp>
      <p:sp>
        <p:nvSpPr>
          <p:cNvPr id="4" name="Shape 1">
            <a:extLst xmlns:a="http://schemas.openxmlformats.org/drawingml/2006/main">
              <a:ext uri="{FF2B5EF4-FFF2-40B4-BE49-F238E27FC236}">
                <a16:creationId xmlns:a16="http://schemas.microsoft.com/office/drawing/2014/main" id="{144BEDD3-31E1-4E05-960A-9438CE80BA9E}"/>
              </a:ext>
            </a:extLst>
          </p:cNvPr>
          <p:cNvSpPr>
            <a:spLocks xmlns:a="http://schemas.openxmlformats.org/drawingml/2006/main" noGrp="1"/>
          </p:cNvSpPr>
          <p:nvPr/>
        </p:nvSpPr>
        <p:spPr>
          <a:xfrm xmlns:a="http://schemas.openxmlformats.org/drawingml/2006/main">
            <a:off x="581025" y="838200"/>
            <a:ext cx="523875" cy="33338"/>
          </a:xfrm>
          <a:prstGeom xmlns:a="http://schemas.openxmlformats.org/drawingml/2006/main" prst="rect">
            <a:avLst/>
          </a:prstGeom>
          <a:solidFill xmlns:a="http://schemas.openxmlformats.org/drawingml/2006/main">
            <a:srgbClr val="4FE3BD"/>
          </a:solidFill>
        </p:spPr>
      </p:sp>
      <p:sp>
        <p:nvSpPr>
          <p:cNvPr id="5" name="Shape 2">
            <a:extLst xmlns:a="http://schemas.openxmlformats.org/drawingml/2006/main">
              <a:ext uri="{FF2B5EF4-FFF2-40B4-BE49-F238E27FC236}">
                <a16:creationId xmlns:a16="http://schemas.microsoft.com/office/drawing/2014/main" id="{10D3F902-B740-47B1-9994-23F537866CB8}"/>
              </a:ext>
            </a:extLst>
          </p:cNvPr>
          <p:cNvSpPr>
            <a:spLocks xmlns:a="http://schemas.openxmlformats.org/drawingml/2006/main" noGrp="1"/>
          </p:cNvSpPr>
          <p:nvPr/>
        </p:nvSpPr>
        <p:spPr>
          <a:xfrm xmlns:a="http://schemas.openxmlformats.org/drawingml/2006/main">
            <a:off x="571500" y="1071563"/>
            <a:ext cx="7981950" cy="466725"/>
          </a:xfrm>
          <a:prstGeom xmlns:a="http://schemas.openxmlformats.org/drawingml/2006/main" prst="roundRect">
            <a:avLst>
              <a:gd name="adj" fmla="val 35265"/>
            </a:avLst>
          </a:prstGeom>
          <a:solidFill xmlns:a="http://schemas.openxmlformats.org/drawingml/2006/main">
            <a:srgbClr val="092925">
              <a:alpha val="96000"/>
            </a:srgbClr>
          </a:solidFill>
        </p:spPr>
      </p:sp>
      <p:sp>
        <p:nvSpPr>
          <p:cNvPr id="6" name="Text 3">
            <a:extLst xmlns:a="http://schemas.openxmlformats.org/drawingml/2006/main">
              <a:ext uri="{FF2B5EF4-FFF2-40B4-BE49-F238E27FC236}">
                <a16:creationId xmlns:a16="http://schemas.microsoft.com/office/drawing/2014/main" id="{1E4C6C20-E97A-45E9-B2C5-221BE1A26D6A}"/>
              </a:ext>
            </a:extLst>
          </p:cNvPr>
          <p:cNvSpPr>
            <a:spLocks xmlns:a="http://schemas.openxmlformats.org/drawingml/2006/main" noGrp="1"/>
          </p:cNvSpPr>
          <p:nvPr/>
        </p:nvSpPr>
        <p:spPr>
          <a:xfrm xmlns:a="http://schemas.openxmlformats.org/drawingml/2006/main">
            <a:off x="704850" y="1185863"/>
            <a:ext cx="2714625"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1"/>
              </a:lnSpc>
              <a:buNone/>
            </a:pPr>
            <a:r>
              <a:rPr sz="1425" b="1">
                <a:solidFill>
                  <a:srgbClr val="4FE3BD">
                    <a:alpha val="99000"/>
                  </a:srgbClr>
                </a:solidFill>
                <a:latin typeface="Inter"/>
                <a:ea typeface="Inter"/>
                <a:cs typeface="Inter"/>
              </a:rPr>
              <a:t>Host + MCP client</a:t>
            </a:r>
            <a:endParaRPr sz="1425"/>
          </a:p>
        </p:txBody>
      </p:sp>
      <p:sp>
        <p:nvSpPr>
          <p:cNvPr id="7" name="Text 4">
            <a:extLst xmlns:a="http://schemas.openxmlformats.org/drawingml/2006/main">
              <a:ext uri="{FF2B5EF4-FFF2-40B4-BE49-F238E27FC236}">
                <a16:creationId xmlns:a16="http://schemas.microsoft.com/office/drawing/2014/main" id="{9A28830F-FCAB-4136-9E1C-C1AE787B8959}"/>
              </a:ext>
            </a:extLst>
          </p:cNvPr>
          <p:cNvSpPr>
            <a:spLocks xmlns:a="http://schemas.openxmlformats.org/drawingml/2006/main" noGrp="1"/>
          </p:cNvSpPr>
          <p:nvPr/>
        </p:nvSpPr>
        <p:spPr>
          <a:xfrm xmlns:a="http://schemas.openxmlformats.org/drawingml/2006/main">
            <a:off x="3571875" y="1185863"/>
            <a:ext cx="4848225" cy="23336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37"/>
              </a:lnSpc>
              <a:buNone/>
            </a:pPr>
            <a:r>
              <a:rPr sz="1389">
                <a:solidFill>
                  <a:srgbClr val="F5FFFA">
                    <a:alpha val="99000"/>
                  </a:srgbClr>
                </a:solidFill>
                <a:latin typeface="Inter"/>
                <a:ea typeface="Inter"/>
                <a:cs typeface="Inter"/>
              </a:rPr>
              <a:t>VS Code Copilot · built-in MCP client</a:t>
            </a:r>
            <a:endParaRPr sz="1389"/>
          </a:p>
        </p:txBody>
      </p:sp>
      <p:sp>
        <p:nvSpPr>
          <p:cNvPr id="8" name="Shape 5">
            <a:extLst xmlns:a="http://schemas.openxmlformats.org/drawingml/2006/main">
              <a:ext uri="{FF2B5EF4-FFF2-40B4-BE49-F238E27FC236}">
                <a16:creationId xmlns:a16="http://schemas.microsoft.com/office/drawing/2014/main" id="{F50AFC67-2BF2-4B4C-8F76-6CFE06CB047F}"/>
              </a:ext>
            </a:extLst>
          </p:cNvPr>
          <p:cNvSpPr>
            <a:spLocks xmlns:a="http://schemas.openxmlformats.org/drawingml/2006/main" noGrp="1"/>
          </p:cNvSpPr>
          <p:nvPr/>
        </p:nvSpPr>
        <p:spPr>
          <a:xfrm xmlns:a="http://schemas.openxmlformats.org/drawingml/2006/main">
            <a:off x="571500" y="2005013"/>
            <a:ext cx="7981950" cy="466725"/>
          </a:xfrm>
          <a:prstGeom xmlns:a="http://schemas.openxmlformats.org/drawingml/2006/main" prst="roundRect">
            <a:avLst>
              <a:gd name="adj" fmla="val 35265"/>
            </a:avLst>
          </a:prstGeom>
          <a:solidFill xmlns:a="http://schemas.openxmlformats.org/drawingml/2006/main">
            <a:srgbClr val="092925">
              <a:alpha val="96000"/>
            </a:srgbClr>
          </a:solidFill>
        </p:spPr>
      </p:sp>
      <p:sp>
        <p:nvSpPr>
          <p:cNvPr id="9" name="Text 6">
            <a:extLst xmlns:a="http://schemas.openxmlformats.org/drawingml/2006/main">
              <a:ext uri="{FF2B5EF4-FFF2-40B4-BE49-F238E27FC236}">
                <a16:creationId xmlns:a16="http://schemas.microsoft.com/office/drawing/2014/main" id="{F3BEE183-AF5B-490C-B457-1DDCEA24A57C}"/>
              </a:ext>
            </a:extLst>
          </p:cNvPr>
          <p:cNvSpPr>
            <a:spLocks xmlns:a="http://schemas.openxmlformats.org/drawingml/2006/main" noGrp="1"/>
          </p:cNvSpPr>
          <p:nvPr/>
        </p:nvSpPr>
        <p:spPr>
          <a:xfrm xmlns:a="http://schemas.openxmlformats.org/drawingml/2006/main">
            <a:off x="704850" y="2119313"/>
            <a:ext cx="2714625"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1"/>
              </a:lnSpc>
              <a:buNone/>
            </a:pPr>
            <a:r>
              <a:rPr sz="1425" b="1">
                <a:solidFill>
                  <a:srgbClr val="4FE3BD">
                    <a:alpha val="99000"/>
                  </a:srgbClr>
                </a:solidFill>
                <a:latin typeface="Inter"/>
                <a:ea typeface="Inter"/>
                <a:cs typeface="Inter"/>
              </a:rPr>
              <a:t>starter/mcp_server_sdk.py</a:t>
            </a:r>
            <a:endParaRPr sz="1425"/>
          </a:p>
        </p:txBody>
      </p:sp>
      <p:sp>
        <p:nvSpPr>
          <p:cNvPr id="10" name="Text 7">
            <a:extLst xmlns:a="http://schemas.openxmlformats.org/drawingml/2006/main">
              <a:ext uri="{FF2B5EF4-FFF2-40B4-BE49-F238E27FC236}">
                <a16:creationId xmlns:a16="http://schemas.microsoft.com/office/drawing/2014/main" id="{7A50B2E7-0BDB-4BFA-AC52-E454B6AB1408}"/>
              </a:ext>
            </a:extLst>
          </p:cNvPr>
          <p:cNvSpPr>
            <a:spLocks xmlns:a="http://schemas.openxmlformats.org/drawingml/2006/main" noGrp="1"/>
          </p:cNvSpPr>
          <p:nvPr/>
        </p:nvSpPr>
        <p:spPr>
          <a:xfrm xmlns:a="http://schemas.openxmlformats.org/drawingml/2006/main">
            <a:off x="3571875" y="2119313"/>
            <a:ext cx="4848225" cy="23336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37"/>
              </a:lnSpc>
              <a:buNone/>
            </a:pPr>
            <a:r>
              <a:rPr sz="1389">
                <a:solidFill>
                  <a:srgbClr val="F5FFFA">
                    <a:alpha val="99000"/>
                  </a:srgbClr>
                </a:solidFill>
                <a:latin typeface="Inter"/>
                <a:ea typeface="Inter"/>
                <a:cs typeface="Inter"/>
              </a:rPr>
              <a:t>Tool definitions and the Python SDK</a:t>
            </a:r>
            <a:endParaRPr sz="1389"/>
          </a:p>
        </p:txBody>
      </p:sp>
      <p:sp>
        <p:nvSpPr>
          <p:cNvPr id="11" name="Shape 8">
            <a:extLst xmlns:a="http://schemas.openxmlformats.org/drawingml/2006/main">
              <a:ext uri="{FF2B5EF4-FFF2-40B4-BE49-F238E27FC236}">
                <a16:creationId xmlns:a16="http://schemas.microsoft.com/office/drawing/2014/main" id="{CD733FC6-9D74-4C53-9041-10646A589BBC}"/>
              </a:ext>
            </a:extLst>
          </p:cNvPr>
          <p:cNvSpPr>
            <a:spLocks xmlns:a="http://schemas.openxmlformats.org/drawingml/2006/main" noGrp="1"/>
          </p:cNvSpPr>
          <p:nvPr/>
        </p:nvSpPr>
        <p:spPr>
          <a:xfrm xmlns:a="http://schemas.openxmlformats.org/drawingml/2006/main">
            <a:off x="571500" y="2938463"/>
            <a:ext cx="7981950" cy="466725"/>
          </a:xfrm>
          <a:prstGeom xmlns:a="http://schemas.openxmlformats.org/drawingml/2006/main" prst="roundRect">
            <a:avLst>
              <a:gd name="adj" fmla="val 35265"/>
            </a:avLst>
          </a:prstGeom>
          <a:solidFill xmlns:a="http://schemas.openxmlformats.org/drawingml/2006/main">
            <a:srgbClr val="092925">
              <a:alpha val="96000"/>
            </a:srgbClr>
          </a:solidFill>
        </p:spPr>
      </p:sp>
      <p:sp>
        <p:nvSpPr>
          <p:cNvPr id="12" name="Text 9">
            <a:extLst xmlns:a="http://schemas.openxmlformats.org/drawingml/2006/main">
              <a:ext uri="{FF2B5EF4-FFF2-40B4-BE49-F238E27FC236}">
                <a16:creationId xmlns:a16="http://schemas.microsoft.com/office/drawing/2014/main" id="{0D057F7C-1A90-49AC-8224-1313085A578C}"/>
              </a:ext>
            </a:extLst>
          </p:cNvPr>
          <p:cNvSpPr>
            <a:spLocks xmlns:a="http://schemas.openxmlformats.org/drawingml/2006/main" noGrp="1"/>
          </p:cNvSpPr>
          <p:nvPr/>
        </p:nvSpPr>
        <p:spPr>
          <a:xfrm xmlns:a="http://schemas.openxmlformats.org/drawingml/2006/main">
            <a:off x="704850" y="3052763"/>
            <a:ext cx="2714625"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1"/>
              </a:lnSpc>
              <a:buNone/>
            </a:pPr>
            <a:r>
              <a:rPr sz="1425" b="1">
                <a:solidFill>
                  <a:srgbClr val="4FE3BD">
                    <a:alpha val="99000"/>
                  </a:srgbClr>
                </a:solidFill>
                <a:latin typeface="Inter"/>
                <a:ea typeface="Inter"/>
                <a:cs typeface="Inter"/>
              </a:rPr>
              <a:t>call_daw()</a:t>
            </a:r>
            <a:endParaRPr sz="1425"/>
          </a:p>
        </p:txBody>
      </p:sp>
      <p:sp>
        <p:nvSpPr>
          <p:cNvPr id="13" name="Text 10">
            <a:extLst xmlns:a="http://schemas.openxmlformats.org/drawingml/2006/main">
              <a:ext uri="{FF2B5EF4-FFF2-40B4-BE49-F238E27FC236}">
                <a16:creationId xmlns:a16="http://schemas.microsoft.com/office/drawing/2014/main" id="{4FD37A79-D5A2-48E7-BC19-B3459195288C}"/>
              </a:ext>
            </a:extLst>
          </p:cNvPr>
          <p:cNvSpPr>
            <a:spLocks xmlns:a="http://schemas.openxmlformats.org/drawingml/2006/main" noGrp="1"/>
          </p:cNvSpPr>
          <p:nvPr/>
        </p:nvSpPr>
        <p:spPr>
          <a:xfrm xmlns:a="http://schemas.openxmlformats.org/drawingml/2006/main">
            <a:off x="3571875" y="3052763"/>
            <a:ext cx="4848225" cy="23336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37"/>
              </a:lnSpc>
              <a:buNone/>
            </a:pPr>
            <a:r>
              <a:rPr sz="1389">
                <a:solidFill>
                  <a:srgbClr val="F5FFFA">
                    <a:alpha val="99000"/>
                  </a:srgbClr>
                </a:solidFill>
                <a:latin typeface="Inter"/>
                <a:ea typeface="Inter"/>
                <a:cs typeface="Inter"/>
              </a:rPr>
              <a:t>Backend adapter</a:t>
            </a:r>
            <a:endParaRPr sz="1389"/>
          </a:p>
        </p:txBody>
      </p:sp>
      <p:sp>
        <p:nvSpPr>
          <p:cNvPr id="14" name="Shape 11">
            <a:extLst xmlns:a="http://schemas.openxmlformats.org/drawingml/2006/main">
              <a:ext uri="{FF2B5EF4-FFF2-40B4-BE49-F238E27FC236}">
                <a16:creationId xmlns:a16="http://schemas.microsoft.com/office/drawing/2014/main" id="{9E53205A-A65B-49DC-9C3F-BBD4DB612FEE}"/>
              </a:ext>
            </a:extLst>
          </p:cNvPr>
          <p:cNvSpPr>
            <a:spLocks xmlns:a="http://schemas.openxmlformats.org/drawingml/2006/main" noGrp="1"/>
          </p:cNvSpPr>
          <p:nvPr/>
        </p:nvSpPr>
        <p:spPr>
          <a:xfrm xmlns:a="http://schemas.openxmlformats.org/drawingml/2006/main">
            <a:off x="571500" y="3871913"/>
            <a:ext cx="7981950" cy="466725"/>
          </a:xfrm>
          <a:prstGeom xmlns:a="http://schemas.openxmlformats.org/drawingml/2006/main" prst="roundRect">
            <a:avLst>
              <a:gd name="adj" fmla="val 35265"/>
            </a:avLst>
          </a:prstGeom>
          <a:solidFill xmlns:a="http://schemas.openxmlformats.org/drawingml/2006/main">
            <a:srgbClr val="092925">
              <a:alpha val="96000"/>
            </a:srgbClr>
          </a:solidFill>
        </p:spPr>
      </p:sp>
      <p:sp>
        <p:nvSpPr>
          <p:cNvPr id="15" name="Text 12">
            <a:extLst xmlns:a="http://schemas.openxmlformats.org/drawingml/2006/main">
              <a:ext uri="{FF2B5EF4-FFF2-40B4-BE49-F238E27FC236}">
                <a16:creationId xmlns:a16="http://schemas.microsoft.com/office/drawing/2014/main" id="{E8E8D586-368E-45A8-AD51-D8E513D7718C}"/>
              </a:ext>
            </a:extLst>
          </p:cNvPr>
          <p:cNvSpPr>
            <a:spLocks xmlns:a="http://schemas.openxmlformats.org/drawingml/2006/main" noGrp="1"/>
          </p:cNvSpPr>
          <p:nvPr/>
        </p:nvSpPr>
        <p:spPr>
          <a:xfrm xmlns:a="http://schemas.openxmlformats.org/drawingml/2006/main">
            <a:off x="704850" y="3986213"/>
            <a:ext cx="2714625"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1"/>
              </a:lnSpc>
              <a:buNone/>
            </a:pPr>
            <a:r>
              <a:rPr sz="1425" b="1">
                <a:solidFill>
                  <a:srgbClr val="4FE3BD">
                    <a:alpha val="99000"/>
                  </a:srgbClr>
                </a:solidFill>
                <a:latin typeface="Inter"/>
                <a:ea typeface="Inter"/>
                <a:cs typeface="Inter"/>
              </a:rPr>
              <a:t>app.py</a:t>
            </a:r>
            <a:endParaRPr sz="1425"/>
          </a:p>
        </p:txBody>
      </p:sp>
      <p:sp>
        <p:nvSpPr>
          <p:cNvPr id="16" name="Text 13">
            <a:extLst xmlns:a="http://schemas.openxmlformats.org/drawingml/2006/main">
              <a:ext uri="{FF2B5EF4-FFF2-40B4-BE49-F238E27FC236}">
                <a16:creationId xmlns:a16="http://schemas.microsoft.com/office/drawing/2014/main" id="{E8E239B0-4976-4587-B75F-E71BB17A3648}"/>
              </a:ext>
            </a:extLst>
          </p:cNvPr>
          <p:cNvSpPr>
            <a:spLocks xmlns:a="http://schemas.openxmlformats.org/drawingml/2006/main" noGrp="1"/>
          </p:cNvSpPr>
          <p:nvPr/>
        </p:nvSpPr>
        <p:spPr>
          <a:xfrm xmlns:a="http://schemas.openxmlformats.org/drawingml/2006/main">
            <a:off x="3571875" y="3986213"/>
            <a:ext cx="4848225" cy="23336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37"/>
              </a:lnSpc>
              <a:buNone/>
            </a:pPr>
            <a:r>
              <a:rPr sz="1389">
                <a:solidFill>
                  <a:srgbClr val="F5FFFA">
                    <a:alpha val="99000"/>
                  </a:srgbClr>
                </a:solidFill>
                <a:latin typeface="Inter"/>
                <a:ea typeface="Inter"/>
                <a:cs typeface="Inter"/>
              </a:rPr>
              <a:t>Music Application · UI and audio</a:t>
            </a:r>
            <a:endParaRPr sz="1389"/>
          </a:p>
        </p:txBody>
      </p:sp>
      <p:sp>
        <p:nvSpPr>
          <p:cNvPr id="17" name="Text 14">
            <a:extLst xmlns:a="http://schemas.openxmlformats.org/drawingml/2006/main">
              <a:ext uri="{FF2B5EF4-FFF2-40B4-BE49-F238E27FC236}">
                <a16:creationId xmlns:a16="http://schemas.microsoft.com/office/drawing/2014/main" id="{279E14A0-0FC4-4DE4-901B-D87A233A9161}"/>
              </a:ext>
            </a:extLst>
          </p:cNvPr>
          <p:cNvSpPr>
            <a:spLocks xmlns:a="http://schemas.openxmlformats.org/drawingml/2006/main" noGrp="1"/>
          </p:cNvSpPr>
          <p:nvPr/>
        </p:nvSpPr>
        <p:spPr>
          <a:xfrm xmlns:a="http://schemas.openxmlformats.org/drawingml/2006/main">
            <a:off x="833438" y="1700213"/>
            <a:ext cx="76200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59"/>
              </a:lnSpc>
              <a:buNone/>
            </a:pPr>
            <a:r>
              <a:rPr sz="1247">
                <a:solidFill>
                  <a:srgbClr val="4FE3BD">
                    <a:alpha val="99000"/>
                  </a:srgbClr>
                </a:solidFill>
                <a:latin typeface="Inter"/>
                <a:ea typeface="Inter"/>
                <a:cs typeface="Inter"/>
              </a:rPr>
              <a:t>↓  Client ↔ server: MCP over stdio</a:t>
            </a:r>
            <a:endParaRPr sz="1247"/>
          </a:p>
        </p:txBody>
      </p:sp>
      <p:sp>
        <p:nvSpPr>
          <p:cNvPr id="18" name="Text 15">
            <a:extLst xmlns:a="http://schemas.openxmlformats.org/drawingml/2006/main">
              <a:ext uri="{FF2B5EF4-FFF2-40B4-BE49-F238E27FC236}">
                <a16:creationId xmlns:a16="http://schemas.microsoft.com/office/drawing/2014/main" id="{3906E0FE-E036-450D-BA65-26F34EBC6582}"/>
              </a:ext>
            </a:extLst>
          </p:cNvPr>
          <p:cNvSpPr>
            <a:spLocks xmlns:a="http://schemas.openxmlformats.org/drawingml/2006/main" noGrp="1"/>
          </p:cNvSpPr>
          <p:nvPr/>
        </p:nvSpPr>
        <p:spPr>
          <a:xfrm xmlns:a="http://schemas.openxmlformats.org/drawingml/2006/main">
            <a:off x="833438" y="2633663"/>
            <a:ext cx="76200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59"/>
              </a:lnSpc>
              <a:buNone/>
            </a:pPr>
            <a:r>
              <a:rPr sz="1247">
                <a:solidFill>
                  <a:srgbClr val="4FE3BD">
                    <a:alpha val="99000"/>
                  </a:srgbClr>
                </a:solidFill>
                <a:latin typeface="Inter"/>
                <a:ea typeface="Inter"/>
                <a:cs typeface="Inter"/>
              </a:rPr>
              <a:t>↓  Tool function → adapter: Python function call</a:t>
            </a:r>
            <a:endParaRPr sz="1247"/>
          </a:p>
        </p:txBody>
      </p:sp>
      <p:sp>
        <p:nvSpPr>
          <p:cNvPr id="19" name="Text 16">
            <a:extLst xmlns:a="http://schemas.openxmlformats.org/drawingml/2006/main">
              <a:ext uri="{FF2B5EF4-FFF2-40B4-BE49-F238E27FC236}">
                <a16:creationId xmlns:a16="http://schemas.microsoft.com/office/drawing/2014/main" id="{D5C2CC26-737A-4039-A85A-8A375DC3F9C0}"/>
              </a:ext>
            </a:extLst>
          </p:cNvPr>
          <p:cNvSpPr>
            <a:spLocks xmlns:a="http://schemas.openxmlformats.org/drawingml/2006/main" noGrp="1"/>
          </p:cNvSpPr>
          <p:nvPr/>
        </p:nvSpPr>
        <p:spPr>
          <a:xfrm xmlns:a="http://schemas.openxmlformats.org/drawingml/2006/main">
            <a:off x="833438" y="3567113"/>
            <a:ext cx="76200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59"/>
              </a:lnSpc>
              <a:buNone/>
            </a:pPr>
            <a:r>
              <a:rPr sz="1247">
                <a:solidFill>
                  <a:srgbClr val="4FE3BD">
                    <a:alpha val="99000"/>
                  </a:srgbClr>
                </a:solidFill>
                <a:latin typeface="Inter"/>
                <a:ea typeface="Inter"/>
                <a:cs typeface="Inter"/>
              </a:rPr>
              <a:t>↓  Adapter ↔ app: newline-delimited JSON over the local socket</a:t>
            </a:r>
            <a:endParaRPr sz="1247"/>
          </a:p>
        </p:txBody>
      </p:sp>
      <p:sp>
        <p:nvSpPr>
          <p:cNvPr id="20" name="Text 17">
            <a:extLst xmlns:a="http://schemas.openxmlformats.org/drawingml/2006/main">
              <a:ext uri="{FF2B5EF4-FFF2-40B4-BE49-F238E27FC236}">
                <a16:creationId xmlns:a16="http://schemas.microsoft.com/office/drawing/2014/main" id="{1B6A44CA-5804-41FF-83EE-FA59FEC1E348}"/>
              </a:ext>
            </a:extLst>
          </p:cNvPr>
          <p:cNvSpPr>
            <a:spLocks xmlns:a="http://schemas.openxmlformats.org/drawingml/2006/main" noGrp="1"/>
          </p:cNvSpPr>
          <p:nvPr/>
        </p:nvSpPr>
        <p:spPr>
          <a:xfrm xmlns:a="http://schemas.openxmlformats.org/drawingml/2006/main">
            <a:off x="8310562" y="4862513"/>
            <a:ext cx="619125" cy="1428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69"/>
              </a:lnSpc>
              <a:buNone/>
            </a:pPr>
            <a:r>
              <a:rPr sz="855">
                <a:solidFill>
                  <a:srgbClr val="BAD9CF">
                    <a:alpha val="99000"/>
                  </a:srgbClr>
                </a:solidFill>
                <a:latin typeface="Inter"/>
                <a:ea typeface="Inter"/>
                <a:cs typeface="Inter"/>
              </a:rPr>
              <a:t>14 / 29</a:t>
            </a:r>
            <a:endParaRPr sz="855"/>
          </a:p>
        </p:txBody>
      </p:sp>
    </p:spTree>
    <p:extLst>
      <p:ext uri="{BB962C8B-B14F-4D97-AF65-F5344CB8AC3E}">
        <p14:creationId xmlns:p14="http://schemas.microsoft.com/office/powerpoint/2010/main" val="1339668503"/>
      </p:ext>
    </p:extLst>
  </p:cSld>
</p:sld>
</file>

<file path=ppt/slides/slide15.xml><?xml version="1.0" encoding="utf-8"?>
<p:sld xmlns:p="http://schemas.openxmlformats.org/presentationml/2006/main">
  <p:cSld>
    <p:bg>
      <p:bgPr>
        <a:blipFill xmlns:a="http://schemas.openxmlformats.org/drawingml/2006/main" rotWithShape="1">
          <a:blip xmlns:r="http://schemas.openxmlformats.org/officeDocument/2006/relationships" r:embed="Rfc05237a483c4ac4">
            <a:lum/>
          </a:blip>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DB598D37-8CFE-44FB-9164-0BFFA0B81A89}"/>
              </a:ext>
            </a:extLst>
          </p:cNvPr>
          <p:cNvSpPr>
            <a:spLocks xmlns:a="http://schemas.openxmlformats.org/drawingml/2006/main" noGrp="1"/>
          </p:cNvSpPr>
          <p:nvPr/>
        </p:nvSpPr>
        <p:spPr>
          <a:xfrm xmlns:a="http://schemas.openxmlformats.org/drawingml/2006/main">
            <a:off x="571500" y="304800"/>
            <a:ext cx="8001000" cy="4191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117"/>
              </a:lnSpc>
              <a:buNone/>
            </a:pPr>
            <a:r>
              <a:rPr sz="2494" b="1">
                <a:solidFill>
                  <a:srgbClr val="F5FFFA">
                    <a:alpha val="99000"/>
                  </a:srgbClr>
                </a:solidFill>
                <a:latin typeface="Inter"/>
                <a:ea typeface="Inter"/>
                <a:cs typeface="Inter"/>
              </a:rPr>
              <a:t>Activity map: where we edit</a:t>
            </a:r>
            <a:endParaRPr sz="2494"/>
          </a:p>
        </p:txBody>
      </p:sp>
      <p:sp>
        <p:nvSpPr>
          <p:cNvPr id="4" name="Shape 1">
            <a:extLst xmlns:a="http://schemas.openxmlformats.org/drawingml/2006/main">
              <a:ext uri="{FF2B5EF4-FFF2-40B4-BE49-F238E27FC236}">
                <a16:creationId xmlns:a16="http://schemas.microsoft.com/office/drawing/2014/main" id="{4CC58E61-9D53-454E-AD84-93B475CD81FE}"/>
              </a:ext>
            </a:extLst>
          </p:cNvPr>
          <p:cNvSpPr>
            <a:spLocks xmlns:a="http://schemas.openxmlformats.org/drawingml/2006/main" noGrp="1"/>
          </p:cNvSpPr>
          <p:nvPr/>
        </p:nvSpPr>
        <p:spPr>
          <a:xfrm xmlns:a="http://schemas.openxmlformats.org/drawingml/2006/main">
            <a:off x="581025" y="838200"/>
            <a:ext cx="523875" cy="33338"/>
          </a:xfrm>
          <a:prstGeom xmlns:a="http://schemas.openxmlformats.org/drawingml/2006/main" prst="rect">
            <a:avLst/>
          </a:prstGeom>
          <a:solidFill xmlns:a="http://schemas.openxmlformats.org/drawingml/2006/main">
            <a:srgbClr val="4FE3BD"/>
          </a:solidFill>
        </p:spPr>
      </p:sp>
      <p:sp>
        <p:nvSpPr>
          <p:cNvPr id="5" name="Shape 2">
            <a:extLst xmlns:a="http://schemas.openxmlformats.org/drawingml/2006/main">
              <a:ext uri="{FF2B5EF4-FFF2-40B4-BE49-F238E27FC236}">
                <a16:creationId xmlns:a16="http://schemas.microsoft.com/office/drawing/2014/main" id="{01B381B1-2593-4D52-8F99-6A5B72402EB5}"/>
              </a:ext>
            </a:extLst>
          </p:cNvPr>
          <p:cNvSpPr>
            <a:spLocks xmlns:a="http://schemas.openxmlformats.org/drawingml/2006/main" noGrp="1"/>
          </p:cNvSpPr>
          <p:nvPr/>
        </p:nvSpPr>
        <p:spPr>
          <a:xfrm xmlns:a="http://schemas.openxmlformats.org/drawingml/2006/main">
            <a:off x="571500" y="1309688"/>
            <a:ext cx="8001000" cy="2243138"/>
          </a:xfrm>
          <a:prstGeom xmlns:a="http://schemas.openxmlformats.org/drawingml/2006/main" prst="rect">
            <a:avLst/>
          </a:prstGeom>
          <a:noFill xmlns:a="http://schemas.openxmlformats.org/drawingml/2006/main"/>
        </p:spPr>
      </p:sp>
      <p:sp>
        <p:nvSpPr>
          <p:cNvPr id="6" name="Shape 3">
            <a:extLst xmlns:a="http://schemas.openxmlformats.org/drawingml/2006/main">
              <a:ext uri="{FF2B5EF4-FFF2-40B4-BE49-F238E27FC236}">
                <a16:creationId xmlns:a16="http://schemas.microsoft.com/office/drawing/2014/main" id="{620DCAAE-12C5-4F5F-BDA5-8074E2D76CBB}"/>
              </a:ext>
            </a:extLst>
          </p:cNvPr>
          <p:cNvSpPr>
            <a:spLocks xmlns:a="http://schemas.openxmlformats.org/drawingml/2006/main" noGrp="1"/>
          </p:cNvSpPr>
          <p:nvPr/>
        </p:nvSpPr>
        <p:spPr>
          <a:xfrm xmlns:a="http://schemas.openxmlformats.org/drawingml/2006/main">
            <a:off x="571500" y="1309688"/>
            <a:ext cx="8001000" cy="433388"/>
          </a:xfrm>
          <a:prstGeom xmlns:a="http://schemas.openxmlformats.org/drawingml/2006/main" prst="rect">
            <a:avLst/>
          </a:prstGeom>
          <a:solidFill xmlns:a="http://schemas.openxmlformats.org/drawingml/2006/main">
            <a:srgbClr val="267863"/>
          </a:solidFill>
        </p:spPr>
      </p:sp>
      <p:sp>
        <p:nvSpPr>
          <p:cNvPr id="7" name="Text 4">
            <a:extLst xmlns:a="http://schemas.openxmlformats.org/drawingml/2006/main">
              <a:ext uri="{FF2B5EF4-FFF2-40B4-BE49-F238E27FC236}">
                <a16:creationId xmlns:a16="http://schemas.microsoft.com/office/drawing/2014/main" id="{0143FDEE-4F6F-4F3F-85D7-BD70E2137351}"/>
              </a:ext>
            </a:extLst>
          </p:cNvPr>
          <p:cNvSpPr>
            <a:spLocks xmlns:a="http://schemas.openxmlformats.org/drawingml/2006/main" noGrp="1"/>
          </p:cNvSpPr>
          <p:nvPr/>
        </p:nvSpPr>
        <p:spPr>
          <a:xfrm xmlns:a="http://schemas.openxmlformats.org/drawingml/2006/main">
            <a:off x="676275" y="1404938"/>
            <a:ext cx="2952750" cy="2428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26"/>
              </a:lnSpc>
              <a:buNone/>
            </a:pPr>
            <a:r>
              <a:rPr sz="1461" b="1">
                <a:solidFill>
                  <a:srgbClr val="4FE3BD">
                    <a:alpha val="99000"/>
                  </a:srgbClr>
                </a:solidFill>
                <a:latin typeface="Inter"/>
                <a:ea typeface="Inter"/>
                <a:cs typeface="Inter"/>
              </a:rPr>
              <a:t>File</a:t>
            </a:r>
            <a:endParaRPr sz="1461"/>
          </a:p>
        </p:txBody>
      </p:sp>
      <p:sp>
        <p:nvSpPr>
          <p:cNvPr id="8" name="Text 5">
            <a:extLst xmlns:a="http://schemas.openxmlformats.org/drawingml/2006/main">
              <a:ext uri="{FF2B5EF4-FFF2-40B4-BE49-F238E27FC236}">
                <a16:creationId xmlns:a16="http://schemas.microsoft.com/office/drawing/2014/main" id="{2DE35F33-5FE1-439E-933B-556DE83585F8}"/>
              </a:ext>
            </a:extLst>
          </p:cNvPr>
          <p:cNvSpPr>
            <a:spLocks xmlns:a="http://schemas.openxmlformats.org/drawingml/2006/main" noGrp="1"/>
          </p:cNvSpPr>
          <p:nvPr/>
        </p:nvSpPr>
        <p:spPr>
          <a:xfrm xmlns:a="http://schemas.openxmlformats.org/drawingml/2006/main">
            <a:off x="3629025" y="1404938"/>
            <a:ext cx="4838700" cy="2428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26"/>
              </a:lnSpc>
              <a:buNone/>
            </a:pPr>
            <a:r>
              <a:rPr sz="1461" b="1">
                <a:solidFill>
                  <a:srgbClr val="4FE3BD">
                    <a:alpha val="99000"/>
                  </a:srgbClr>
                </a:solidFill>
                <a:latin typeface="Inter"/>
                <a:ea typeface="Inter"/>
                <a:cs typeface="Inter"/>
              </a:rPr>
              <a:t>Workshop step</a:t>
            </a:r>
            <a:endParaRPr sz="1461"/>
          </a:p>
        </p:txBody>
      </p:sp>
      <p:sp>
        <p:nvSpPr>
          <p:cNvPr id="9" name="Shape 6">
            <a:extLst xmlns:a="http://schemas.openxmlformats.org/drawingml/2006/main">
              <a:ext uri="{FF2B5EF4-FFF2-40B4-BE49-F238E27FC236}">
                <a16:creationId xmlns:a16="http://schemas.microsoft.com/office/drawing/2014/main" id="{B56C3E45-FE08-458C-98A7-7CC76E0844EC}"/>
              </a:ext>
            </a:extLst>
          </p:cNvPr>
          <p:cNvSpPr>
            <a:spLocks xmlns:a="http://schemas.openxmlformats.org/drawingml/2006/main" noGrp="1"/>
          </p:cNvSpPr>
          <p:nvPr/>
        </p:nvSpPr>
        <p:spPr>
          <a:xfrm xmlns:a="http://schemas.openxmlformats.org/drawingml/2006/main">
            <a:off x="571500" y="1762125"/>
            <a:ext cx="8001000" cy="433388"/>
          </a:xfrm>
          <a:prstGeom xmlns:a="http://schemas.openxmlformats.org/drawingml/2006/main" prst="rect">
            <a:avLst/>
          </a:prstGeom>
          <a:solidFill xmlns:a="http://schemas.openxmlformats.org/drawingml/2006/main">
            <a:srgbClr val="092925">
              <a:alpha val="94000"/>
            </a:srgbClr>
          </a:solidFill>
        </p:spPr>
      </p:sp>
      <p:sp>
        <p:nvSpPr>
          <p:cNvPr id="10" name="Text 7">
            <a:extLst xmlns:a="http://schemas.openxmlformats.org/drawingml/2006/main">
              <a:ext uri="{FF2B5EF4-FFF2-40B4-BE49-F238E27FC236}">
                <a16:creationId xmlns:a16="http://schemas.microsoft.com/office/drawing/2014/main" id="{E3A57AF6-0997-488D-A2FF-8FEF1F9C1A99}"/>
              </a:ext>
            </a:extLst>
          </p:cNvPr>
          <p:cNvSpPr>
            <a:spLocks xmlns:a="http://schemas.openxmlformats.org/drawingml/2006/main" noGrp="1"/>
          </p:cNvSpPr>
          <p:nvPr/>
        </p:nvSpPr>
        <p:spPr>
          <a:xfrm xmlns:a="http://schemas.openxmlformats.org/drawingml/2006/main">
            <a:off x="676275" y="1857375"/>
            <a:ext cx="2952750" cy="2428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26"/>
              </a:lnSpc>
              <a:buNone/>
            </a:pPr>
            <a:r>
              <a:rPr sz="1461">
                <a:solidFill>
                  <a:srgbClr val="F5FFFA">
                    <a:alpha val="99000"/>
                  </a:srgbClr>
                </a:solidFill>
                <a:latin typeface="Inter"/>
                <a:ea typeface="Inter"/>
                <a:cs typeface="Inter"/>
              </a:rPr>
              <a:t>.vscode/mcp.json</a:t>
            </a:r>
            <a:endParaRPr sz="1461"/>
          </a:p>
        </p:txBody>
      </p:sp>
      <p:sp>
        <p:nvSpPr>
          <p:cNvPr id="11" name="Text 8">
            <a:extLst xmlns:a="http://schemas.openxmlformats.org/drawingml/2006/main">
              <a:ext uri="{FF2B5EF4-FFF2-40B4-BE49-F238E27FC236}">
                <a16:creationId xmlns:a16="http://schemas.microsoft.com/office/drawing/2014/main" id="{FCD0C880-29B6-4164-AE82-E4974D687EAA}"/>
              </a:ext>
            </a:extLst>
          </p:cNvPr>
          <p:cNvSpPr>
            <a:spLocks xmlns:a="http://schemas.openxmlformats.org/drawingml/2006/main" noGrp="1"/>
          </p:cNvSpPr>
          <p:nvPr/>
        </p:nvSpPr>
        <p:spPr>
          <a:xfrm xmlns:a="http://schemas.openxmlformats.org/drawingml/2006/main">
            <a:off x="3629025" y="1857375"/>
            <a:ext cx="4838700" cy="2428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26"/>
              </a:lnSpc>
              <a:buNone/>
            </a:pPr>
            <a:r>
              <a:rPr sz="1461">
                <a:solidFill>
                  <a:srgbClr val="F5FFFA">
                    <a:alpha val="99000"/>
                  </a:srgbClr>
                </a:solidFill>
                <a:latin typeface="Inter"/>
                <a:ea typeface="Inter"/>
                <a:cs typeface="Inter"/>
              </a:rPr>
              <a:t>CONNECT · slide 21: interpreter + starter path</a:t>
            </a:r>
            <a:endParaRPr sz="1461"/>
          </a:p>
        </p:txBody>
      </p:sp>
      <p:sp>
        <p:nvSpPr>
          <p:cNvPr id="12" name="Shape 9">
            <a:extLst xmlns:a="http://schemas.openxmlformats.org/drawingml/2006/main">
              <a:ext uri="{FF2B5EF4-FFF2-40B4-BE49-F238E27FC236}">
                <a16:creationId xmlns:a16="http://schemas.microsoft.com/office/drawing/2014/main" id="{0A7DFD98-C487-4B59-82D9-18EE33339CAA}"/>
              </a:ext>
            </a:extLst>
          </p:cNvPr>
          <p:cNvSpPr>
            <a:spLocks xmlns:a="http://schemas.openxmlformats.org/drawingml/2006/main" noGrp="1"/>
          </p:cNvSpPr>
          <p:nvPr/>
        </p:nvSpPr>
        <p:spPr>
          <a:xfrm xmlns:a="http://schemas.openxmlformats.org/drawingml/2006/main">
            <a:off x="571500" y="2214563"/>
            <a:ext cx="8001000" cy="433388"/>
          </a:xfrm>
          <a:prstGeom xmlns:a="http://schemas.openxmlformats.org/drawingml/2006/main" prst="rect">
            <a:avLst/>
          </a:prstGeom>
          <a:solidFill xmlns:a="http://schemas.openxmlformats.org/drawingml/2006/main">
            <a:srgbClr val="092925">
              <a:alpha val="94000"/>
            </a:srgbClr>
          </a:solidFill>
        </p:spPr>
      </p:sp>
      <p:sp>
        <p:nvSpPr>
          <p:cNvPr id="13" name="Text 10">
            <a:extLst xmlns:a="http://schemas.openxmlformats.org/drawingml/2006/main">
              <a:ext uri="{FF2B5EF4-FFF2-40B4-BE49-F238E27FC236}">
                <a16:creationId xmlns:a16="http://schemas.microsoft.com/office/drawing/2014/main" id="{103B4048-E1F8-48A8-A461-20386DCA1C17}"/>
              </a:ext>
            </a:extLst>
          </p:cNvPr>
          <p:cNvSpPr>
            <a:spLocks xmlns:a="http://schemas.openxmlformats.org/drawingml/2006/main" noGrp="1"/>
          </p:cNvSpPr>
          <p:nvPr/>
        </p:nvSpPr>
        <p:spPr>
          <a:xfrm xmlns:a="http://schemas.openxmlformats.org/drawingml/2006/main">
            <a:off x="676275" y="2309813"/>
            <a:ext cx="2952750" cy="2428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26"/>
              </a:lnSpc>
              <a:buNone/>
            </a:pPr>
            <a:r>
              <a:rPr sz="1461">
                <a:solidFill>
                  <a:srgbClr val="F5FFFA">
                    <a:alpha val="99000"/>
                  </a:srgbClr>
                </a:solidFill>
                <a:latin typeface="Inter"/>
                <a:ea typeface="Inter"/>
                <a:cs typeface="Inter"/>
              </a:rPr>
              <a:t>workshop/starter/</a:t>
            </a:r>
            <a:endParaRPr sz="1461"/>
          </a:p>
        </p:txBody>
      </p:sp>
      <p:sp>
        <p:nvSpPr>
          <p:cNvPr id="14" name="Text 11">
            <a:extLst xmlns:a="http://schemas.openxmlformats.org/drawingml/2006/main">
              <a:ext uri="{FF2B5EF4-FFF2-40B4-BE49-F238E27FC236}">
                <a16:creationId xmlns:a16="http://schemas.microsoft.com/office/drawing/2014/main" id="{6BE458CD-CC9C-45E2-8689-2A6DAC284854}"/>
              </a:ext>
            </a:extLst>
          </p:cNvPr>
          <p:cNvSpPr>
            <a:spLocks xmlns:a="http://schemas.openxmlformats.org/drawingml/2006/main" noGrp="1"/>
          </p:cNvSpPr>
          <p:nvPr/>
        </p:nvSpPr>
        <p:spPr>
          <a:xfrm xmlns:a="http://schemas.openxmlformats.org/drawingml/2006/main">
            <a:off x="3629025" y="2309813"/>
            <a:ext cx="4838700" cy="2428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26"/>
              </a:lnSpc>
              <a:buNone/>
            </a:pPr>
            <a:r>
              <a:rPr sz="1461">
                <a:solidFill>
                  <a:srgbClr val="F5FFFA">
                    <a:alpha val="99000"/>
                  </a:srgbClr>
                </a:solidFill>
                <a:latin typeface="Inter"/>
                <a:ea typeface="Inter"/>
                <a:cs typeface="Inter"/>
              </a:rPr>
              <a:t>BUILD · slide 20: edit mcp_server_sdk.py</a:t>
            </a:r>
            <a:endParaRPr sz="1461"/>
          </a:p>
        </p:txBody>
      </p:sp>
      <p:sp>
        <p:nvSpPr>
          <p:cNvPr id="15" name="Shape 12">
            <a:extLst xmlns:a="http://schemas.openxmlformats.org/drawingml/2006/main">
              <a:ext uri="{FF2B5EF4-FFF2-40B4-BE49-F238E27FC236}">
                <a16:creationId xmlns:a16="http://schemas.microsoft.com/office/drawing/2014/main" id="{42892318-A0DE-44A1-B6DF-0ED450E45618}"/>
              </a:ext>
            </a:extLst>
          </p:cNvPr>
          <p:cNvSpPr>
            <a:spLocks xmlns:a="http://schemas.openxmlformats.org/drawingml/2006/main" noGrp="1"/>
          </p:cNvSpPr>
          <p:nvPr/>
        </p:nvSpPr>
        <p:spPr>
          <a:xfrm xmlns:a="http://schemas.openxmlformats.org/drawingml/2006/main">
            <a:off x="571500" y="2667000"/>
            <a:ext cx="8001000" cy="433388"/>
          </a:xfrm>
          <a:prstGeom xmlns:a="http://schemas.openxmlformats.org/drawingml/2006/main" prst="rect">
            <a:avLst/>
          </a:prstGeom>
          <a:solidFill xmlns:a="http://schemas.openxmlformats.org/drawingml/2006/main">
            <a:srgbClr val="092925">
              <a:alpha val="94000"/>
            </a:srgbClr>
          </a:solidFill>
        </p:spPr>
      </p:sp>
      <p:sp>
        <p:nvSpPr>
          <p:cNvPr id="16" name="Text 13">
            <a:extLst xmlns:a="http://schemas.openxmlformats.org/drawingml/2006/main">
              <a:ext uri="{FF2B5EF4-FFF2-40B4-BE49-F238E27FC236}">
                <a16:creationId xmlns:a16="http://schemas.microsoft.com/office/drawing/2014/main" id="{5F3FD473-44F6-4AF0-99DA-2EBA2C4D7540}"/>
              </a:ext>
            </a:extLst>
          </p:cNvPr>
          <p:cNvSpPr>
            <a:spLocks xmlns:a="http://schemas.openxmlformats.org/drawingml/2006/main" noGrp="1"/>
          </p:cNvSpPr>
          <p:nvPr/>
        </p:nvSpPr>
        <p:spPr>
          <a:xfrm xmlns:a="http://schemas.openxmlformats.org/drawingml/2006/main">
            <a:off x="676275" y="2762250"/>
            <a:ext cx="2952750" cy="2428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26"/>
              </a:lnSpc>
              <a:buNone/>
            </a:pPr>
            <a:r>
              <a:rPr sz="1461">
                <a:solidFill>
                  <a:srgbClr val="F5FFFA">
                    <a:alpha val="99000"/>
                  </a:srgbClr>
                </a:solidFill>
                <a:latin typeface="Inter"/>
                <a:ea typeface="Inter"/>
                <a:cs typeface="Inter"/>
              </a:rPr>
              <a:t>Copilot + workshop_client.py</a:t>
            </a:r>
            <a:endParaRPr sz="1461"/>
          </a:p>
        </p:txBody>
      </p:sp>
      <p:sp>
        <p:nvSpPr>
          <p:cNvPr id="17" name="Text 14">
            <a:extLst xmlns:a="http://schemas.openxmlformats.org/drawingml/2006/main">
              <a:ext uri="{FF2B5EF4-FFF2-40B4-BE49-F238E27FC236}">
                <a16:creationId xmlns:a16="http://schemas.microsoft.com/office/drawing/2014/main" id="{BA36F7F5-CD15-43E6-B94D-1BD895C5E42E}"/>
              </a:ext>
            </a:extLst>
          </p:cNvPr>
          <p:cNvSpPr>
            <a:spLocks xmlns:a="http://schemas.openxmlformats.org/drawingml/2006/main" noGrp="1"/>
          </p:cNvSpPr>
          <p:nvPr/>
        </p:nvSpPr>
        <p:spPr>
          <a:xfrm xmlns:a="http://schemas.openxmlformats.org/drawingml/2006/main">
            <a:off x="3629025" y="2762250"/>
            <a:ext cx="4838700" cy="2428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26"/>
              </a:lnSpc>
              <a:buNone/>
            </a:pPr>
            <a:r>
              <a:rPr sz="1461">
                <a:solidFill>
                  <a:srgbClr val="F5FFFA">
                    <a:alpha val="99000"/>
                  </a:srgbClr>
                </a:solidFill>
                <a:latin typeface="Inter"/>
                <a:ea typeface="Inter"/>
                <a:cs typeface="Inter"/>
              </a:rPr>
              <a:t>TEST · slides 22–23: discover, call, verify</a:t>
            </a:r>
            <a:endParaRPr sz="1461"/>
          </a:p>
        </p:txBody>
      </p:sp>
      <p:sp>
        <p:nvSpPr>
          <p:cNvPr id="18" name="Shape 15">
            <a:extLst xmlns:a="http://schemas.openxmlformats.org/drawingml/2006/main">
              <a:ext uri="{FF2B5EF4-FFF2-40B4-BE49-F238E27FC236}">
                <a16:creationId xmlns:a16="http://schemas.microsoft.com/office/drawing/2014/main" id="{B307368F-320C-47CD-AC9B-3352C976550A}"/>
              </a:ext>
            </a:extLst>
          </p:cNvPr>
          <p:cNvSpPr>
            <a:spLocks xmlns:a="http://schemas.openxmlformats.org/drawingml/2006/main" noGrp="1"/>
          </p:cNvSpPr>
          <p:nvPr/>
        </p:nvSpPr>
        <p:spPr>
          <a:xfrm xmlns:a="http://schemas.openxmlformats.org/drawingml/2006/main">
            <a:off x="571500" y="3119438"/>
            <a:ext cx="8001000" cy="433388"/>
          </a:xfrm>
          <a:prstGeom xmlns:a="http://schemas.openxmlformats.org/drawingml/2006/main" prst="rect">
            <a:avLst/>
          </a:prstGeom>
          <a:solidFill xmlns:a="http://schemas.openxmlformats.org/drawingml/2006/main">
            <a:srgbClr val="092925">
              <a:alpha val="94000"/>
            </a:srgbClr>
          </a:solidFill>
        </p:spPr>
      </p:sp>
      <p:sp>
        <p:nvSpPr>
          <p:cNvPr id="19" name="Text 16">
            <a:extLst xmlns:a="http://schemas.openxmlformats.org/drawingml/2006/main">
              <a:ext uri="{FF2B5EF4-FFF2-40B4-BE49-F238E27FC236}">
                <a16:creationId xmlns:a16="http://schemas.microsoft.com/office/drawing/2014/main" id="{1A4A2FC2-2A0E-4590-B3BA-BBF61D704C13}"/>
              </a:ext>
            </a:extLst>
          </p:cNvPr>
          <p:cNvSpPr>
            <a:spLocks xmlns:a="http://schemas.openxmlformats.org/drawingml/2006/main" noGrp="1"/>
          </p:cNvSpPr>
          <p:nvPr/>
        </p:nvSpPr>
        <p:spPr>
          <a:xfrm xmlns:a="http://schemas.openxmlformats.org/drawingml/2006/main">
            <a:off x="676275" y="3214688"/>
            <a:ext cx="2952750" cy="2428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26"/>
              </a:lnSpc>
              <a:buNone/>
            </a:pPr>
            <a:r>
              <a:rPr sz="1461">
                <a:solidFill>
                  <a:srgbClr val="F5FFFA">
                    <a:alpha val="99000"/>
                  </a:srgbClr>
                </a:solidFill>
                <a:latin typeface="Inter"/>
                <a:ea typeface="Inter"/>
                <a:cs typeface="Inter"/>
              </a:rPr>
              <a:t>workshop/solutions/</a:t>
            </a:r>
            <a:endParaRPr sz="1461"/>
          </a:p>
        </p:txBody>
      </p:sp>
      <p:sp>
        <p:nvSpPr>
          <p:cNvPr id="20" name="Text 17">
            <a:extLst xmlns:a="http://schemas.openxmlformats.org/drawingml/2006/main">
              <a:ext uri="{FF2B5EF4-FFF2-40B4-BE49-F238E27FC236}">
                <a16:creationId xmlns:a16="http://schemas.microsoft.com/office/drawing/2014/main" id="{7657D041-8B4A-4CB6-9E18-50A7786B9984}"/>
              </a:ext>
            </a:extLst>
          </p:cNvPr>
          <p:cNvSpPr>
            <a:spLocks xmlns:a="http://schemas.openxmlformats.org/drawingml/2006/main" noGrp="1"/>
          </p:cNvSpPr>
          <p:nvPr/>
        </p:nvSpPr>
        <p:spPr>
          <a:xfrm xmlns:a="http://schemas.openxmlformats.org/drawingml/2006/main">
            <a:off x="3629025" y="3214688"/>
            <a:ext cx="4838700" cy="2428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26"/>
              </a:lnSpc>
              <a:buNone/>
            </a:pPr>
            <a:r>
              <a:rPr sz="1461">
                <a:solidFill>
                  <a:srgbClr val="F5FFFA">
                    <a:alpha val="99000"/>
                  </a:srgbClr>
                </a:solidFill>
                <a:latin typeface="Inter"/>
                <a:ea typeface="Inter"/>
                <a:cs typeface="Inter"/>
              </a:rPr>
              <a:t>REFERENCE · compare after your attempt</a:t>
            </a:r>
            <a:endParaRPr sz="1461"/>
          </a:p>
        </p:txBody>
      </p:sp>
      <p:sp>
        <p:nvSpPr>
          <p:cNvPr id="21" name="Text 18">
            <a:extLst xmlns:a="http://schemas.openxmlformats.org/drawingml/2006/main">
              <a:ext uri="{FF2B5EF4-FFF2-40B4-BE49-F238E27FC236}">
                <a16:creationId xmlns:a16="http://schemas.microsoft.com/office/drawing/2014/main" id="{167C98D0-C50B-4F2B-B2A9-A2315A8D3D36}"/>
              </a:ext>
            </a:extLst>
          </p:cNvPr>
          <p:cNvSpPr>
            <a:spLocks xmlns:a="http://schemas.openxmlformats.org/drawingml/2006/main" noGrp="1"/>
          </p:cNvSpPr>
          <p:nvPr/>
        </p:nvSpPr>
        <p:spPr>
          <a:xfrm xmlns:a="http://schemas.openxmlformats.org/drawingml/2006/main">
            <a:off x="571500" y="4333875"/>
            <a:ext cx="8001000" cy="2428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26"/>
              </a:lnSpc>
              <a:buNone/>
            </a:pPr>
            <a:r>
              <a:rPr sz="1461" b="1">
                <a:solidFill>
                  <a:srgbClr val="4FE3BD">
                    <a:alpha val="99000"/>
                  </a:srgbClr>
                </a:solidFill>
                <a:latin typeface="Inter"/>
                <a:ea typeface="Inter"/>
                <a:cs typeface="Inter"/>
              </a:rPr>
              <a:t>MCP slides 14 + 16 trace the call. Music showcase: slide 27.</a:t>
            </a:r>
            <a:endParaRPr sz="1461"/>
          </a:p>
        </p:txBody>
      </p:sp>
      <p:sp>
        <p:nvSpPr>
          <p:cNvPr id="22" name="Text 19">
            <a:extLst xmlns:a="http://schemas.openxmlformats.org/drawingml/2006/main">
              <a:ext uri="{FF2B5EF4-FFF2-40B4-BE49-F238E27FC236}">
                <a16:creationId xmlns:a16="http://schemas.microsoft.com/office/drawing/2014/main" id="{72BEBEF2-8CBF-463B-B914-F526386FFD93}"/>
              </a:ext>
            </a:extLst>
          </p:cNvPr>
          <p:cNvSpPr>
            <a:spLocks xmlns:a="http://schemas.openxmlformats.org/drawingml/2006/main" noGrp="1"/>
          </p:cNvSpPr>
          <p:nvPr/>
        </p:nvSpPr>
        <p:spPr>
          <a:xfrm xmlns:a="http://schemas.openxmlformats.org/drawingml/2006/main">
            <a:off x="8310562" y="4862513"/>
            <a:ext cx="619125" cy="1428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69"/>
              </a:lnSpc>
              <a:buNone/>
            </a:pPr>
            <a:r>
              <a:rPr sz="855">
                <a:solidFill>
                  <a:srgbClr val="BAD9CF">
                    <a:alpha val="99000"/>
                  </a:srgbClr>
                </a:solidFill>
                <a:latin typeface="Inter"/>
                <a:ea typeface="Inter"/>
                <a:cs typeface="Inter"/>
              </a:rPr>
              <a:t>15 / 29</a:t>
            </a:r>
            <a:endParaRPr sz="855"/>
          </a:p>
        </p:txBody>
      </p:sp>
    </p:spTree>
    <p:extLst>
      <p:ext uri="{BB962C8B-B14F-4D97-AF65-F5344CB8AC3E}">
        <p14:creationId xmlns:p14="http://schemas.microsoft.com/office/powerpoint/2010/main" val="1477269772"/>
      </p:ext>
    </p:extLst>
  </p:cSld>
</p:sld>
</file>

<file path=ppt/slides/slide16.xml><?xml version="1.0" encoding="utf-8"?>
<p:sld xmlns:p="http://schemas.openxmlformats.org/presentationml/2006/main">
  <p:cSld>
    <p:bg>
      <p:bgPr>
        <a:blipFill xmlns:a="http://schemas.openxmlformats.org/drawingml/2006/main" rotWithShape="1">
          <a:blip xmlns:r="http://schemas.openxmlformats.org/officeDocument/2006/relationships" r:embed="R735649c5197448ff">
            <a:lum/>
          </a:blip>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E87CEEDB-C279-4F20-AB46-9BB4588197BD}"/>
              </a:ext>
            </a:extLst>
          </p:cNvPr>
          <p:cNvSpPr>
            <a:spLocks xmlns:a="http://schemas.openxmlformats.org/drawingml/2006/main" noGrp="1"/>
          </p:cNvSpPr>
          <p:nvPr/>
        </p:nvSpPr>
        <p:spPr>
          <a:xfrm xmlns:a="http://schemas.openxmlformats.org/drawingml/2006/main">
            <a:off x="571500" y="304800"/>
            <a:ext cx="8001000" cy="4191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117"/>
              </a:lnSpc>
              <a:buNone/>
            </a:pPr>
            <a:r>
              <a:rPr sz="2494" b="1">
                <a:solidFill>
                  <a:srgbClr val="F5FFFA">
                    <a:alpha val="99000"/>
                  </a:srgbClr>
                </a:solidFill>
                <a:latin typeface="Inter"/>
                <a:ea typeface="Inter"/>
                <a:cs typeface="Inter"/>
              </a:rPr>
              <a:t>MCP ACTIVITY · understand the contract</a:t>
            </a:r>
            <a:endParaRPr sz="2494"/>
          </a:p>
        </p:txBody>
      </p:sp>
      <p:sp>
        <p:nvSpPr>
          <p:cNvPr id="4" name="Shape 1">
            <a:extLst xmlns:a="http://schemas.openxmlformats.org/drawingml/2006/main">
              <a:ext uri="{FF2B5EF4-FFF2-40B4-BE49-F238E27FC236}">
                <a16:creationId xmlns:a16="http://schemas.microsoft.com/office/drawing/2014/main" id="{4CA19A62-2D70-45D8-98A3-29B444793388}"/>
              </a:ext>
            </a:extLst>
          </p:cNvPr>
          <p:cNvSpPr>
            <a:spLocks xmlns:a="http://schemas.openxmlformats.org/drawingml/2006/main" noGrp="1"/>
          </p:cNvSpPr>
          <p:nvPr/>
        </p:nvSpPr>
        <p:spPr>
          <a:xfrm xmlns:a="http://schemas.openxmlformats.org/drawingml/2006/main">
            <a:off x="581025" y="838200"/>
            <a:ext cx="523875" cy="33338"/>
          </a:xfrm>
          <a:prstGeom xmlns:a="http://schemas.openxmlformats.org/drawingml/2006/main" prst="rect">
            <a:avLst/>
          </a:prstGeom>
          <a:solidFill xmlns:a="http://schemas.openxmlformats.org/drawingml/2006/main">
            <a:srgbClr val="4FE3BD"/>
          </a:solidFill>
        </p:spPr>
      </p:sp>
      <p:sp>
        <p:nvSpPr>
          <p:cNvPr id="5" name="Shape 2">
            <a:extLst xmlns:a="http://schemas.openxmlformats.org/drawingml/2006/main">
              <a:ext uri="{FF2B5EF4-FFF2-40B4-BE49-F238E27FC236}">
                <a16:creationId xmlns:a16="http://schemas.microsoft.com/office/drawing/2014/main" id="{536F1A3E-ABCC-4102-8250-D9554E7DF693}"/>
              </a:ext>
            </a:extLst>
          </p:cNvPr>
          <p:cNvSpPr>
            <a:spLocks xmlns:a="http://schemas.openxmlformats.org/drawingml/2006/main" noGrp="1"/>
          </p:cNvSpPr>
          <p:nvPr/>
        </p:nvSpPr>
        <p:spPr>
          <a:xfrm xmlns:a="http://schemas.openxmlformats.org/drawingml/2006/main">
            <a:off x="571500" y="1238250"/>
            <a:ext cx="8001000" cy="1185863"/>
          </a:xfrm>
          <a:prstGeom xmlns:a="http://schemas.openxmlformats.org/drawingml/2006/main" prst="roundRect">
            <a:avLst>
              <a:gd name="adj" fmla="val 16964"/>
            </a:avLst>
          </a:prstGeom>
          <a:solidFill xmlns:a="http://schemas.openxmlformats.org/drawingml/2006/main">
            <a:srgbClr val="092925">
              <a:alpha val="96000"/>
            </a:srgbClr>
          </a:solidFill>
          <a:ln xmlns:a="http://schemas.openxmlformats.org/drawingml/2006/main" w="4524">
            <a:solidFill>
              <a:srgbClr val="267863"/>
            </a:solidFill>
            <a:prstDash val="solid"/>
          </a:ln>
        </p:spPr>
      </p:sp>
      <p:sp>
        <p:nvSpPr>
          <p:cNvPr id="6" name="Text 3">
            <a:extLst xmlns:a="http://schemas.openxmlformats.org/drawingml/2006/main">
              <a:ext uri="{FF2B5EF4-FFF2-40B4-BE49-F238E27FC236}">
                <a16:creationId xmlns:a16="http://schemas.microsoft.com/office/drawing/2014/main" id="{5A60283D-4DDB-4E0A-9FD2-54BE68E09D3B}"/>
              </a:ext>
            </a:extLst>
          </p:cNvPr>
          <p:cNvSpPr>
            <a:spLocks xmlns:a="http://schemas.openxmlformats.org/drawingml/2006/main" noGrp="1"/>
          </p:cNvSpPr>
          <p:nvPr/>
        </p:nvSpPr>
        <p:spPr>
          <a:xfrm xmlns:a="http://schemas.openxmlformats.org/drawingml/2006/main">
            <a:off x="728663" y="1395413"/>
            <a:ext cx="7696200" cy="87153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182"/>
              </a:lnSpc>
              <a:buNone/>
            </a:pPr>
            <a:r>
              <a:rPr sz="1746">
                <a:solidFill>
                  <a:srgbClr val="F5FFFA">
                    <a:alpha val="99000"/>
                  </a:srgbClr>
                </a:solidFill>
                <a:latin typeface="Roboto Mono"/>
                <a:ea typeface="Roboto Mono"/>
                <a:cs typeface="Roboto Mono"/>
              </a:rPr>
              <a:t>@mcp.tool()</a:t>
            </a:r>
            <a:endParaRPr sz="1746"/>
          </a:p>
          <a:p xmlns:a="http://schemas.openxmlformats.org/drawingml/2006/main">
            <a:pPr marL="0" indent="0" algn="l">
              <a:lnSpc>
                <a:spcPts val="2182"/>
              </a:lnSpc>
              <a:buNone/>
            </a:pPr>
            <a:r>
              <a:rPr sz="1746">
                <a:solidFill>
                  <a:srgbClr val="F5FFFA">
                    <a:alpha val="99000"/>
                  </a:srgbClr>
                </a:solidFill>
                <a:latin typeface="Roboto Mono"/>
                <a:ea typeface="Roboto Mono"/>
                <a:cs typeface="Roboto Mono"/>
              </a:rPr>
              <a:t>def set_tempo(bpm: int) -&gt; str:</a:t>
            </a:r>
            <a:endParaRPr sz="1746"/>
          </a:p>
          <a:p xmlns:a="http://schemas.openxmlformats.org/drawingml/2006/main">
            <a:pPr marL="0" indent="0" algn="l">
              <a:lnSpc>
                <a:spcPts val="2182"/>
              </a:lnSpc>
              <a:buNone/>
            </a:pPr>
            <a:r>
              <a:rPr sz="1746">
                <a:solidFill>
                  <a:srgbClr val="F5FFFA">
                    <a:alpha val="99000"/>
                  </a:srgbClr>
                </a:solidFill>
                <a:latin typeface="Roboto Mono"/>
                <a:ea typeface="Roboto Mono"/>
                <a:cs typeface="Roboto Mono"/>
              </a:rPr>
              <a:t>    """Set tempo from 40 to 240 BPM."""</a:t>
            </a:r>
            <a:endParaRPr sz="1746"/>
          </a:p>
        </p:txBody>
      </p:sp>
      <p:sp>
        <p:nvSpPr>
          <p:cNvPr id="7" name="Shape 4">
            <a:extLst xmlns:a="http://schemas.openxmlformats.org/drawingml/2006/main">
              <a:ext uri="{FF2B5EF4-FFF2-40B4-BE49-F238E27FC236}">
                <a16:creationId xmlns:a16="http://schemas.microsoft.com/office/drawing/2014/main" id="{3ECB253D-D241-40DE-88DD-210C94C659E8}"/>
              </a:ext>
            </a:extLst>
          </p:cNvPr>
          <p:cNvSpPr>
            <a:spLocks xmlns:a="http://schemas.openxmlformats.org/drawingml/2006/main" noGrp="1"/>
          </p:cNvSpPr>
          <p:nvPr/>
        </p:nvSpPr>
        <p:spPr>
          <a:xfrm xmlns:a="http://schemas.openxmlformats.org/drawingml/2006/main">
            <a:off x="571500" y="2838450"/>
            <a:ext cx="2562225" cy="895350"/>
          </a:xfrm>
          <a:prstGeom xmlns:a="http://schemas.openxmlformats.org/drawingml/2006/main" prst="roundRect">
            <a:avLst>
              <a:gd name="adj" fmla="val 22468"/>
            </a:avLst>
          </a:prstGeom>
          <a:solidFill xmlns:a="http://schemas.openxmlformats.org/drawingml/2006/main">
            <a:srgbClr val="092925">
              <a:alpha val="96000"/>
            </a:srgbClr>
          </a:solidFill>
          <a:ln xmlns:a="http://schemas.openxmlformats.org/drawingml/2006/main" w="4524">
            <a:solidFill>
              <a:srgbClr val="267863"/>
            </a:solidFill>
            <a:prstDash val="solid"/>
          </a:ln>
        </p:spPr>
      </p:sp>
      <p:sp>
        <p:nvSpPr>
          <p:cNvPr id="8" name="Text 5">
            <a:extLst xmlns:a="http://schemas.openxmlformats.org/drawingml/2006/main">
              <a:ext uri="{FF2B5EF4-FFF2-40B4-BE49-F238E27FC236}">
                <a16:creationId xmlns:a16="http://schemas.microsoft.com/office/drawing/2014/main" id="{9639E9B4-639C-4066-89D2-F1BC5A03F166}"/>
              </a:ext>
            </a:extLst>
          </p:cNvPr>
          <p:cNvSpPr>
            <a:spLocks xmlns:a="http://schemas.openxmlformats.org/drawingml/2006/main" noGrp="1"/>
          </p:cNvSpPr>
          <p:nvPr/>
        </p:nvSpPr>
        <p:spPr>
          <a:xfrm xmlns:a="http://schemas.openxmlformats.org/drawingml/2006/main">
            <a:off x="728663" y="2995613"/>
            <a:ext cx="2257425"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1"/>
              </a:lnSpc>
              <a:buNone/>
            </a:pPr>
            <a:r>
              <a:rPr sz="1425" b="1">
                <a:solidFill>
                  <a:srgbClr val="4FE3BD">
                    <a:alpha val="99000"/>
                  </a:srgbClr>
                </a:solidFill>
                <a:latin typeface="Inter"/>
                <a:ea typeface="Inter"/>
                <a:cs typeface="Inter"/>
              </a:rPr>
              <a:t>DECORATOR</a:t>
            </a:r>
            <a:endParaRPr sz="1425"/>
          </a:p>
        </p:txBody>
      </p:sp>
      <p:sp>
        <p:nvSpPr>
          <p:cNvPr id="9" name="Text 6">
            <a:extLst xmlns:a="http://schemas.openxmlformats.org/drawingml/2006/main">
              <a:ext uri="{FF2B5EF4-FFF2-40B4-BE49-F238E27FC236}">
                <a16:creationId xmlns:a16="http://schemas.microsoft.com/office/drawing/2014/main" id="{26828ABF-FE38-4A09-ADBA-483550A19507}"/>
              </a:ext>
            </a:extLst>
          </p:cNvPr>
          <p:cNvSpPr>
            <a:spLocks xmlns:a="http://schemas.openxmlformats.org/drawingml/2006/main" noGrp="1"/>
          </p:cNvSpPr>
          <p:nvPr/>
        </p:nvSpPr>
        <p:spPr>
          <a:xfrm xmlns:a="http://schemas.openxmlformats.org/drawingml/2006/main">
            <a:off x="728663" y="3348038"/>
            <a:ext cx="225742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2"/>
              </a:lnSpc>
              <a:buNone/>
            </a:pPr>
            <a:r>
              <a:rPr sz="1354">
                <a:solidFill>
                  <a:srgbClr val="F5FFFA">
                    <a:alpha val="99000"/>
                  </a:srgbClr>
                </a:solidFill>
                <a:latin typeface="Inter"/>
                <a:ea typeface="Inter"/>
                <a:cs typeface="Inter"/>
              </a:rPr>
              <a:t>Registers the tool</a:t>
            </a:r>
            <a:endParaRPr sz="1354"/>
          </a:p>
        </p:txBody>
      </p:sp>
      <p:sp>
        <p:nvSpPr>
          <p:cNvPr id="10" name="Shape 7">
            <a:extLst xmlns:a="http://schemas.openxmlformats.org/drawingml/2006/main">
              <a:ext uri="{FF2B5EF4-FFF2-40B4-BE49-F238E27FC236}">
                <a16:creationId xmlns:a16="http://schemas.microsoft.com/office/drawing/2014/main" id="{B38CFA30-6B0C-46E5-BC9A-18CA525A3CD5}"/>
              </a:ext>
            </a:extLst>
          </p:cNvPr>
          <p:cNvSpPr>
            <a:spLocks xmlns:a="http://schemas.openxmlformats.org/drawingml/2006/main" noGrp="1"/>
          </p:cNvSpPr>
          <p:nvPr/>
        </p:nvSpPr>
        <p:spPr>
          <a:xfrm xmlns:a="http://schemas.openxmlformats.org/drawingml/2006/main">
            <a:off x="3286125" y="2838450"/>
            <a:ext cx="2562225" cy="895350"/>
          </a:xfrm>
          <a:prstGeom xmlns:a="http://schemas.openxmlformats.org/drawingml/2006/main" prst="roundRect">
            <a:avLst>
              <a:gd name="adj" fmla="val 22468"/>
            </a:avLst>
          </a:prstGeom>
          <a:solidFill xmlns:a="http://schemas.openxmlformats.org/drawingml/2006/main">
            <a:srgbClr val="092925">
              <a:alpha val="96000"/>
            </a:srgbClr>
          </a:solidFill>
          <a:ln xmlns:a="http://schemas.openxmlformats.org/drawingml/2006/main" w="4524">
            <a:solidFill>
              <a:srgbClr val="267863"/>
            </a:solidFill>
            <a:prstDash val="solid"/>
          </a:ln>
        </p:spPr>
      </p:sp>
      <p:sp>
        <p:nvSpPr>
          <p:cNvPr id="11" name="Text 8">
            <a:extLst xmlns:a="http://schemas.openxmlformats.org/drawingml/2006/main">
              <a:ext uri="{FF2B5EF4-FFF2-40B4-BE49-F238E27FC236}">
                <a16:creationId xmlns:a16="http://schemas.microsoft.com/office/drawing/2014/main" id="{B39967AE-F91F-4571-9A17-984DC003D05D}"/>
              </a:ext>
            </a:extLst>
          </p:cNvPr>
          <p:cNvSpPr>
            <a:spLocks xmlns:a="http://schemas.openxmlformats.org/drawingml/2006/main" noGrp="1"/>
          </p:cNvSpPr>
          <p:nvPr/>
        </p:nvSpPr>
        <p:spPr>
          <a:xfrm xmlns:a="http://schemas.openxmlformats.org/drawingml/2006/main">
            <a:off x="3443288" y="2995613"/>
            <a:ext cx="2257425"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1"/>
              </a:lnSpc>
              <a:buNone/>
            </a:pPr>
            <a:r>
              <a:rPr sz="1425" b="1">
                <a:solidFill>
                  <a:srgbClr val="4FE3BD">
                    <a:alpha val="99000"/>
                  </a:srgbClr>
                </a:solidFill>
                <a:latin typeface="Inter"/>
                <a:ea typeface="Inter"/>
                <a:cs typeface="Inter"/>
              </a:rPr>
              <a:t>TYPE ANNOTATION</a:t>
            </a:r>
            <a:endParaRPr sz="1425"/>
          </a:p>
        </p:txBody>
      </p:sp>
      <p:sp>
        <p:nvSpPr>
          <p:cNvPr id="12" name="Text 9">
            <a:extLst xmlns:a="http://schemas.openxmlformats.org/drawingml/2006/main">
              <a:ext uri="{FF2B5EF4-FFF2-40B4-BE49-F238E27FC236}">
                <a16:creationId xmlns:a16="http://schemas.microsoft.com/office/drawing/2014/main" id="{25DCAF52-2A82-4A6F-9D10-55F62774BAD9}"/>
              </a:ext>
            </a:extLst>
          </p:cNvPr>
          <p:cNvSpPr>
            <a:spLocks xmlns:a="http://schemas.openxmlformats.org/drawingml/2006/main" noGrp="1"/>
          </p:cNvSpPr>
          <p:nvPr/>
        </p:nvSpPr>
        <p:spPr>
          <a:xfrm xmlns:a="http://schemas.openxmlformats.org/drawingml/2006/main">
            <a:off x="3443288" y="3348038"/>
            <a:ext cx="225742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2"/>
              </a:lnSpc>
              <a:buNone/>
            </a:pPr>
            <a:r>
              <a:rPr sz="1354">
                <a:solidFill>
                  <a:srgbClr val="F5FFFA">
                    <a:alpha val="99000"/>
                  </a:srgbClr>
                </a:solidFill>
                <a:latin typeface="Inter"/>
                <a:ea typeface="Inter"/>
                <a:cs typeface="Inter"/>
              </a:rPr>
              <a:t>Describes the input</a:t>
            </a:r>
            <a:endParaRPr sz="1354"/>
          </a:p>
        </p:txBody>
      </p:sp>
      <p:sp>
        <p:nvSpPr>
          <p:cNvPr id="13" name="Shape 10">
            <a:extLst xmlns:a="http://schemas.openxmlformats.org/drawingml/2006/main">
              <a:ext uri="{FF2B5EF4-FFF2-40B4-BE49-F238E27FC236}">
                <a16:creationId xmlns:a16="http://schemas.microsoft.com/office/drawing/2014/main" id="{6301DACB-6227-4995-916E-5EA668017A41}"/>
              </a:ext>
            </a:extLst>
          </p:cNvPr>
          <p:cNvSpPr>
            <a:spLocks xmlns:a="http://schemas.openxmlformats.org/drawingml/2006/main" noGrp="1"/>
          </p:cNvSpPr>
          <p:nvPr/>
        </p:nvSpPr>
        <p:spPr>
          <a:xfrm xmlns:a="http://schemas.openxmlformats.org/drawingml/2006/main">
            <a:off x="6000750" y="2838450"/>
            <a:ext cx="2562225" cy="895350"/>
          </a:xfrm>
          <a:prstGeom xmlns:a="http://schemas.openxmlformats.org/drawingml/2006/main" prst="roundRect">
            <a:avLst>
              <a:gd name="adj" fmla="val 22468"/>
            </a:avLst>
          </a:prstGeom>
          <a:solidFill xmlns:a="http://schemas.openxmlformats.org/drawingml/2006/main">
            <a:srgbClr val="092925">
              <a:alpha val="96000"/>
            </a:srgbClr>
          </a:solidFill>
          <a:ln xmlns:a="http://schemas.openxmlformats.org/drawingml/2006/main" w="4524">
            <a:solidFill>
              <a:srgbClr val="267863"/>
            </a:solidFill>
            <a:prstDash val="solid"/>
          </a:ln>
        </p:spPr>
      </p:sp>
      <p:sp>
        <p:nvSpPr>
          <p:cNvPr id="14" name="Text 11">
            <a:extLst xmlns:a="http://schemas.openxmlformats.org/drawingml/2006/main">
              <a:ext uri="{FF2B5EF4-FFF2-40B4-BE49-F238E27FC236}">
                <a16:creationId xmlns:a16="http://schemas.microsoft.com/office/drawing/2014/main" id="{5ECA8287-0812-44F6-AD94-F1450DBA3573}"/>
              </a:ext>
            </a:extLst>
          </p:cNvPr>
          <p:cNvSpPr>
            <a:spLocks xmlns:a="http://schemas.openxmlformats.org/drawingml/2006/main" noGrp="1"/>
          </p:cNvSpPr>
          <p:nvPr/>
        </p:nvSpPr>
        <p:spPr>
          <a:xfrm xmlns:a="http://schemas.openxmlformats.org/drawingml/2006/main">
            <a:off x="6157913" y="2995613"/>
            <a:ext cx="2257425"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1"/>
              </a:lnSpc>
              <a:buNone/>
            </a:pPr>
            <a:r>
              <a:rPr sz="1425" b="1">
                <a:solidFill>
                  <a:srgbClr val="4FE3BD">
                    <a:alpha val="99000"/>
                  </a:srgbClr>
                </a:solidFill>
                <a:latin typeface="Inter"/>
                <a:ea typeface="Inter"/>
                <a:cs typeface="Inter"/>
              </a:rPr>
              <a:t>DOCSTRING</a:t>
            </a:r>
            <a:endParaRPr sz="1425"/>
          </a:p>
        </p:txBody>
      </p:sp>
      <p:sp>
        <p:nvSpPr>
          <p:cNvPr id="15" name="Text 12">
            <a:extLst xmlns:a="http://schemas.openxmlformats.org/drawingml/2006/main">
              <a:ext uri="{FF2B5EF4-FFF2-40B4-BE49-F238E27FC236}">
                <a16:creationId xmlns:a16="http://schemas.microsoft.com/office/drawing/2014/main" id="{E9DFE117-C478-4563-B3EA-E2F60124D57C}"/>
              </a:ext>
            </a:extLst>
          </p:cNvPr>
          <p:cNvSpPr>
            <a:spLocks xmlns:a="http://schemas.openxmlformats.org/drawingml/2006/main" noGrp="1"/>
          </p:cNvSpPr>
          <p:nvPr/>
        </p:nvSpPr>
        <p:spPr>
          <a:xfrm xmlns:a="http://schemas.openxmlformats.org/drawingml/2006/main">
            <a:off x="6157913" y="3348038"/>
            <a:ext cx="225742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2"/>
              </a:lnSpc>
              <a:buNone/>
            </a:pPr>
            <a:r>
              <a:rPr sz="1354">
                <a:solidFill>
                  <a:srgbClr val="F5FFFA">
                    <a:alpha val="99000"/>
                  </a:srgbClr>
                </a:solidFill>
                <a:latin typeface="Inter"/>
                <a:ea typeface="Inter"/>
                <a:cs typeface="Inter"/>
              </a:rPr>
              <a:t>Describes its purpose</a:t>
            </a:r>
            <a:endParaRPr sz="1354"/>
          </a:p>
        </p:txBody>
      </p:sp>
      <p:sp>
        <p:nvSpPr>
          <p:cNvPr id="16" name="Text 13">
            <a:extLst xmlns:a="http://schemas.openxmlformats.org/drawingml/2006/main">
              <a:ext uri="{FF2B5EF4-FFF2-40B4-BE49-F238E27FC236}">
                <a16:creationId xmlns:a16="http://schemas.microsoft.com/office/drawing/2014/main" id="{0B1ADEF8-717E-4DAF-8CDD-A9EAE3022624}"/>
              </a:ext>
            </a:extLst>
          </p:cNvPr>
          <p:cNvSpPr>
            <a:spLocks xmlns:a="http://schemas.openxmlformats.org/drawingml/2006/main" noGrp="1"/>
          </p:cNvSpPr>
          <p:nvPr/>
        </p:nvSpPr>
        <p:spPr>
          <a:xfrm xmlns:a="http://schemas.openxmlformats.org/drawingml/2006/main">
            <a:off x="8310562" y="4862513"/>
            <a:ext cx="619125" cy="1428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69"/>
              </a:lnSpc>
              <a:buNone/>
            </a:pPr>
            <a:r>
              <a:rPr sz="855">
                <a:solidFill>
                  <a:srgbClr val="BAD9CF">
                    <a:alpha val="99000"/>
                  </a:srgbClr>
                </a:solidFill>
                <a:latin typeface="Inter"/>
                <a:ea typeface="Inter"/>
                <a:cs typeface="Inter"/>
              </a:rPr>
              <a:t>16 / 29</a:t>
            </a:r>
            <a:endParaRPr sz="855"/>
          </a:p>
        </p:txBody>
      </p:sp>
    </p:spTree>
    <p:extLst>
      <p:ext uri="{BB962C8B-B14F-4D97-AF65-F5344CB8AC3E}">
        <p14:creationId xmlns:p14="http://schemas.microsoft.com/office/powerpoint/2010/main" val="912272981"/>
      </p:ext>
    </p:extLst>
  </p:cSld>
</p:sld>
</file>

<file path=ppt/slides/slide17.xml><?xml version="1.0" encoding="utf-8"?>
<p:sld xmlns:p="http://schemas.openxmlformats.org/presentationml/2006/main">
  <p:cSld>
    <p:bg>
      <p:bgPr>
        <a:blipFill xmlns:a="http://schemas.openxmlformats.org/drawingml/2006/main" rotWithShape="1">
          <a:blip xmlns:r="http://schemas.openxmlformats.org/officeDocument/2006/relationships" r:embed="R294c80fb616d42a6">
            <a:lum/>
          </a:blip>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811C6941-33D8-403B-98D7-3AD4C811FFA9}"/>
              </a:ext>
            </a:extLst>
          </p:cNvPr>
          <p:cNvSpPr>
            <a:spLocks xmlns:a="http://schemas.openxmlformats.org/drawingml/2006/main" noGrp="1"/>
          </p:cNvSpPr>
          <p:nvPr/>
        </p:nvSpPr>
        <p:spPr>
          <a:xfrm xmlns:a="http://schemas.openxmlformats.org/drawingml/2006/main">
            <a:off x="571500" y="304800"/>
            <a:ext cx="8001000" cy="4191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117"/>
              </a:lnSpc>
              <a:buNone/>
            </a:pPr>
            <a:r>
              <a:rPr sz="2494" b="1">
                <a:solidFill>
                  <a:srgbClr val="F5FFFA">
                    <a:alpha val="99000"/>
                  </a:srgbClr>
                </a:solidFill>
                <a:latin typeface="Inter"/>
                <a:ea typeface="Inter"/>
                <a:cs typeface="Inter"/>
              </a:rPr>
              <a:t>A useful tool can act and observe</a:t>
            </a:r>
            <a:endParaRPr sz="2494"/>
          </a:p>
        </p:txBody>
      </p:sp>
      <p:sp>
        <p:nvSpPr>
          <p:cNvPr id="4" name="Shape 1">
            <a:extLst xmlns:a="http://schemas.openxmlformats.org/drawingml/2006/main">
              <a:ext uri="{FF2B5EF4-FFF2-40B4-BE49-F238E27FC236}">
                <a16:creationId xmlns:a16="http://schemas.microsoft.com/office/drawing/2014/main" id="{9A47472F-E11A-4B4C-BCCB-EDE62336F907}"/>
              </a:ext>
            </a:extLst>
          </p:cNvPr>
          <p:cNvSpPr>
            <a:spLocks xmlns:a="http://schemas.openxmlformats.org/drawingml/2006/main" noGrp="1"/>
          </p:cNvSpPr>
          <p:nvPr/>
        </p:nvSpPr>
        <p:spPr>
          <a:xfrm xmlns:a="http://schemas.openxmlformats.org/drawingml/2006/main">
            <a:off x="581025" y="838200"/>
            <a:ext cx="523875" cy="33338"/>
          </a:xfrm>
          <a:prstGeom xmlns:a="http://schemas.openxmlformats.org/drawingml/2006/main" prst="rect">
            <a:avLst/>
          </a:prstGeom>
          <a:solidFill xmlns:a="http://schemas.openxmlformats.org/drawingml/2006/main">
            <a:srgbClr val="4FE3BD"/>
          </a:solidFill>
        </p:spPr>
      </p:sp>
      <p:sp>
        <p:nvSpPr>
          <p:cNvPr id="5" name="Shape 2">
            <a:extLst xmlns:a="http://schemas.openxmlformats.org/drawingml/2006/main">
              <a:ext uri="{FF2B5EF4-FFF2-40B4-BE49-F238E27FC236}">
                <a16:creationId xmlns:a16="http://schemas.microsoft.com/office/drawing/2014/main" id="{D0EF80ED-C455-4C71-A54D-9FCDE30A8626}"/>
              </a:ext>
            </a:extLst>
          </p:cNvPr>
          <p:cNvSpPr>
            <a:spLocks xmlns:a="http://schemas.openxmlformats.org/drawingml/2006/main" noGrp="1"/>
          </p:cNvSpPr>
          <p:nvPr/>
        </p:nvSpPr>
        <p:spPr>
          <a:xfrm xmlns:a="http://schemas.openxmlformats.org/drawingml/2006/main">
            <a:off x="571500" y="1285875"/>
            <a:ext cx="5000625" cy="838200"/>
          </a:xfrm>
          <a:prstGeom xmlns:a="http://schemas.openxmlformats.org/drawingml/2006/main" prst="roundRect">
            <a:avLst>
              <a:gd name="adj" fmla="val 24000"/>
            </a:avLst>
          </a:prstGeom>
          <a:solidFill xmlns:a="http://schemas.openxmlformats.org/drawingml/2006/main">
            <a:srgbClr val="092925">
              <a:alpha val="96000"/>
            </a:srgbClr>
          </a:solidFill>
          <a:ln xmlns:a="http://schemas.openxmlformats.org/drawingml/2006/main" w="4524">
            <a:solidFill>
              <a:srgbClr val="267863"/>
            </a:solidFill>
            <a:prstDash val="solid"/>
          </a:ln>
        </p:spPr>
      </p:sp>
      <p:sp>
        <p:nvSpPr>
          <p:cNvPr id="6" name="Text 3">
            <a:extLst xmlns:a="http://schemas.openxmlformats.org/drawingml/2006/main">
              <a:ext uri="{FF2B5EF4-FFF2-40B4-BE49-F238E27FC236}">
                <a16:creationId xmlns:a16="http://schemas.microsoft.com/office/drawing/2014/main" id="{621BF78B-90F4-417F-B259-73A45625CC23}"/>
              </a:ext>
            </a:extLst>
          </p:cNvPr>
          <p:cNvSpPr>
            <a:spLocks xmlns:a="http://schemas.openxmlformats.org/drawingml/2006/main" noGrp="1"/>
          </p:cNvSpPr>
          <p:nvPr/>
        </p:nvSpPr>
        <p:spPr>
          <a:xfrm xmlns:a="http://schemas.openxmlformats.org/drawingml/2006/main">
            <a:off x="728663" y="1443038"/>
            <a:ext cx="469582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2"/>
              </a:lnSpc>
              <a:buNone/>
            </a:pPr>
            <a:r>
              <a:rPr sz="1354" b="1">
                <a:solidFill>
                  <a:srgbClr val="4FE3BD">
                    <a:alpha val="99000"/>
                  </a:srgbClr>
                </a:solidFill>
                <a:latin typeface="Inter"/>
                <a:ea typeface="Inter"/>
                <a:cs typeface="Inter"/>
              </a:rPr>
              <a:t>1 · READ STATE</a:t>
            </a:r>
            <a:endParaRPr sz="1354"/>
          </a:p>
        </p:txBody>
      </p:sp>
      <p:sp>
        <p:nvSpPr>
          <p:cNvPr id="7" name="Text 4">
            <a:extLst xmlns:a="http://schemas.openxmlformats.org/drawingml/2006/main">
              <a:ext uri="{FF2B5EF4-FFF2-40B4-BE49-F238E27FC236}">
                <a16:creationId xmlns:a16="http://schemas.microsoft.com/office/drawing/2014/main" id="{81422563-20D2-46AC-9BB2-647A06EBE63D}"/>
              </a:ext>
            </a:extLst>
          </p:cNvPr>
          <p:cNvSpPr>
            <a:spLocks xmlns:a="http://schemas.openxmlformats.org/drawingml/2006/main" noGrp="1"/>
          </p:cNvSpPr>
          <p:nvPr/>
        </p:nvSpPr>
        <p:spPr>
          <a:xfrm xmlns:a="http://schemas.openxmlformats.org/drawingml/2006/main">
            <a:off x="728663" y="1738313"/>
            <a:ext cx="469582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2"/>
              </a:lnSpc>
              <a:buNone/>
            </a:pPr>
            <a:r>
              <a:rPr sz="1354">
                <a:solidFill>
                  <a:srgbClr val="F5FFFA">
                    <a:alpha val="99000"/>
                  </a:srgbClr>
                </a:solidFill>
                <a:latin typeface="Inter"/>
                <a:ea typeface="Inter"/>
                <a:cs typeface="Inter"/>
              </a:rPr>
              <a:t>Observe the starting value.</a:t>
            </a:r>
            <a:endParaRPr sz="1354"/>
          </a:p>
        </p:txBody>
      </p:sp>
      <p:sp>
        <p:nvSpPr>
          <p:cNvPr id="8" name="Shape 5">
            <a:extLst xmlns:a="http://schemas.openxmlformats.org/drawingml/2006/main">
              <a:ext uri="{FF2B5EF4-FFF2-40B4-BE49-F238E27FC236}">
                <a16:creationId xmlns:a16="http://schemas.microsoft.com/office/drawing/2014/main" id="{96857F6B-D0CA-4FEE-8D4B-307ECFDE345E}"/>
              </a:ext>
            </a:extLst>
          </p:cNvPr>
          <p:cNvSpPr>
            <a:spLocks xmlns:a="http://schemas.openxmlformats.org/drawingml/2006/main" noGrp="1"/>
          </p:cNvSpPr>
          <p:nvPr/>
        </p:nvSpPr>
        <p:spPr>
          <a:xfrm xmlns:a="http://schemas.openxmlformats.org/drawingml/2006/main">
            <a:off x="571500" y="2119313"/>
            <a:ext cx="5000625" cy="838200"/>
          </a:xfrm>
          <a:prstGeom xmlns:a="http://schemas.openxmlformats.org/drawingml/2006/main" prst="roundRect">
            <a:avLst>
              <a:gd name="adj" fmla="val 24000"/>
            </a:avLst>
          </a:prstGeom>
          <a:solidFill xmlns:a="http://schemas.openxmlformats.org/drawingml/2006/main">
            <a:srgbClr val="092925">
              <a:alpha val="96000"/>
            </a:srgbClr>
          </a:solidFill>
          <a:ln xmlns:a="http://schemas.openxmlformats.org/drawingml/2006/main" w="4524">
            <a:solidFill>
              <a:srgbClr val="267863"/>
            </a:solidFill>
            <a:prstDash val="solid"/>
          </a:ln>
        </p:spPr>
      </p:sp>
      <p:sp>
        <p:nvSpPr>
          <p:cNvPr id="9" name="Text 6">
            <a:extLst xmlns:a="http://schemas.openxmlformats.org/drawingml/2006/main">
              <a:ext uri="{FF2B5EF4-FFF2-40B4-BE49-F238E27FC236}">
                <a16:creationId xmlns:a16="http://schemas.microsoft.com/office/drawing/2014/main" id="{3A294D10-89B2-4007-9C6D-377FA823820C}"/>
              </a:ext>
            </a:extLst>
          </p:cNvPr>
          <p:cNvSpPr>
            <a:spLocks xmlns:a="http://schemas.openxmlformats.org/drawingml/2006/main" noGrp="1"/>
          </p:cNvSpPr>
          <p:nvPr/>
        </p:nvSpPr>
        <p:spPr>
          <a:xfrm xmlns:a="http://schemas.openxmlformats.org/drawingml/2006/main">
            <a:off x="728663" y="2276475"/>
            <a:ext cx="469582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2"/>
              </a:lnSpc>
              <a:buNone/>
            </a:pPr>
            <a:r>
              <a:rPr sz="1354" b="1">
                <a:solidFill>
                  <a:srgbClr val="4FE3BD">
                    <a:alpha val="99000"/>
                  </a:srgbClr>
                </a:solidFill>
                <a:latin typeface="Inter"/>
                <a:ea typeface="Inter"/>
                <a:cs typeface="Inter"/>
              </a:rPr>
              <a:t>2 · PERFORM AN ACTION</a:t>
            </a:r>
            <a:endParaRPr sz="1354"/>
          </a:p>
        </p:txBody>
      </p:sp>
      <p:sp>
        <p:nvSpPr>
          <p:cNvPr id="10" name="Text 7">
            <a:extLst xmlns:a="http://schemas.openxmlformats.org/drawingml/2006/main">
              <a:ext uri="{FF2B5EF4-FFF2-40B4-BE49-F238E27FC236}">
                <a16:creationId xmlns:a16="http://schemas.microsoft.com/office/drawing/2014/main" id="{31D1E3D7-9BAD-48ED-9D79-69659ABF1C05}"/>
              </a:ext>
            </a:extLst>
          </p:cNvPr>
          <p:cNvSpPr>
            <a:spLocks xmlns:a="http://schemas.openxmlformats.org/drawingml/2006/main" noGrp="1"/>
          </p:cNvSpPr>
          <p:nvPr/>
        </p:nvSpPr>
        <p:spPr>
          <a:xfrm xmlns:a="http://schemas.openxmlformats.org/drawingml/2006/main">
            <a:off x="728663" y="2571750"/>
            <a:ext cx="469582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2"/>
              </a:lnSpc>
              <a:buNone/>
            </a:pPr>
            <a:r>
              <a:rPr sz="1354">
                <a:solidFill>
                  <a:srgbClr val="F5FFFA">
                    <a:alpha val="99000"/>
                  </a:srgbClr>
                </a:solidFill>
                <a:latin typeface="Inter"/>
                <a:ea typeface="Inter"/>
                <a:cs typeface="Inter"/>
              </a:rPr>
              <a:t>Call a specific tool.</a:t>
            </a:r>
            <a:endParaRPr sz="1354"/>
          </a:p>
        </p:txBody>
      </p:sp>
      <p:sp>
        <p:nvSpPr>
          <p:cNvPr id="11" name="Shape 8">
            <a:extLst xmlns:a="http://schemas.openxmlformats.org/drawingml/2006/main">
              <a:ext uri="{FF2B5EF4-FFF2-40B4-BE49-F238E27FC236}">
                <a16:creationId xmlns:a16="http://schemas.microsoft.com/office/drawing/2014/main" id="{D6C02084-1F2A-431D-8AA9-3FF51ABFA707}"/>
              </a:ext>
            </a:extLst>
          </p:cNvPr>
          <p:cNvSpPr>
            <a:spLocks xmlns:a="http://schemas.openxmlformats.org/drawingml/2006/main" noGrp="1"/>
          </p:cNvSpPr>
          <p:nvPr/>
        </p:nvSpPr>
        <p:spPr>
          <a:xfrm xmlns:a="http://schemas.openxmlformats.org/drawingml/2006/main">
            <a:off x="571500" y="2952750"/>
            <a:ext cx="5000625" cy="838200"/>
          </a:xfrm>
          <a:prstGeom xmlns:a="http://schemas.openxmlformats.org/drawingml/2006/main" prst="roundRect">
            <a:avLst>
              <a:gd name="adj" fmla="val 24000"/>
            </a:avLst>
          </a:prstGeom>
          <a:solidFill xmlns:a="http://schemas.openxmlformats.org/drawingml/2006/main">
            <a:srgbClr val="092925">
              <a:alpha val="96000"/>
            </a:srgbClr>
          </a:solidFill>
          <a:ln xmlns:a="http://schemas.openxmlformats.org/drawingml/2006/main" w="4524">
            <a:solidFill>
              <a:srgbClr val="267863"/>
            </a:solidFill>
            <a:prstDash val="solid"/>
          </a:ln>
        </p:spPr>
      </p:sp>
      <p:sp>
        <p:nvSpPr>
          <p:cNvPr id="12" name="Text 9">
            <a:extLst xmlns:a="http://schemas.openxmlformats.org/drawingml/2006/main">
              <a:ext uri="{FF2B5EF4-FFF2-40B4-BE49-F238E27FC236}">
                <a16:creationId xmlns:a16="http://schemas.microsoft.com/office/drawing/2014/main" id="{42524DF6-008D-4F18-897C-24916DA44CCC}"/>
              </a:ext>
            </a:extLst>
          </p:cNvPr>
          <p:cNvSpPr>
            <a:spLocks xmlns:a="http://schemas.openxmlformats.org/drawingml/2006/main" noGrp="1"/>
          </p:cNvSpPr>
          <p:nvPr/>
        </p:nvSpPr>
        <p:spPr>
          <a:xfrm xmlns:a="http://schemas.openxmlformats.org/drawingml/2006/main">
            <a:off x="728663" y="3109913"/>
            <a:ext cx="469582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2"/>
              </a:lnSpc>
              <a:buNone/>
            </a:pPr>
            <a:r>
              <a:rPr sz="1354" b="1">
                <a:solidFill>
                  <a:srgbClr val="4FE3BD">
                    <a:alpha val="99000"/>
                  </a:srgbClr>
                </a:solidFill>
                <a:latin typeface="Inter"/>
                <a:ea typeface="Inter"/>
                <a:cs typeface="Inter"/>
              </a:rPr>
              <a:t>3 · READ STATE AGAIN</a:t>
            </a:r>
            <a:endParaRPr sz="1354"/>
          </a:p>
        </p:txBody>
      </p:sp>
      <p:sp>
        <p:nvSpPr>
          <p:cNvPr id="13" name="Text 10">
            <a:extLst xmlns:a="http://schemas.openxmlformats.org/drawingml/2006/main">
              <a:ext uri="{FF2B5EF4-FFF2-40B4-BE49-F238E27FC236}">
                <a16:creationId xmlns:a16="http://schemas.microsoft.com/office/drawing/2014/main" id="{6DD62096-8E9F-414B-9474-34189E78B075}"/>
              </a:ext>
            </a:extLst>
          </p:cNvPr>
          <p:cNvSpPr>
            <a:spLocks xmlns:a="http://schemas.openxmlformats.org/drawingml/2006/main" noGrp="1"/>
          </p:cNvSpPr>
          <p:nvPr/>
        </p:nvSpPr>
        <p:spPr>
          <a:xfrm xmlns:a="http://schemas.openxmlformats.org/drawingml/2006/main">
            <a:off x="728663" y="3405188"/>
            <a:ext cx="469582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2"/>
              </a:lnSpc>
              <a:buNone/>
            </a:pPr>
            <a:r>
              <a:rPr sz="1354">
                <a:solidFill>
                  <a:srgbClr val="F5FFFA">
                    <a:alpha val="99000"/>
                  </a:srgbClr>
                </a:solidFill>
                <a:latin typeface="Inter"/>
                <a:ea typeface="Inter"/>
                <a:cs typeface="Inter"/>
              </a:rPr>
              <a:t>Verify the expected result.</a:t>
            </a:r>
            <a:endParaRPr sz="1354"/>
          </a:p>
        </p:txBody>
      </p:sp>
      <p:sp>
        <p:nvSpPr>
          <p:cNvPr id="14" name="Text 11">
            <a:extLst xmlns:a="http://schemas.openxmlformats.org/drawingml/2006/main">
              <a:ext uri="{FF2B5EF4-FFF2-40B4-BE49-F238E27FC236}">
                <a16:creationId xmlns:a16="http://schemas.microsoft.com/office/drawing/2014/main" id="{ADADAB4E-71B2-4772-8250-BE5D47F08F4E}"/>
              </a:ext>
            </a:extLst>
          </p:cNvPr>
          <p:cNvSpPr>
            <a:spLocks xmlns:a="http://schemas.openxmlformats.org/drawingml/2006/main" noGrp="1"/>
          </p:cNvSpPr>
          <p:nvPr/>
        </p:nvSpPr>
        <p:spPr>
          <a:xfrm xmlns:a="http://schemas.openxmlformats.org/drawingml/2006/main">
            <a:off x="6048375" y="1047750"/>
            <a:ext cx="2667000" cy="4762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1"/>
              </a:lnSpc>
              <a:buNone/>
            </a:pPr>
            <a:r>
              <a:rPr sz="1425" b="1">
                <a:solidFill>
                  <a:srgbClr val="F5FFFA">
                    <a:alpha val="99000"/>
                  </a:srgbClr>
                </a:solidFill>
                <a:latin typeface="Inter"/>
                <a:ea typeface="Inter"/>
                <a:cs typeface="Inter"/>
              </a:rPr>
              <a:t>Trust “queued”</a:t>
            </a:r>
            <a:endParaRPr sz="1425"/>
          </a:p>
          <a:p xmlns:a="http://schemas.openxmlformats.org/drawingml/2006/main">
            <a:pPr marL="0" indent="0" algn="l">
              <a:lnSpc>
                <a:spcPts val="1781"/>
              </a:lnSpc>
              <a:buNone/>
            </a:pPr>
            <a:r>
              <a:rPr sz="1425" b="1">
                <a:solidFill>
                  <a:srgbClr val="F5FFFA">
                    <a:alpha val="99000"/>
                  </a:srgbClr>
                </a:solidFill>
                <a:latin typeface="Inter"/>
                <a:ea typeface="Inter"/>
                <a:cs typeface="Inter"/>
              </a:rPr>
              <a:t>or verify the actual state?</a:t>
            </a:r>
            <a:endParaRPr sz="1425"/>
          </a:p>
        </p:txBody>
      </p:sp>
      <p:pic>
        <p:nvPicPr>
          <p:cNvPr id="15" name="Image 0">
            <a:extLst xmlns:a="http://schemas.openxmlformats.org/drawingml/2006/main">
              <a:ext uri="{FF2B5EF4-FFF2-40B4-BE49-F238E27FC236}">
                <a16:creationId xmlns:a16="http://schemas.microsoft.com/office/drawing/2014/main" id="{34B98C06-FA5D-411D-AD12-90C5058A9899}"/>
              </a:ext>
            </a:extLst>
          </p:cNvPr>
          <p:cNvPicPr>
            <a:picLocks xmlns:a="http://schemas.openxmlformats.org/drawingml/2006/main" noChangeAspect="1"/>
          </p:cNvPicPr>
          <p:nvPr/>
        </p:nvPicPr>
        <p:blipFill>
          <a:blip xmlns:r="http://schemas.openxmlformats.org/officeDocument/2006/relationships" xmlns:a="http://schemas.openxmlformats.org/drawingml/2006/main" r:embed="Rd0b9d4e4448543f9"/>
          <a:srcRect xmlns:a="http://schemas.openxmlformats.org/drawingml/2006/main" l="0" t="0" r="0" b="0"/>
          <a:stretch xmlns:a="http://schemas.openxmlformats.org/drawingml/2006/main"/>
        </p:blipFill>
        <p:spPr>
          <a:xfrm xmlns:a="http://schemas.openxmlformats.org/drawingml/2006/main">
            <a:off x="6500813" y="1690688"/>
            <a:ext cx="1690688" cy="2557463"/>
          </a:xfrm>
          <a:prstGeom xmlns:a="http://schemas.openxmlformats.org/drawingml/2006/main" prst="rect">
            <a:avLst/>
          </a:prstGeom>
        </p:spPr>
      </p:pic>
      <p:sp>
        <p:nvSpPr>
          <p:cNvPr id="16" name="Text 12">
            <a:extLst xmlns:a="http://schemas.openxmlformats.org/drawingml/2006/main">
              <a:ext uri="{FF2B5EF4-FFF2-40B4-BE49-F238E27FC236}">
                <a16:creationId xmlns:a16="http://schemas.microsoft.com/office/drawing/2014/main" id="{E3B33E68-8A42-42BE-B3DA-818FA4681682}"/>
              </a:ext>
            </a:extLst>
          </p:cNvPr>
          <p:cNvSpPr>
            <a:spLocks xmlns:a="http://schemas.openxmlformats.org/drawingml/2006/main" noGrp="1"/>
          </p:cNvSpPr>
          <p:nvPr/>
        </p:nvSpPr>
        <p:spPr>
          <a:xfrm xmlns:a="http://schemas.openxmlformats.org/drawingml/2006/main">
            <a:off x="6048375" y="4405313"/>
            <a:ext cx="2619375"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25"/>
              </a:lnSpc>
              <a:buNone/>
            </a:pPr>
            <a:r>
              <a:rPr sz="1140">
                <a:solidFill>
                  <a:srgbClr val="BAD9CF">
                    <a:alpha val="99000"/>
                  </a:srgbClr>
                </a:solidFill>
                <a:latin typeface="Inter"/>
                <a:ea typeface="Inter"/>
                <a:cs typeface="Inter"/>
              </a:rPr>
              <a:t>Choose the state check.</a:t>
            </a:r>
            <a:endParaRPr sz="1140"/>
          </a:p>
        </p:txBody>
      </p:sp>
      <p:sp>
        <p:nvSpPr>
          <p:cNvPr id="17" name="Text 13">
            <a:extLst xmlns:a="http://schemas.openxmlformats.org/drawingml/2006/main">
              <a:ext uri="{FF2B5EF4-FFF2-40B4-BE49-F238E27FC236}">
                <a16:creationId xmlns:a16="http://schemas.microsoft.com/office/drawing/2014/main" id="{856A484E-5657-4D6E-BD97-E48319A02358}"/>
              </a:ext>
            </a:extLst>
          </p:cNvPr>
          <p:cNvSpPr>
            <a:spLocks xmlns:a="http://schemas.openxmlformats.org/drawingml/2006/main" noGrp="1"/>
          </p:cNvSpPr>
          <p:nvPr/>
        </p:nvSpPr>
        <p:spPr>
          <a:xfrm xmlns:a="http://schemas.openxmlformats.org/drawingml/2006/main">
            <a:off x="8310562" y="4862513"/>
            <a:ext cx="619125" cy="1428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69"/>
              </a:lnSpc>
              <a:buNone/>
            </a:pPr>
            <a:r>
              <a:rPr sz="855">
                <a:solidFill>
                  <a:srgbClr val="BAD9CF">
                    <a:alpha val="99000"/>
                  </a:srgbClr>
                </a:solidFill>
                <a:latin typeface="Inter"/>
                <a:ea typeface="Inter"/>
                <a:cs typeface="Inter"/>
              </a:rPr>
              <a:t>17 / 29</a:t>
            </a:r>
            <a:endParaRPr sz="855"/>
          </a:p>
        </p:txBody>
      </p:sp>
    </p:spTree>
    <p:extLst>
      <p:ext uri="{BB962C8B-B14F-4D97-AF65-F5344CB8AC3E}">
        <p14:creationId xmlns:p14="http://schemas.microsoft.com/office/powerpoint/2010/main" val="730954918"/>
      </p:ext>
    </p:extLst>
  </p:cSld>
</p:sld>
</file>

<file path=ppt/slides/slide18.xml><?xml version="1.0" encoding="utf-8"?>
<p:sld xmlns:p="http://schemas.openxmlformats.org/presentationml/2006/main">
  <p:cSld>
    <p:bg>
      <p:bgPr>
        <a:blipFill xmlns:a="http://schemas.openxmlformats.org/drawingml/2006/main" rotWithShape="1">
          <a:blip xmlns:r="http://schemas.openxmlformats.org/officeDocument/2006/relationships" r:embed="Rf3b2211c69614720">
            <a:lum/>
          </a:blip>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5F108C72-EE67-44ED-B5F5-EEF714307071}"/>
              </a:ext>
            </a:extLst>
          </p:cNvPr>
          <p:cNvSpPr>
            <a:spLocks xmlns:a="http://schemas.openxmlformats.org/drawingml/2006/main" noGrp="1"/>
          </p:cNvSpPr>
          <p:nvPr/>
        </p:nvSpPr>
        <p:spPr>
          <a:xfrm xmlns:a="http://schemas.openxmlformats.org/drawingml/2006/main">
            <a:off x="571500" y="304800"/>
            <a:ext cx="8001000" cy="36671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759"/>
              </a:lnSpc>
              <a:buNone/>
            </a:pPr>
            <a:r>
              <a:rPr sz="2280" b="1">
                <a:solidFill>
                  <a:srgbClr val="5CE5BD">
                    <a:alpha val="99000"/>
                  </a:srgbClr>
                </a:solidFill>
                <a:latin typeface="Inter"/>
                <a:ea typeface="Inter"/>
                <a:cs typeface="Inter"/>
              </a:rPr>
              <a:t>Can an AI escape a maze using tools?</a:t>
            </a:r>
            <a:endParaRPr sz="2280"/>
          </a:p>
        </p:txBody>
      </p:sp>
      <p:sp>
        <p:nvSpPr>
          <p:cNvPr id="4" name="Text 1">
            <a:extLst xmlns:a="http://schemas.openxmlformats.org/drawingml/2006/main">
              <a:ext uri="{FF2B5EF4-FFF2-40B4-BE49-F238E27FC236}">
                <a16:creationId xmlns:a16="http://schemas.microsoft.com/office/drawing/2014/main" id="{C3688C41-4CF0-40E2-B413-FBD1901AAD3D}"/>
              </a:ext>
            </a:extLst>
          </p:cNvPr>
          <p:cNvSpPr>
            <a:spLocks xmlns:a="http://schemas.openxmlformats.org/drawingml/2006/main" noGrp="1"/>
          </p:cNvSpPr>
          <p:nvPr/>
        </p:nvSpPr>
        <p:spPr>
          <a:xfrm xmlns:a="http://schemas.openxmlformats.org/drawingml/2006/main">
            <a:off x="571500" y="976312"/>
            <a:ext cx="8001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23"/>
              </a:lnSpc>
              <a:buNone/>
            </a:pPr>
            <a:r>
              <a:rPr sz="1176">
                <a:solidFill>
                  <a:srgbClr val="F2FAF5">
                    <a:alpha val="99000"/>
                  </a:srgbClr>
                </a:solidFill>
                <a:latin typeface="Inter"/>
                <a:ea typeface="Inter"/>
                <a:cs typeface="Inter"/>
              </a:rPr>
              <a:t>The model chooses a move. The MCP server exposes controls. The maze app applies it.</a:t>
            </a:r>
            <a:endParaRPr sz="1176"/>
          </a:p>
        </p:txBody>
      </p:sp>
      <p:sp>
        <p:nvSpPr>
          <p:cNvPr id="5" name="Shape 2">
            <a:extLst xmlns:a="http://schemas.openxmlformats.org/drawingml/2006/main">
              <a:ext uri="{FF2B5EF4-FFF2-40B4-BE49-F238E27FC236}">
                <a16:creationId xmlns:a16="http://schemas.microsoft.com/office/drawing/2014/main" id="{0F69223E-F10F-4964-8825-AA2AE713B56B}"/>
              </a:ext>
            </a:extLst>
          </p:cNvPr>
          <p:cNvSpPr>
            <a:spLocks xmlns:a="http://schemas.openxmlformats.org/drawingml/2006/main" noGrp="1"/>
          </p:cNvSpPr>
          <p:nvPr/>
        </p:nvSpPr>
        <p:spPr>
          <a:xfrm xmlns:a="http://schemas.openxmlformats.org/drawingml/2006/main">
            <a:off x="809625" y="1428750"/>
            <a:ext cx="314325" cy="314325"/>
          </a:xfrm>
          <a:prstGeom xmlns:a="http://schemas.openxmlformats.org/drawingml/2006/main" prst="roundRect">
            <a:avLst/>
          </a:prstGeom>
          <a:solidFill xmlns:a="http://schemas.openxmlformats.org/drawingml/2006/main">
            <a:srgbClr val="143D36"/>
          </a:solidFill>
        </p:spPr>
      </p:sp>
      <p:sp>
        <p:nvSpPr>
          <p:cNvPr id="6" name="Shape 3">
            <a:extLst xmlns:a="http://schemas.openxmlformats.org/drawingml/2006/main">
              <a:ext uri="{FF2B5EF4-FFF2-40B4-BE49-F238E27FC236}">
                <a16:creationId xmlns:a16="http://schemas.microsoft.com/office/drawing/2014/main" id="{90A0D34A-D080-4B3E-B76D-520D982CF319}"/>
              </a:ext>
            </a:extLst>
          </p:cNvPr>
          <p:cNvSpPr>
            <a:spLocks xmlns:a="http://schemas.openxmlformats.org/drawingml/2006/main" noGrp="1"/>
          </p:cNvSpPr>
          <p:nvPr/>
        </p:nvSpPr>
        <p:spPr>
          <a:xfrm xmlns:a="http://schemas.openxmlformats.org/drawingml/2006/main">
            <a:off x="1143000" y="1428750"/>
            <a:ext cx="314325" cy="314325"/>
          </a:xfrm>
          <a:prstGeom xmlns:a="http://schemas.openxmlformats.org/drawingml/2006/main" prst="roundRect">
            <a:avLst/>
          </a:prstGeom>
          <a:solidFill xmlns:a="http://schemas.openxmlformats.org/drawingml/2006/main">
            <a:srgbClr val="143D36"/>
          </a:solidFill>
        </p:spPr>
      </p:sp>
      <p:sp>
        <p:nvSpPr>
          <p:cNvPr id="7" name="Shape 4">
            <a:extLst xmlns:a="http://schemas.openxmlformats.org/drawingml/2006/main">
              <a:ext uri="{FF2B5EF4-FFF2-40B4-BE49-F238E27FC236}">
                <a16:creationId xmlns:a16="http://schemas.microsoft.com/office/drawing/2014/main" id="{F89629AF-A61C-4B22-982B-9FFB7C7120E2}"/>
              </a:ext>
            </a:extLst>
          </p:cNvPr>
          <p:cNvSpPr>
            <a:spLocks xmlns:a="http://schemas.openxmlformats.org/drawingml/2006/main" noGrp="1"/>
          </p:cNvSpPr>
          <p:nvPr/>
        </p:nvSpPr>
        <p:spPr>
          <a:xfrm xmlns:a="http://schemas.openxmlformats.org/drawingml/2006/main">
            <a:off x="1476375" y="1428750"/>
            <a:ext cx="314325" cy="314325"/>
          </a:xfrm>
          <a:prstGeom xmlns:a="http://schemas.openxmlformats.org/drawingml/2006/main" prst="roundRect">
            <a:avLst/>
          </a:prstGeom>
          <a:solidFill xmlns:a="http://schemas.openxmlformats.org/drawingml/2006/main">
            <a:srgbClr val="143D36"/>
          </a:solidFill>
        </p:spPr>
      </p:sp>
      <p:sp>
        <p:nvSpPr>
          <p:cNvPr id="8" name="Shape 5">
            <a:extLst xmlns:a="http://schemas.openxmlformats.org/drawingml/2006/main">
              <a:ext uri="{FF2B5EF4-FFF2-40B4-BE49-F238E27FC236}">
                <a16:creationId xmlns:a16="http://schemas.microsoft.com/office/drawing/2014/main" id="{4638BD48-A726-44EE-8313-9DE1E538B82E}"/>
              </a:ext>
            </a:extLst>
          </p:cNvPr>
          <p:cNvSpPr>
            <a:spLocks xmlns:a="http://schemas.openxmlformats.org/drawingml/2006/main" noGrp="1"/>
          </p:cNvSpPr>
          <p:nvPr/>
        </p:nvSpPr>
        <p:spPr>
          <a:xfrm xmlns:a="http://schemas.openxmlformats.org/drawingml/2006/main">
            <a:off x="1809750" y="1428750"/>
            <a:ext cx="314325" cy="314325"/>
          </a:xfrm>
          <a:prstGeom xmlns:a="http://schemas.openxmlformats.org/drawingml/2006/main" prst="roundRect">
            <a:avLst/>
          </a:prstGeom>
          <a:solidFill xmlns:a="http://schemas.openxmlformats.org/drawingml/2006/main">
            <a:srgbClr val="143D36"/>
          </a:solidFill>
        </p:spPr>
      </p:sp>
      <p:sp>
        <p:nvSpPr>
          <p:cNvPr id="9" name="Shape 6">
            <a:extLst xmlns:a="http://schemas.openxmlformats.org/drawingml/2006/main">
              <a:ext uri="{FF2B5EF4-FFF2-40B4-BE49-F238E27FC236}">
                <a16:creationId xmlns:a16="http://schemas.microsoft.com/office/drawing/2014/main" id="{D069EA91-00F4-4847-A04E-097ECB809FFE}"/>
              </a:ext>
            </a:extLst>
          </p:cNvPr>
          <p:cNvSpPr>
            <a:spLocks xmlns:a="http://schemas.openxmlformats.org/drawingml/2006/main" noGrp="1"/>
          </p:cNvSpPr>
          <p:nvPr/>
        </p:nvSpPr>
        <p:spPr>
          <a:xfrm xmlns:a="http://schemas.openxmlformats.org/drawingml/2006/main">
            <a:off x="2143125" y="1428750"/>
            <a:ext cx="314325" cy="314325"/>
          </a:xfrm>
          <a:prstGeom xmlns:a="http://schemas.openxmlformats.org/drawingml/2006/main" prst="roundRect">
            <a:avLst/>
          </a:prstGeom>
          <a:solidFill xmlns:a="http://schemas.openxmlformats.org/drawingml/2006/main">
            <a:srgbClr val="143D36"/>
          </a:solidFill>
        </p:spPr>
      </p:sp>
      <p:sp>
        <p:nvSpPr>
          <p:cNvPr id="10" name="Shape 7">
            <a:extLst xmlns:a="http://schemas.openxmlformats.org/drawingml/2006/main">
              <a:ext uri="{FF2B5EF4-FFF2-40B4-BE49-F238E27FC236}">
                <a16:creationId xmlns:a16="http://schemas.microsoft.com/office/drawing/2014/main" id="{3D0F47B8-ABA8-4666-81E1-468FBDE6C324}"/>
              </a:ext>
            </a:extLst>
          </p:cNvPr>
          <p:cNvSpPr>
            <a:spLocks xmlns:a="http://schemas.openxmlformats.org/drawingml/2006/main" noGrp="1"/>
          </p:cNvSpPr>
          <p:nvPr/>
        </p:nvSpPr>
        <p:spPr>
          <a:xfrm xmlns:a="http://schemas.openxmlformats.org/drawingml/2006/main">
            <a:off x="2476500" y="1428750"/>
            <a:ext cx="314325" cy="314325"/>
          </a:xfrm>
          <a:prstGeom xmlns:a="http://schemas.openxmlformats.org/drawingml/2006/main" prst="roundRect">
            <a:avLst/>
          </a:prstGeom>
          <a:solidFill xmlns:a="http://schemas.openxmlformats.org/drawingml/2006/main">
            <a:srgbClr val="143D36"/>
          </a:solidFill>
        </p:spPr>
      </p:sp>
      <p:sp>
        <p:nvSpPr>
          <p:cNvPr id="11" name="Shape 8">
            <a:extLst xmlns:a="http://schemas.openxmlformats.org/drawingml/2006/main">
              <a:ext uri="{FF2B5EF4-FFF2-40B4-BE49-F238E27FC236}">
                <a16:creationId xmlns:a16="http://schemas.microsoft.com/office/drawing/2014/main" id="{9879ACE5-AD74-4C48-A328-03E967DE7B1E}"/>
              </a:ext>
            </a:extLst>
          </p:cNvPr>
          <p:cNvSpPr>
            <a:spLocks xmlns:a="http://schemas.openxmlformats.org/drawingml/2006/main" noGrp="1"/>
          </p:cNvSpPr>
          <p:nvPr/>
        </p:nvSpPr>
        <p:spPr>
          <a:xfrm xmlns:a="http://schemas.openxmlformats.org/drawingml/2006/main">
            <a:off x="2809875" y="1428750"/>
            <a:ext cx="314325" cy="314325"/>
          </a:xfrm>
          <a:prstGeom xmlns:a="http://schemas.openxmlformats.org/drawingml/2006/main" prst="roundRect">
            <a:avLst/>
          </a:prstGeom>
          <a:solidFill xmlns:a="http://schemas.openxmlformats.org/drawingml/2006/main">
            <a:srgbClr val="143D36"/>
          </a:solidFill>
        </p:spPr>
      </p:sp>
      <p:sp>
        <p:nvSpPr>
          <p:cNvPr id="12" name="Shape 9">
            <a:extLst xmlns:a="http://schemas.openxmlformats.org/drawingml/2006/main">
              <a:ext uri="{FF2B5EF4-FFF2-40B4-BE49-F238E27FC236}">
                <a16:creationId xmlns:a16="http://schemas.microsoft.com/office/drawing/2014/main" id="{40E94948-45BD-4140-8286-1D41FFD159D9}"/>
              </a:ext>
            </a:extLst>
          </p:cNvPr>
          <p:cNvSpPr>
            <a:spLocks xmlns:a="http://schemas.openxmlformats.org/drawingml/2006/main" noGrp="1"/>
          </p:cNvSpPr>
          <p:nvPr/>
        </p:nvSpPr>
        <p:spPr>
          <a:xfrm xmlns:a="http://schemas.openxmlformats.org/drawingml/2006/main">
            <a:off x="3143250" y="1428750"/>
            <a:ext cx="314325" cy="314325"/>
          </a:xfrm>
          <a:prstGeom xmlns:a="http://schemas.openxmlformats.org/drawingml/2006/main" prst="roundRect">
            <a:avLst/>
          </a:prstGeom>
          <a:solidFill xmlns:a="http://schemas.openxmlformats.org/drawingml/2006/main">
            <a:srgbClr val="143D36"/>
          </a:solidFill>
        </p:spPr>
      </p:sp>
      <p:sp>
        <p:nvSpPr>
          <p:cNvPr id="13" name="Shape 10">
            <a:extLst xmlns:a="http://schemas.openxmlformats.org/drawingml/2006/main">
              <a:ext uri="{FF2B5EF4-FFF2-40B4-BE49-F238E27FC236}">
                <a16:creationId xmlns:a16="http://schemas.microsoft.com/office/drawing/2014/main" id="{CBBD34B6-C415-4831-9543-7656DCF2AF13}"/>
              </a:ext>
            </a:extLst>
          </p:cNvPr>
          <p:cNvSpPr>
            <a:spLocks xmlns:a="http://schemas.openxmlformats.org/drawingml/2006/main" noGrp="1"/>
          </p:cNvSpPr>
          <p:nvPr/>
        </p:nvSpPr>
        <p:spPr>
          <a:xfrm xmlns:a="http://schemas.openxmlformats.org/drawingml/2006/main">
            <a:off x="809625" y="1762125"/>
            <a:ext cx="314325" cy="314325"/>
          </a:xfrm>
          <a:prstGeom xmlns:a="http://schemas.openxmlformats.org/drawingml/2006/main" prst="roundRect">
            <a:avLst/>
          </a:prstGeom>
          <a:solidFill xmlns:a="http://schemas.openxmlformats.org/drawingml/2006/main">
            <a:srgbClr val="143D36"/>
          </a:solidFill>
        </p:spPr>
      </p:sp>
      <p:sp>
        <p:nvSpPr>
          <p:cNvPr id="14" name="Shape 11">
            <a:extLst xmlns:a="http://schemas.openxmlformats.org/drawingml/2006/main">
              <a:ext uri="{FF2B5EF4-FFF2-40B4-BE49-F238E27FC236}">
                <a16:creationId xmlns:a16="http://schemas.microsoft.com/office/drawing/2014/main" id="{C648BD2A-EFBA-42AE-8486-C5CF12EE79B6}"/>
              </a:ext>
            </a:extLst>
          </p:cNvPr>
          <p:cNvSpPr>
            <a:spLocks xmlns:a="http://schemas.openxmlformats.org/drawingml/2006/main" noGrp="1"/>
          </p:cNvSpPr>
          <p:nvPr/>
        </p:nvSpPr>
        <p:spPr>
          <a:xfrm xmlns:a="http://schemas.openxmlformats.org/drawingml/2006/main">
            <a:off x="1143000" y="1762125"/>
            <a:ext cx="314325" cy="314325"/>
          </a:xfrm>
          <a:prstGeom xmlns:a="http://schemas.openxmlformats.org/drawingml/2006/main" prst="roundRect">
            <a:avLst/>
          </a:prstGeom>
          <a:solidFill xmlns:a="http://schemas.openxmlformats.org/drawingml/2006/main">
            <a:srgbClr val="5CE5BD"/>
          </a:solidFill>
        </p:spPr>
      </p:sp>
      <p:sp>
        <p:nvSpPr>
          <p:cNvPr id="15" name="Text 12">
            <a:extLst xmlns:a="http://schemas.openxmlformats.org/drawingml/2006/main">
              <a:ext uri="{FF2B5EF4-FFF2-40B4-BE49-F238E27FC236}">
                <a16:creationId xmlns:a16="http://schemas.microsoft.com/office/drawing/2014/main" id="{ED9BA28D-F16A-4B87-B48F-D270813496F2}"/>
              </a:ext>
            </a:extLst>
          </p:cNvPr>
          <p:cNvSpPr>
            <a:spLocks xmlns:a="http://schemas.openxmlformats.org/drawingml/2006/main" noGrp="1"/>
          </p:cNvSpPr>
          <p:nvPr/>
        </p:nvSpPr>
        <p:spPr>
          <a:xfrm xmlns:a="http://schemas.openxmlformats.org/drawingml/2006/main">
            <a:off x="1233488" y="1804988"/>
            <a:ext cx="1905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52"/>
              </a:lnSpc>
              <a:buNone/>
            </a:pPr>
            <a:r>
              <a:rPr sz="1283" b="1">
                <a:solidFill>
                  <a:srgbClr val="051F1A">
                    <a:alpha val="99000"/>
                  </a:srgbClr>
                </a:solidFill>
                <a:latin typeface="Inter"/>
                <a:ea typeface="Inter"/>
                <a:cs typeface="Inter"/>
              </a:rPr>
              <a:t>S</a:t>
            </a:r>
            <a:endParaRPr sz="1283"/>
          </a:p>
        </p:txBody>
      </p:sp>
      <p:sp>
        <p:nvSpPr>
          <p:cNvPr id="16" name="Shape 13">
            <a:extLst xmlns:a="http://schemas.openxmlformats.org/drawingml/2006/main">
              <a:ext uri="{FF2B5EF4-FFF2-40B4-BE49-F238E27FC236}">
                <a16:creationId xmlns:a16="http://schemas.microsoft.com/office/drawing/2014/main" id="{01AF98D1-B630-4022-8AC8-661F2AC26C16}"/>
              </a:ext>
            </a:extLst>
          </p:cNvPr>
          <p:cNvSpPr>
            <a:spLocks xmlns:a="http://schemas.openxmlformats.org/drawingml/2006/main" noGrp="1"/>
          </p:cNvSpPr>
          <p:nvPr/>
        </p:nvSpPr>
        <p:spPr>
          <a:xfrm xmlns:a="http://schemas.openxmlformats.org/drawingml/2006/main">
            <a:off x="1476375" y="1762125"/>
            <a:ext cx="314325" cy="314325"/>
          </a:xfrm>
          <a:prstGeom xmlns:a="http://schemas.openxmlformats.org/drawingml/2006/main" prst="roundRect">
            <a:avLst/>
          </a:prstGeom>
          <a:solidFill xmlns:a="http://schemas.openxmlformats.org/drawingml/2006/main">
            <a:srgbClr val="D9E8E0"/>
          </a:solidFill>
        </p:spPr>
      </p:sp>
      <p:sp>
        <p:nvSpPr>
          <p:cNvPr id="17" name="Shape 14">
            <a:extLst xmlns:a="http://schemas.openxmlformats.org/drawingml/2006/main">
              <a:ext uri="{FF2B5EF4-FFF2-40B4-BE49-F238E27FC236}">
                <a16:creationId xmlns:a16="http://schemas.microsoft.com/office/drawing/2014/main" id="{536BECE2-2E98-4B02-BE31-6FA5E99C7332}"/>
              </a:ext>
            </a:extLst>
          </p:cNvPr>
          <p:cNvSpPr>
            <a:spLocks xmlns:a="http://schemas.openxmlformats.org/drawingml/2006/main" noGrp="1"/>
          </p:cNvSpPr>
          <p:nvPr/>
        </p:nvSpPr>
        <p:spPr>
          <a:xfrm xmlns:a="http://schemas.openxmlformats.org/drawingml/2006/main">
            <a:off x="1809750" y="1762125"/>
            <a:ext cx="314325" cy="314325"/>
          </a:xfrm>
          <a:prstGeom xmlns:a="http://schemas.openxmlformats.org/drawingml/2006/main" prst="roundRect">
            <a:avLst/>
          </a:prstGeom>
          <a:solidFill xmlns:a="http://schemas.openxmlformats.org/drawingml/2006/main">
            <a:srgbClr val="D9E8E0"/>
          </a:solidFill>
        </p:spPr>
      </p:sp>
      <p:sp>
        <p:nvSpPr>
          <p:cNvPr id="18" name="Shape 15">
            <a:extLst xmlns:a="http://schemas.openxmlformats.org/drawingml/2006/main">
              <a:ext uri="{FF2B5EF4-FFF2-40B4-BE49-F238E27FC236}">
                <a16:creationId xmlns:a16="http://schemas.microsoft.com/office/drawing/2014/main" id="{B1C689A5-70C6-46A2-BC3E-15F7222189CD}"/>
              </a:ext>
            </a:extLst>
          </p:cNvPr>
          <p:cNvSpPr>
            <a:spLocks xmlns:a="http://schemas.openxmlformats.org/drawingml/2006/main" noGrp="1"/>
          </p:cNvSpPr>
          <p:nvPr/>
        </p:nvSpPr>
        <p:spPr>
          <a:xfrm xmlns:a="http://schemas.openxmlformats.org/drawingml/2006/main">
            <a:off x="2143125" y="1762125"/>
            <a:ext cx="314325" cy="314325"/>
          </a:xfrm>
          <a:prstGeom xmlns:a="http://schemas.openxmlformats.org/drawingml/2006/main" prst="roundRect">
            <a:avLst/>
          </a:prstGeom>
          <a:solidFill xmlns:a="http://schemas.openxmlformats.org/drawingml/2006/main">
            <a:srgbClr val="D9E8E0"/>
          </a:solidFill>
        </p:spPr>
      </p:sp>
      <p:sp>
        <p:nvSpPr>
          <p:cNvPr id="19" name="Shape 16">
            <a:extLst xmlns:a="http://schemas.openxmlformats.org/drawingml/2006/main">
              <a:ext uri="{FF2B5EF4-FFF2-40B4-BE49-F238E27FC236}">
                <a16:creationId xmlns:a16="http://schemas.microsoft.com/office/drawing/2014/main" id="{D93167AE-8E5C-42A6-9496-5D10119B8EB9}"/>
              </a:ext>
            </a:extLst>
          </p:cNvPr>
          <p:cNvSpPr>
            <a:spLocks xmlns:a="http://schemas.openxmlformats.org/drawingml/2006/main" noGrp="1"/>
          </p:cNvSpPr>
          <p:nvPr/>
        </p:nvSpPr>
        <p:spPr>
          <a:xfrm xmlns:a="http://schemas.openxmlformats.org/drawingml/2006/main">
            <a:off x="2476500" y="1762125"/>
            <a:ext cx="314325" cy="314325"/>
          </a:xfrm>
          <a:prstGeom xmlns:a="http://schemas.openxmlformats.org/drawingml/2006/main" prst="roundRect">
            <a:avLst/>
          </a:prstGeom>
          <a:solidFill xmlns:a="http://schemas.openxmlformats.org/drawingml/2006/main">
            <a:srgbClr val="D9E8E0"/>
          </a:solidFill>
        </p:spPr>
      </p:sp>
      <p:sp>
        <p:nvSpPr>
          <p:cNvPr id="20" name="Shape 17">
            <a:extLst xmlns:a="http://schemas.openxmlformats.org/drawingml/2006/main">
              <a:ext uri="{FF2B5EF4-FFF2-40B4-BE49-F238E27FC236}">
                <a16:creationId xmlns:a16="http://schemas.microsoft.com/office/drawing/2014/main" id="{AB34A7EE-D2BF-4F96-B75D-EE1ED27398EF}"/>
              </a:ext>
            </a:extLst>
          </p:cNvPr>
          <p:cNvSpPr>
            <a:spLocks xmlns:a="http://schemas.openxmlformats.org/drawingml/2006/main" noGrp="1"/>
          </p:cNvSpPr>
          <p:nvPr/>
        </p:nvSpPr>
        <p:spPr>
          <a:xfrm xmlns:a="http://schemas.openxmlformats.org/drawingml/2006/main">
            <a:off x="2809875" y="1762125"/>
            <a:ext cx="314325" cy="314325"/>
          </a:xfrm>
          <a:prstGeom xmlns:a="http://schemas.openxmlformats.org/drawingml/2006/main" prst="roundRect">
            <a:avLst/>
          </a:prstGeom>
          <a:solidFill xmlns:a="http://schemas.openxmlformats.org/drawingml/2006/main">
            <a:srgbClr val="D9E8E0"/>
          </a:solidFill>
        </p:spPr>
      </p:sp>
      <p:sp>
        <p:nvSpPr>
          <p:cNvPr id="21" name="Shape 18">
            <a:extLst xmlns:a="http://schemas.openxmlformats.org/drawingml/2006/main">
              <a:ext uri="{FF2B5EF4-FFF2-40B4-BE49-F238E27FC236}">
                <a16:creationId xmlns:a16="http://schemas.microsoft.com/office/drawing/2014/main" id="{902B4A11-90FD-4279-BE80-DBEBEBAB7EB0}"/>
              </a:ext>
            </a:extLst>
          </p:cNvPr>
          <p:cNvSpPr>
            <a:spLocks xmlns:a="http://schemas.openxmlformats.org/drawingml/2006/main" noGrp="1"/>
          </p:cNvSpPr>
          <p:nvPr/>
        </p:nvSpPr>
        <p:spPr>
          <a:xfrm xmlns:a="http://schemas.openxmlformats.org/drawingml/2006/main">
            <a:off x="3143250" y="1762125"/>
            <a:ext cx="314325" cy="314325"/>
          </a:xfrm>
          <a:prstGeom xmlns:a="http://schemas.openxmlformats.org/drawingml/2006/main" prst="roundRect">
            <a:avLst/>
          </a:prstGeom>
          <a:solidFill xmlns:a="http://schemas.openxmlformats.org/drawingml/2006/main">
            <a:srgbClr val="143D36"/>
          </a:solidFill>
        </p:spPr>
      </p:sp>
      <p:sp>
        <p:nvSpPr>
          <p:cNvPr id="22" name="Shape 19">
            <a:extLst xmlns:a="http://schemas.openxmlformats.org/drawingml/2006/main">
              <a:ext uri="{FF2B5EF4-FFF2-40B4-BE49-F238E27FC236}">
                <a16:creationId xmlns:a16="http://schemas.microsoft.com/office/drawing/2014/main" id="{E43C8359-862A-4769-A2AA-CB86CD8B93BC}"/>
              </a:ext>
            </a:extLst>
          </p:cNvPr>
          <p:cNvSpPr>
            <a:spLocks xmlns:a="http://schemas.openxmlformats.org/drawingml/2006/main" noGrp="1"/>
          </p:cNvSpPr>
          <p:nvPr/>
        </p:nvSpPr>
        <p:spPr>
          <a:xfrm xmlns:a="http://schemas.openxmlformats.org/drawingml/2006/main">
            <a:off x="809625" y="2095500"/>
            <a:ext cx="314325" cy="314325"/>
          </a:xfrm>
          <a:prstGeom xmlns:a="http://schemas.openxmlformats.org/drawingml/2006/main" prst="roundRect">
            <a:avLst/>
          </a:prstGeom>
          <a:solidFill xmlns:a="http://schemas.openxmlformats.org/drawingml/2006/main">
            <a:srgbClr val="143D36"/>
          </a:solidFill>
        </p:spPr>
      </p:sp>
      <p:sp>
        <p:nvSpPr>
          <p:cNvPr id="23" name="Shape 20">
            <a:extLst xmlns:a="http://schemas.openxmlformats.org/drawingml/2006/main">
              <a:ext uri="{FF2B5EF4-FFF2-40B4-BE49-F238E27FC236}">
                <a16:creationId xmlns:a16="http://schemas.microsoft.com/office/drawing/2014/main" id="{8BD50A38-33B3-4027-A43E-2CDCF6A8D709}"/>
              </a:ext>
            </a:extLst>
          </p:cNvPr>
          <p:cNvSpPr>
            <a:spLocks xmlns:a="http://schemas.openxmlformats.org/drawingml/2006/main" noGrp="1"/>
          </p:cNvSpPr>
          <p:nvPr/>
        </p:nvSpPr>
        <p:spPr>
          <a:xfrm xmlns:a="http://schemas.openxmlformats.org/drawingml/2006/main">
            <a:off x="1143000" y="2095500"/>
            <a:ext cx="314325" cy="314325"/>
          </a:xfrm>
          <a:prstGeom xmlns:a="http://schemas.openxmlformats.org/drawingml/2006/main" prst="roundRect">
            <a:avLst/>
          </a:prstGeom>
          <a:solidFill xmlns:a="http://schemas.openxmlformats.org/drawingml/2006/main">
            <a:srgbClr val="143D36"/>
          </a:solidFill>
        </p:spPr>
      </p:sp>
      <p:sp>
        <p:nvSpPr>
          <p:cNvPr id="24" name="Shape 21">
            <a:extLst xmlns:a="http://schemas.openxmlformats.org/drawingml/2006/main">
              <a:ext uri="{FF2B5EF4-FFF2-40B4-BE49-F238E27FC236}">
                <a16:creationId xmlns:a16="http://schemas.microsoft.com/office/drawing/2014/main" id="{2AD7A053-92C5-42C2-A96D-105A056596AF}"/>
              </a:ext>
            </a:extLst>
          </p:cNvPr>
          <p:cNvSpPr>
            <a:spLocks xmlns:a="http://schemas.openxmlformats.org/drawingml/2006/main" noGrp="1"/>
          </p:cNvSpPr>
          <p:nvPr/>
        </p:nvSpPr>
        <p:spPr>
          <a:xfrm xmlns:a="http://schemas.openxmlformats.org/drawingml/2006/main">
            <a:off x="1476375" y="2095500"/>
            <a:ext cx="314325" cy="314325"/>
          </a:xfrm>
          <a:prstGeom xmlns:a="http://schemas.openxmlformats.org/drawingml/2006/main" prst="roundRect">
            <a:avLst/>
          </a:prstGeom>
          <a:solidFill xmlns:a="http://schemas.openxmlformats.org/drawingml/2006/main">
            <a:srgbClr val="143D36"/>
          </a:solidFill>
        </p:spPr>
      </p:sp>
      <p:sp>
        <p:nvSpPr>
          <p:cNvPr id="25" name="Shape 22">
            <a:extLst xmlns:a="http://schemas.openxmlformats.org/drawingml/2006/main">
              <a:ext uri="{FF2B5EF4-FFF2-40B4-BE49-F238E27FC236}">
                <a16:creationId xmlns:a16="http://schemas.microsoft.com/office/drawing/2014/main" id="{38AD14D5-0ECA-475F-AE7A-4B6F4F1796BE}"/>
              </a:ext>
            </a:extLst>
          </p:cNvPr>
          <p:cNvSpPr>
            <a:spLocks xmlns:a="http://schemas.openxmlformats.org/drawingml/2006/main" noGrp="1"/>
          </p:cNvSpPr>
          <p:nvPr/>
        </p:nvSpPr>
        <p:spPr>
          <a:xfrm xmlns:a="http://schemas.openxmlformats.org/drawingml/2006/main">
            <a:off x="1809750" y="2095500"/>
            <a:ext cx="314325" cy="314325"/>
          </a:xfrm>
          <a:prstGeom xmlns:a="http://schemas.openxmlformats.org/drawingml/2006/main" prst="roundRect">
            <a:avLst/>
          </a:prstGeom>
          <a:solidFill xmlns:a="http://schemas.openxmlformats.org/drawingml/2006/main">
            <a:srgbClr val="143D36"/>
          </a:solidFill>
        </p:spPr>
      </p:sp>
      <p:sp>
        <p:nvSpPr>
          <p:cNvPr id="26" name="Shape 23">
            <a:extLst xmlns:a="http://schemas.openxmlformats.org/drawingml/2006/main">
              <a:ext uri="{FF2B5EF4-FFF2-40B4-BE49-F238E27FC236}">
                <a16:creationId xmlns:a16="http://schemas.microsoft.com/office/drawing/2014/main" id="{10E425C7-8E58-4B54-851C-3EF0B2A0E1A2}"/>
              </a:ext>
            </a:extLst>
          </p:cNvPr>
          <p:cNvSpPr>
            <a:spLocks xmlns:a="http://schemas.openxmlformats.org/drawingml/2006/main" noGrp="1"/>
          </p:cNvSpPr>
          <p:nvPr/>
        </p:nvSpPr>
        <p:spPr>
          <a:xfrm xmlns:a="http://schemas.openxmlformats.org/drawingml/2006/main">
            <a:off x="2143125" y="2095500"/>
            <a:ext cx="314325" cy="314325"/>
          </a:xfrm>
          <a:prstGeom xmlns:a="http://schemas.openxmlformats.org/drawingml/2006/main" prst="roundRect">
            <a:avLst/>
          </a:prstGeom>
          <a:solidFill xmlns:a="http://schemas.openxmlformats.org/drawingml/2006/main">
            <a:srgbClr val="143D36"/>
          </a:solidFill>
        </p:spPr>
      </p:sp>
      <p:sp>
        <p:nvSpPr>
          <p:cNvPr id="27" name="Shape 24">
            <a:extLst xmlns:a="http://schemas.openxmlformats.org/drawingml/2006/main">
              <a:ext uri="{FF2B5EF4-FFF2-40B4-BE49-F238E27FC236}">
                <a16:creationId xmlns:a16="http://schemas.microsoft.com/office/drawing/2014/main" id="{665F97AA-B921-4258-A794-61489A9332F7}"/>
              </a:ext>
            </a:extLst>
          </p:cNvPr>
          <p:cNvSpPr>
            <a:spLocks xmlns:a="http://schemas.openxmlformats.org/drawingml/2006/main" noGrp="1"/>
          </p:cNvSpPr>
          <p:nvPr/>
        </p:nvSpPr>
        <p:spPr>
          <a:xfrm xmlns:a="http://schemas.openxmlformats.org/drawingml/2006/main">
            <a:off x="2476500" y="2095500"/>
            <a:ext cx="314325" cy="314325"/>
          </a:xfrm>
          <a:prstGeom xmlns:a="http://schemas.openxmlformats.org/drawingml/2006/main" prst="roundRect">
            <a:avLst/>
          </a:prstGeom>
          <a:solidFill xmlns:a="http://schemas.openxmlformats.org/drawingml/2006/main">
            <a:srgbClr val="D9E8E0"/>
          </a:solidFill>
        </p:spPr>
      </p:sp>
      <p:sp>
        <p:nvSpPr>
          <p:cNvPr id="28" name="Shape 25">
            <a:extLst xmlns:a="http://schemas.openxmlformats.org/drawingml/2006/main">
              <a:ext uri="{FF2B5EF4-FFF2-40B4-BE49-F238E27FC236}">
                <a16:creationId xmlns:a16="http://schemas.microsoft.com/office/drawing/2014/main" id="{15C36A11-3B3A-4C1B-9D98-E02CFD72596A}"/>
              </a:ext>
            </a:extLst>
          </p:cNvPr>
          <p:cNvSpPr>
            <a:spLocks xmlns:a="http://schemas.openxmlformats.org/drawingml/2006/main" noGrp="1"/>
          </p:cNvSpPr>
          <p:nvPr/>
        </p:nvSpPr>
        <p:spPr>
          <a:xfrm xmlns:a="http://schemas.openxmlformats.org/drawingml/2006/main">
            <a:off x="2809875" y="2095500"/>
            <a:ext cx="314325" cy="314325"/>
          </a:xfrm>
          <a:prstGeom xmlns:a="http://schemas.openxmlformats.org/drawingml/2006/main" prst="roundRect">
            <a:avLst/>
          </a:prstGeom>
          <a:solidFill xmlns:a="http://schemas.openxmlformats.org/drawingml/2006/main">
            <a:srgbClr val="D9E8E0"/>
          </a:solidFill>
        </p:spPr>
      </p:sp>
      <p:sp>
        <p:nvSpPr>
          <p:cNvPr id="29" name="Shape 26">
            <a:extLst xmlns:a="http://schemas.openxmlformats.org/drawingml/2006/main">
              <a:ext uri="{FF2B5EF4-FFF2-40B4-BE49-F238E27FC236}">
                <a16:creationId xmlns:a16="http://schemas.microsoft.com/office/drawing/2014/main" id="{9AEC45D2-FBE5-4A2B-82A9-4CA8F6F0827E}"/>
              </a:ext>
            </a:extLst>
          </p:cNvPr>
          <p:cNvSpPr>
            <a:spLocks xmlns:a="http://schemas.openxmlformats.org/drawingml/2006/main" noGrp="1"/>
          </p:cNvSpPr>
          <p:nvPr/>
        </p:nvSpPr>
        <p:spPr>
          <a:xfrm xmlns:a="http://schemas.openxmlformats.org/drawingml/2006/main">
            <a:off x="3143250" y="2095500"/>
            <a:ext cx="314325" cy="314325"/>
          </a:xfrm>
          <a:prstGeom xmlns:a="http://schemas.openxmlformats.org/drawingml/2006/main" prst="roundRect">
            <a:avLst/>
          </a:prstGeom>
          <a:solidFill xmlns:a="http://schemas.openxmlformats.org/drawingml/2006/main">
            <a:srgbClr val="143D36"/>
          </a:solidFill>
        </p:spPr>
      </p:sp>
      <p:sp>
        <p:nvSpPr>
          <p:cNvPr id="30" name="Shape 27">
            <a:extLst xmlns:a="http://schemas.openxmlformats.org/drawingml/2006/main">
              <a:ext uri="{FF2B5EF4-FFF2-40B4-BE49-F238E27FC236}">
                <a16:creationId xmlns:a16="http://schemas.microsoft.com/office/drawing/2014/main" id="{53516306-2B7A-41EA-8E64-AC4CFDDDB6E8}"/>
              </a:ext>
            </a:extLst>
          </p:cNvPr>
          <p:cNvSpPr>
            <a:spLocks xmlns:a="http://schemas.openxmlformats.org/drawingml/2006/main" noGrp="1"/>
          </p:cNvSpPr>
          <p:nvPr/>
        </p:nvSpPr>
        <p:spPr>
          <a:xfrm xmlns:a="http://schemas.openxmlformats.org/drawingml/2006/main">
            <a:off x="809625" y="2428875"/>
            <a:ext cx="314325" cy="314325"/>
          </a:xfrm>
          <a:prstGeom xmlns:a="http://schemas.openxmlformats.org/drawingml/2006/main" prst="roundRect">
            <a:avLst/>
          </a:prstGeom>
          <a:solidFill xmlns:a="http://schemas.openxmlformats.org/drawingml/2006/main">
            <a:srgbClr val="143D36"/>
          </a:solidFill>
        </p:spPr>
      </p:sp>
      <p:sp>
        <p:nvSpPr>
          <p:cNvPr id="31" name="Shape 28">
            <a:extLst xmlns:a="http://schemas.openxmlformats.org/drawingml/2006/main">
              <a:ext uri="{FF2B5EF4-FFF2-40B4-BE49-F238E27FC236}">
                <a16:creationId xmlns:a16="http://schemas.microsoft.com/office/drawing/2014/main" id="{4151CBBB-D04C-41FF-B831-9838F2F1C791}"/>
              </a:ext>
            </a:extLst>
          </p:cNvPr>
          <p:cNvSpPr>
            <a:spLocks xmlns:a="http://schemas.openxmlformats.org/drawingml/2006/main" noGrp="1"/>
          </p:cNvSpPr>
          <p:nvPr/>
        </p:nvSpPr>
        <p:spPr>
          <a:xfrm xmlns:a="http://schemas.openxmlformats.org/drawingml/2006/main">
            <a:off x="1143000" y="2428875"/>
            <a:ext cx="314325" cy="314325"/>
          </a:xfrm>
          <a:prstGeom xmlns:a="http://schemas.openxmlformats.org/drawingml/2006/main" prst="roundRect">
            <a:avLst/>
          </a:prstGeom>
          <a:solidFill xmlns:a="http://schemas.openxmlformats.org/drawingml/2006/main">
            <a:srgbClr val="D9E8E0"/>
          </a:solidFill>
        </p:spPr>
      </p:sp>
      <p:sp>
        <p:nvSpPr>
          <p:cNvPr id="32" name="Shape 29">
            <a:extLst xmlns:a="http://schemas.openxmlformats.org/drawingml/2006/main">
              <a:ext uri="{FF2B5EF4-FFF2-40B4-BE49-F238E27FC236}">
                <a16:creationId xmlns:a16="http://schemas.microsoft.com/office/drawing/2014/main" id="{0945E09C-2E61-4812-B1E7-E17933FDB88C}"/>
              </a:ext>
            </a:extLst>
          </p:cNvPr>
          <p:cNvSpPr>
            <a:spLocks xmlns:a="http://schemas.openxmlformats.org/drawingml/2006/main" noGrp="1"/>
          </p:cNvSpPr>
          <p:nvPr/>
        </p:nvSpPr>
        <p:spPr>
          <a:xfrm xmlns:a="http://schemas.openxmlformats.org/drawingml/2006/main">
            <a:off x="1476375" y="2428875"/>
            <a:ext cx="314325" cy="314325"/>
          </a:xfrm>
          <a:prstGeom xmlns:a="http://schemas.openxmlformats.org/drawingml/2006/main" prst="roundRect">
            <a:avLst/>
          </a:prstGeom>
          <a:solidFill xmlns:a="http://schemas.openxmlformats.org/drawingml/2006/main">
            <a:srgbClr val="D9E8E0"/>
          </a:solidFill>
        </p:spPr>
      </p:sp>
      <p:sp>
        <p:nvSpPr>
          <p:cNvPr id="33" name="Shape 30">
            <a:extLst xmlns:a="http://schemas.openxmlformats.org/drawingml/2006/main">
              <a:ext uri="{FF2B5EF4-FFF2-40B4-BE49-F238E27FC236}">
                <a16:creationId xmlns:a16="http://schemas.microsoft.com/office/drawing/2014/main" id="{0C8F99F1-44EA-43ED-BA5B-6E18BBCE082D}"/>
              </a:ext>
            </a:extLst>
          </p:cNvPr>
          <p:cNvSpPr>
            <a:spLocks xmlns:a="http://schemas.openxmlformats.org/drawingml/2006/main" noGrp="1"/>
          </p:cNvSpPr>
          <p:nvPr/>
        </p:nvSpPr>
        <p:spPr>
          <a:xfrm xmlns:a="http://schemas.openxmlformats.org/drawingml/2006/main">
            <a:off x="1809750" y="2428875"/>
            <a:ext cx="314325" cy="314325"/>
          </a:xfrm>
          <a:prstGeom xmlns:a="http://schemas.openxmlformats.org/drawingml/2006/main" prst="roundRect">
            <a:avLst/>
          </a:prstGeom>
          <a:solidFill xmlns:a="http://schemas.openxmlformats.org/drawingml/2006/main">
            <a:srgbClr val="D9E8E0"/>
          </a:solidFill>
        </p:spPr>
      </p:sp>
      <p:sp>
        <p:nvSpPr>
          <p:cNvPr id="34" name="Shape 31">
            <a:extLst xmlns:a="http://schemas.openxmlformats.org/drawingml/2006/main">
              <a:ext uri="{FF2B5EF4-FFF2-40B4-BE49-F238E27FC236}">
                <a16:creationId xmlns:a16="http://schemas.microsoft.com/office/drawing/2014/main" id="{34F4311F-313A-40C7-8CB1-628F238B8C42}"/>
              </a:ext>
            </a:extLst>
          </p:cNvPr>
          <p:cNvSpPr>
            <a:spLocks xmlns:a="http://schemas.openxmlformats.org/drawingml/2006/main" noGrp="1"/>
          </p:cNvSpPr>
          <p:nvPr/>
        </p:nvSpPr>
        <p:spPr>
          <a:xfrm xmlns:a="http://schemas.openxmlformats.org/drawingml/2006/main">
            <a:off x="2143125" y="2428875"/>
            <a:ext cx="314325" cy="314325"/>
          </a:xfrm>
          <a:prstGeom xmlns:a="http://schemas.openxmlformats.org/drawingml/2006/main" prst="roundRect">
            <a:avLst/>
          </a:prstGeom>
          <a:solidFill xmlns:a="http://schemas.openxmlformats.org/drawingml/2006/main">
            <a:srgbClr val="143D36"/>
          </a:solidFill>
        </p:spPr>
      </p:sp>
      <p:sp>
        <p:nvSpPr>
          <p:cNvPr id="35" name="Shape 32">
            <a:extLst xmlns:a="http://schemas.openxmlformats.org/drawingml/2006/main">
              <a:ext uri="{FF2B5EF4-FFF2-40B4-BE49-F238E27FC236}">
                <a16:creationId xmlns:a16="http://schemas.microsoft.com/office/drawing/2014/main" id="{D188CB00-A078-48B1-B1CF-402B26F26730}"/>
              </a:ext>
            </a:extLst>
          </p:cNvPr>
          <p:cNvSpPr>
            <a:spLocks xmlns:a="http://schemas.openxmlformats.org/drawingml/2006/main" noGrp="1"/>
          </p:cNvSpPr>
          <p:nvPr/>
        </p:nvSpPr>
        <p:spPr>
          <a:xfrm xmlns:a="http://schemas.openxmlformats.org/drawingml/2006/main">
            <a:off x="2476500" y="2428875"/>
            <a:ext cx="314325" cy="314325"/>
          </a:xfrm>
          <a:prstGeom xmlns:a="http://schemas.openxmlformats.org/drawingml/2006/main" prst="roundRect">
            <a:avLst/>
          </a:prstGeom>
          <a:solidFill xmlns:a="http://schemas.openxmlformats.org/drawingml/2006/main">
            <a:srgbClr val="D9E8E0"/>
          </a:solidFill>
        </p:spPr>
      </p:sp>
      <p:sp>
        <p:nvSpPr>
          <p:cNvPr id="36" name="Shape 33">
            <a:extLst xmlns:a="http://schemas.openxmlformats.org/drawingml/2006/main">
              <a:ext uri="{FF2B5EF4-FFF2-40B4-BE49-F238E27FC236}">
                <a16:creationId xmlns:a16="http://schemas.microsoft.com/office/drawing/2014/main" id="{0ECD8FB1-B2C3-47E6-BDC0-2A09E5C4CB03}"/>
              </a:ext>
            </a:extLst>
          </p:cNvPr>
          <p:cNvSpPr>
            <a:spLocks xmlns:a="http://schemas.openxmlformats.org/drawingml/2006/main" noGrp="1"/>
          </p:cNvSpPr>
          <p:nvPr/>
        </p:nvSpPr>
        <p:spPr>
          <a:xfrm xmlns:a="http://schemas.openxmlformats.org/drawingml/2006/main">
            <a:off x="2809875" y="2428875"/>
            <a:ext cx="314325" cy="314325"/>
          </a:xfrm>
          <a:prstGeom xmlns:a="http://schemas.openxmlformats.org/drawingml/2006/main" prst="roundRect">
            <a:avLst/>
          </a:prstGeom>
          <a:solidFill xmlns:a="http://schemas.openxmlformats.org/drawingml/2006/main">
            <a:srgbClr val="D9E8E0"/>
          </a:solidFill>
        </p:spPr>
      </p:sp>
      <p:sp>
        <p:nvSpPr>
          <p:cNvPr id="37" name="Shape 34">
            <a:extLst xmlns:a="http://schemas.openxmlformats.org/drawingml/2006/main">
              <a:ext uri="{FF2B5EF4-FFF2-40B4-BE49-F238E27FC236}">
                <a16:creationId xmlns:a16="http://schemas.microsoft.com/office/drawing/2014/main" id="{C007DC73-CBBC-47DE-9CA3-C80005CD7BB7}"/>
              </a:ext>
            </a:extLst>
          </p:cNvPr>
          <p:cNvSpPr>
            <a:spLocks xmlns:a="http://schemas.openxmlformats.org/drawingml/2006/main" noGrp="1"/>
          </p:cNvSpPr>
          <p:nvPr/>
        </p:nvSpPr>
        <p:spPr>
          <a:xfrm xmlns:a="http://schemas.openxmlformats.org/drawingml/2006/main">
            <a:off x="3143250" y="2428875"/>
            <a:ext cx="314325" cy="314325"/>
          </a:xfrm>
          <a:prstGeom xmlns:a="http://schemas.openxmlformats.org/drawingml/2006/main" prst="roundRect">
            <a:avLst/>
          </a:prstGeom>
          <a:solidFill xmlns:a="http://schemas.openxmlformats.org/drawingml/2006/main">
            <a:srgbClr val="143D36"/>
          </a:solidFill>
        </p:spPr>
      </p:sp>
      <p:sp>
        <p:nvSpPr>
          <p:cNvPr id="38" name="Shape 35">
            <a:extLst xmlns:a="http://schemas.openxmlformats.org/drawingml/2006/main">
              <a:ext uri="{FF2B5EF4-FFF2-40B4-BE49-F238E27FC236}">
                <a16:creationId xmlns:a16="http://schemas.microsoft.com/office/drawing/2014/main" id="{56B1D4A4-62C7-4358-A498-B266C9028D68}"/>
              </a:ext>
            </a:extLst>
          </p:cNvPr>
          <p:cNvSpPr>
            <a:spLocks xmlns:a="http://schemas.openxmlformats.org/drawingml/2006/main" noGrp="1"/>
          </p:cNvSpPr>
          <p:nvPr/>
        </p:nvSpPr>
        <p:spPr>
          <a:xfrm xmlns:a="http://schemas.openxmlformats.org/drawingml/2006/main">
            <a:off x="809625" y="2762250"/>
            <a:ext cx="314325" cy="314325"/>
          </a:xfrm>
          <a:prstGeom xmlns:a="http://schemas.openxmlformats.org/drawingml/2006/main" prst="roundRect">
            <a:avLst/>
          </a:prstGeom>
          <a:solidFill xmlns:a="http://schemas.openxmlformats.org/drawingml/2006/main">
            <a:srgbClr val="143D36"/>
          </a:solidFill>
        </p:spPr>
      </p:sp>
      <p:sp>
        <p:nvSpPr>
          <p:cNvPr id="39" name="Shape 36">
            <a:extLst xmlns:a="http://schemas.openxmlformats.org/drawingml/2006/main">
              <a:ext uri="{FF2B5EF4-FFF2-40B4-BE49-F238E27FC236}">
                <a16:creationId xmlns:a16="http://schemas.microsoft.com/office/drawing/2014/main" id="{2DB66B66-880A-4972-9E2B-40379AA3ED6E}"/>
              </a:ext>
            </a:extLst>
          </p:cNvPr>
          <p:cNvSpPr>
            <a:spLocks xmlns:a="http://schemas.openxmlformats.org/drawingml/2006/main" noGrp="1"/>
          </p:cNvSpPr>
          <p:nvPr/>
        </p:nvSpPr>
        <p:spPr>
          <a:xfrm xmlns:a="http://schemas.openxmlformats.org/drawingml/2006/main">
            <a:off x="1143000" y="2762250"/>
            <a:ext cx="314325" cy="314325"/>
          </a:xfrm>
          <a:prstGeom xmlns:a="http://schemas.openxmlformats.org/drawingml/2006/main" prst="roundRect">
            <a:avLst/>
          </a:prstGeom>
          <a:solidFill xmlns:a="http://schemas.openxmlformats.org/drawingml/2006/main">
            <a:srgbClr val="D9E8E0"/>
          </a:solidFill>
        </p:spPr>
      </p:sp>
      <p:sp>
        <p:nvSpPr>
          <p:cNvPr id="40" name="Shape 37">
            <a:extLst xmlns:a="http://schemas.openxmlformats.org/drawingml/2006/main">
              <a:ext uri="{FF2B5EF4-FFF2-40B4-BE49-F238E27FC236}">
                <a16:creationId xmlns:a16="http://schemas.microsoft.com/office/drawing/2014/main" id="{0172B19A-A4A9-4561-9113-6382CA75C08E}"/>
              </a:ext>
            </a:extLst>
          </p:cNvPr>
          <p:cNvSpPr>
            <a:spLocks xmlns:a="http://schemas.openxmlformats.org/drawingml/2006/main" noGrp="1"/>
          </p:cNvSpPr>
          <p:nvPr/>
        </p:nvSpPr>
        <p:spPr>
          <a:xfrm xmlns:a="http://schemas.openxmlformats.org/drawingml/2006/main">
            <a:off x="1476375" y="2762250"/>
            <a:ext cx="314325" cy="314325"/>
          </a:xfrm>
          <a:prstGeom xmlns:a="http://schemas.openxmlformats.org/drawingml/2006/main" prst="roundRect">
            <a:avLst/>
          </a:prstGeom>
          <a:solidFill xmlns:a="http://schemas.openxmlformats.org/drawingml/2006/main">
            <a:srgbClr val="143D36"/>
          </a:solidFill>
        </p:spPr>
      </p:sp>
      <p:sp>
        <p:nvSpPr>
          <p:cNvPr id="41" name="Shape 38">
            <a:extLst xmlns:a="http://schemas.openxmlformats.org/drawingml/2006/main">
              <a:ext uri="{FF2B5EF4-FFF2-40B4-BE49-F238E27FC236}">
                <a16:creationId xmlns:a16="http://schemas.microsoft.com/office/drawing/2014/main" id="{FD36C7C1-1352-4EC4-823F-762A2625B274}"/>
              </a:ext>
            </a:extLst>
          </p:cNvPr>
          <p:cNvSpPr>
            <a:spLocks xmlns:a="http://schemas.openxmlformats.org/drawingml/2006/main" noGrp="1"/>
          </p:cNvSpPr>
          <p:nvPr/>
        </p:nvSpPr>
        <p:spPr>
          <a:xfrm xmlns:a="http://schemas.openxmlformats.org/drawingml/2006/main">
            <a:off x="1809750" y="2762250"/>
            <a:ext cx="314325" cy="314325"/>
          </a:xfrm>
          <a:prstGeom xmlns:a="http://schemas.openxmlformats.org/drawingml/2006/main" prst="roundRect">
            <a:avLst/>
          </a:prstGeom>
          <a:solidFill xmlns:a="http://schemas.openxmlformats.org/drawingml/2006/main">
            <a:srgbClr val="D9E8E0"/>
          </a:solidFill>
        </p:spPr>
      </p:sp>
      <p:sp>
        <p:nvSpPr>
          <p:cNvPr id="42" name="Shape 39">
            <a:extLst xmlns:a="http://schemas.openxmlformats.org/drawingml/2006/main">
              <a:ext uri="{FF2B5EF4-FFF2-40B4-BE49-F238E27FC236}">
                <a16:creationId xmlns:a16="http://schemas.microsoft.com/office/drawing/2014/main" id="{2BDFAB98-74B6-4548-935C-BCBD9E1A3885}"/>
              </a:ext>
            </a:extLst>
          </p:cNvPr>
          <p:cNvSpPr>
            <a:spLocks xmlns:a="http://schemas.openxmlformats.org/drawingml/2006/main" noGrp="1"/>
          </p:cNvSpPr>
          <p:nvPr/>
        </p:nvSpPr>
        <p:spPr>
          <a:xfrm xmlns:a="http://schemas.openxmlformats.org/drawingml/2006/main">
            <a:off x="2143125" y="2762250"/>
            <a:ext cx="314325" cy="314325"/>
          </a:xfrm>
          <a:prstGeom xmlns:a="http://schemas.openxmlformats.org/drawingml/2006/main" prst="roundRect">
            <a:avLst/>
          </a:prstGeom>
          <a:solidFill xmlns:a="http://schemas.openxmlformats.org/drawingml/2006/main">
            <a:srgbClr val="143D36"/>
          </a:solidFill>
        </p:spPr>
      </p:sp>
      <p:sp>
        <p:nvSpPr>
          <p:cNvPr id="43" name="Shape 40">
            <a:extLst xmlns:a="http://schemas.openxmlformats.org/drawingml/2006/main">
              <a:ext uri="{FF2B5EF4-FFF2-40B4-BE49-F238E27FC236}">
                <a16:creationId xmlns:a16="http://schemas.microsoft.com/office/drawing/2014/main" id="{9A894A8C-B8E6-459E-976A-668D63495609}"/>
              </a:ext>
            </a:extLst>
          </p:cNvPr>
          <p:cNvSpPr>
            <a:spLocks xmlns:a="http://schemas.openxmlformats.org/drawingml/2006/main" noGrp="1"/>
          </p:cNvSpPr>
          <p:nvPr/>
        </p:nvSpPr>
        <p:spPr>
          <a:xfrm xmlns:a="http://schemas.openxmlformats.org/drawingml/2006/main">
            <a:off x="2476500" y="2762250"/>
            <a:ext cx="314325" cy="314325"/>
          </a:xfrm>
          <a:prstGeom xmlns:a="http://schemas.openxmlformats.org/drawingml/2006/main" prst="roundRect">
            <a:avLst/>
          </a:prstGeom>
          <a:solidFill xmlns:a="http://schemas.openxmlformats.org/drawingml/2006/main">
            <a:srgbClr val="D9E8E0"/>
          </a:solidFill>
        </p:spPr>
      </p:sp>
      <p:sp>
        <p:nvSpPr>
          <p:cNvPr id="44" name="Shape 41">
            <a:extLst xmlns:a="http://schemas.openxmlformats.org/drawingml/2006/main">
              <a:ext uri="{FF2B5EF4-FFF2-40B4-BE49-F238E27FC236}">
                <a16:creationId xmlns:a16="http://schemas.microsoft.com/office/drawing/2014/main" id="{97EBAA55-DC79-4740-9A69-6ABF87F0B462}"/>
              </a:ext>
            </a:extLst>
          </p:cNvPr>
          <p:cNvSpPr>
            <a:spLocks xmlns:a="http://schemas.openxmlformats.org/drawingml/2006/main" noGrp="1"/>
          </p:cNvSpPr>
          <p:nvPr/>
        </p:nvSpPr>
        <p:spPr>
          <a:xfrm xmlns:a="http://schemas.openxmlformats.org/drawingml/2006/main">
            <a:off x="2809875" y="2762250"/>
            <a:ext cx="314325" cy="314325"/>
          </a:xfrm>
          <a:prstGeom xmlns:a="http://schemas.openxmlformats.org/drawingml/2006/main" prst="roundRect">
            <a:avLst/>
          </a:prstGeom>
          <a:solidFill xmlns:a="http://schemas.openxmlformats.org/drawingml/2006/main">
            <a:srgbClr val="143D36"/>
          </a:solidFill>
        </p:spPr>
      </p:sp>
      <p:sp>
        <p:nvSpPr>
          <p:cNvPr id="45" name="Shape 42">
            <a:extLst xmlns:a="http://schemas.openxmlformats.org/drawingml/2006/main">
              <a:ext uri="{FF2B5EF4-FFF2-40B4-BE49-F238E27FC236}">
                <a16:creationId xmlns:a16="http://schemas.microsoft.com/office/drawing/2014/main" id="{AFC3F5F1-0EF8-4BF3-B522-7221C5E7A2D8}"/>
              </a:ext>
            </a:extLst>
          </p:cNvPr>
          <p:cNvSpPr>
            <a:spLocks xmlns:a="http://schemas.openxmlformats.org/drawingml/2006/main" noGrp="1"/>
          </p:cNvSpPr>
          <p:nvPr/>
        </p:nvSpPr>
        <p:spPr>
          <a:xfrm xmlns:a="http://schemas.openxmlformats.org/drawingml/2006/main">
            <a:off x="3143250" y="2762250"/>
            <a:ext cx="314325" cy="314325"/>
          </a:xfrm>
          <a:prstGeom xmlns:a="http://schemas.openxmlformats.org/drawingml/2006/main" prst="roundRect">
            <a:avLst/>
          </a:prstGeom>
          <a:solidFill xmlns:a="http://schemas.openxmlformats.org/drawingml/2006/main">
            <a:srgbClr val="143D36"/>
          </a:solidFill>
        </p:spPr>
      </p:sp>
      <p:sp>
        <p:nvSpPr>
          <p:cNvPr id="46" name="Shape 43">
            <a:extLst xmlns:a="http://schemas.openxmlformats.org/drawingml/2006/main">
              <a:ext uri="{FF2B5EF4-FFF2-40B4-BE49-F238E27FC236}">
                <a16:creationId xmlns:a16="http://schemas.microsoft.com/office/drawing/2014/main" id="{F60BEE12-C46A-41AC-A2A9-20AC35A967A5}"/>
              </a:ext>
            </a:extLst>
          </p:cNvPr>
          <p:cNvSpPr>
            <a:spLocks xmlns:a="http://schemas.openxmlformats.org/drawingml/2006/main" noGrp="1"/>
          </p:cNvSpPr>
          <p:nvPr/>
        </p:nvSpPr>
        <p:spPr>
          <a:xfrm xmlns:a="http://schemas.openxmlformats.org/drawingml/2006/main">
            <a:off x="809625" y="3095625"/>
            <a:ext cx="314325" cy="314325"/>
          </a:xfrm>
          <a:prstGeom xmlns:a="http://schemas.openxmlformats.org/drawingml/2006/main" prst="roundRect">
            <a:avLst/>
          </a:prstGeom>
          <a:solidFill xmlns:a="http://schemas.openxmlformats.org/drawingml/2006/main">
            <a:srgbClr val="143D36"/>
          </a:solidFill>
        </p:spPr>
      </p:sp>
      <p:sp>
        <p:nvSpPr>
          <p:cNvPr id="47" name="Shape 44">
            <a:extLst xmlns:a="http://schemas.openxmlformats.org/drawingml/2006/main">
              <a:ext uri="{FF2B5EF4-FFF2-40B4-BE49-F238E27FC236}">
                <a16:creationId xmlns:a16="http://schemas.microsoft.com/office/drawing/2014/main" id="{2B3A0CBC-14E6-4426-B07B-9DC94C58C7AE}"/>
              </a:ext>
            </a:extLst>
          </p:cNvPr>
          <p:cNvSpPr>
            <a:spLocks xmlns:a="http://schemas.openxmlformats.org/drawingml/2006/main" noGrp="1"/>
          </p:cNvSpPr>
          <p:nvPr/>
        </p:nvSpPr>
        <p:spPr>
          <a:xfrm xmlns:a="http://schemas.openxmlformats.org/drawingml/2006/main">
            <a:off x="1143000" y="3095625"/>
            <a:ext cx="314325" cy="314325"/>
          </a:xfrm>
          <a:prstGeom xmlns:a="http://schemas.openxmlformats.org/drawingml/2006/main" prst="roundRect">
            <a:avLst/>
          </a:prstGeom>
          <a:solidFill xmlns:a="http://schemas.openxmlformats.org/drawingml/2006/main">
            <a:srgbClr val="D9E8E0"/>
          </a:solidFill>
        </p:spPr>
      </p:sp>
      <p:sp>
        <p:nvSpPr>
          <p:cNvPr id="48" name="Shape 45">
            <a:extLst xmlns:a="http://schemas.openxmlformats.org/drawingml/2006/main">
              <a:ext uri="{FF2B5EF4-FFF2-40B4-BE49-F238E27FC236}">
                <a16:creationId xmlns:a16="http://schemas.microsoft.com/office/drawing/2014/main" id="{856569A2-E5F4-42D7-AE3A-E04F01D76D87}"/>
              </a:ext>
            </a:extLst>
          </p:cNvPr>
          <p:cNvSpPr>
            <a:spLocks xmlns:a="http://schemas.openxmlformats.org/drawingml/2006/main" noGrp="1"/>
          </p:cNvSpPr>
          <p:nvPr/>
        </p:nvSpPr>
        <p:spPr>
          <a:xfrm xmlns:a="http://schemas.openxmlformats.org/drawingml/2006/main">
            <a:off x="1476375" y="3095625"/>
            <a:ext cx="314325" cy="314325"/>
          </a:xfrm>
          <a:prstGeom xmlns:a="http://schemas.openxmlformats.org/drawingml/2006/main" prst="roundRect">
            <a:avLst/>
          </a:prstGeom>
          <a:solidFill xmlns:a="http://schemas.openxmlformats.org/drawingml/2006/main">
            <a:srgbClr val="143D36"/>
          </a:solidFill>
        </p:spPr>
      </p:sp>
      <p:sp>
        <p:nvSpPr>
          <p:cNvPr id="49" name="Shape 46">
            <a:extLst xmlns:a="http://schemas.openxmlformats.org/drawingml/2006/main">
              <a:ext uri="{FF2B5EF4-FFF2-40B4-BE49-F238E27FC236}">
                <a16:creationId xmlns:a16="http://schemas.microsoft.com/office/drawing/2014/main" id="{E672FCA7-EAD2-4038-932F-3466F3AF409D}"/>
              </a:ext>
            </a:extLst>
          </p:cNvPr>
          <p:cNvSpPr>
            <a:spLocks xmlns:a="http://schemas.openxmlformats.org/drawingml/2006/main" noGrp="1"/>
          </p:cNvSpPr>
          <p:nvPr/>
        </p:nvSpPr>
        <p:spPr>
          <a:xfrm xmlns:a="http://schemas.openxmlformats.org/drawingml/2006/main">
            <a:off x="1809750" y="3095625"/>
            <a:ext cx="314325" cy="314325"/>
          </a:xfrm>
          <a:prstGeom xmlns:a="http://schemas.openxmlformats.org/drawingml/2006/main" prst="roundRect">
            <a:avLst/>
          </a:prstGeom>
          <a:solidFill xmlns:a="http://schemas.openxmlformats.org/drawingml/2006/main">
            <a:srgbClr val="D9E8E0"/>
          </a:solidFill>
        </p:spPr>
      </p:sp>
      <p:sp>
        <p:nvSpPr>
          <p:cNvPr id="50" name="Shape 47">
            <a:extLst xmlns:a="http://schemas.openxmlformats.org/drawingml/2006/main">
              <a:ext uri="{FF2B5EF4-FFF2-40B4-BE49-F238E27FC236}">
                <a16:creationId xmlns:a16="http://schemas.microsoft.com/office/drawing/2014/main" id="{D46AC22D-8853-4620-BA78-A8E0162BFCED}"/>
              </a:ext>
            </a:extLst>
          </p:cNvPr>
          <p:cNvSpPr>
            <a:spLocks xmlns:a="http://schemas.openxmlformats.org/drawingml/2006/main" noGrp="1"/>
          </p:cNvSpPr>
          <p:nvPr/>
        </p:nvSpPr>
        <p:spPr>
          <a:xfrm xmlns:a="http://schemas.openxmlformats.org/drawingml/2006/main">
            <a:off x="2143125" y="3095625"/>
            <a:ext cx="314325" cy="314325"/>
          </a:xfrm>
          <a:prstGeom xmlns:a="http://schemas.openxmlformats.org/drawingml/2006/main" prst="roundRect">
            <a:avLst/>
          </a:prstGeom>
          <a:solidFill xmlns:a="http://schemas.openxmlformats.org/drawingml/2006/main">
            <a:srgbClr val="D9E8E0"/>
          </a:solidFill>
        </p:spPr>
      </p:sp>
      <p:sp>
        <p:nvSpPr>
          <p:cNvPr id="51" name="Shape 48">
            <a:extLst xmlns:a="http://schemas.openxmlformats.org/drawingml/2006/main">
              <a:ext uri="{FF2B5EF4-FFF2-40B4-BE49-F238E27FC236}">
                <a16:creationId xmlns:a16="http://schemas.microsoft.com/office/drawing/2014/main" id="{222ADE33-7A0C-4CFA-A83D-74335E77BE05}"/>
              </a:ext>
            </a:extLst>
          </p:cNvPr>
          <p:cNvSpPr>
            <a:spLocks xmlns:a="http://schemas.openxmlformats.org/drawingml/2006/main" noGrp="1"/>
          </p:cNvSpPr>
          <p:nvPr/>
        </p:nvSpPr>
        <p:spPr>
          <a:xfrm xmlns:a="http://schemas.openxmlformats.org/drawingml/2006/main">
            <a:off x="2476500" y="3095625"/>
            <a:ext cx="314325" cy="314325"/>
          </a:xfrm>
          <a:prstGeom xmlns:a="http://schemas.openxmlformats.org/drawingml/2006/main" prst="roundRect">
            <a:avLst/>
          </a:prstGeom>
          <a:solidFill xmlns:a="http://schemas.openxmlformats.org/drawingml/2006/main">
            <a:srgbClr val="D9E8E0"/>
          </a:solidFill>
        </p:spPr>
      </p:sp>
      <p:sp>
        <p:nvSpPr>
          <p:cNvPr id="52" name="Shape 49">
            <a:extLst xmlns:a="http://schemas.openxmlformats.org/drawingml/2006/main">
              <a:ext uri="{FF2B5EF4-FFF2-40B4-BE49-F238E27FC236}">
                <a16:creationId xmlns:a16="http://schemas.microsoft.com/office/drawing/2014/main" id="{4EA20115-4304-464E-BB76-566894B7AA2E}"/>
              </a:ext>
            </a:extLst>
          </p:cNvPr>
          <p:cNvSpPr>
            <a:spLocks xmlns:a="http://schemas.openxmlformats.org/drawingml/2006/main" noGrp="1"/>
          </p:cNvSpPr>
          <p:nvPr/>
        </p:nvSpPr>
        <p:spPr>
          <a:xfrm xmlns:a="http://schemas.openxmlformats.org/drawingml/2006/main">
            <a:off x="2809875" y="3095625"/>
            <a:ext cx="314325" cy="314325"/>
          </a:xfrm>
          <a:prstGeom xmlns:a="http://schemas.openxmlformats.org/drawingml/2006/main" prst="roundRect">
            <a:avLst/>
          </a:prstGeom>
          <a:solidFill xmlns:a="http://schemas.openxmlformats.org/drawingml/2006/main">
            <a:srgbClr val="D9E8E0"/>
          </a:solidFill>
        </p:spPr>
      </p:sp>
      <p:sp>
        <p:nvSpPr>
          <p:cNvPr id="53" name="Shape 50">
            <a:extLst xmlns:a="http://schemas.openxmlformats.org/drawingml/2006/main">
              <a:ext uri="{FF2B5EF4-FFF2-40B4-BE49-F238E27FC236}">
                <a16:creationId xmlns:a16="http://schemas.microsoft.com/office/drawing/2014/main" id="{2499FD34-B508-4090-AD63-20FFD69A56BA}"/>
              </a:ext>
            </a:extLst>
          </p:cNvPr>
          <p:cNvSpPr>
            <a:spLocks xmlns:a="http://schemas.openxmlformats.org/drawingml/2006/main" noGrp="1"/>
          </p:cNvSpPr>
          <p:nvPr/>
        </p:nvSpPr>
        <p:spPr>
          <a:xfrm xmlns:a="http://schemas.openxmlformats.org/drawingml/2006/main">
            <a:off x="3143250" y="3095625"/>
            <a:ext cx="314325" cy="314325"/>
          </a:xfrm>
          <a:prstGeom xmlns:a="http://schemas.openxmlformats.org/drawingml/2006/main" prst="roundRect">
            <a:avLst/>
          </a:prstGeom>
          <a:solidFill xmlns:a="http://schemas.openxmlformats.org/drawingml/2006/main">
            <a:srgbClr val="143D36"/>
          </a:solidFill>
        </p:spPr>
      </p:sp>
      <p:sp>
        <p:nvSpPr>
          <p:cNvPr id="54" name="Shape 51">
            <a:extLst xmlns:a="http://schemas.openxmlformats.org/drawingml/2006/main">
              <a:ext uri="{FF2B5EF4-FFF2-40B4-BE49-F238E27FC236}">
                <a16:creationId xmlns:a16="http://schemas.microsoft.com/office/drawing/2014/main" id="{AE586469-8FC0-442E-9212-83022EC13220}"/>
              </a:ext>
            </a:extLst>
          </p:cNvPr>
          <p:cNvSpPr>
            <a:spLocks xmlns:a="http://schemas.openxmlformats.org/drawingml/2006/main" noGrp="1"/>
          </p:cNvSpPr>
          <p:nvPr/>
        </p:nvSpPr>
        <p:spPr>
          <a:xfrm xmlns:a="http://schemas.openxmlformats.org/drawingml/2006/main">
            <a:off x="809625" y="3429000"/>
            <a:ext cx="314325" cy="314325"/>
          </a:xfrm>
          <a:prstGeom xmlns:a="http://schemas.openxmlformats.org/drawingml/2006/main" prst="roundRect">
            <a:avLst/>
          </a:prstGeom>
          <a:solidFill xmlns:a="http://schemas.openxmlformats.org/drawingml/2006/main">
            <a:srgbClr val="143D36"/>
          </a:solidFill>
        </p:spPr>
      </p:sp>
      <p:sp>
        <p:nvSpPr>
          <p:cNvPr id="55" name="Shape 52">
            <a:extLst xmlns:a="http://schemas.openxmlformats.org/drawingml/2006/main">
              <a:ext uri="{FF2B5EF4-FFF2-40B4-BE49-F238E27FC236}">
                <a16:creationId xmlns:a16="http://schemas.microsoft.com/office/drawing/2014/main" id="{FA195664-5484-408F-9DD9-8B9900275CDC}"/>
              </a:ext>
            </a:extLst>
          </p:cNvPr>
          <p:cNvSpPr>
            <a:spLocks xmlns:a="http://schemas.openxmlformats.org/drawingml/2006/main" noGrp="1"/>
          </p:cNvSpPr>
          <p:nvPr/>
        </p:nvSpPr>
        <p:spPr>
          <a:xfrm xmlns:a="http://schemas.openxmlformats.org/drawingml/2006/main">
            <a:off x="1143000" y="3429000"/>
            <a:ext cx="314325" cy="314325"/>
          </a:xfrm>
          <a:prstGeom xmlns:a="http://schemas.openxmlformats.org/drawingml/2006/main" prst="roundRect">
            <a:avLst/>
          </a:prstGeom>
          <a:solidFill xmlns:a="http://schemas.openxmlformats.org/drawingml/2006/main">
            <a:srgbClr val="D9E8E0"/>
          </a:solidFill>
        </p:spPr>
      </p:sp>
      <p:sp>
        <p:nvSpPr>
          <p:cNvPr id="56" name="Shape 53">
            <a:extLst xmlns:a="http://schemas.openxmlformats.org/drawingml/2006/main">
              <a:ext uri="{FF2B5EF4-FFF2-40B4-BE49-F238E27FC236}">
                <a16:creationId xmlns:a16="http://schemas.microsoft.com/office/drawing/2014/main" id="{88ADE820-8220-436B-8A04-4E8EF21FD85B}"/>
              </a:ext>
            </a:extLst>
          </p:cNvPr>
          <p:cNvSpPr>
            <a:spLocks xmlns:a="http://schemas.openxmlformats.org/drawingml/2006/main" noGrp="1"/>
          </p:cNvSpPr>
          <p:nvPr/>
        </p:nvSpPr>
        <p:spPr>
          <a:xfrm xmlns:a="http://schemas.openxmlformats.org/drawingml/2006/main">
            <a:off x="1476375" y="3429000"/>
            <a:ext cx="314325" cy="314325"/>
          </a:xfrm>
          <a:prstGeom xmlns:a="http://schemas.openxmlformats.org/drawingml/2006/main" prst="roundRect">
            <a:avLst/>
          </a:prstGeom>
          <a:solidFill xmlns:a="http://schemas.openxmlformats.org/drawingml/2006/main">
            <a:srgbClr val="143D36"/>
          </a:solidFill>
        </p:spPr>
      </p:sp>
      <p:sp>
        <p:nvSpPr>
          <p:cNvPr id="57" name="Shape 54">
            <a:extLst xmlns:a="http://schemas.openxmlformats.org/drawingml/2006/main">
              <a:ext uri="{FF2B5EF4-FFF2-40B4-BE49-F238E27FC236}">
                <a16:creationId xmlns:a16="http://schemas.microsoft.com/office/drawing/2014/main" id="{6E0C405A-2514-46CD-90D8-D0C008EF5B88}"/>
              </a:ext>
            </a:extLst>
          </p:cNvPr>
          <p:cNvSpPr>
            <a:spLocks xmlns:a="http://schemas.openxmlformats.org/drawingml/2006/main" noGrp="1"/>
          </p:cNvSpPr>
          <p:nvPr/>
        </p:nvSpPr>
        <p:spPr>
          <a:xfrm xmlns:a="http://schemas.openxmlformats.org/drawingml/2006/main">
            <a:off x="1809750" y="3429000"/>
            <a:ext cx="314325" cy="314325"/>
          </a:xfrm>
          <a:prstGeom xmlns:a="http://schemas.openxmlformats.org/drawingml/2006/main" prst="roundRect">
            <a:avLst/>
          </a:prstGeom>
          <a:solidFill xmlns:a="http://schemas.openxmlformats.org/drawingml/2006/main">
            <a:srgbClr val="143D36"/>
          </a:solidFill>
        </p:spPr>
      </p:sp>
      <p:sp>
        <p:nvSpPr>
          <p:cNvPr id="58" name="Shape 55">
            <a:extLst xmlns:a="http://schemas.openxmlformats.org/drawingml/2006/main">
              <a:ext uri="{FF2B5EF4-FFF2-40B4-BE49-F238E27FC236}">
                <a16:creationId xmlns:a16="http://schemas.microsoft.com/office/drawing/2014/main" id="{0F37C014-0F0A-4FAB-955D-C9BA4CAE93F3}"/>
              </a:ext>
            </a:extLst>
          </p:cNvPr>
          <p:cNvSpPr>
            <a:spLocks xmlns:a="http://schemas.openxmlformats.org/drawingml/2006/main" noGrp="1"/>
          </p:cNvSpPr>
          <p:nvPr/>
        </p:nvSpPr>
        <p:spPr>
          <a:xfrm xmlns:a="http://schemas.openxmlformats.org/drawingml/2006/main">
            <a:off x="2143125" y="3429000"/>
            <a:ext cx="314325" cy="314325"/>
          </a:xfrm>
          <a:prstGeom xmlns:a="http://schemas.openxmlformats.org/drawingml/2006/main" prst="roundRect">
            <a:avLst/>
          </a:prstGeom>
          <a:solidFill xmlns:a="http://schemas.openxmlformats.org/drawingml/2006/main">
            <a:srgbClr val="143D36"/>
          </a:solidFill>
        </p:spPr>
      </p:sp>
      <p:sp>
        <p:nvSpPr>
          <p:cNvPr id="59" name="Shape 56">
            <a:extLst xmlns:a="http://schemas.openxmlformats.org/drawingml/2006/main">
              <a:ext uri="{FF2B5EF4-FFF2-40B4-BE49-F238E27FC236}">
                <a16:creationId xmlns:a16="http://schemas.microsoft.com/office/drawing/2014/main" id="{19D25233-1DE9-4F0A-A61E-602EB3CCE078}"/>
              </a:ext>
            </a:extLst>
          </p:cNvPr>
          <p:cNvSpPr>
            <a:spLocks xmlns:a="http://schemas.openxmlformats.org/drawingml/2006/main" noGrp="1"/>
          </p:cNvSpPr>
          <p:nvPr/>
        </p:nvSpPr>
        <p:spPr>
          <a:xfrm xmlns:a="http://schemas.openxmlformats.org/drawingml/2006/main">
            <a:off x="2476500" y="3429000"/>
            <a:ext cx="314325" cy="314325"/>
          </a:xfrm>
          <a:prstGeom xmlns:a="http://schemas.openxmlformats.org/drawingml/2006/main" prst="roundRect">
            <a:avLst/>
          </a:prstGeom>
          <a:solidFill xmlns:a="http://schemas.openxmlformats.org/drawingml/2006/main">
            <a:srgbClr val="143D36"/>
          </a:solidFill>
        </p:spPr>
      </p:sp>
      <p:sp>
        <p:nvSpPr>
          <p:cNvPr id="60" name="Shape 57">
            <a:extLst xmlns:a="http://schemas.openxmlformats.org/drawingml/2006/main">
              <a:ext uri="{FF2B5EF4-FFF2-40B4-BE49-F238E27FC236}">
                <a16:creationId xmlns:a16="http://schemas.microsoft.com/office/drawing/2014/main" id="{D380C468-4036-4CDF-A099-BC1762B0CD7E}"/>
              </a:ext>
            </a:extLst>
          </p:cNvPr>
          <p:cNvSpPr>
            <a:spLocks xmlns:a="http://schemas.openxmlformats.org/drawingml/2006/main" noGrp="1"/>
          </p:cNvSpPr>
          <p:nvPr/>
        </p:nvSpPr>
        <p:spPr>
          <a:xfrm xmlns:a="http://schemas.openxmlformats.org/drawingml/2006/main">
            <a:off x="2809875" y="3429000"/>
            <a:ext cx="314325" cy="314325"/>
          </a:xfrm>
          <a:prstGeom xmlns:a="http://schemas.openxmlformats.org/drawingml/2006/main" prst="roundRect">
            <a:avLst/>
          </a:prstGeom>
          <a:solidFill xmlns:a="http://schemas.openxmlformats.org/drawingml/2006/main">
            <a:srgbClr val="FAB84D"/>
          </a:solidFill>
        </p:spPr>
      </p:sp>
      <p:sp>
        <p:nvSpPr>
          <p:cNvPr id="61" name="Text 58">
            <a:extLst xmlns:a="http://schemas.openxmlformats.org/drawingml/2006/main">
              <a:ext uri="{FF2B5EF4-FFF2-40B4-BE49-F238E27FC236}">
                <a16:creationId xmlns:a16="http://schemas.microsoft.com/office/drawing/2014/main" id="{920D4E42-DE5D-4AE7-99CD-7826A48940DB}"/>
              </a:ext>
            </a:extLst>
          </p:cNvPr>
          <p:cNvSpPr>
            <a:spLocks xmlns:a="http://schemas.openxmlformats.org/drawingml/2006/main" noGrp="1"/>
          </p:cNvSpPr>
          <p:nvPr/>
        </p:nvSpPr>
        <p:spPr>
          <a:xfrm xmlns:a="http://schemas.openxmlformats.org/drawingml/2006/main">
            <a:off x="2900363" y="3471863"/>
            <a:ext cx="1905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52"/>
              </a:lnSpc>
              <a:buNone/>
            </a:pPr>
            <a:r>
              <a:rPr sz="1283" b="1">
                <a:solidFill>
                  <a:srgbClr val="051F1A">
                    <a:alpha val="99000"/>
                  </a:srgbClr>
                </a:solidFill>
                <a:latin typeface="Inter"/>
                <a:ea typeface="Inter"/>
                <a:cs typeface="Inter"/>
              </a:rPr>
              <a:t>E</a:t>
            </a:r>
            <a:endParaRPr sz="1283"/>
          </a:p>
        </p:txBody>
      </p:sp>
      <p:sp>
        <p:nvSpPr>
          <p:cNvPr id="62" name="Shape 59">
            <a:extLst xmlns:a="http://schemas.openxmlformats.org/drawingml/2006/main">
              <a:ext uri="{FF2B5EF4-FFF2-40B4-BE49-F238E27FC236}">
                <a16:creationId xmlns:a16="http://schemas.microsoft.com/office/drawing/2014/main" id="{9630D961-422C-40E0-B742-87A3621AD422}"/>
              </a:ext>
            </a:extLst>
          </p:cNvPr>
          <p:cNvSpPr>
            <a:spLocks xmlns:a="http://schemas.openxmlformats.org/drawingml/2006/main" noGrp="1"/>
          </p:cNvSpPr>
          <p:nvPr/>
        </p:nvSpPr>
        <p:spPr>
          <a:xfrm xmlns:a="http://schemas.openxmlformats.org/drawingml/2006/main">
            <a:off x="3143250" y="3429000"/>
            <a:ext cx="314325" cy="314325"/>
          </a:xfrm>
          <a:prstGeom xmlns:a="http://schemas.openxmlformats.org/drawingml/2006/main" prst="roundRect">
            <a:avLst/>
          </a:prstGeom>
          <a:solidFill xmlns:a="http://schemas.openxmlformats.org/drawingml/2006/main">
            <a:srgbClr val="143D36"/>
          </a:solidFill>
        </p:spPr>
      </p:sp>
      <p:sp>
        <p:nvSpPr>
          <p:cNvPr id="63" name="Shape 60">
            <a:extLst xmlns:a="http://schemas.openxmlformats.org/drawingml/2006/main">
              <a:ext uri="{FF2B5EF4-FFF2-40B4-BE49-F238E27FC236}">
                <a16:creationId xmlns:a16="http://schemas.microsoft.com/office/drawing/2014/main" id="{1639591A-9063-43B6-A451-547CB3F3B076}"/>
              </a:ext>
            </a:extLst>
          </p:cNvPr>
          <p:cNvSpPr>
            <a:spLocks xmlns:a="http://schemas.openxmlformats.org/drawingml/2006/main" noGrp="1"/>
          </p:cNvSpPr>
          <p:nvPr/>
        </p:nvSpPr>
        <p:spPr>
          <a:xfrm xmlns:a="http://schemas.openxmlformats.org/drawingml/2006/main">
            <a:off x="809625" y="3762375"/>
            <a:ext cx="314325" cy="314325"/>
          </a:xfrm>
          <a:prstGeom xmlns:a="http://schemas.openxmlformats.org/drawingml/2006/main" prst="roundRect">
            <a:avLst/>
          </a:prstGeom>
          <a:solidFill xmlns:a="http://schemas.openxmlformats.org/drawingml/2006/main">
            <a:srgbClr val="143D36"/>
          </a:solidFill>
        </p:spPr>
      </p:sp>
      <p:sp>
        <p:nvSpPr>
          <p:cNvPr id="64" name="Shape 61">
            <a:extLst xmlns:a="http://schemas.openxmlformats.org/drawingml/2006/main">
              <a:ext uri="{FF2B5EF4-FFF2-40B4-BE49-F238E27FC236}">
                <a16:creationId xmlns:a16="http://schemas.microsoft.com/office/drawing/2014/main" id="{311C786E-3C1D-48FD-93FB-41DE01044C93}"/>
              </a:ext>
            </a:extLst>
          </p:cNvPr>
          <p:cNvSpPr>
            <a:spLocks xmlns:a="http://schemas.openxmlformats.org/drawingml/2006/main" noGrp="1"/>
          </p:cNvSpPr>
          <p:nvPr/>
        </p:nvSpPr>
        <p:spPr>
          <a:xfrm xmlns:a="http://schemas.openxmlformats.org/drawingml/2006/main">
            <a:off x="1143000" y="3762375"/>
            <a:ext cx="314325" cy="314325"/>
          </a:xfrm>
          <a:prstGeom xmlns:a="http://schemas.openxmlformats.org/drawingml/2006/main" prst="roundRect">
            <a:avLst/>
          </a:prstGeom>
          <a:solidFill xmlns:a="http://schemas.openxmlformats.org/drawingml/2006/main">
            <a:srgbClr val="143D36"/>
          </a:solidFill>
        </p:spPr>
      </p:sp>
      <p:sp>
        <p:nvSpPr>
          <p:cNvPr id="65" name="Shape 62">
            <a:extLst xmlns:a="http://schemas.openxmlformats.org/drawingml/2006/main">
              <a:ext uri="{FF2B5EF4-FFF2-40B4-BE49-F238E27FC236}">
                <a16:creationId xmlns:a16="http://schemas.microsoft.com/office/drawing/2014/main" id="{B0763FA6-4E6A-471E-B742-E66799979594}"/>
              </a:ext>
            </a:extLst>
          </p:cNvPr>
          <p:cNvSpPr>
            <a:spLocks xmlns:a="http://schemas.openxmlformats.org/drawingml/2006/main" noGrp="1"/>
          </p:cNvSpPr>
          <p:nvPr/>
        </p:nvSpPr>
        <p:spPr>
          <a:xfrm xmlns:a="http://schemas.openxmlformats.org/drawingml/2006/main">
            <a:off x="1476375" y="3762375"/>
            <a:ext cx="314325" cy="314325"/>
          </a:xfrm>
          <a:prstGeom xmlns:a="http://schemas.openxmlformats.org/drawingml/2006/main" prst="roundRect">
            <a:avLst/>
          </a:prstGeom>
          <a:solidFill xmlns:a="http://schemas.openxmlformats.org/drawingml/2006/main">
            <a:srgbClr val="143D36"/>
          </a:solidFill>
        </p:spPr>
      </p:sp>
      <p:sp>
        <p:nvSpPr>
          <p:cNvPr id="66" name="Shape 63">
            <a:extLst xmlns:a="http://schemas.openxmlformats.org/drawingml/2006/main">
              <a:ext uri="{FF2B5EF4-FFF2-40B4-BE49-F238E27FC236}">
                <a16:creationId xmlns:a16="http://schemas.microsoft.com/office/drawing/2014/main" id="{EE4EB7EF-9A77-4B09-ABC1-DC1A5E0F4083}"/>
              </a:ext>
            </a:extLst>
          </p:cNvPr>
          <p:cNvSpPr>
            <a:spLocks xmlns:a="http://schemas.openxmlformats.org/drawingml/2006/main" noGrp="1"/>
          </p:cNvSpPr>
          <p:nvPr/>
        </p:nvSpPr>
        <p:spPr>
          <a:xfrm xmlns:a="http://schemas.openxmlformats.org/drawingml/2006/main">
            <a:off x="1809750" y="3762375"/>
            <a:ext cx="314325" cy="314325"/>
          </a:xfrm>
          <a:prstGeom xmlns:a="http://schemas.openxmlformats.org/drawingml/2006/main" prst="roundRect">
            <a:avLst/>
          </a:prstGeom>
          <a:solidFill xmlns:a="http://schemas.openxmlformats.org/drawingml/2006/main">
            <a:srgbClr val="143D36"/>
          </a:solidFill>
        </p:spPr>
      </p:sp>
      <p:sp>
        <p:nvSpPr>
          <p:cNvPr id="67" name="Shape 64">
            <a:extLst xmlns:a="http://schemas.openxmlformats.org/drawingml/2006/main">
              <a:ext uri="{FF2B5EF4-FFF2-40B4-BE49-F238E27FC236}">
                <a16:creationId xmlns:a16="http://schemas.microsoft.com/office/drawing/2014/main" id="{733CF860-576F-427C-895F-698C2A0ADB7D}"/>
              </a:ext>
            </a:extLst>
          </p:cNvPr>
          <p:cNvSpPr>
            <a:spLocks xmlns:a="http://schemas.openxmlformats.org/drawingml/2006/main" noGrp="1"/>
          </p:cNvSpPr>
          <p:nvPr/>
        </p:nvSpPr>
        <p:spPr>
          <a:xfrm xmlns:a="http://schemas.openxmlformats.org/drawingml/2006/main">
            <a:off x="2143125" y="3762375"/>
            <a:ext cx="314325" cy="314325"/>
          </a:xfrm>
          <a:prstGeom xmlns:a="http://schemas.openxmlformats.org/drawingml/2006/main" prst="roundRect">
            <a:avLst/>
          </a:prstGeom>
          <a:solidFill xmlns:a="http://schemas.openxmlformats.org/drawingml/2006/main">
            <a:srgbClr val="143D36"/>
          </a:solidFill>
        </p:spPr>
      </p:sp>
      <p:sp>
        <p:nvSpPr>
          <p:cNvPr id="68" name="Shape 65">
            <a:extLst xmlns:a="http://schemas.openxmlformats.org/drawingml/2006/main">
              <a:ext uri="{FF2B5EF4-FFF2-40B4-BE49-F238E27FC236}">
                <a16:creationId xmlns:a16="http://schemas.microsoft.com/office/drawing/2014/main" id="{94C71C72-162B-4A21-A99B-5EE21F92DF34}"/>
              </a:ext>
            </a:extLst>
          </p:cNvPr>
          <p:cNvSpPr>
            <a:spLocks xmlns:a="http://schemas.openxmlformats.org/drawingml/2006/main" noGrp="1"/>
          </p:cNvSpPr>
          <p:nvPr/>
        </p:nvSpPr>
        <p:spPr>
          <a:xfrm xmlns:a="http://schemas.openxmlformats.org/drawingml/2006/main">
            <a:off x="2476500" y="3762375"/>
            <a:ext cx="314325" cy="314325"/>
          </a:xfrm>
          <a:prstGeom xmlns:a="http://schemas.openxmlformats.org/drawingml/2006/main" prst="roundRect">
            <a:avLst/>
          </a:prstGeom>
          <a:solidFill xmlns:a="http://schemas.openxmlformats.org/drawingml/2006/main">
            <a:srgbClr val="143D36"/>
          </a:solidFill>
        </p:spPr>
      </p:sp>
      <p:sp>
        <p:nvSpPr>
          <p:cNvPr id="69" name="Shape 66">
            <a:extLst xmlns:a="http://schemas.openxmlformats.org/drawingml/2006/main">
              <a:ext uri="{FF2B5EF4-FFF2-40B4-BE49-F238E27FC236}">
                <a16:creationId xmlns:a16="http://schemas.microsoft.com/office/drawing/2014/main" id="{57AA9F6A-E4C7-459A-92A3-22BB43F3F720}"/>
              </a:ext>
            </a:extLst>
          </p:cNvPr>
          <p:cNvSpPr>
            <a:spLocks xmlns:a="http://schemas.openxmlformats.org/drawingml/2006/main" noGrp="1"/>
          </p:cNvSpPr>
          <p:nvPr/>
        </p:nvSpPr>
        <p:spPr>
          <a:xfrm xmlns:a="http://schemas.openxmlformats.org/drawingml/2006/main">
            <a:off x="2809875" y="3762375"/>
            <a:ext cx="314325" cy="314325"/>
          </a:xfrm>
          <a:prstGeom xmlns:a="http://schemas.openxmlformats.org/drawingml/2006/main" prst="roundRect">
            <a:avLst/>
          </a:prstGeom>
          <a:solidFill xmlns:a="http://schemas.openxmlformats.org/drawingml/2006/main">
            <a:srgbClr val="143D36"/>
          </a:solidFill>
        </p:spPr>
      </p:sp>
      <p:sp>
        <p:nvSpPr>
          <p:cNvPr id="70" name="Shape 67">
            <a:extLst xmlns:a="http://schemas.openxmlformats.org/drawingml/2006/main">
              <a:ext uri="{FF2B5EF4-FFF2-40B4-BE49-F238E27FC236}">
                <a16:creationId xmlns:a16="http://schemas.microsoft.com/office/drawing/2014/main" id="{D64C53B5-8917-46D4-856E-459CBF5136BF}"/>
              </a:ext>
            </a:extLst>
          </p:cNvPr>
          <p:cNvSpPr>
            <a:spLocks xmlns:a="http://schemas.openxmlformats.org/drawingml/2006/main" noGrp="1"/>
          </p:cNvSpPr>
          <p:nvPr/>
        </p:nvSpPr>
        <p:spPr>
          <a:xfrm xmlns:a="http://schemas.openxmlformats.org/drawingml/2006/main">
            <a:off x="3143250" y="3762375"/>
            <a:ext cx="314325" cy="314325"/>
          </a:xfrm>
          <a:prstGeom xmlns:a="http://schemas.openxmlformats.org/drawingml/2006/main" prst="roundRect">
            <a:avLst/>
          </a:prstGeom>
          <a:solidFill xmlns:a="http://schemas.openxmlformats.org/drawingml/2006/main">
            <a:srgbClr val="143D36"/>
          </a:solidFill>
        </p:spPr>
      </p:sp>
      <p:sp>
        <p:nvSpPr>
          <p:cNvPr id="71" name="Text 68">
            <a:extLst xmlns:a="http://schemas.openxmlformats.org/drawingml/2006/main">
              <a:ext uri="{FF2B5EF4-FFF2-40B4-BE49-F238E27FC236}">
                <a16:creationId xmlns:a16="http://schemas.microsoft.com/office/drawing/2014/main" id="{F34F0ABA-A3B0-4C41-A8FE-43639EFF93F5}"/>
              </a:ext>
            </a:extLst>
          </p:cNvPr>
          <p:cNvSpPr>
            <a:spLocks xmlns:a="http://schemas.openxmlformats.org/drawingml/2006/main" noGrp="1"/>
          </p:cNvSpPr>
          <p:nvPr/>
        </p:nvSpPr>
        <p:spPr>
          <a:xfrm xmlns:a="http://schemas.openxmlformats.org/drawingml/2006/main">
            <a:off x="809625" y="4219575"/>
            <a:ext cx="2857500" cy="15716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64"/>
              </a:lnSpc>
              <a:buNone/>
            </a:pPr>
            <a:r>
              <a:rPr sz="962">
                <a:solidFill>
                  <a:srgbClr val="F2FAF5">
                    <a:alpha val="99000"/>
                  </a:srgbClr>
                </a:solidFill>
                <a:latin typeface="Inter"/>
                <a:ea typeface="Inter"/>
                <a:cs typeface="Inter"/>
              </a:rPr>
              <a:t>S = start       E = exit       Dark cells = walls</a:t>
            </a:r>
            <a:endParaRPr sz="962"/>
          </a:p>
        </p:txBody>
      </p:sp>
      <p:sp>
        <p:nvSpPr>
          <p:cNvPr id="72" name="Text 69">
            <a:extLst xmlns:a="http://schemas.openxmlformats.org/drawingml/2006/main">
              <a:ext uri="{FF2B5EF4-FFF2-40B4-BE49-F238E27FC236}">
                <a16:creationId xmlns:a16="http://schemas.microsoft.com/office/drawing/2014/main" id="{CFA810D9-D6A3-4218-BFEB-02EC29950905}"/>
              </a:ext>
            </a:extLst>
          </p:cNvPr>
          <p:cNvSpPr>
            <a:spLocks xmlns:a="http://schemas.openxmlformats.org/drawingml/2006/main" noGrp="1"/>
          </p:cNvSpPr>
          <p:nvPr/>
        </p:nvSpPr>
        <p:spPr>
          <a:xfrm xmlns:a="http://schemas.openxmlformats.org/drawingml/2006/main">
            <a:off x="4286250" y="1390650"/>
            <a:ext cx="428625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52"/>
              </a:lnSpc>
              <a:buNone/>
            </a:pPr>
            <a:r>
              <a:rPr sz="1283" b="1">
                <a:solidFill>
                  <a:srgbClr val="5CE5BD">
                    <a:alpha val="99000"/>
                  </a:srgbClr>
                </a:solidFill>
                <a:latin typeface="Inter"/>
                <a:ea typeface="Inter"/>
                <a:cs typeface="Inter"/>
              </a:rPr>
              <a:t>EXPOSED MCP TOOLS</a:t>
            </a:r>
            <a:endParaRPr sz="1283"/>
          </a:p>
        </p:txBody>
      </p:sp>
      <p:sp>
        <p:nvSpPr>
          <p:cNvPr id="73" name="Text 70">
            <a:extLst xmlns:a="http://schemas.openxmlformats.org/drawingml/2006/main">
              <a:ext uri="{FF2B5EF4-FFF2-40B4-BE49-F238E27FC236}">
                <a16:creationId xmlns:a16="http://schemas.microsoft.com/office/drawing/2014/main" id="{EB4B9576-7909-4D40-8274-40B8E607162D}"/>
              </a:ext>
            </a:extLst>
          </p:cNvPr>
          <p:cNvSpPr>
            <a:spLocks xmlns:a="http://schemas.openxmlformats.org/drawingml/2006/main" noGrp="1"/>
          </p:cNvSpPr>
          <p:nvPr/>
        </p:nvSpPr>
        <p:spPr>
          <a:xfrm xmlns:a="http://schemas.openxmlformats.org/drawingml/2006/main">
            <a:off x="4286250" y="1690688"/>
            <a:ext cx="4286250" cy="5857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66"/>
              </a:lnSpc>
              <a:buNone/>
            </a:pPr>
            <a:r>
              <a:rPr sz="1211">
                <a:solidFill>
                  <a:srgbClr val="F2FAF5">
                    <a:alpha val="99000"/>
                  </a:srgbClr>
                </a:solidFill>
                <a:latin typeface="Inter"/>
                <a:ea typeface="Inter"/>
                <a:cs typeface="Inter"/>
              </a:rPr>
              <a:t>move_up()      move_down()</a:t>
            </a:r>
            <a:endParaRPr sz="1211"/>
          </a:p>
          <a:p xmlns:a="http://schemas.openxmlformats.org/drawingml/2006/main">
            <a:pPr marL="0" indent="0" algn="l">
              <a:lnSpc>
                <a:spcPts val="1466"/>
              </a:lnSpc>
              <a:buNone/>
            </a:pPr>
            <a:r>
              <a:rPr sz="1211">
                <a:solidFill>
                  <a:srgbClr val="F2FAF5">
                    <a:alpha val="99000"/>
                  </a:srgbClr>
                </a:solidFill>
                <a:latin typeface="Inter"/>
                <a:ea typeface="Inter"/>
                <a:cs typeface="Inter"/>
              </a:rPr>
              <a:t>move_left()    move_right()</a:t>
            </a:r>
            <a:endParaRPr sz="1211"/>
          </a:p>
          <a:p xmlns:a="http://schemas.openxmlformats.org/drawingml/2006/main">
            <a:pPr marL="0" indent="0" algn="l">
              <a:lnSpc>
                <a:spcPts val="1466"/>
              </a:lnSpc>
              <a:buNone/>
            </a:pPr>
            <a:r>
              <a:rPr sz="1211">
                <a:solidFill>
                  <a:srgbClr val="F2FAF5">
                    <a:alpha val="99000"/>
                  </a:srgbClr>
                </a:solidFill>
                <a:latin typeface="Inter"/>
                <a:ea typeface="Inter"/>
                <a:cs typeface="Inter"/>
              </a:rPr>
              <a:t>get_maze_state()</a:t>
            </a:r>
            <a:endParaRPr sz="1211"/>
          </a:p>
        </p:txBody>
      </p:sp>
      <p:sp>
        <p:nvSpPr>
          <p:cNvPr id="74" name="Text 71">
            <a:extLst xmlns:a="http://schemas.openxmlformats.org/drawingml/2006/main">
              <a:ext uri="{FF2B5EF4-FFF2-40B4-BE49-F238E27FC236}">
                <a16:creationId xmlns:a16="http://schemas.microsoft.com/office/drawing/2014/main" id="{5681C715-E951-43E1-B323-D52CD0AA67B7}"/>
              </a:ext>
            </a:extLst>
          </p:cNvPr>
          <p:cNvSpPr>
            <a:spLocks xmlns:a="http://schemas.openxmlformats.org/drawingml/2006/main" noGrp="1"/>
          </p:cNvSpPr>
          <p:nvPr/>
        </p:nvSpPr>
        <p:spPr>
          <a:xfrm xmlns:a="http://schemas.openxmlformats.org/drawingml/2006/main">
            <a:off x="4286250" y="2405063"/>
            <a:ext cx="428625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52"/>
              </a:lnSpc>
              <a:buNone/>
            </a:pPr>
            <a:r>
              <a:rPr sz="1283" b="1">
                <a:solidFill>
                  <a:srgbClr val="5CE5BD">
                    <a:alpha val="99000"/>
                  </a:srgbClr>
                </a:solidFill>
                <a:latin typeface="Inter"/>
                <a:ea typeface="Inter"/>
                <a:cs typeface="Inter"/>
              </a:rPr>
              <a:t>THE FEEDBACK LOOP</a:t>
            </a:r>
            <a:endParaRPr sz="1283"/>
          </a:p>
        </p:txBody>
      </p:sp>
      <p:sp>
        <p:nvSpPr>
          <p:cNvPr id="75" name="Text 72">
            <a:extLst xmlns:a="http://schemas.openxmlformats.org/drawingml/2006/main">
              <a:ext uri="{FF2B5EF4-FFF2-40B4-BE49-F238E27FC236}">
                <a16:creationId xmlns:a16="http://schemas.microsoft.com/office/drawing/2014/main" id="{9265CED2-C81B-4C1F-9067-755350A67CBD}"/>
              </a:ext>
            </a:extLst>
          </p:cNvPr>
          <p:cNvSpPr>
            <a:spLocks xmlns:a="http://schemas.openxmlformats.org/drawingml/2006/main" noGrp="1"/>
          </p:cNvSpPr>
          <p:nvPr/>
        </p:nvSpPr>
        <p:spPr>
          <a:xfrm xmlns:a="http://schemas.openxmlformats.org/drawingml/2006/main">
            <a:off x="4286250" y="2705100"/>
            <a:ext cx="4286250" cy="7429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80"/>
              </a:lnSpc>
              <a:buNone/>
            </a:pPr>
            <a:r>
              <a:rPr sz="1140">
                <a:solidFill>
                  <a:srgbClr val="F2FAF5">
                    <a:alpha val="99000"/>
                  </a:srgbClr>
                </a:solidFill>
                <a:latin typeface="Inter"/>
                <a:ea typeface="Inter"/>
                <a:cs typeface="Inter"/>
              </a:rPr>
              <a:t>1  Read the maze + current position</a:t>
            </a:r>
            <a:endParaRPr sz="1140"/>
          </a:p>
          <a:p xmlns:a="http://schemas.openxmlformats.org/drawingml/2006/main">
            <a:pPr marL="0" indent="0" algn="l">
              <a:lnSpc>
                <a:spcPts val="1380"/>
              </a:lnSpc>
              <a:buNone/>
            </a:pPr>
            <a:r>
              <a:rPr sz="1140">
                <a:solidFill>
                  <a:srgbClr val="F2FAF5">
                    <a:alpha val="99000"/>
                  </a:srgbClr>
                </a:solidFill>
                <a:latin typeface="Inter"/>
                <a:ea typeface="Inter"/>
                <a:cs typeface="Inter"/>
              </a:rPr>
              <a:t>2  Model selects a movement tool</a:t>
            </a:r>
            <a:endParaRPr sz="1140"/>
          </a:p>
          <a:p xmlns:a="http://schemas.openxmlformats.org/drawingml/2006/main">
            <a:pPr marL="0" indent="0" algn="l">
              <a:lnSpc>
                <a:spcPts val="1380"/>
              </a:lnSpc>
              <a:buNone/>
            </a:pPr>
            <a:r>
              <a:rPr sz="1140">
                <a:solidFill>
                  <a:srgbClr val="F2FAF5">
                    <a:alpha val="99000"/>
                  </a:srgbClr>
                </a:solidFill>
                <a:latin typeface="Inter"/>
                <a:ea typeface="Inter"/>
                <a:cs typeface="Inter"/>
              </a:rPr>
              <a:t>3  App returns moved / blocked + position</a:t>
            </a:r>
            <a:endParaRPr sz="1140"/>
          </a:p>
          <a:p xmlns:a="http://schemas.openxmlformats.org/drawingml/2006/main">
            <a:pPr marL="0" indent="0" algn="l">
              <a:lnSpc>
                <a:spcPts val="1380"/>
              </a:lnSpc>
              <a:buNone/>
            </a:pPr>
            <a:r>
              <a:rPr sz="1140">
                <a:solidFill>
                  <a:srgbClr val="F2FAF5">
                    <a:alpha val="99000"/>
                  </a:srgbClr>
                </a:solidFill>
                <a:latin typeface="Inter"/>
                <a:ea typeface="Inter"/>
                <a:cs typeface="Inter"/>
              </a:rPr>
              <a:t>4  Observe again; stop when at_exit = true</a:t>
            </a:r>
            <a:endParaRPr sz="1140"/>
          </a:p>
        </p:txBody>
      </p:sp>
      <p:sp>
        <p:nvSpPr>
          <p:cNvPr id="76" name="Text 73">
            <a:extLst xmlns:a="http://schemas.openxmlformats.org/drawingml/2006/main">
              <a:ext uri="{FF2B5EF4-FFF2-40B4-BE49-F238E27FC236}">
                <a16:creationId xmlns:a16="http://schemas.microsoft.com/office/drawing/2014/main" id="{71676E0D-DE1E-4815-9CFF-1E32209EA9F4}"/>
              </a:ext>
            </a:extLst>
          </p:cNvPr>
          <p:cNvSpPr>
            <a:spLocks xmlns:a="http://schemas.openxmlformats.org/drawingml/2006/main" noGrp="1"/>
          </p:cNvSpPr>
          <p:nvPr/>
        </p:nvSpPr>
        <p:spPr>
          <a:xfrm xmlns:a="http://schemas.openxmlformats.org/drawingml/2006/main">
            <a:off x="4286250" y="3705225"/>
            <a:ext cx="4286250" cy="1714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93"/>
              </a:lnSpc>
              <a:buNone/>
            </a:pPr>
            <a:r>
              <a:rPr sz="1069" b="1">
                <a:solidFill>
                  <a:srgbClr val="5CE5BD">
                    <a:alpha val="99000"/>
                  </a:srgbClr>
                </a:solidFill>
                <a:latin typeface="Inter"/>
                <a:ea typeface="Inter"/>
                <a:cs typeface="Inter"/>
              </a:rPr>
              <a:t>WORKSHOP CONNECTION</a:t>
            </a:r>
            <a:endParaRPr sz="1069"/>
          </a:p>
        </p:txBody>
      </p:sp>
      <p:sp>
        <p:nvSpPr>
          <p:cNvPr id="77" name="Text 74">
            <a:extLst xmlns:a="http://schemas.openxmlformats.org/drawingml/2006/main">
              <a:ext uri="{FF2B5EF4-FFF2-40B4-BE49-F238E27FC236}">
                <a16:creationId xmlns:a16="http://schemas.microsoft.com/office/drawing/2014/main" id="{BD1016E2-59A8-4E88-B9DE-35AA23F0126C}"/>
              </a:ext>
            </a:extLst>
          </p:cNvPr>
          <p:cNvSpPr>
            <a:spLocks xmlns:a="http://schemas.openxmlformats.org/drawingml/2006/main" noGrp="1"/>
          </p:cNvSpPr>
          <p:nvPr/>
        </p:nvSpPr>
        <p:spPr>
          <a:xfrm xmlns:a="http://schemas.openxmlformats.org/drawingml/2006/main">
            <a:off x="4286250" y="3962400"/>
            <a:ext cx="4286250" cy="5143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93"/>
              </a:lnSpc>
              <a:buNone/>
            </a:pPr>
            <a:r>
              <a:rPr sz="1069">
                <a:solidFill>
                  <a:srgbClr val="F2FAF5">
                    <a:alpha val="99000"/>
                  </a:srgbClr>
                </a:solidFill>
                <a:latin typeface="Inter"/>
                <a:ea typeface="Inter"/>
                <a:cs typeface="Inter"/>
              </a:rPr>
              <a:t>Move tool ↔ set_swing</a:t>
            </a:r>
            <a:endParaRPr sz="1069"/>
          </a:p>
          <a:p xmlns:a="http://schemas.openxmlformats.org/drawingml/2006/main">
            <a:pPr marL="0" indent="0" algn="l">
              <a:lnSpc>
                <a:spcPts val="1293"/>
              </a:lnSpc>
              <a:buNone/>
            </a:pPr>
            <a:r>
              <a:rPr sz="1069">
                <a:solidFill>
                  <a:srgbClr val="F2FAF5">
                    <a:alpha val="99000"/>
                  </a:srgbClr>
                </a:solidFill>
                <a:latin typeface="Inter"/>
                <a:ea typeface="Inter"/>
                <a:cs typeface="Inter"/>
              </a:rPr>
              <a:t>get_maze_state ↔ get_state</a:t>
            </a:r>
            <a:endParaRPr sz="1069"/>
          </a:p>
          <a:p xmlns:a="http://schemas.openxmlformats.org/drawingml/2006/main">
            <a:pPr marL="0" indent="0" algn="l">
              <a:lnSpc>
                <a:spcPts val="1293"/>
              </a:lnSpc>
              <a:buNone/>
            </a:pPr>
            <a:r>
              <a:rPr sz="1069">
                <a:solidFill>
                  <a:srgbClr val="F2FAF5">
                    <a:alpha val="99000"/>
                  </a:srgbClr>
                </a:solidFill>
                <a:latin typeface="Inter"/>
                <a:ea typeface="Inter"/>
                <a:cs typeface="Inter"/>
              </a:rPr>
              <a:t>Maze app ↔ app.py</a:t>
            </a:r>
            <a:endParaRPr sz="1069"/>
          </a:p>
        </p:txBody>
      </p:sp>
      <p:sp>
        <p:nvSpPr>
          <p:cNvPr id="78" name="Text 75">
            <a:extLst xmlns:a="http://schemas.openxmlformats.org/drawingml/2006/main">
              <a:ext uri="{FF2B5EF4-FFF2-40B4-BE49-F238E27FC236}">
                <a16:creationId xmlns:a16="http://schemas.microsoft.com/office/drawing/2014/main" id="{639171FE-6790-44AC-A837-82504A31DE03}"/>
              </a:ext>
            </a:extLst>
          </p:cNvPr>
          <p:cNvSpPr>
            <a:spLocks xmlns:a="http://schemas.openxmlformats.org/drawingml/2006/main" noGrp="1"/>
          </p:cNvSpPr>
          <p:nvPr/>
        </p:nvSpPr>
        <p:spPr>
          <a:xfrm xmlns:a="http://schemas.openxmlformats.org/drawingml/2006/main">
            <a:off x="571500" y="4676775"/>
            <a:ext cx="8001000" cy="1619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7"/>
              </a:lnSpc>
              <a:buNone/>
            </a:pPr>
            <a:r>
              <a:rPr sz="998" b="1">
                <a:solidFill>
                  <a:srgbClr val="5CE5BD">
                    <a:alpha val="99000"/>
                  </a:srgbClr>
                </a:solidFill>
                <a:latin typeface="Inter"/>
                <a:ea typeface="Inter"/>
                <a:cs typeface="Inter"/>
              </a:rPr>
              <a:t>MCP is the interface. The model plans. The Application enforces valid moves.</a:t>
            </a:r>
            <a:endParaRPr sz="998"/>
          </a:p>
        </p:txBody>
      </p:sp>
      <p:sp>
        <p:nvSpPr>
          <p:cNvPr id="79" name="Text 76">
            <a:extLst xmlns:a="http://schemas.openxmlformats.org/drawingml/2006/main">
              <a:ext uri="{FF2B5EF4-FFF2-40B4-BE49-F238E27FC236}">
                <a16:creationId xmlns:a16="http://schemas.microsoft.com/office/drawing/2014/main" id="{A280D72A-C29C-4EA9-9783-A44C01F5EE9A}"/>
              </a:ext>
            </a:extLst>
          </p:cNvPr>
          <p:cNvSpPr>
            <a:spLocks xmlns:a="http://schemas.openxmlformats.org/drawingml/2006/main" noGrp="1"/>
          </p:cNvSpPr>
          <p:nvPr/>
        </p:nvSpPr>
        <p:spPr>
          <a:xfrm xmlns:a="http://schemas.openxmlformats.org/drawingml/2006/main">
            <a:off x="8310562" y="4862513"/>
            <a:ext cx="619125" cy="1428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35"/>
              </a:lnSpc>
              <a:buNone/>
            </a:pPr>
            <a:r>
              <a:rPr sz="855">
                <a:solidFill>
                  <a:srgbClr val="D9E8E0">
                    <a:alpha val="99000"/>
                  </a:srgbClr>
                </a:solidFill>
                <a:latin typeface="Inter"/>
                <a:ea typeface="Inter"/>
                <a:cs typeface="Inter"/>
              </a:rPr>
              <a:t>18 / 29</a:t>
            </a:r>
            <a:endParaRPr sz="855"/>
          </a:p>
        </p:txBody>
      </p:sp>
    </p:spTree>
    <p:extLst>
      <p:ext uri="{BB962C8B-B14F-4D97-AF65-F5344CB8AC3E}">
        <p14:creationId xmlns:p14="http://schemas.microsoft.com/office/powerpoint/2010/main" val="857366444"/>
      </p:ext>
    </p:extLst>
  </p:cSld>
</p:sld>
</file>

<file path=ppt/slides/slide19.xml><?xml version="1.0" encoding="utf-8"?>
<p:sld xmlns:p="http://schemas.openxmlformats.org/presentationml/2006/main">
  <p:cSld>
    <p:bg>
      <p:bgPr>
        <a:blipFill xmlns:a="http://schemas.openxmlformats.org/drawingml/2006/main" rotWithShape="1">
          <a:blip xmlns:r="http://schemas.openxmlformats.org/officeDocument/2006/relationships" r:embed="Rd3019f2bd1f440a0">
            <a:lum/>
          </a:blip>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3B19291C-901F-41E2-B2DC-48A629CC93AA}"/>
              </a:ext>
            </a:extLst>
          </p:cNvPr>
          <p:cNvSpPr>
            <a:spLocks xmlns:a="http://schemas.openxmlformats.org/drawingml/2006/main" noGrp="1"/>
          </p:cNvSpPr>
          <p:nvPr/>
        </p:nvSpPr>
        <p:spPr>
          <a:xfrm xmlns:a="http://schemas.openxmlformats.org/drawingml/2006/main">
            <a:off x="571500" y="304800"/>
            <a:ext cx="8001000" cy="3571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673"/>
              </a:lnSpc>
              <a:buNone/>
            </a:pPr>
            <a:r>
              <a:rPr sz="2209" b="1">
                <a:solidFill>
                  <a:srgbClr val="5CE5BD">
                    <a:alpha val="99000"/>
                  </a:srgbClr>
                </a:solidFill>
                <a:latin typeface="Inter"/>
                <a:ea typeface="Inter"/>
                <a:cs typeface="Inter"/>
              </a:rPr>
              <a:t>Is this different from a “normal MCP”?</a:t>
            </a:r>
            <a:endParaRPr sz="2209"/>
          </a:p>
        </p:txBody>
      </p:sp>
      <p:sp>
        <p:nvSpPr>
          <p:cNvPr id="4" name="Text 1">
            <a:extLst xmlns:a="http://schemas.openxmlformats.org/drawingml/2006/main">
              <a:ext uri="{FF2B5EF4-FFF2-40B4-BE49-F238E27FC236}">
                <a16:creationId xmlns:a16="http://schemas.microsoft.com/office/drawing/2014/main" id="{E47FEDE0-1BD0-4E5D-B7A8-DB497E9FC48A}"/>
              </a:ext>
            </a:extLst>
          </p:cNvPr>
          <p:cNvSpPr>
            <a:spLocks xmlns:a="http://schemas.openxmlformats.org/drawingml/2006/main" noGrp="1"/>
          </p:cNvSpPr>
          <p:nvPr/>
        </p:nvSpPr>
        <p:spPr>
          <a:xfrm xmlns:a="http://schemas.openxmlformats.org/drawingml/2006/main">
            <a:off x="571500" y="1000125"/>
            <a:ext cx="80010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52"/>
              </a:lnSpc>
              <a:buNone/>
            </a:pPr>
            <a:r>
              <a:rPr sz="1283">
                <a:solidFill>
                  <a:srgbClr val="F2FAF5">
                    <a:alpha val="99000"/>
                  </a:srgbClr>
                </a:solidFill>
                <a:latin typeface="Inter"/>
                <a:ea typeface="Inter"/>
                <a:cs typeface="Inter"/>
              </a:rPr>
              <a:t>Same MCP protocol. Our custom server exposes music capabilities.</a:t>
            </a:r>
            <a:endParaRPr sz="1283"/>
          </a:p>
        </p:txBody>
      </p:sp>
      <p:sp>
        <p:nvSpPr>
          <p:cNvPr id="5" name="Shape 2">
            <a:extLst xmlns:a="http://schemas.openxmlformats.org/drawingml/2006/main">
              <a:ext uri="{FF2B5EF4-FFF2-40B4-BE49-F238E27FC236}">
                <a16:creationId xmlns:a16="http://schemas.microsoft.com/office/drawing/2014/main" id="{D896958D-3F44-40FB-AC3D-8350F42B10E5}"/>
              </a:ext>
            </a:extLst>
          </p:cNvPr>
          <p:cNvSpPr>
            <a:spLocks xmlns:a="http://schemas.openxmlformats.org/drawingml/2006/main" noGrp="1"/>
          </p:cNvSpPr>
          <p:nvPr/>
        </p:nvSpPr>
        <p:spPr>
          <a:xfrm xmlns:a="http://schemas.openxmlformats.org/drawingml/2006/main">
            <a:off x="571500" y="1428750"/>
            <a:ext cx="3857625" cy="1428750"/>
          </a:xfrm>
          <a:prstGeom xmlns:a="http://schemas.openxmlformats.org/drawingml/2006/main" prst="roundRect">
            <a:avLst>
              <a:gd name="adj" fmla="val 10240"/>
            </a:avLst>
          </a:prstGeom>
          <a:solidFill xmlns:a="http://schemas.openxmlformats.org/drawingml/2006/main">
            <a:srgbClr val="092925"/>
          </a:solidFill>
        </p:spPr>
      </p:sp>
      <p:sp>
        <p:nvSpPr>
          <p:cNvPr id="6" name="Text 3">
            <a:extLst xmlns:a="http://schemas.openxmlformats.org/drawingml/2006/main">
              <a:ext uri="{FF2B5EF4-FFF2-40B4-BE49-F238E27FC236}">
                <a16:creationId xmlns:a16="http://schemas.microsoft.com/office/drawing/2014/main" id="{A627F3A3-C1C6-4736-8D1B-A971585ECFA0}"/>
              </a:ext>
            </a:extLst>
          </p:cNvPr>
          <p:cNvSpPr>
            <a:spLocks xmlns:a="http://schemas.openxmlformats.org/drawingml/2006/main" noGrp="1"/>
          </p:cNvSpPr>
          <p:nvPr/>
        </p:nvSpPr>
        <p:spPr>
          <a:xfrm xmlns:a="http://schemas.openxmlformats.org/drawingml/2006/main">
            <a:off x="704850" y="1562100"/>
            <a:ext cx="3590925"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52"/>
              </a:lnSpc>
              <a:buNone/>
            </a:pPr>
            <a:r>
              <a:rPr sz="1283" b="1">
                <a:solidFill>
                  <a:srgbClr val="5CE5BD">
                    <a:alpha val="99000"/>
                  </a:srgbClr>
                </a:solidFill>
                <a:latin typeface="Inter"/>
                <a:ea typeface="Inter"/>
                <a:cs typeface="Inter"/>
              </a:rPr>
              <a:t>CODING AGENT · builds and tests</a:t>
            </a:r>
            <a:endParaRPr sz="1283"/>
          </a:p>
        </p:txBody>
      </p:sp>
      <p:sp>
        <p:nvSpPr>
          <p:cNvPr id="7" name="Text 4">
            <a:extLst xmlns:a="http://schemas.openxmlformats.org/drawingml/2006/main">
              <a:ext uri="{FF2B5EF4-FFF2-40B4-BE49-F238E27FC236}">
                <a16:creationId xmlns:a16="http://schemas.microsoft.com/office/drawing/2014/main" id="{4C34CC77-AA03-45A0-9C42-70464F6EC164}"/>
              </a:ext>
            </a:extLst>
          </p:cNvPr>
          <p:cNvSpPr>
            <a:spLocks xmlns:a="http://schemas.openxmlformats.org/drawingml/2006/main" noGrp="1"/>
          </p:cNvSpPr>
          <p:nvPr/>
        </p:nvSpPr>
        <p:spPr>
          <a:xfrm xmlns:a="http://schemas.openxmlformats.org/drawingml/2006/main">
            <a:off x="704850" y="1866900"/>
            <a:ext cx="3590925" cy="7810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66"/>
              </a:lnSpc>
              <a:buNone/>
            </a:pPr>
            <a:r>
              <a:rPr sz="1211">
                <a:solidFill>
                  <a:srgbClr val="F2FAF5">
                    <a:alpha val="99000"/>
                  </a:srgbClr>
                </a:solidFill>
                <a:latin typeface="Inter"/>
                <a:ea typeface="Inter"/>
                <a:cs typeface="Inter"/>
              </a:rPr>
              <a:t>• Shell, browser or API tools</a:t>
            </a:r>
            <a:endParaRPr sz="1211"/>
          </a:p>
          <a:p xmlns:a="http://schemas.openxmlformats.org/drawingml/2006/main">
            <a:pPr marL="0" indent="0" algn="l">
              <a:lnSpc>
                <a:spcPts val="1466"/>
              </a:lnSpc>
              <a:buNone/>
            </a:pPr>
            <a:r>
              <a:rPr sz="1211">
                <a:solidFill>
                  <a:srgbClr val="F2FAF5">
                    <a:alpha val="99000"/>
                  </a:srgbClr>
                </a:solidFill>
                <a:latin typeface="Inter"/>
                <a:ea typeface="Inter"/>
                <a:cs typeface="Inter"/>
              </a:rPr>
              <a:t>• Can test an app without MCP</a:t>
            </a:r>
            <a:endParaRPr sz="1211"/>
          </a:p>
          <a:p xmlns:a="http://schemas.openxmlformats.org/drawingml/2006/main">
            <a:pPr marL="0" indent="0" algn="l">
              <a:lnSpc>
                <a:spcPts val="1466"/>
              </a:lnSpc>
              <a:buNone/>
            </a:pPr>
            <a:r>
              <a:rPr sz="1211">
                <a:solidFill>
                  <a:srgbClr val="F2FAF5">
                    <a:alpha val="99000"/>
                  </a:srgbClr>
                </a:solidFill>
                <a:latin typeface="Inter"/>
                <a:ea typeface="Inter"/>
                <a:cs typeface="Inter"/>
              </a:rPr>
              <a:t>• Prompt alone adds no capabilities</a:t>
            </a:r>
            <a:endParaRPr sz="1211"/>
          </a:p>
          <a:p xmlns:a="http://schemas.openxmlformats.org/drawingml/2006/main">
            <a:pPr marL="0" indent="0" algn="l">
              <a:lnSpc>
                <a:spcPts val="1466"/>
              </a:lnSpc>
              <a:buNone/>
            </a:pPr>
            <a:r>
              <a:rPr sz="1211">
                <a:solidFill>
                  <a:srgbClr val="F2FAF5">
                    <a:alpha val="99000"/>
                  </a:srgbClr>
                </a:solidFill>
                <a:latin typeface="Inter"/>
                <a:ea typeface="Inter"/>
                <a:cs typeface="Inter"/>
              </a:rPr>
              <a:t>• Verify with actual evidence</a:t>
            </a:r>
            <a:endParaRPr sz="1211"/>
          </a:p>
        </p:txBody>
      </p:sp>
      <p:sp>
        <p:nvSpPr>
          <p:cNvPr id="8" name="Shape 5">
            <a:extLst xmlns:a="http://schemas.openxmlformats.org/drawingml/2006/main">
              <a:ext uri="{FF2B5EF4-FFF2-40B4-BE49-F238E27FC236}">
                <a16:creationId xmlns:a16="http://schemas.microsoft.com/office/drawing/2014/main" id="{91E617C5-1282-4004-BC73-0524CC1B6BC6}"/>
              </a:ext>
            </a:extLst>
          </p:cNvPr>
          <p:cNvSpPr>
            <a:spLocks xmlns:a="http://schemas.openxmlformats.org/drawingml/2006/main" noGrp="1"/>
          </p:cNvSpPr>
          <p:nvPr/>
        </p:nvSpPr>
        <p:spPr>
          <a:xfrm xmlns:a="http://schemas.openxmlformats.org/drawingml/2006/main">
            <a:off x="4714875" y="1428750"/>
            <a:ext cx="3857625" cy="1428750"/>
          </a:xfrm>
          <a:prstGeom xmlns:a="http://schemas.openxmlformats.org/drawingml/2006/main" prst="roundRect">
            <a:avLst>
              <a:gd name="adj" fmla="val 10240"/>
            </a:avLst>
          </a:prstGeom>
          <a:solidFill xmlns:a="http://schemas.openxmlformats.org/drawingml/2006/main">
            <a:srgbClr val="092925"/>
          </a:solidFill>
        </p:spPr>
      </p:sp>
      <p:sp>
        <p:nvSpPr>
          <p:cNvPr id="9" name="Text 6">
            <a:extLst xmlns:a="http://schemas.openxmlformats.org/drawingml/2006/main">
              <a:ext uri="{FF2B5EF4-FFF2-40B4-BE49-F238E27FC236}">
                <a16:creationId xmlns:a16="http://schemas.microsoft.com/office/drawing/2014/main" id="{F3DC42F9-5695-452D-86D6-A63F8D440A4B}"/>
              </a:ext>
            </a:extLst>
          </p:cNvPr>
          <p:cNvSpPr>
            <a:spLocks xmlns:a="http://schemas.openxmlformats.org/drawingml/2006/main" noGrp="1"/>
          </p:cNvSpPr>
          <p:nvPr/>
        </p:nvSpPr>
        <p:spPr>
          <a:xfrm xmlns:a="http://schemas.openxmlformats.org/drawingml/2006/main">
            <a:off x="4848225" y="1562100"/>
            <a:ext cx="3590925"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52"/>
              </a:lnSpc>
              <a:buNone/>
            </a:pPr>
            <a:r>
              <a:rPr sz="1283" b="1">
                <a:solidFill>
                  <a:srgbClr val="5CE5BD">
                    <a:alpha val="99000"/>
                  </a:srgbClr>
                </a:solidFill>
                <a:latin typeface="Inter"/>
                <a:ea typeface="Inter"/>
                <a:cs typeface="Inter"/>
              </a:rPr>
              <a:t>YOUR APP + MCP · reusable controls</a:t>
            </a:r>
            <a:endParaRPr sz="1283"/>
          </a:p>
        </p:txBody>
      </p:sp>
      <p:sp>
        <p:nvSpPr>
          <p:cNvPr id="10" name="Text 7">
            <a:extLst xmlns:a="http://schemas.openxmlformats.org/drawingml/2006/main">
              <a:ext uri="{FF2B5EF4-FFF2-40B4-BE49-F238E27FC236}">
                <a16:creationId xmlns:a16="http://schemas.microsoft.com/office/drawing/2014/main" id="{AF6B1BBF-A4D4-4D61-B193-7563990FFCD5}"/>
              </a:ext>
            </a:extLst>
          </p:cNvPr>
          <p:cNvSpPr>
            <a:spLocks xmlns:a="http://schemas.openxmlformats.org/drawingml/2006/main" noGrp="1"/>
          </p:cNvSpPr>
          <p:nvPr/>
        </p:nvSpPr>
        <p:spPr>
          <a:xfrm xmlns:a="http://schemas.openxmlformats.org/drawingml/2006/main">
            <a:off x="4848225" y="1866900"/>
            <a:ext cx="3590925" cy="7810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66"/>
              </a:lnSpc>
              <a:buNone/>
            </a:pPr>
            <a:r>
              <a:rPr sz="1211">
                <a:solidFill>
                  <a:srgbClr val="F2FAF5">
                    <a:alpha val="99000"/>
                  </a:srgbClr>
                </a:solidFill>
                <a:latin typeface="Inter"/>
                <a:ea typeface="Inter"/>
                <a:cs typeface="Inter"/>
              </a:rPr>
              <a:t>• Expose focused tools + schemas</a:t>
            </a:r>
            <a:endParaRPr sz="1211"/>
          </a:p>
          <a:p xmlns:a="http://schemas.openxmlformats.org/drawingml/2006/main">
            <a:pPr marL="0" indent="0" algn="l">
              <a:lnSpc>
                <a:spcPts val="1466"/>
              </a:lnSpc>
              <a:buNone/>
            </a:pPr>
            <a:r>
              <a:rPr sz="1211">
                <a:solidFill>
                  <a:srgbClr val="F2FAF5">
                    <a:alpha val="99000"/>
                  </a:srgbClr>
                </a:solidFill>
                <a:latin typeface="Inter"/>
                <a:ea typeface="Inter"/>
                <a:cs typeface="Inter"/>
              </a:rPr>
              <a:t>• Reuse across compatible hosts</a:t>
            </a:r>
            <a:endParaRPr sz="1211"/>
          </a:p>
          <a:p xmlns:a="http://schemas.openxmlformats.org/drawingml/2006/main">
            <a:pPr marL="0" indent="0" algn="l">
              <a:lnSpc>
                <a:spcPts val="1466"/>
              </a:lnSpc>
              <a:buNone/>
            </a:pPr>
            <a:r>
              <a:rPr sz="1211">
                <a:solidFill>
                  <a:srgbClr val="F2FAF5">
                    <a:alpha val="99000"/>
                  </a:srgbClr>
                </a:solidFill>
                <a:latin typeface="Inter"/>
                <a:ea typeface="Inter"/>
                <a:cs typeface="Inter"/>
              </a:rPr>
              <a:t>• Production: validate + authorize</a:t>
            </a:r>
            <a:endParaRPr sz="1211"/>
          </a:p>
          <a:p xmlns:a="http://schemas.openxmlformats.org/drawingml/2006/main">
            <a:pPr marL="0" indent="0" algn="l">
              <a:lnSpc>
                <a:spcPts val="1466"/>
              </a:lnSpc>
              <a:buNone/>
            </a:pPr>
            <a:r>
              <a:rPr sz="1211">
                <a:solidFill>
                  <a:srgbClr val="F2FAF5">
                    <a:alpha val="99000"/>
                  </a:srgbClr>
                </a:solidFill>
                <a:latin typeface="Inter"/>
                <a:ea typeface="Inter"/>
                <a:cs typeface="Inter"/>
              </a:rPr>
              <a:t>• Read state to verify the result</a:t>
            </a:r>
            <a:endParaRPr sz="1211"/>
          </a:p>
        </p:txBody>
      </p:sp>
      <p:sp>
        <p:nvSpPr>
          <p:cNvPr id="11" name="Text 8">
            <a:extLst xmlns:a="http://schemas.openxmlformats.org/drawingml/2006/main">
              <a:ext uri="{FF2B5EF4-FFF2-40B4-BE49-F238E27FC236}">
                <a16:creationId xmlns:a16="http://schemas.microsoft.com/office/drawing/2014/main" id="{A2273350-8A76-4634-92E2-CB151925413A}"/>
              </a:ext>
            </a:extLst>
          </p:cNvPr>
          <p:cNvSpPr>
            <a:spLocks xmlns:a="http://schemas.openxmlformats.org/drawingml/2006/main" noGrp="1"/>
          </p:cNvSpPr>
          <p:nvPr/>
        </p:nvSpPr>
        <p:spPr>
          <a:xfrm xmlns:a="http://schemas.openxmlformats.org/drawingml/2006/main">
            <a:off x="571500" y="3619500"/>
            <a:ext cx="80010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52"/>
              </a:lnSpc>
              <a:buNone/>
            </a:pPr>
            <a:r>
              <a:rPr sz="1283" b="1">
                <a:solidFill>
                  <a:srgbClr val="5CE5BD">
                    <a:alpha val="99000"/>
                  </a:srgbClr>
                </a:solidFill>
                <a:latin typeface="Inter"/>
                <a:ea typeface="Inter"/>
                <a:cs typeface="Inter"/>
              </a:rPr>
              <a:t>MCP is an integration choice. A direct API is enough for one fixed client.</a:t>
            </a:r>
            <a:endParaRPr sz="1283"/>
          </a:p>
        </p:txBody>
      </p:sp>
      <p:sp>
        <p:nvSpPr>
          <p:cNvPr id="12" name="Text 9">
            <a:extLst xmlns:a="http://schemas.openxmlformats.org/drawingml/2006/main">
              <a:ext uri="{FF2B5EF4-FFF2-40B4-BE49-F238E27FC236}">
                <a16:creationId xmlns:a16="http://schemas.microsoft.com/office/drawing/2014/main" id="{D7E9F91F-A2E9-42C1-99DF-D43AFD86B3EE}"/>
              </a:ext>
            </a:extLst>
          </p:cNvPr>
          <p:cNvSpPr>
            <a:spLocks xmlns:a="http://schemas.openxmlformats.org/drawingml/2006/main" noGrp="1"/>
          </p:cNvSpPr>
          <p:nvPr/>
        </p:nvSpPr>
        <p:spPr>
          <a:xfrm xmlns:a="http://schemas.openxmlformats.org/drawingml/2006/main">
            <a:off x="571500" y="4286250"/>
            <a:ext cx="8001000" cy="2190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38"/>
              </a:lnSpc>
              <a:buNone/>
            </a:pPr>
            <a:r>
              <a:rPr sz="1354">
                <a:solidFill>
                  <a:srgbClr val="F2FAF5">
                    <a:alpha val="99000"/>
                  </a:srgbClr>
                </a:solidFill>
                <a:latin typeface="Inter"/>
                <a:ea typeface="Inter"/>
                <a:cs typeface="Inter"/>
              </a:rPr>
              <a:t>Use MCP when multiple compatible hosts need live, reusable app capabilities.</a:t>
            </a:r>
            <a:endParaRPr sz="1354"/>
          </a:p>
        </p:txBody>
      </p:sp>
      <p:sp>
        <p:nvSpPr>
          <p:cNvPr id="13" name="Text 10">
            <a:extLst xmlns:a="http://schemas.openxmlformats.org/drawingml/2006/main">
              <a:ext uri="{FF2B5EF4-FFF2-40B4-BE49-F238E27FC236}">
                <a16:creationId xmlns:a16="http://schemas.microsoft.com/office/drawing/2014/main" id="{C26F357C-F3EA-4DA5-86CF-1249D1CC45A7}"/>
              </a:ext>
            </a:extLst>
          </p:cNvPr>
          <p:cNvSpPr>
            <a:spLocks xmlns:a="http://schemas.openxmlformats.org/drawingml/2006/main" noGrp="1"/>
          </p:cNvSpPr>
          <p:nvPr/>
        </p:nvSpPr>
        <p:spPr>
          <a:xfrm xmlns:a="http://schemas.openxmlformats.org/drawingml/2006/main">
            <a:off x="8310562" y="4862513"/>
            <a:ext cx="619125" cy="13811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35"/>
              </a:lnSpc>
              <a:buNone/>
            </a:pPr>
            <a:r>
              <a:rPr sz="855">
                <a:solidFill>
                  <a:srgbClr val="F2FAF5">
                    <a:alpha val="99000"/>
                  </a:srgbClr>
                </a:solidFill>
                <a:latin typeface="Inter"/>
                <a:ea typeface="Inter"/>
                <a:cs typeface="Inter"/>
              </a:rPr>
              <a:t>19 / 29</a:t>
            </a:r>
            <a:endParaRPr sz="855"/>
          </a:p>
        </p:txBody>
      </p:sp>
    </p:spTree>
    <p:extLst>
      <p:ext uri="{BB962C8B-B14F-4D97-AF65-F5344CB8AC3E}">
        <p14:creationId xmlns:p14="http://schemas.microsoft.com/office/powerpoint/2010/main" val="774230032"/>
      </p:ext>
    </p:extLst>
  </p:cSld>
</p:sld>
</file>

<file path=ppt/slides/slide20.xml><?xml version="1.0" encoding="utf-8"?>
<p:sld xmlns:p="http://schemas.openxmlformats.org/presentationml/2006/main">
  <p:cSld>
    <p:bg>
      <p:bgPr>
        <a:blipFill xmlns:a="http://schemas.openxmlformats.org/drawingml/2006/main" rotWithShape="1">
          <a:blip xmlns:r="http://schemas.openxmlformats.org/officeDocument/2006/relationships" r:embed="R46b9db59872a421c">
            <a:lum/>
          </a:blip>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464899CE-8BC6-45D7-8B8A-97B5FAE7F085}"/>
              </a:ext>
            </a:extLst>
          </p:cNvPr>
          <p:cNvSpPr>
            <a:spLocks xmlns:a="http://schemas.openxmlformats.org/drawingml/2006/main" noGrp="1"/>
          </p:cNvSpPr>
          <p:nvPr/>
        </p:nvSpPr>
        <p:spPr>
          <a:xfrm xmlns:a="http://schemas.openxmlformats.org/drawingml/2006/main">
            <a:off x="8310562" y="4862513"/>
            <a:ext cx="619125" cy="13811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35"/>
              </a:lnSpc>
              <a:buNone/>
            </a:pPr>
            <a:r>
              <a:rPr sz="855">
                <a:solidFill>
                  <a:srgbClr val="F2FAF5">
                    <a:alpha val="99000"/>
                  </a:srgbClr>
                </a:solidFill>
                <a:latin typeface="Inter"/>
                <a:ea typeface="Inter"/>
                <a:cs typeface="Inter"/>
              </a:rPr>
              <a:t>20 / 29</a:t>
            </a:r>
            <a:endParaRPr sz="855"/>
          </a:p>
        </p:txBody>
      </p:sp>
      <p:sp>
        <p:nvSpPr>
          <p:cNvPr id="4" name="Text 1">
            <a:extLst xmlns:a="http://schemas.openxmlformats.org/drawingml/2006/main">
              <a:ext uri="{FF2B5EF4-FFF2-40B4-BE49-F238E27FC236}">
                <a16:creationId xmlns:a16="http://schemas.microsoft.com/office/drawing/2014/main" id="{FEDD7435-84A1-40D4-900E-6462FD3C6EB4}"/>
              </a:ext>
            </a:extLst>
          </p:cNvPr>
          <p:cNvSpPr>
            <a:spLocks xmlns:a="http://schemas.openxmlformats.org/drawingml/2006/main" noGrp="1"/>
          </p:cNvSpPr>
          <p:nvPr/>
        </p:nvSpPr>
        <p:spPr>
          <a:xfrm xmlns:a="http://schemas.openxmlformats.org/drawingml/2006/main">
            <a:off x="571500" y="304800"/>
            <a:ext cx="8001000" cy="3571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673"/>
              </a:lnSpc>
              <a:buNone/>
            </a:pPr>
            <a:r>
              <a:rPr sz="2209" b="1">
                <a:solidFill>
                  <a:srgbClr val="5CE5BD">
                    <a:alpha val="99000"/>
                  </a:srgbClr>
                </a:solidFill>
                <a:latin typeface="Inter"/>
                <a:ea typeface="Inter"/>
                <a:cs typeface="Inter"/>
              </a:rPr>
              <a:t>MCP BUILD · six parts, one tool</a:t>
            </a:r>
            <a:endParaRPr sz="2209"/>
          </a:p>
        </p:txBody>
      </p:sp>
      <p:sp>
        <p:nvSpPr>
          <p:cNvPr id="5" name="Shape 2">
            <a:extLst xmlns:a="http://schemas.openxmlformats.org/drawingml/2006/main">
              <a:ext uri="{FF2B5EF4-FFF2-40B4-BE49-F238E27FC236}">
                <a16:creationId xmlns:a16="http://schemas.microsoft.com/office/drawing/2014/main" id="{F2D96977-61A2-4EF6-B07B-52EB0EE74C6B}"/>
              </a:ext>
            </a:extLst>
          </p:cNvPr>
          <p:cNvSpPr>
            <a:spLocks xmlns:a="http://schemas.openxmlformats.org/drawingml/2006/main" noGrp="1"/>
          </p:cNvSpPr>
          <p:nvPr/>
        </p:nvSpPr>
        <p:spPr>
          <a:xfrm xmlns:a="http://schemas.openxmlformats.org/drawingml/2006/main">
            <a:off x="571500" y="1119188"/>
            <a:ext cx="5048250" cy="3357563"/>
          </a:xfrm>
          <a:prstGeom xmlns:a="http://schemas.openxmlformats.org/drawingml/2006/main" prst="roundRect">
            <a:avLst>
              <a:gd name="adj" fmla="val 4357"/>
            </a:avLst>
          </a:prstGeom>
          <a:solidFill xmlns:a="http://schemas.openxmlformats.org/drawingml/2006/main">
            <a:srgbClr val="061717"/>
          </a:solidFill>
        </p:spPr>
      </p:sp>
      <p:sp>
        <p:nvSpPr>
          <p:cNvPr id="6" name="Text 3">
            <a:extLst xmlns:a="http://schemas.openxmlformats.org/drawingml/2006/main">
              <a:ext uri="{FF2B5EF4-FFF2-40B4-BE49-F238E27FC236}">
                <a16:creationId xmlns:a16="http://schemas.microsoft.com/office/drawing/2014/main" id="{252A1187-2F26-47F2-BCBE-4837A5CCC6D8}"/>
              </a:ext>
            </a:extLst>
          </p:cNvPr>
          <p:cNvSpPr>
            <a:spLocks xmlns:a="http://schemas.openxmlformats.org/drawingml/2006/main" noGrp="1"/>
          </p:cNvSpPr>
          <p:nvPr/>
        </p:nvSpPr>
        <p:spPr>
          <a:xfrm xmlns:a="http://schemas.openxmlformats.org/drawingml/2006/main">
            <a:off x="685800" y="1223963"/>
            <a:ext cx="4819650" cy="20193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79"/>
              </a:lnSpc>
              <a:buNone/>
            </a:pPr>
            <a:r>
              <a:rPr sz="1425">
                <a:solidFill>
                  <a:srgbClr val="F2FAF5">
                    <a:alpha val="99000"/>
                  </a:srgbClr>
                </a:solidFill>
                <a:latin typeface="Roboto Mono"/>
                <a:ea typeface="Roboto Mono"/>
                <a:cs typeface="Roboto Mono"/>
              </a:rPr>
              <a:t>EDIT: workshop/starter/mcp_server_sdk.py</a:t>
            </a:r>
            <a:endParaRPr sz="1425"/>
          </a:p>
          <a:p xmlns:a="http://schemas.openxmlformats.org/drawingml/2006/main">
            <a:pPr marL="342900" indent="-342900" algn="l">
              <a:lnSpc>
                <a:spcPts val="1879"/>
              </a:lnSpc>
              <a:buSzPct val="100000"/>
              <a:buFont typeface="+mj-lt"/>
              <a:buAutoNum type="arabicPeriod" startAt="1"/>
            </a:pPr>
            <a:r>
              <a:rPr sz="1425">
                <a:solidFill>
                  <a:srgbClr val="F2FAF5">
                    <a:alpha val="99000"/>
                  </a:srgbClr>
                </a:solidFill>
                <a:latin typeface="Roboto Mono"/>
                <a:ea typeface="Roboto Mono"/>
                <a:cs typeface="Roboto Mono"/>
              </a:rPr>
              <a:t>Register set_swing(amount: int).</a:t>
            </a:r>
            <a:endParaRPr sz="1425"/>
          </a:p>
          <a:p xmlns:a="http://schemas.openxmlformats.org/drawingml/2006/main">
            <a:pPr marL="342900" indent="-342900" algn="l">
              <a:lnSpc>
                <a:spcPts val="1879"/>
              </a:lnSpc>
              <a:buSzPct val="100000"/>
              <a:buFont typeface="+mj-lt"/>
              <a:buAutoNum type="arabicPeriod" startAt="1"/>
            </a:pPr>
            <a:r>
              <a:rPr sz="1425">
                <a:solidFill>
                  <a:srgbClr val="F2FAF5">
                    <a:alpha val="99000"/>
                  </a:srgbClr>
                </a:solidFill>
                <a:latin typeface="Roboto Mono"/>
                <a:ea typeface="Roboto Mono"/>
                <a:cs typeface="Roboto Mono"/>
              </a:rPr>
              <a:t>Describe its purpose and 0–75 range.</a:t>
            </a:r>
            <a:endParaRPr sz="1425"/>
          </a:p>
          <a:p xmlns:a="http://schemas.openxmlformats.org/drawingml/2006/main">
            <a:pPr marL="342900" indent="-342900" algn="l">
              <a:lnSpc>
                <a:spcPts val="1879"/>
              </a:lnSpc>
              <a:buSzPct val="100000"/>
              <a:buFont typeface="+mj-lt"/>
              <a:buAutoNum type="arabicPeriod" startAt="1"/>
            </a:pPr>
            <a:r>
              <a:rPr sz="1425">
                <a:solidFill>
                  <a:srgbClr val="F2FAF5">
                    <a:alpha val="99000"/>
                  </a:srgbClr>
                </a:solidFill>
                <a:latin typeface="Roboto Mono"/>
                <a:ea typeface="Roboto Mono"/>
                <a:cs typeface="Roboto Mono"/>
              </a:rPr>
              <a:t>Validate before calling the app.</a:t>
            </a:r>
            <a:endParaRPr sz="1425"/>
          </a:p>
          <a:p xmlns:a="http://schemas.openxmlformats.org/drawingml/2006/main">
            <a:pPr marL="342900" indent="-342900" algn="l">
              <a:lnSpc>
                <a:spcPts val="1879"/>
              </a:lnSpc>
              <a:buSzPct val="100000"/>
              <a:buFont typeface="+mj-lt"/>
              <a:buAutoNum type="arabicPeriod" startAt="1"/>
            </a:pPr>
            <a:r>
              <a:rPr sz="1425">
                <a:solidFill>
                  <a:srgbClr val="F2FAF5">
                    <a:alpha val="99000"/>
                  </a:srgbClr>
                </a:solidFill>
                <a:latin typeface="Roboto Mono"/>
                <a:ea typeface="Roboto Mono"/>
                <a:cs typeface="Roboto Mono"/>
              </a:rPr>
              <a:t>call_daw: cmd=set_swing, amount=input.</a:t>
            </a:r>
            <a:endParaRPr sz="1425"/>
          </a:p>
          <a:p xmlns:a="http://schemas.openxmlformats.org/drawingml/2006/main">
            <a:pPr marL="342900" indent="-342900" algn="l">
              <a:lnSpc>
                <a:spcPts val="1879"/>
              </a:lnSpc>
              <a:buSzPct val="100000"/>
              <a:buFont typeface="+mj-lt"/>
              <a:buAutoNum type="arabicPeriod" startAt="1"/>
            </a:pPr>
            <a:r>
              <a:rPr sz="1425">
                <a:solidFill>
                  <a:srgbClr val="F2FAF5">
                    <a:alpha val="99000"/>
                  </a:srgbClr>
                </a:solidFill>
                <a:latin typeface="Roboto Mono"/>
                <a:ea typeface="Roboto Mono"/>
                <a:cs typeface="Roboto Mono"/>
              </a:rPr>
              <a:t>Return the acknowledgement.</a:t>
            </a:r>
            <a:endParaRPr sz="1425"/>
          </a:p>
          <a:p xmlns:a="http://schemas.openxmlformats.org/drawingml/2006/main">
            <a:pPr marL="342900" indent="-342900" algn="l">
              <a:lnSpc>
                <a:spcPts val="1879"/>
              </a:lnSpc>
              <a:buSzPct val="100000"/>
              <a:buFont typeface="+mj-lt"/>
              <a:buAutoNum type="arabicPeriod" startAt="1"/>
            </a:pPr>
            <a:r>
              <a:rPr sz="1425">
                <a:solidFill>
                  <a:srgbClr val="F2FAF5">
                    <a:alpha val="99000"/>
                  </a:srgbClr>
                </a:solidFill>
                <a:latin typeface="Roboto Mono"/>
                <a:ea typeface="Roboto Mono"/>
                <a:cs typeface="Roboto Mono"/>
              </a:rPr>
              <a:t>Read get_state to verify.</a:t>
            </a:r>
            <a:endParaRPr sz="1425"/>
          </a:p>
        </p:txBody>
      </p:sp>
      <p:sp>
        <p:nvSpPr>
          <p:cNvPr id="7" name="Text 4">
            <a:extLst xmlns:a="http://schemas.openxmlformats.org/drawingml/2006/main">
              <a:ext uri="{FF2B5EF4-FFF2-40B4-BE49-F238E27FC236}">
                <a16:creationId xmlns:a16="http://schemas.microsoft.com/office/drawing/2014/main" id="{2185B24B-5BC9-400E-A055-3E5A81DE8FB3}"/>
              </a:ext>
            </a:extLst>
          </p:cNvPr>
          <p:cNvSpPr>
            <a:spLocks xmlns:a="http://schemas.openxmlformats.org/drawingml/2006/main" noGrp="1"/>
          </p:cNvSpPr>
          <p:nvPr/>
        </p:nvSpPr>
        <p:spPr>
          <a:xfrm xmlns:a="http://schemas.openxmlformats.org/drawingml/2006/main">
            <a:off x="5857875" y="1143000"/>
            <a:ext cx="2714625" cy="3429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25"/>
              </a:lnSpc>
              <a:buNone/>
            </a:pPr>
            <a:r>
              <a:rPr sz="1425">
                <a:solidFill>
                  <a:srgbClr val="F2FAF5">
                    <a:alpha val="99000"/>
                  </a:srgbClr>
                </a:solidFill>
                <a:latin typeface="Inter"/>
                <a:ea typeface="Inter"/>
                <a:cs typeface="Inter"/>
              </a:rPr>
              <a:t>SERVER</a:t>
            </a:r>
            <a:endParaRPr sz="1425"/>
          </a:p>
          <a:p xmlns:a="http://schemas.openxmlformats.org/drawingml/2006/main">
            <a:pPr marL="0" indent="0" algn="l">
              <a:lnSpc>
                <a:spcPts val="1725"/>
              </a:lnSpc>
              <a:buNone/>
            </a:pPr>
            <a:r>
              <a:rPr sz="1425">
                <a:solidFill>
                  <a:srgbClr val="F2FAF5">
                    <a:alpha val="99000"/>
                  </a:srgbClr>
                </a:solidFill>
                <a:latin typeface="Inter"/>
                <a:ea typeface="Inter"/>
                <a:cs typeface="Inter"/>
              </a:rPr>
              <a:t>Reuse the supplied FastMCP instance.</a:t>
            </a:r>
            <a:endParaRPr sz="1425"/>
          </a:p>
          <a:p xmlns:a="http://schemas.openxmlformats.org/drawingml/2006/main">
            <a:pPr marL="0" indent="0" algn="l">
              <a:lnSpc>
                <a:spcPts val="1725"/>
              </a:lnSpc>
              <a:buNone/>
            </a:pPr>
            <a:r>
              <a:rPr sz="1425">
                <a:solidFill>
                  <a:srgbClr val="F2FAF5">
                    <a:alpha val="99000"/>
                  </a:srgbClr>
                </a:solidFill>
                <a:latin typeface="Inter"/>
                <a:ea typeface="Inter"/>
                <a:cs typeface="Inter"/>
              </a:rPr>
              <a:t>TOOL CONTRACT</a:t>
            </a:r>
            <a:endParaRPr sz="1425"/>
          </a:p>
          <a:p xmlns:a="http://schemas.openxmlformats.org/drawingml/2006/main">
            <a:pPr marL="0" indent="0" algn="l">
              <a:lnSpc>
                <a:spcPts val="1725"/>
              </a:lnSpc>
              <a:buNone/>
            </a:pPr>
            <a:r>
              <a:rPr sz="1425">
                <a:solidFill>
                  <a:srgbClr val="F2FAF5">
                    <a:alpha val="99000"/>
                  </a:srgbClr>
                </a:solidFill>
                <a:latin typeface="Inter"/>
                <a:ea typeface="Inter"/>
                <a:cs typeface="Inter"/>
              </a:rPr>
              <a:t>Decorator + name + type + description.</a:t>
            </a:r>
            <a:endParaRPr sz="1425"/>
          </a:p>
          <a:p xmlns:a="http://schemas.openxmlformats.org/drawingml/2006/main">
            <a:pPr marL="0" indent="0" algn="l">
              <a:lnSpc>
                <a:spcPts val="1725"/>
              </a:lnSpc>
              <a:buNone/>
            </a:pPr>
            <a:r>
              <a:rPr sz="1425">
                <a:solidFill>
                  <a:srgbClr val="F2FAF5">
                    <a:alpha val="99000"/>
                  </a:srgbClr>
                </a:solidFill>
                <a:latin typeface="Inter"/>
                <a:ea typeface="Inter"/>
                <a:cs typeface="Inter"/>
              </a:rPr>
              <a:t>VALIDATION + ADAPTER</a:t>
            </a:r>
            <a:endParaRPr sz="1425"/>
          </a:p>
          <a:p xmlns:a="http://schemas.openxmlformats.org/drawingml/2006/main">
            <a:pPr marL="0" indent="0" algn="l">
              <a:lnSpc>
                <a:spcPts val="1725"/>
              </a:lnSpc>
              <a:buNone/>
            </a:pPr>
            <a:r>
              <a:rPr sz="1425">
                <a:solidFill>
                  <a:srgbClr val="F2FAF5">
                    <a:alpha val="99000"/>
                  </a:srgbClr>
                </a:solidFill>
                <a:latin typeface="Inter"/>
                <a:ea typeface="Inter"/>
                <a:cs typeface="Inter"/>
              </a:rPr>
              <a:t>Check the range; send the app command.</a:t>
            </a:r>
            <a:endParaRPr sz="1425"/>
          </a:p>
          <a:p xmlns:a="http://schemas.openxmlformats.org/drawingml/2006/main">
            <a:pPr marL="0" indent="0" algn="l">
              <a:lnSpc>
                <a:spcPts val="1725"/>
              </a:lnSpc>
              <a:buNone/>
            </a:pPr>
            <a:r>
              <a:rPr sz="1425">
                <a:solidFill>
                  <a:srgbClr val="F2FAF5">
                    <a:alpha val="99000"/>
                  </a:srgbClr>
                </a:solidFill>
                <a:latin typeface="Inter"/>
                <a:ea typeface="Inter"/>
                <a:cs typeface="Inter"/>
              </a:rPr>
              <a:t>RESULT + TRANSPORT</a:t>
            </a:r>
            <a:endParaRPr sz="1425"/>
          </a:p>
          <a:p xmlns:a="http://schemas.openxmlformats.org/drawingml/2006/main">
            <a:pPr marL="0" indent="0" algn="l">
              <a:lnSpc>
                <a:spcPts val="1725"/>
              </a:lnSpc>
              <a:buNone/>
            </a:pPr>
            <a:r>
              <a:rPr sz="1425">
                <a:solidFill>
                  <a:srgbClr val="F2FAF5">
                    <a:alpha val="99000"/>
                  </a:srgbClr>
                </a:solidFill>
                <a:latin typeface="Inter"/>
                <a:ea typeface="Inter"/>
                <a:cs typeface="Inter"/>
              </a:rPr>
              <a:t>Verify queued work. Keep stdio startup.</a:t>
            </a:r>
            <a:endParaRPr sz="1425"/>
          </a:p>
        </p:txBody>
      </p:sp>
      <p:sp>
        <p:nvSpPr>
          <p:cNvPr id="8" name="Text 5">
            <a:extLst xmlns:a="http://schemas.openxmlformats.org/drawingml/2006/main">
              <a:ext uri="{FF2B5EF4-FFF2-40B4-BE49-F238E27FC236}">
                <a16:creationId xmlns:a16="http://schemas.microsoft.com/office/drawing/2014/main" id="{F91461AE-B346-4FBE-89FE-A133D546D7EA}"/>
              </a:ext>
            </a:extLst>
          </p:cNvPr>
          <p:cNvSpPr>
            <a:spLocks xmlns:a="http://schemas.openxmlformats.org/drawingml/2006/main" noGrp="1"/>
          </p:cNvSpPr>
          <p:nvPr/>
        </p:nvSpPr>
        <p:spPr>
          <a:xfrm xmlns:a="http://schemas.openxmlformats.org/drawingml/2006/main">
            <a:off x="571500" y="4586288"/>
            <a:ext cx="8001000" cy="1619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7"/>
              </a:lnSpc>
              <a:buNone/>
            </a:pPr>
            <a:r>
              <a:rPr sz="998" b="1">
                <a:solidFill>
                  <a:srgbClr val="5CE5BD">
                    <a:alpha val="99000"/>
                  </a:srgbClr>
                </a:solidFill>
                <a:latin typeface="Inter"/>
                <a:ea typeface="Inter"/>
                <a:cs typeface="Inter"/>
              </a:rPr>
              <a:t>Add above “if __name__”. Save → restart the MCP server → verify discovery.</a:t>
            </a:r>
            <a:endParaRPr sz="998"/>
          </a:p>
        </p:txBody>
      </p:sp>
    </p:spTree>
    <p:extLst>
      <p:ext uri="{BB962C8B-B14F-4D97-AF65-F5344CB8AC3E}">
        <p14:creationId xmlns:p14="http://schemas.microsoft.com/office/powerpoint/2010/main" val="54464310"/>
      </p:ext>
    </p:extLst>
  </p:cSld>
</p:sld>
</file>

<file path=ppt/slides/slide21.xml><?xml version="1.0" encoding="utf-8"?>
<p:sld xmlns:p="http://schemas.openxmlformats.org/presentationml/2006/main">
  <p:cSld>
    <p:bg>
      <p:bgPr>
        <a:blipFill xmlns:a="http://schemas.openxmlformats.org/drawingml/2006/main" rotWithShape="1">
          <a:blip xmlns:r="http://schemas.openxmlformats.org/officeDocument/2006/relationships" r:embed="R2f8017658e6c421c">
            <a:lum/>
          </a:blip>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A2BDCEBB-DCEF-476D-90B5-D80C09118EB6}"/>
              </a:ext>
            </a:extLst>
          </p:cNvPr>
          <p:cNvSpPr>
            <a:spLocks xmlns:a="http://schemas.openxmlformats.org/drawingml/2006/main" noGrp="1"/>
          </p:cNvSpPr>
          <p:nvPr/>
        </p:nvSpPr>
        <p:spPr>
          <a:xfrm xmlns:a="http://schemas.openxmlformats.org/drawingml/2006/main">
            <a:off x="571500" y="304800"/>
            <a:ext cx="8001000" cy="36671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759"/>
              </a:lnSpc>
              <a:buNone/>
            </a:pPr>
            <a:r>
              <a:rPr sz="2280" b="1">
                <a:solidFill>
                  <a:srgbClr val="5CE5BD">
                    <a:alpha val="99000"/>
                  </a:srgbClr>
                </a:solidFill>
                <a:latin typeface="Inter"/>
                <a:ea typeface="Inter"/>
                <a:cs typeface="Inter"/>
              </a:rPr>
              <a:t>Copilot connection: .vscode/mcp.json</a:t>
            </a:r>
            <a:endParaRPr sz="2280"/>
          </a:p>
        </p:txBody>
      </p:sp>
      <p:sp>
        <p:nvSpPr>
          <p:cNvPr id="4" name="Text 1">
            <a:extLst xmlns:a="http://schemas.openxmlformats.org/drawingml/2006/main">
              <a:ext uri="{FF2B5EF4-FFF2-40B4-BE49-F238E27FC236}">
                <a16:creationId xmlns:a16="http://schemas.microsoft.com/office/drawing/2014/main" id="{1EE5FC76-2BE3-4C64-9D69-965F2FC9E67A}"/>
              </a:ext>
            </a:extLst>
          </p:cNvPr>
          <p:cNvSpPr>
            <a:spLocks xmlns:a="http://schemas.openxmlformats.org/drawingml/2006/main" noGrp="1"/>
          </p:cNvSpPr>
          <p:nvPr/>
        </p:nvSpPr>
        <p:spPr>
          <a:xfrm xmlns:a="http://schemas.openxmlformats.org/drawingml/2006/main">
            <a:off x="571500" y="976312"/>
            <a:ext cx="8001000" cy="1809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37"/>
              </a:lnSpc>
              <a:buNone/>
            </a:pPr>
            <a:r>
              <a:rPr sz="1104">
                <a:solidFill>
                  <a:srgbClr val="F2FAF5">
                    <a:alpha val="99000"/>
                  </a:srgbClr>
                </a:solidFill>
                <a:latin typeface="Inter"/>
                <a:ea typeface="Inter"/>
                <a:cs typeface="Inter"/>
              </a:rPr>
              <a:t>Use the supplied JSON. The input prompt selects this clone’s .venv Python.</a:t>
            </a:r>
            <a:endParaRPr sz="1104"/>
          </a:p>
        </p:txBody>
      </p:sp>
      <p:sp>
        <p:nvSpPr>
          <p:cNvPr id="6" name="Text 2">
            <a:extLst xmlns:a="http://schemas.openxmlformats.org/drawingml/2006/main">
              <a:ext uri="{FF2B5EF4-FFF2-40B4-BE49-F238E27FC236}">
                <a16:creationId xmlns:a16="http://schemas.microsoft.com/office/drawing/2014/main" id="{6B55F667-7460-4DD7-B9BE-BAAE50DC9056}"/>
              </a:ext>
            </a:extLst>
          </p:cNvPr>
          <p:cNvSpPr>
            <a:spLocks xmlns:a="http://schemas.openxmlformats.org/drawingml/2006/main" noGrp="1"/>
          </p:cNvSpPr>
          <p:nvPr/>
        </p:nvSpPr>
        <p:spPr>
          <a:xfrm xmlns:a="http://schemas.openxmlformats.org/drawingml/2006/main">
            <a:off x="571500" y="4652963"/>
            <a:ext cx="8001000" cy="1666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1033">
                <a:solidFill>
                  <a:srgbClr val="F2FAF5">
                    <a:alpha val="99000"/>
                  </a:srgbClr>
                </a:solidFill>
                <a:latin typeface="Inter"/>
                <a:ea typeface="Inter"/>
                <a:cs typeface="Inter"/>
              </a:rPr>
              <a:t>MCP: List Servers → mcpjam → Start. After editing Python, restart the server.</a:t>
            </a:r>
            <a:endParaRPr sz="1033"/>
          </a:p>
        </p:txBody>
      </p:sp>
      <p:sp>
        <p:nvSpPr>
          <p:cNvPr id="7" name="Text 3">
            <a:extLst xmlns:a="http://schemas.openxmlformats.org/drawingml/2006/main">
              <a:ext uri="{FF2B5EF4-FFF2-40B4-BE49-F238E27FC236}">
                <a16:creationId xmlns:a16="http://schemas.microsoft.com/office/drawing/2014/main" id="{3F20D2D5-65C5-45A9-9289-053DB6DDDEB3}"/>
              </a:ext>
            </a:extLst>
          </p:cNvPr>
          <p:cNvSpPr>
            <a:spLocks xmlns:a="http://schemas.openxmlformats.org/drawingml/2006/main" noGrp="1"/>
          </p:cNvSpPr>
          <p:nvPr/>
        </p:nvSpPr>
        <p:spPr>
          <a:xfrm xmlns:a="http://schemas.openxmlformats.org/drawingml/2006/main">
            <a:off x="8310562" y="4862513"/>
            <a:ext cx="619125" cy="13811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35"/>
              </a:lnSpc>
              <a:buNone/>
            </a:pPr>
            <a:r>
              <a:rPr sz="855">
                <a:solidFill>
                  <a:srgbClr val="F2FAF5">
                    <a:alpha val="99000"/>
                  </a:srgbClr>
                </a:solidFill>
                <a:latin typeface="Inter"/>
                <a:ea typeface="Inter"/>
                <a:cs typeface="Inter"/>
              </a:rPr>
              <a:t>21 / 29</a:t>
            </a:r>
            <a:endParaRPr sz="855"/>
          </a:p>
        </p:txBody>
      </p:sp>
      <p:sp>
        <p:nvSpPr>
          <p:cNvPr id="8" name="Current VS Code JSON entry">
            <a:extLst xmlns:a="http://schemas.openxmlformats.org/drawingml/2006/main">
              <a:ext uri="{FF2B5EF4-FFF2-40B4-BE49-F238E27FC236}">
                <a16:creationId xmlns:a16="http://schemas.microsoft.com/office/drawing/2014/main" id="{7979AA17-76BE-43A7-B536-16EEFF549DEA}"/>
              </a:ext>
            </a:extLst>
          </p:cNvPr>
          <p:cNvSpPr>
            <a:spLocks xmlns:a="http://schemas.openxmlformats.org/drawingml/2006/main" noGrp="1"/>
          </p:cNvSpPr>
          <p:nvPr/>
        </p:nvSpPr>
        <p:spPr>
          <a:xfrm xmlns:a="http://schemas.openxmlformats.org/drawingml/2006/main">
            <a:off x="571500" y="1428750"/>
            <a:ext cx="8001000" cy="2133600"/>
          </a:xfrm>
          <a:prstGeom xmlns:a="http://schemas.openxmlformats.org/drawingml/2006/main" prst="rect">
            <a:avLst/>
          </a:prstGeom>
        </p:spPr>
        <p:txBody>
          <a:bodyPr xmlns:a="http://schemas.openxmlformats.org/drawingml/2006/main" lIns="0" tIns="0" rIns="0" bIns="0"/>
          <a:lstStyle xmlns:a="http://schemas.openxmlformats.org/drawingml/2006/main">
            <a:defPPr>
              <a:defRPr sz="1575">
                <a:solidFill>
                  <a:srgbClr val="FFFFFF"/>
                </a:solidFill>
                <a:latin typeface="Roboto Mono"/>
                <a:ea typeface="Roboto Mono"/>
                <a:cs typeface="Roboto Mono"/>
              </a:defRPr>
            </a:defPPr>
          </a:lstStyle>
          <a:p xmlns:a="http://schemas.openxmlformats.org/drawingml/2006/main">
            <a:pPr>
              <a:defRPr sz="1575">
                <a:solidFill>
                  <a:srgbClr val="FFFFFF"/>
                </a:solidFill>
                <a:latin typeface="Roboto Mono"/>
                <a:ea typeface="Roboto Mono"/>
                <a:cs typeface="Roboto Mono"/>
              </a:defRPr>
            </a:pPr>
            <a:r>
              <a:rPr sz="1575">
                <a:solidFill>
                  <a:srgbClr val="FFFFFF"/>
                </a:solidFill>
                <a:latin typeface="Roboto Mono"/>
                <a:ea typeface="Roboto Mono"/>
                <a:cs typeface="Roboto Mono"/>
              </a:rPr>
              <a:t>"mcpjam": {</a:t>
            </a:r>
          </a:p>
          <a:p xmlns:a="http://schemas.openxmlformats.org/drawingml/2006/main">
            <a:pPr>
              <a:defRPr sz="1575">
                <a:solidFill>
                  <a:srgbClr val="FFFFFF"/>
                </a:solidFill>
                <a:latin typeface="Roboto Mono"/>
                <a:ea typeface="Roboto Mono"/>
                <a:cs typeface="Roboto Mono"/>
              </a:defRPr>
            </a:pPr>
            <a:r>
              <a:rPr sz="1575">
                <a:solidFill>
                  <a:srgbClr val="FFFFFF"/>
                </a:solidFill>
                <a:latin typeface="Roboto Mono"/>
                <a:ea typeface="Roboto Mono"/>
                <a:cs typeface="Roboto Mono"/>
              </a:rPr>
              <a:t>  "type": "stdio",</a:t>
            </a:r>
          </a:p>
          <a:p xmlns:a="http://schemas.openxmlformats.org/drawingml/2006/main">
            <a:pPr>
              <a:defRPr sz="1575">
                <a:solidFill>
                  <a:srgbClr val="FFFFFF"/>
                </a:solidFill>
                <a:latin typeface="Roboto Mono"/>
                <a:ea typeface="Roboto Mono"/>
                <a:cs typeface="Roboto Mono"/>
              </a:defRPr>
            </a:pPr>
            <a:r>
              <a:rPr sz="1575">
                <a:solidFill>
                  <a:srgbClr val="FFFFFF"/>
                </a:solidFill>
                <a:latin typeface="Roboto Mono"/>
                <a:ea typeface="Roboto Mono"/>
                <a:cs typeface="Roboto Mono"/>
              </a:rPr>
              <a:t>  "command": "${input:mcpjamPython}",</a:t>
            </a:r>
          </a:p>
          <a:p xmlns:a="http://schemas.openxmlformats.org/drawingml/2006/main">
            <a:pPr>
              <a:defRPr sz="1575">
                <a:solidFill>
                  <a:srgbClr val="FFFFFF"/>
                </a:solidFill>
                <a:latin typeface="Roboto Mono"/>
                <a:ea typeface="Roboto Mono"/>
                <a:cs typeface="Roboto Mono"/>
              </a:defRPr>
            </a:pPr>
            <a:r>
              <a:rPr sz="1575">
                <a:solidFill>
                  <a:srgbClr val="FFFFFF"/>
                </a:solidFill>
                <a:latin typeface="Roboto Mono"/>
                <a:ea typeface="Roboto Mono"/>
                <a:cs typeface="Roboto Mono"/>
              </a:rPr>
              <a:t>  "args": [</a:t>
            </a:r>
          </a:p>
          <a:p xmlns:a="http://schemas.openxmlformats.org/drawingml/2006/main">
            <a:pPr>
              <a:defRPr sz="1575">
                <a:solidFill>
                  <a:srgbClr val="FFFFFF"/>
                </a:solidFill>
                <a:latin typeface="Roboto Mono"/>
                <a:ea typeface="Roboto Mono"/>
                <a:cs typeface="Roboto Mono"/>
              </a:defRPr>
            </a:pPr>
            <a:r>
              <a:rPr sz="1575">
                <a:solidFill>
                  <a:srgbClr val="FFFFFF"/>
                </a:solidFill>
                <a:latin typeface="Roboto Mono"/>
                <a:ea typeface="Roboto Mono"/>
                <a:cs typeface="Roboto Mono"/>
              </a:rPr>
              <a:t>    "${workspaceFolder}/workshop/starter/mcp_server_sdk.py"</a:t>
            </a:r>
          </a:p>
          <a:p xmlns:a="http://schemas.openxmlformats.org/drawingml/2006/main">
            <a:pPr>
              <a:defRPr sz="1575">
                <a:solidFill>
                  <a:srgbClr val="FFFFFF"/>
                </a:solidFill>
                <a:latin typeface="Roboto Mono"/>
                <a:ea typeface="Roboto Mono"/>
                <a:cs typeface="Roboto Mono"/>
              </a:defRPr>
            </a:pPr>
            <a:r>
              <a:rPr sz="1575">
                <a:solidFill>
                  <a:srgbClr val="FFFFFF"/>
                </a:solidFill>
                <a:latin typeface="Roboto Mono"/>
                <a:ea typeface="Roboto Mono"/>
                <a:cs typeface="Roboto Mono"/>
              </a:rPr>
              <a:t>  ]</a:t>
            </a:r>
          </a:p>
          <a:p xmlns:a="http://schemas.openxmlformats.org/drawingml/2006/main">
            <a:pPr>
              <a:defRPr sz="1575">
                <a:solidFill>
                  <a:srgbClr val="FFFFFF"/>
                </a:solidFill>
                <a:latin typeface="Roboto Mono"/>
                <a:ea typeface="Roboto Mono"/>
                <a:cs typeface="Roboto Mono"/>
              </a:defRPr>
            </a:pPr>
            <a:r>
              <a:rPr sz="1575">
                <a:solidFill>
                  <a:srgbClr val="FFFFFF"/>
                </a:solidFill>
                <a:latin typeface="Roboto Mono"/>
                <a:ea typeface="Roboto Mono"/>
                <a:cs typeface="Roboto Mono"/>
              </a:rPr>
              <a:t>}</a:t>
            </a:r>
          </a:p>
        </p:txBody>
      </p:sp>
      <p:sp>
        <p:nvSpPr>
          <p:cNvPr id="9" name="Cross-platform Python paths">
            <a:extLst xmlns:a="http://schemas.openxmlformats.org/drawingml/2006/main">
              <a:ext uri="{FF2B5EF4-FFF2-40B4-BE49-F238E27FC236}">
                <a16:creationId xmlns:a16="http://schemas.microsoft.com/office/drawing/2014/main" id="{BD91BA13-C1B9-48D9-872D-C2F202B88FCF}"/>
              </a:ext>
            </a:extLst>
          </p:cNvPr>
          <p:cNvSpPr>
            <a:spLocks xmlns:a="http://schemas.openxmlformats.org/drawingml/2006/main" noGrp="1"/>
          </p:cNvSpPr>
          <p:nvPr/>
        </p:nvSpPr>
        <p:spPr>
          <a:xfrm xmlns:a="http://schemas.openxmlformats.org/drawingml/2006/main">
            <a:off x="571500" y="3790950"/>
            <a:ext cx="8001000" cy="590550"/>
          </a:xfrm>
          <a:prstGeom xmlns:a="http://schemas.openxmlformats.org/drawingml/2006/main" prst="rect">
            <a:avLst/>
          </a:prstGeom>
        </p:spPr>
        <p:txBody>
          <a:bodyPr xmlns:a="http://schemas.openxmlformats.org/drawingml/2006/main" lIns="0" tIns="0" rIns="0" bIns="0"/>
          <a:lstStyle xmlns:a="http://schemas.openxmlformats.org/drawingml/2006/main">
            <a:defPPr>
              <a:defRPr sz="1500">
                <a:solidFill>
                  <a:srgbClr val="5EEAD4"/>
                </a:solidFill>
                <a:latin typeface="Inter"/>
                <a:ea typeface="Inter"/>
                <a:cs typeface="Inter"/>
              </a:defRPr>
            </a:defPPr>
          </a:lstStyle>
          <a:p xmlns:a="http://schemas.openxmlformats.org/drawingml/2006/main">
            <a:pPr>
              <a:defRPr sz="1500">
                <a:solidFill>
                  <a:srgbClr val="5EEAD4"/>
                </a:solidFill>
                <a:latin typeface="Inter"/>
                <a:ea typeface="Inter"/>
                <a:cs typeface="Inter"/>
              </a:defRPr>
            </a:pPr>
            <a:r>
              <a:rPr sz="1500">
                <a:solidFill>
                  <a:srgbClr val="5EEAD4"/>
                </a:solidFill>
                <a:latin typeface="Inter"/>
                <a:ea typeface="Inter"/>
                <a:cs typeface="Inter"/>
              </a:rPr>
              <a:t>Python path: Windows → .venv/Scripts/python.exe</a:t>
            </a:r>
          </a:p>
          <a:p xmlns:a="http://schemas.openxmlformats.org/drawingml/2006/main">
            <a:pPr>
              <a:defRPr sz="1500">
                <a:solidFill>
                  <a:srgbClr val="5EEAD4"/>
                </a:solidFill>
                <a:latin typeface="Inter"/>
                <a:ea typeface="Inter"/>
                <a:cs typeface="Inter"/>
              </a:defRPr>
            </a:pPr>
            <a:r>
              <a:rPr sz="1500">
                <a:solidFill>
                  <a:srgbClr val="5EEAD4"/>
                </a:solidFill>
                <a:latin typeface="Inter"/>
                <a:ea typeface="Inter"/>
                <a:cs typeface="Inter"/>
              </a:rPr>
              <a:t>Mac → .venv/bin/python · enter an absolute path</a:t>
            </a:r>
          </a:p>
        </p:txBody>
      </p:sp>
    </p:spTree>
    <p:extLst>
      <p:ext uri="{BB962C8B-B14F-4D97-AF65-F5344CB8AC3E}">
        <p14:creationId xmlns:p14="http://schemas.microsoft.com/office/powerpoint/2010/main" val="1331486659"/>
      </p:ext>
    </p:extLst>
  </p:cSld>
</p:sld>
</file>

<file path=ppt/slides/slide22.xml><?xml version="1.0" encoding="utf-8"?>
<p:sld xmlns:p="http://schemas.openxmlformats.org/presentationml/2006/main">
  <p:cSld>
    <p:bg>
      <p:bgPr>
        <a:blipFill xmlns:a="http://schemas.openxmlformats.org/drawingml/2006/main" rotWithShape="1">
          <a:blip xmlns:r="http://schemas.openxmlformats.org/officeDocument/2006/relationships" r:embed="R6aaeb793f5674b92">
            <a:lum/>
          </a:blip>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71123779-DFF5-4256-BE02-B0CF6D223DD7}"/>
              </a:ext>
            </a:extLst>
          </p:cNvPr>
          <p:cNvSpPr>
            <a:spLocks xmlns:a="http://schemas.openxmlformats.org/drawingml/2006/main" noGrp="1"/>
          </p:cNvSpPr>
          <p:nvPr/>
        </p:nvSpPr>
        <p:spPr>
          <a:xfrm xmlns:a="http://schemas.openxmlformats.org/drawingml/2006/main">
            <a:off x="571500" y="304800"/>
            <a:ext cx="8001000" cy="4191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117"/>
              </a:lnSpc>
              <a:buNone/>
            </a:pPr>
            <a:r>
              <a:rPr sz="2494" b="1">
                <a:solidFill>
                  <a:srgbClr val="F5FFFA">
                    <a:alpha val="99000"/>
                  </a:srgbClr>
                </a:solidFill>
                <a:latin typeface="Inter"/>
                <a:ea typeface="Inter"/>
                <a:cs typeface="Inter"/>
              </a:rPr>
              <a:t>MCP TEST · discover, call, verify</a:t>
            </a:r>
            <a:endParaRPr sz="2494"/>
          </a:p>
        </p:txBody>
      </p:sp>
      <p:sp>
        <p:nvSpPr>
          <p:cNvPr id="4" name="Shape 1">
            <a:extLst xmlns:a="http://schemas.openxmlformats.org/drawingml/2006/main">
              <a:ext uri="{FF2B5EF4-FFF2-40B4-BE49-F238E27FC236}">
                <a16:creationId xmlns:a16="http://schemas.microsoft.com/office/drawing/2014/main" id="{31C4F9BA-BDC6-4D1D-A1D5-D5114C5D7CCB}"/>
              </a:ext>
            </a:extLst>
          </p:cNvPr>
          <p:cNvSpPr>
            <a:spLocks xmlns:a="http://schemas.openxmlformats.org/drawingml/2006/main" noGrp="1"/>
          </p:cNvSpPr>
          <p:nvPr/>
        </p:nvSpPr>
        <p:spPr>
          <a:xfrm xmlns:a="http://schemas.openxmlformats.org/drawingml/2006/main">
            <a:off x="581025" y="838200"/>
            <a:ext cx="523875" cy="33338"/>
          </a:xfrm>
          <a:prstGeom xmlns:a="http://schemas.openxmlformats.org/drawingml/2006/main" prst="rect">
            <a:avLst/>
          </a:prstGeom>
          <a:solidFill xmlns:a="http://schemas.openxmlformats.org/drawingml/2006/main">
            <a:srgbClr val="4FE3BD"/>
          </a:solidFill>
        </p:spPr>
      </p:sp>
      <p:sp>
        <p:nvSpPr>
          <p:cNvPr id="5" name="Shape 2">
            <a:extLst xmlns:a="http://schemas.openxmlformats.org/drawingml/2006/main">
              <a:ext uri="{FF2B5EF4-FFF2-40B4-BE49-F238E27FC236}">
                <a16:creationId xmlns:a16="http://schemas.microsoft.com/office/drawing/2014/main" id="{55EA000D-1C0B-4B39-A2A4-CD4306DBD5FE}"/>
              </a:ext>
            </a:extLst>
          </p:cNvPr>
          <p:cNvSpPr>
            <a:spLocks xmlns:a="http://schemas.openxmlformats.org/drawingml/2006/main" noGrp="1"/>
          </p:cNvSpPr>
          <p:nvPr/>
        </p:nvSpPr>
        <p:spPr>
          <a:xfrm xmlns:a="http://schemas.openxmlformats.org/drawingml/2006/main">
            <a:off x="571500" y="1381125"/>
            <a:ext cx="5524500" cy="1590675"/>
          </a:xfrm>
          <a:prstGeom xmlns:a="http://schemas.openxmlformats.org/drawingml/2006/main" prst="rect">
            <a:avLst/>
          </a:prstGeom>
          <a:noFill xmlns:a="http://schemas.openxmlformats.org/drawingml/2006/main"/>
        </p:spPr>
      </p:sp>
      <p:sp>
        <p:nvSpPr>
          <p:cNvPr id="6" name="Text 3">
            <a:extLst xmlns:a="http://schemas.openxmlformats.org/drawingml/2006/main">
              <a:ext uri="{FF2B5EF4-FFF2-40B4-BE49-F238E27FC236}">
                <a16:creationId xmlns:a16="http://schemas.microsoft.com/office/drawing/2014/main" id="{4C342BF5-C934-4081-8A54-3D1D46B304FE}"/>
              </a:ext>
            </a:extLst>
          </p:cNvPr>
          <p:cNvSpPr>
            <a:spLocks xmlns:a="http://schemas.openxmlformats.org/drawingml/2006/main" noGrp="1"/>
          </p:cNvSpPr>
          <p:nvPr/>
        </p:nvSpPr>
        <p:spPr>
          <a:xfrm xmlns:a="http://schemas.openxmlformats.org/drawingml/2006/main">
            <a:off x="571500" y="1381125"/>
            <a:ext cx="5524500" cy="26193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59"/>
              </a:lnSpc>
              <a:buNone/>
            </a:pPr>
            <a:r>
              <a:rPr sz="1568">
                <a:solidFill>
                  <a:srgbClr val="F5FFFA">
                    <a:alpha val="99000"/>
                  </a:srgbClr>
                </a:solidFill>
                <a:latin typeface="Inter"/>
                <a:ea typeface="Inter"/>
                <a:cs typeface="Inter"/>
              </a:rPr>
              <a:t>1  Save your tool in workshop/starter/.</a:t>
            </a:r>
            <a:endParaRPr sz="1568"/>
          </a:p>
        </p:txBody>
      </p:sp>
      <p:sp>
        <p:nvSpPr>
          <p:cNvPr id="7" name="Text 4">
            <a:extLst xmlns:a="http://schemas.openxmlformats.org/drawingml/2006/main">
              <a:ext uri="{FF2B5EF4-FFF2-40B4-BE49-F238E27FC236}">
                <a16:creationId xmlns:a16="http://schemas.microsoft.com/office/drawing/2014/main" id="{A5817B00-8ACA-4073-B333-6AF39DA734CB}"/>
              </a:ext>
            </a:extLst>
          </p:cNvPr>
          <p:cNvSpPr>
            <a:spLocks xmlns:a="http://schemas.openxmlformats.org/drawingml/2006/main" noGrp="1"/>
          </p:cNvSpPr>
          <p:nvPr/>
        </p:nvSpPr>
        <p:spPr>
          <a:xfrm xmlns:a="http://schemas.openxmlformats.org/drawingml/2006/main">
            <a:off x="571500" y="1824038"/>
            <a:ext cx="5524500" cy="26193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59"/>
              </a:lnSpc>
              <a:buNone/>
            </a:pPr>
            <a:r>
              <a:rPr sz="1568">
                <a:solidFill>
                  <a:srgbClr val="F5FFFA">
                    <a:alpha val="99000"/>
                  </a:srgbClr>
                </a:solidFill>
                <a:latin typeface="Inter"/>
                <a:ea typeface="Inter"/>
                <a:cs typeface="Inter"/>
              </a:rPr>
              <a:t>2  MCP: List Servers → mcpjam → Restart.</a:t>
            </a:r>
            <a:endParaRPr sz="1568"/>
          </a:p>
        </p:txBody>
      </p:sp>
      <p:sp>
        <p:nvSpPr>
          <p:cNvPr id="8" name="Text 5">
            <a:extLst xmlns:a="http://schemas.openxmlformats.org/drawingml/2006/main">
              <a:ext uri="{FF2B5EF4-FFF2-40B4-BE49-F238E27FC236}">
                <a16:creationId xmlns:a16="http://schemas.microsoft.com/office/drawing/2014/main" id="{96B3FE8D-2850-4E67-8D92-617E402FD6C0}"/>
              </a:ext>
            </a:extLst>
          </p:cNvPr>
          <p:cNvSpPr>
            <a:spLocks xmlns:a="http://schemas.openxmlformats.org/drawingml/2006/main" noGrp="1"/>
          </p:cNvSpPr>
          <p:nvPr/>
        </p:nvSpPr>
        <p:spPr>
          <a:xfrm xmlns:a="http://schemas.openxmlformats.org/drawingml/2006/main">
            <a:off x="571500" y="2266950"/>
            <a:ext cx="5524500" cy="26193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59"/>
              </a:lnSpc>
              <a:buNone/>
            </a:pPr>
            <a:r>
              <a:rPr sz="1568">
                <a:solidFill>
                  <a:srgbClr val="F5FFFA">
                    <a:alpha val="99000"/>
                  </a:srgbClr>
                </a:solidFill>
                <a:latin typeface="Inter"/>
                <a:ea typeface="Inter"/>
                <a:cs typeface="Inter"/>
              </a:rPr>
              <a:t>3  Enable tools; confirm set_swing appears.</a:t>
            </a:r>
            <a:endParaRPr sz="1568"/>
          </a:p>
        </p:txBody>
      </p:sp>
      <p:sp>
        <p:nvSpPr>
          <p:cNvPr id="9" name="Text 6">
            <a:extLst xmlns:a="http://schemas.openxmlformats.org/drawingml/2006/main">
              <a:ext uri="{FF2B5EF4-FFF2-40B4-BE49-F238E27FC236}">
                <a16:creationId xmlns:a16="http://schemas.microsoft.com/office/drawing/2014/main" id="{69D153DB-4217-4F49-A83D-8AE6918B24EE}"/>
              </a:ext>
            </a:extLst>
          </p:cNvPr>
          <p:cNvSpPr>
            <a:spLocks xmlns:a="http://schemas.openxmlformats.org/drawingml/2006/main" noGrp="1"/>
          </p:cNvSpPr>
          <p:nvPr/>
        </p:nvSpPr>
        <p:spPr>
          <a:xfrm xmlns:a="http://schemas.openxmlformats.org/drawingml/2006/main">
            <a:off x="571500" y="2709863"/>
            <a:ext cx="5524500" cy="26193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59"/>
              </a:lnSpc>
              <a:buNone/>
            </a:pPr>
            <a:r>
              <a:rPr sz="1568">
                <a:solidFill>
                  <a:srgbClr val="F5FFFA">
                    <a:alpha val="99000"/>
                  </a:srgbClr>
                </a:solidFill>
                <a:latin typeface="Inter"/>
                <a:ea typeface="Inter"/>
                <a:cs typeface="Inter"/>
              </a:rPr>
              <a:t>4  Ask for swing 35; verify with get_state.</a:t>
            </a:r>
            <a:endParaRPr sz="1568"/>
          </a:p>
        </p:txBody>
      </p:sp>
      <p:pic>
        <p:nvPicPr>
          <p:cNvPr id="10" name="Image 0">
            <a:extLst xmlns:a="http://schemas.openxmlformats.org/drawingml/2006/main">
              <a:ext uri="{FF2B5EF4-FFF2-40B4-BE49-F238E27FC236}">
                <a16:creationId xmlns:a16="http://schemas.microsoft.com/office/drawing/2014/main" id="{998BA951-B410-4F56-A431-1F5A2D6548AE}"/>
              </a:ext>
            </a:extLst>
          </p:cNvPr>
          <p:cNvPicPr>
            <a:picLocks xmlns:a="http://schemas.openxmlformats.org/drawingml/2006/main" noChangeAspect="1"/>
          </p:cNvPicPr>
          <p:nvPr/>
        </p:nvPicPr>
        <p:blipFill>
          <a:blip xmlns:r="http://schemas.openxmlformats.org/officeDocument/2006/relationships" xmlns:a="http://schemas.openxmlformats.org/drawingml/2006/main" r:embed="Rcd1f5621123944f8"/>
          <a:srcRect xmlns:a="http://schemas.openxmlformats.org/drawingml/2006/main" l="0" t="0" r="0" b="0"/>
          <a:stretch xmlns:a="http://schemas.openxmlformats.org/drawingml/2006/main"/>
        </p:blipFill>
        <p:spPr>
          <a:xfrm xmlns:a="http://schemas.openxmlformats.org/drawingml/2006/main">
            <a:off x="6667500" y="1738313"/>
            <a:ext cx="1809750" cy="1809750"/>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E846A4AF-E691-401D-ADD5-82F416ED391B}"/>
              </a:ext>
            </a:extLst>
          </p:cNvPr>
          <p:cNvSpPr>
            <a:spLocks xmlns:a="http://schemas.openxmlformats.org/drawingml/2006/main" noGrp="1"/>
          </p:cNvSpPr>
          <p:nvPr/>
        </p:nvSpPr>
        <p:spPr>
          <a:xfrm xmlns:a="http://schemas.openxmlformats.org/drawingml/2006/main">
            <a:off x="6667500" y="3690937"/>
            <a:ext cx="1905000" cy="4667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37"/>
              </a:lnSpc>
              <a:buNone/>
            </a:pPr>
            <a:r>
              <a:rPr sz="1389" b="1">
                <a:solidFill>
                  <a:srgbClr val="F5FFFA">
                    <a:alpha val="99000"/>
                  </a:srgbClr>
                </a:solidFill>
                <a:latin typeface="Inter"/>
                <a:ea typeface="Inter"/>
                <a:cs typeface="Inter"/>
              </a:rPr>
              <a:t>15 minutes.</a:t>
            </a:r>
            <a:endParaRPr sz="1389"/>
          </a:p>
          <a:p xmlns:a="http://schemas.openxmlformats.org/drawingml/2006/main">
            <a:pPr marL="0" indent="0" algn="l">
              <a:lnSpc>
                <a:spcPts val="1737"/>
              </a:lnSpc>
              <a:buNone/>
            </a:pPr>
            <a:r>
              <a:rPr sz="1389" b="1">
                <a:solidFill>
                  <a:srgbClr val="F5FFFA">
                    <a:alpha val="99000"/>
                  </a:srgbClr>
                </a:solidFill>
                <a:latin typeface="Inter"/>
                <a:ea typeface="Inter"/>
                <a:cs typeface="Inter"/>
              </a:rPr>
              <a:t>Test and adapt.</a:t>
            </a:r>
            <a:endParaRPr sz="1389"/>
          </a:p>
        </p:txBody>
      </p:sp>
      <p:sp>
        <p:nvSpPr>
          <p:cNvPr id="12" name="Text 8">
            <a:extLst xmlns:a="http://schemas.openxmlformats.org/drawingml/2006/main">
              <a:ext uri="{FF2B5EF4-FFF2-40B4-BE49-F238E27FC236}">
                <a16:creationId xmlns:a16="http://schemas.microsoft.com/office/drawing/2014/main" id="{1358E20F-2528-466C-A7C3-C46E3AAF5A9D}"/>
              </a:ext>
            </a:extLst>
          </p:cNvPr>
          <p:cNvSpPr>
            <a:spLocks xmlns:a="http://schemas.openxmlformats.org/drawingml/2006/main" noGrp="1"/>
          </p:cNvSpPr>
          <p:nvPr/>
        </p:nvSpPr>
        <p:spPr>
          <a:xfrm xmlns:a="http://schemas.openxmlformats.org/drawingml/2006/main">
            <a:off x="571500" y="4414838"/>
            <a:ext cx="80010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2"/>
              </a:lnSpc>
              <a:buNone/>
            </a:pPr>
            <a:r>
              <a:rPr sz="1354" b="1">
                <a:solidFill>
                  <a:srgbClr val="F5FFFA">
                    <a:alpha val="99000"/>
                  </a:srgbClr>
                </a:solidFill>
                <a:latin typeface="Inter"/>
                <a:ea typeface="Inter"/>
                <a:cs typeface="Inter"/>
              </a:rPr>
              <a:t>25–40 min · build, reconnect, test, then explain to a partner</a:t>
            </a:r>
            <a:endParaRPr sz="1354"/>
          </a:p>
        </p:txBody>
      </p:sp>
      <p:sp>
        <p:nvSpPr>
          <p:cNvPr id="13" name="Text 9">
            <a:extLst xmlns:a="http://schemas.openxmlformats.org/drawingml/2006/main">
              <a:ext uri="{FF2B5EF4-FFF2-40B4-BE49-F238E27FC236}">
                <a16:creationId xmlns:a16="http://schemas.microsoft.com/office/drawing/2014/main" id="{3A2FE1F2-AA19-4F1B-8B1E-C3BC7E6BCB37}"/>
              </a:ext>
            </a:extLst>
          </p:cNvPr>
          <p:cNvSpPr>
            <a:spLocks xmlns:a="http://schemas.openxmlformats.org/drawingml/2006/main" noGrp="1"/>
          </p:cNvSpPr>
          <p:nvPr/>
        </p:nvSpPr>
        <p:spPr>
          <a:xfrm xmlns:a="http://schemas.openxmlformats.org/drawingml/2006/main">
            <a:off x="8310562" y="4862513"/>
            <a:ext cx="619125" cy="1428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69"/>
              </a:lnSpc>
              <a:buNone/>
            </a:pPr>
            <a:r>
              <a:rPr sz="855">
                <a:solidFill>
                  <a:srgbClr val="BAD9CF">
                    <a:alpha val="99000"/>
                  </a:srgbClr>
                </a:solidFill>
                <a:latin typeface="Inter"/>
                <a:ea typeface="Inter"/>
                <a:cs typeface="Inter"/>
              </a:rPr>
              <a:t>22 / 29</a:t>
            </a:r>
            <a:endParaRPr sz="855"/>
          </a:p>
        </p:txBody>
      </p:sp>
      <p:sp>
        <p:nvSpPr>
          <p:cNvPr id="14" name="Shape 10">
            <a:extLst xmlns:a="http://schemas.openxmlformats.org/drawingml/2006/main">
              <a:ext uri="{FF2B5EF4-FFF2-40B4-BE49-F238E27FC236}">
                <a16:creationId xmlns:a16="http://schemas.microsoft.com/office/drawing/2014/main" id="{60244D37-E018-458E-A42C-05588D9EC0AB}"/>
              </a:ext>
            </a:extLst>
          </p:cNvPr>
          <p:cNvSpPr>
            <a:spLocks xmlns:a="http://schemas.openxmlformats.org/drawingml/2006/main" noGrp="1"/>
          </p:cNvSpPr>
          <p:nvPr/>
        </p:nvSpPr>
        <p:spPr>
          <a:xfrm xmlns:a="http://schemas.openxmlformats.org/drawingml/2006/main">
            <a:off x="571500" y="3200400"/>
            <a:ext cx="5667375" cy="714375"/>
          </a:xfrm>
          <a:prstGeom xmlns:a="http://schemas.openxmlformats.org/drawingml/2006/main" prst="roundRect">
            <a:avLst>
              <a:gd name="adj" fmla="val 15360"/>
            </a:avLst>
          </a:prstGeom>
          <a:solidFill xmlns:a="http://schemas.openxmlformats.org/drawingml/2006/main">
            <a:srgbClr val="092925"/>
          </a:solidFill>
        </p:spPr>
      </p:sp>
      <p:sp>
        <p:nvSpPr>
          <p:cNvPr id="15" name="Text 11">
            <a:extLst xmlns:a="http://schemas.openxmlformats.org/drawingml/2006/main">
              <a:ext uri="{FF2B5EF4-FFF2-40B4-BE49-F238E27FC236}">
                <a16:creationId xmlns:a16="http://schemas.microsoft.com/office/drawing/2014/main" id="{F5E1B464-3CDB-4858-B835-A3A46601EFCB}"/>
              </a:ext>
            </a:extLst>
          </p:cNvPr>
          <p:cNvSpPr>
            <a:spLocks xmlns:a="http://schemas.openxmlformats.org/drawingml/2006/main" noGrp="1"/>
          </p:cNvSpPr>
          <p:nvPr/>
        </p:nvSpPr>
        <p:spPr>
          <a:xfrm xmlns:a="http://schemas.openxmlformats.org/drawingml/2006/main">
            <a:off x="666750" y="3257550"/>
            <a:ext cx="5476875" cy="1285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49"/>
              </a:lnSpc>
              <a:buNone/>
            </a:pPr>
            <a:r>
              <a:rPr sz="784" b="1">
                <a:solidFill>
                  <a:srgbClr val="5CE5BD">
                    <a:alpha val="99000"/>
                  </a:srgbClr>
                </a:solidFill>
                <a:latin typeface="Inter"/>
                <a:ea typeface="Inter"/>
                <a:cs typeface="Inter"/>
              </a:rPr>
              <a:t>2 / 3 · PRIZE QUESTION  ·  Hands up!</a:t>
            </a:r>
            <a:endParaRPr sz="784"/>
          </a:p>
        </p:txBody>
      </p:sp>
      <p:sp>
        <p:nvSpPr>
          <p:cNvPr id="16" name="Text 12">
            <a:extLst xmlns:a="http://schemas.openxmlformats.org/drawingml/2006/main">
              <a:ext uri="{FF2B5EF4-FFF2-40B4-BE49-F238E27FC236}">
                <a16:creationId xmlns:a16="http://schemas.microsoft.com/office/drawing/2014/main" id="{B986671F-1DBC-4F17-BAE2-128958A71415}"/>
              </a:ext>
            </a:extLst>
          </p:cNvPr>
          <p:cNvSpPr>
            <a:spLocks xmlns:a="http://schemas.openxmlformats.org/drawingml/2006/main" noGrp="1"/>
          </p:cNvSpPr>
          <p:nvPr/>
        </p:nvSpPr>
        <p:spPr>
          <a:xfrm xmlns:a="http://schemas.openxmlformats.org/drawingml/2006/main">
            <a:off x="666750" y="3414713"/>
            <a:ext cx="5476875" cy="18573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80"/>
              </a:lnSpc>
              <a:buNone/>
            </a:pPr>
            <a:r>
              <a:rPr sz="1140">
                <a:solidFill>
                  <a:srgbClr val="F2FAF5">
                    <a:alpha val="99000"/>
                  </a:srgbClr>
                </a:solidFill>
                <a:latin typeface="Inter"/>
                <a:ea typeface="Inter"/>
                <a:cs typeface="Inter"/>
              </a:rPr>
              <a:t>Should set_swing(100) succeed?</a:t>
            </a:r>
            <a:endParaRPr sz="1140"/>
          </a:p>
        </p:txBody>
      </p:sp>
      <p:sp>
        <p:nvSpPr>
          <p:cNvPr id="17" name="Text 13">
            <a:extLst xmlns:a="http://schemas.openxmlformats.org/drawingml/2006/main">
              <a:ext uri="{FF2B5EF4-FFF2-40B4-BE49-F238E27FC236}">
                <a16:creationId xmlns:a16="http://schemas.microsoft.com/office/drawing/2014/main" id="{19BF4A93-944D-45D1-8BB1-9C3B756E92F3}"/>
              </a:ext>
            </a:extLst>
          </p:cNvPr>
          <p:cNvSpPr>
            <a:spLocks xmlns:a="http://schemas.openxmlformats.org/drawingml/2006/main" noGrp="1"/>
          </p:cNvSpPr>
          <p:nvPr/>
        </p:nvSpPr>
        <p:spPr>
          <a:xfrm xmlns:a="http://schemas.openxmlformats.org/drawingml/2006/main">
            <a:off x="666750" y="3629025"/>
            <a:ext cx="5476875" cy="15716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64"/>
              </a:lnSpc>
              <a:buNone/>
            </a:pPr>
            <a:r>
              <a:rPr sz="962">
                <a:solidFill>
                  <a:srgbClr val="F2FAF5">
                    <a:alpha val="99000"/>
                  </a:srgbClr>
                </a:solidFill>
                <a:latin typeface="Inter"/>
                <a:ea typeface="Inter"/>
                <a:cs typeface="Inter"/>
              </a:rPr>
              <a:t>A  Yes       B  No</a:t>
            </a:r>
            <a:endParaRPr sz="962"/>
          </a:p>
        </p:txBody>
      </p:sp>
    </p:spTree>
    <p:extLst>
      <p:ext uri="{BB962C8B-B14F-4D97-AF65-F5344CB8AC3E}">
        <p14:creationId xmlns:p14="http://schemas.microsoft.com/office/powerpoint/2010/main" val="1213411847"/>
      </p:ext>
    </p:extLst>
  </p:cSld>
</p:sld>
</file>

<file path=ppt/slides/slide23.xml><?xml version="1.0" encoding="utf-8"?>
<p:sld xmlns:p="http://schemas.openxmlformats.org/presentationml/2006/main">
  <p:cSld>
    <p:bg>
      <p:bgPr>
        <a:blipFill xmlns:a="http://schemas.openxmlformats.org/drawingml/2006/main" rotWithShape="1">
          <a:blip xmlns:r="http://schemas.openxmlformats.org/officeDocument/2006/relationships" r:embed="R472750c1495e4dd0">
            <a:lum/>
          </a:blip>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41368A16-715E-4BC4-97D9-26BE9633FAEE}"/>
              </a:ext>
            </a:extLst>
          </p:cNvPr>
          <p:cNvSpPr>
            <a:spLocks xmlns:a="http://schemas.openxmlformats.org/drawingml/2006/main" noGrp="1"/>
          </p:cNvSpPr>
          <p:nvPr/>
        </p:nvSpPr>
        <p:spPr>
          <a:xfrm xmlns:a="http://schemas.openxmlformats.org/drawingml/2006/main">
            <a:off x="571500" y="304800"/>
            <a:ext cx="8001000" cy="4191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117"/>
              </a:lnSpc>
              <a:buNone/>
            </a:pPr>
            <a:r>
              <a:rPr sz="2494" b="1">
                <a:solidFill>
                  <a:srgbClr val="F5FFFA">
                    <a:alpha val="99000"/>
                  </a:srgbClr>
                </a:solidFill>
                <a:latin typeface="Inter"/>
                <a:ea typeface="Inter"/>
                <a:cs typeface="Inter"/>
              </a:rPr>
              <a:t>MCP TEST · evidence of success</a:t>
            </a:r>
            <a:endParaRPr sz="2494"/>
          </a:p>
        </p:txBody>
      </p:sp>
      <p:sp>
        <p:nvSpPr>
          <p:cNvPr id="4" name="Shape 1">
            <a:extLst xmlns:a="http://schemas.openxmlformats.org/drawingml/2006/main">
              <a:ext uri="{FF2B5EF4-FFF2-40B4-BE49-F238E27FC236}">
                <a16:creationId xmlns:a16="http://schemas.microsoft.com/office/drawing/2014/main" id="{3407F480-F16D-41D5-9441-F44B5250FB5F}"/>
              </a:ext>
            </a:extLst>
          </p:cNvPr>
          <p:cNvSpPr>
            <a:spLocks xmlns:a="http://schemas.openxmlformats.org/drawingml/2006/main" noGrp="1"/>
          </p:cNvSpPr>
          <p:nvPr/>
        </p:nvSpPr>
        <p:spPr>
          <a:xfrm xmlns:a="http://schemas.openxmlformats.org/drawingml/2006/main">
            <a:off x="581025" y="838200"/>
            <a:ext cx="523875" cy="33338"/>
          </a:xfrm>
          <a:prstGeom xmlns:a="http://schemas.openxmlformats.org/drawingml/2006/main" prst="rect">
            <a:avLst/>
          </a:prstGeom>
          <a:solidFill xmlns:a="http://schemas.openxmlformats.org/drawingml/2006/main">
            <a:srgbClr val="4FE3BD"/>
          </a:solidFill>
        </p:spPr>
      </p:sp>
      <p:sp>
        <p:nvSpPr>
          <p:cNvPr id="5" name="Shape 2">
            <a:extLst xmlns:a="http://schemas.openxmlformats.org/drawingml/2006/main">
              <a:ext uri="{FF2B5EF4-FFF2-40B4-BE49-F238E27FC236}">
                <a16:creationId xmlns:a16="http://schemas.microsoft.com/office/drawing/2014/main" id="{C305BD67-A228-4879-8E8C-E68CC6ADE15A}"/>
              </a:ext>
            </a:extLst>
          </p:cNvPr>
          <p:cNvSpPr>
            <a:spLocks xmlns:a="http://schemas.openxmlformats.org/drawingml/2006/main" noGrp="1"/>
          </p:cNvSpPr>
          <p:nvPr/>
        </p:nvSpPr>
        <p:spPr>
          <a:xfrm xmlns:a="http://schemas.openxmlformats.org/drawingml/2006/main">
            <a:off x="571500" y="1285875"/>
            <a:ext cx="5853113" cy="2219325"/>
          </a:xfrm>
          <a:prstGeom xmlns:a="http://schemas.openxmlformats.org/drawingml/2006/main" prst="rect">
            <a:avLst/>
          </a:prstGeom>
          <a:noFill xmlns:a="http://schemas.openxmlformats.org/drawingml/2006/main"/>
        </p:spPr>
      </p:sp>
      <p:sp>
        <p:nvSpPr>
          <p:cNvPr id="6" name="Shape 3">
            <a:extLst xmlns:a="http://schemas.openxmlformats.org/drawingml/2006/main">
              <a:ext uri="{FF2B5EF4-FFF2-40B4-BE49-F238E27FC236}">
                <a16:creationId xmlns:a16="http://schemas.microsoft.com/office/drawing/2014/main" id="{89830BA1-E1A7-4AF5-ACFD-81450CBF5537}"/>
              </a:ext>
            </a:extLst>
          </p:cNvPr>
          <p:cNvSpPr>
            <a:spLocks xmlns:a="http://schemas.openxmlformats.org/drawingml/2006/main" noGrp="1"/>
          </p:cNvSpPr>
          <p:nvPr/>
        </p:nvSpPr>
        <p:spPr>
          <a:xfrm xmlns:a="http://schemas.openxmlformats.org/drawingml/2006/main">
            <a:off x="571500" y="1285875"/>
            <a:ext cx="5853113" cy="428625"/>
          </a:xfrm>
          <a:prstGeom xmlns:a="http://schemas.openxmlformats.org/drawingml/2006/main" prst="rect">
            <a:avLst/>
          </a:prstGeom>
          <a:solidFill xmlns:a="http://schemas.openxmlformats.org/drawingml/2006/main">
            <a:srgbClr val="267863">
              <a:alpha val="96000"/>
            </a:srgbClr>
          </a:solidFill>
        </p:spPr>
      </p:sp>
      <p:sp>
        <p:nvSpPr>
          <p:cNvPr id="7" name="Text 4">
            <a:extLst xmlns:a="http://schemas.openxmlformats.org/drawingml/2006/main">
              <a:ext uri="{FF2B5EF4-FFF2-40B4-BE49-F238E27FC236}">
                <a16:creationId xmlns:a16="http://schemas.microsoft.com/office/drawing/2014/main" id="{28295773-4CCE-4698-885F-99CBB6B15AEB}"/>
              </a:ext>
            </a:extLst>
          </p:cNvPr>
          <p:cNvSpPr>
            <a:spLocks xmlns:a="http://schemas.openxmlformats.org/drawingml/2006/main" noGrp="1"/>
          </p:cNvSpPr>
          <p:nvPr/>
        </p:nvSpPr>
        <p:spPr>
          <a:xfrm xmlns:a="http://schemas.openxmlformats.org/drawingml/2006/main">
            <a:off x="676275" y="1390650"/>
            <a:ext cx="1714500" cy="2190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48"/>
              </a:lnSpc>
              <a:buNone/>
            </a:pPr>
            <a:r>
              <a:rPr sz="1318" b="1">
                <a:solidFill>
                  <a:srgbClr val="4FE3BD">
                    <a:alpha val="99000"/>
                  </a:srgbClr>
                </a:solidFill>
                <a:latin typeface="Inter"/>
                <a:ea typeface="Inter"/>
                <a:cs typeface="Inter"/>
              </a:rPr>
              <a:t>Test</a:t>
            </a:r>
            <a:endParaRPr sz="1318"/>
          </a:p>
        </p:txBody>
      </p:sp>
      <p:sp>
        <p:nvSpPr>
          <p:cNvPr id="8" name="Text 5">
            <a:extLst xmlns:a="http://schemas.openxmlformats.org/drawingml/2006/main">
              <a:ext uri="{FF2B5EF4-FFF2-40B4-BE49-F238E27FC236}">
                <a16:creationId xmlns:a16="http://schemas.microsoft.com/office/drawing/2014/main" id="{20A1ADDE-0544-469C-9849-C18D07BD31A5}"/>
              </a:ext>
            </a:extLst>
          </p:cNvPr>
          <p:cNvSpPr>
            <a:spLocks xmlns:a="http://schemas.openxmlformats.org/drawingml/2006/main" noGrp="1"/>
          </p:cNvSpPr>
          <p:nvPr/>
        </p:nvSpPr>
        <p:spPr>
          <a:xfrm xmlns:a="http://schemas.openxmlformats.org/drawingml/2006/main">
            <a:off x="2390775" y="1390650"/>
            <a:ext cx="3929063" cy="2190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48"/>
              </a:lnSpc>
              <a:buNone/>
            </a:pPr>
            <a:r>
              <a:rPr sz="1318" b="1">
                <a:solidFill>
                  <a:srgbClr val="4FE3BD">
                    <a:alpha val="99000"/>
                  </a:srgbClr>
                </a:solidFill>
                <a:latin typeface="Inter"/>
                <a:ea typeface="Inter"/>
                <a:cs typeface="Inter"/>
              </a:rPr>
              <a:t>Expected evidence</a:t>
            </a:r>
            <a:endParaRPr sz="1318"/>
          </a:p>
        </p:txBody>
      </p:sp>
      <p:sp>
        <p:nvSpPr>
          <p:cNvPr id="9" name="Shape 6">
            <a:extLst xmlns:a="http://schemas.openxmlformats.org/drawingml/2006/main">
              <a:ext uri="{FF2B5EF4-FFF2-40B4-BE49-F238E27FC236}">
                <a16:creationId xmlns:a16="http://schemas.microsoft.com/office/drawing/2014/main" id="{2D5EB9C8-8B09-4DD9-B7A6-190A63BA79B3}"/>
              </a:ext>
            </a:extLst>
          </p:cNvPr>
          <p:cNvSpPr>
            <a:spLocks xmlns:a="http://schemas.openxmlformats.org/drawingml/2006/main" noGrp="1"/>
          </p:cNvSpPr>
          <p:nvPr/>
        </p:nvSpPr>
        <p:spPr>
          <a:xfrm xmlns:a="http://schemas.openxmlformats.org/drawingml/2006/main">
            <a:off x="571500" y="1733550"/>
            <a:ext cx="5853113" cy="428625"/>
          </a:xfrm>
          <a:prstGeom xmlns:a="http://schemas.openxmlformats.org/drawingml/2006/main" prst="rect">
            <a:avLst/>
          </a:prstGeom>
          <a:solidFill xmlns:a="http://schemas.openxmlformats.org/drawingml/2006/main">
            <a:srgbClr val="092925">
              <a:alpha val="96000"/>
            </a:srgbClr>
          </a:solidFill>
        </p:spPr>
      </p:sp>
      <p:sp>
        <p:nvSpPr>
          <p:cNvPr id="10" name="Text 7">
            <a:extLst xmlns:a="http://schemas.openxmlformats.org/drawingml/2006/main">
              <a:ext uri="{FF2B5EF4-FFF2-40B4-BE49-F238E27FC236}">
                <a16:creationId xmlns:a16="http://schemas.microsoft.com/office/drawing/2014/main" id="{6A8D5C18-8714-4CB8-BD88-FF9D0D98510F}"/>
              </a:ext>
            </a:extLst>
          </p:cNvPr>
          <p:cNvSpPr>
            <a:spLocks xmlns:a="http://schemas.openxmlformats.org/drawingml/2006/main" noGrp="1"/>
          </p:cNvSpPr>
          <p:nvPr/>
        </p:nvSpPr>
        <p:spPr>
          <a:xfrm xmlns:a="http://schemas.openxmlformats.org/drawingml/2006/main">
            <a:off x="676275" y="1838325"/>
            <a:ext cx="1714500" cy="2190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48"/>
              </a:lnSpc>
              <a:buNone/>
            </a:pPr>
            <a:r>
              <a:rPr sz="1318">
                <a:solidFill>
                  <a:srgbClr val="F5FFFA">
                    <a:alpha val="99000"/>
                  </a:srgbClr>
                </a:solidFill>
                <a:latin typeface="Inter"/>
                <a:ea typeface="Inter"/>
                <a:cs typeface="Inter"/>
              </a:rPr>
              <a:t>Discovery</a:t>
            </a:r>
            <a:endParaRPr sz="1318"/>
          </a:p>
        </p:txBody>
      </p:sp>
      <p:sp>
        <p:nvSpPr>
          <p:cNvPr id="11" name="Text 8">
            <a:extLst xmlns:a="http://schemas.openxmlformats.org/drawingml/2006/main">
              <a:ext uri="{FF2B5EF4-FFF2-40B4-BE49-F238E27FC236}">
                <a16:creationId xmlns:a16="http://schemas.microsoft.com/office/drawing/2014/main" id="{3F38AFEB-8C15-4679-9B3E-182FD0A64074}"/>
              </a:ext>
            </a:extLst>
          </p:cNvPr>
          <p:cNvSpPr>
            <a:spLocks xmlns:a="http://schemas.openxmlformats.org/drawingml/2006/main" noGrp="1"/>
          </p:cNvSpPr>
          <p:nvPr/>
        </p:nvSpPr>
        <p:spPr>
          <a:xfrm xmlns:a="http://schemas.openxmlformats.org/drawingml/2006/main">
            <a:off x="2390775" y="1838325"/>
            <a:ext cx="3929063" cy="2190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48"/>
              </a:lnSpc>
              <a:buNone/>
            </a:pPr>
            <a:r>
              <a:rPr sz="1318">
                <a:solidFill>
                  <a:srgbClr val="F5FFFA">
                    <a:alpha val="99000"/>
                  </a:srgbClr>
                </a:solidFill>
                <a:latin typeface="Inter"/>
                <a:ea typeface="Inter"/>
                <a:cs typeface="Inter"/>
              </a:rPr>
              <a:t>set_swing appears in available tools</a:t>
            </a:r>
            <a:endParaRPr sz="1318"/>
          </a:p>
        </p:txBody>
      </p:sp>
      <p:sp>
        <p:nvSpPr>
          <p:cNvPr id="12" name="Shape 9">
            <a:extLst xmlns:a="http://schemas.openxmlformats.org/drawingml/2006/main">
              <a:ext uri="{FF2B5EF4-FFF2-40B4-BE49-F238E27FC236}">
                <a16:creationId xmlns:a16="http://schemas.microsoft.com/office/drawing/2014/main" id="{7E7370F0-A12F-4A96-BC50-748003B9B4F0}"/>
              </a:ext>
            </a:extLst>
          </p:cNvPr>
          <p:cNvSpPr>
            <a:spLocks xmlns:a="http://schemas.openxmlformats.org/drawingml/2006/main" noGrp="1"/>
          </p:cNvSpPr>
          <p:nvPr/>
        </p:nvSpPr>
        <p:spPr>
          <a:xfrm xmlns:a="http://schemas.openxmlformats.org/drawingml/2006/main">
            <a:off x="571500" y="2181225"/>
            <a:ext cx="5853113" cy="428625"/>
          </a:xfrm>
          <a:prstGeom xmlns:a="http://schemas.openxmlformats.org/drawingml/2006/main" prst="rect">
            <a:avLst/>
          </a:prstGeom>
          <a:solidFill xmlns:a="http://schemas.openxmlformats.org/drawingml/2006/main">
            <a:srgbClr val="092925">
              <a:alpha val="96000"/>
            </a:srgbClr>
          </a:solidFill>
        </p:spPr>
      </p:sp>
      <p:sp>
        <p:nvSpPr>
          <p:cNvPr id="13" name="Text 10">
            <a:extLst xmlns:a="http://schemas.openxmlformats.org/drawingml/2006/main">
              <a:ext uri="{FF2B5EF4-FFF2-40B4-BE49-F238E27FC236}">
                <a16:creationId xmlns:a16="http://schemas.microsoft.com/office/drawing/2014/main" id="{19358A5B-AF89-4314-8C9B-FA90BC2A74E8}"/>
              </a:ext>
            </a:extLst>
          </p:cNvPr>
          <p:cNvSpPr>
            <a:spLocks xmlns:a="http://schemas.openxmlformats.org/drawingml/2006/main" noGrp="1"/>
          </p:cNvSpPr>
          <p:nvPr/>
        </p:nvSpPr>
        <p:spPr>
          <a:xfrm xmlns:a="http://schemas.openxmlformats.org/drawingml/2006/main">
            <a:off x="676275" y="2286000"/>
            <a:ext cx="1714500" cy="2190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48"/>
              </a:lnSpc>
              <a:buNone/>
            </a:pPr>
            <a:r>
              <a:rPr sz="1318">
                <a:solidFill>
                  <a:srgbClr val="F5FFFA">
                    <a:alpha val="99000"/>
                  </a:srgbClr>
                </a:solidFill>
                <a:latin typeface="Inter"/>
                <a:ea typeface="Inter"/>
                <a:cs typeface="Inter"/>
              </a:rPr>
              <a:t>Amount 35</a:t>
            </a:r>
            <a:endParaRPr sz="1318"/>
          </a:p>
        </p:txBody>
      </p:sp>
      <p:sp>
        <p:nvSpPr>
          <p:cNvPr id="14" name="Text 11">
            <a:extLst xmlns:a="http://schemas.openxmlformats.org/drawingml/2006/main">
              <a:ext uri="{FF2B5EF4-FFF2-40B4-BE49-F238E27FC236}">
                <a16:creationId xmlns:a16="http://schemas.microsoft.com/office/drawing/2014/main" id="{2CF21AF7-079F-4D6F-B0A6-14F12885E237}"/>
              </a:ext>
            </a:extLst>
          </p:cNvPr>
          <p:cNvSpPr>
            <a:spLocks xmlns:a="http://schemas.openxmlformats.org/drawingml/2006/main" noGrp="1"/>
          </p:cNvSpPr>
          <p:nvPr/>
        </p:nvSpPr>
        <p:spPr>
          <a:xfrm xmlns:a="http://schemas.openxmlformats.org/drawingml/2006/main">
            <a:off x="2390775" y="2286000"/>
            <a:ext cx="3929063" cy="2190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48"/>
              </a:lnSpc>
              <a:buNone/>
            </a:pPr>
            <a:r>
              <a:rPr sz="1318">
                <a:solidFill>
                  <a:srgbClr val="F5FFFA">
                    <a:alpha val="99000"/>
                  </a:srgbClr>
                </a:solidFill>
                <a:latin typeface="Inter"/>
                <a:ea typeface="Inter"/>
                <a:cs typeface="Inter"/>
              </a:rPr>
              <a:t>Accepted and verified through get_state</a:t>
            </a:r>
            <a:endParaRPr sz="1318"/>
          </a:p>
        </p:txBody>
      </p:sp>
      <p:sp>
        <p:nvSpPr>
          <p:cNvPr id="15" name="Shape 12">
            <a:extLst xmlns:a="http://schemas.openxmlformats.org/drawingml/2006/main">
              <a:ext uri="{FF2B5EF4-FFF2-40B4-BE49-F238E27FC236}">
                <a16:creationId xmlns:a16="http://schemas.microsoft.com/office/drawing/2014/main" id="{1A45459C-DA18-44B9-B457-46AF060A7D0A}"/>
              </a:ext>
            </a:extLst>
          </p:cNvPr>
          <p:cNvSpPr>
            <a:spLocks xmlns:a="http://schemas.openxmlformats.org/drawingml/2006/main" noGrp="1"/>
          </p:cNvSpPr>
          <p:nvPr/>
        </p:nvSpPr>
        <p:spPr>
          <a:xfrm xmlns:a="http://schemas.openxmlformats.org/drawingml/2006/main">
            <a:off x="571500" y="2628900"/>
            <a:ext cx="5853113" cy="428625"/>
          </a:xfrm>
          <a:prstGeom xmlns:a="http://schemas.openxmlformats.org/drawingml/2006/main" prst="rect">
            <a:avLst/>
          </a:prstGeom>
          <a:solidFill xmlns:a="http://schemas.openxmlformats.org/drawingml/2006/main">
            <a:srgbClr val="092925">
              <a:alpha val="96000"/>
            </a:srgbClr>
          </a:solidFill>
        </p:spPr>
      </p:sp>
      <p:sp>
        <p:nvSpPr>
          <p:cNvPr id="16" name="Text 13">
            <a:extLst xmlns:a="http://schemas.openxmlformats.org/drawingml/2006/main">
              <a:ext uri="{FF2B5EF4-FFF2-40B4-BE49-F238E27FC236}">
                <a16:creationId xmlns:a16="http://schemas.microsoft.com/office/drawing/2014/main" id="{D59DDBF3-A2C3-41D9-B65C-7B76B50160E4}"/>
              </a:ext>
            </a:extLst>
          </p:cNvPr>
          <p:cNvSpPr>
            <a:spLocks xmlns:a="http://schemas.openxmlformats.org/drawingml/2006/main" noGrp="1"/>
          </p:cNvSpPr>
          <p:nvPr/>
        </p:nvSpPr>
        <p:spPr>
          <a:xfrm xmlns:a="http://schemas.openxmlformats.org/drawingml/2006/main">
            <a:off x="676275" y="2733675"/>
            <a:ext cx="1714500" cy="2190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48"/>
              </a:lnSpc>
              <a:buNone/>
            </a:pPr>
            <a:r>
              <a:rPr sz="1318">
                <a:solidFill>
                  <a:srgbClr val="F5FFFA">
                    <a:alpha val="99000"/>
                  </a:srgbClr>
                </a:solidFill>
                <a:latin typeface="Inter"/>
                <a:ea typeface="Inter"/>
                <a:cs typeface="Inter"/>
              </a:rPr>
              <a:t>Amount 0 and 75</a:t>
            </a:r>
            <a:endParaRPr sz="1318"/>
          </a:p>
        </p:txBody>
      </p:sp>
      <p:sp>
        <p:nvSpPr>
          <p:cNvPr id="17" name="Text 14">
            <a:extLst xmlns:a="http://schemas.openxmlformats.org/drawingml/2006/main">
              <a:ext uri="{FF2B5EF4-FFF2-40B4-BE49-F238E27FC236}">
                <a16:creationId xmlns:a16="http://schemas.microsoft.com/office/drawing/2014/main" id="{555F9EDC-F4CB-45CA-B535-E7AD1EFD0DFF}"/>
              </a:ext>
            </a:extLst>
          </p:cNvPr>
          <p:cNvSpPr>
            <a:spLocks xmlns:a="http://schemas.openxmlformats.org/drawingml/2006/main" noGrp="1"/>
          </p:cNvSpPr>
          <p:nvPr/>
        </p:nvSpPr>
        <p:spPr>
          <a:xfrm xmlns:a="http://schemas.openxmlformats.org/drawingml/2006/main">
            <a:off x="2390775" y="2733675"/>
            <a:ext cx="3929063" cy="2190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48"/>
              </a:lnSpc>
              <a:buNone/>
            </a:pPr>
            <a:r>
              <a:rPr sz="1318">
                <a:solidFill>
                  <a:srgbClr val="F5FFFA">
                    <a:alpha val="99000"/>
                  </a:srgbClr>
                </a:solidFill>
                <a:latin typeface="Inter"/>
                <a:ea typeface="Inter"/>
                <a:cs typeface="Inter"/>
              </a:rPr>
              <a:t>Boundary values accepted</a:t>
            </a:r>
            <a:endParaRPr sz="1318"/>
          </a:p>
        </p:txBody>
      </p:sp>
      <p:sp>
        <p:nvSpPr>
          <p:cNvPr id="18" name="Shape 15">
            <a:extLst xmlns:a="http://schemas.openxmlformats.org/drawingml/2006/main">
              <a:ext uri="{FF2B5EF4-FFF2-40B4-BE49-F238E27FC236}">
                <a16:creationId xmlns:a16="http://schemas.microsoft.com/office/drawing/2014/main" id="{736C7BD1-B3F0-4ED7-AF00-035102AEC400}"/>
              </a:ext>
            </a:extLst>
          </p:cNvPr>
          <p:cNvSpPr>
            <a:spLocks xmlns:a="http://schemas.openxmlformats.org/drawingml/2006/main" noGrp="1"/>
          </p:cNvSpPr>
          <p:nvPr/>
        </p:nvSpPr>
        <p:spPr>
          <a:xfrm xmlns:a="http://schemas.openxmlformats.org/drawingml/2006/main">
            <a:off x="571500" y="3076575"/>
            <a:ext cx="5853113" cy="428625"/>
          </a:xfrm>
          <a:prstGeom xmlns:a="http://schemas.openxmlformats.org/drawingml/2006/main" prst="rect">
            <a:avLst/>
          </a:prstGeom>
          <a:solidFill xmlns:a="http://schemas.openxmlformats.org/drawingml/2006/main">
            <a:srgbClr val="092925">
              <a:alpha val="96000"/>
            </a:srgbClr>
          </a:solidFill>
        </p:spPr>
      </p:sp>
      <p:sp>
        <p:nvSpPr>
          <p:cNvPr id="19" name="Text 16">
            <a:extLst xmlns:a="http://schemas.openxmlformats.org/drawingml/2006/main">
              <a:ext uri="{FF2B5EF4-FFF2-40B4-BE49-F238E27FC236}">
                <a16:creationId xmlns:a16="http://schemas.microsoft.com/office/drawing/2014/main" id="{BD27D654-A873-4F5E-B2D6-47D3BA8FDAEE}"/>
              </a:ext>
            </a:extLst>
          </p:cNvPr>
          <p:cNvSpPr>
            <a:spLocks xmlns:a="http://schemas.openxmlformats.org/drawingml/2006/main" noGrp="1"/>
          </p:cNvSpPr>
          <p:nvPr/>
        </p:nvSpPr>
        <p:spPr>
          <a:xfrm xmlns:a="http://schemas.openxmlformats.org/drawingml/2006/main">
            <a:off x="676275" y="3181350"/>
            <a:ext cx="1714500" cy="2190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48"/>
              </a:lnSpc>
              <a:buNone/>
            </a:pPr>
            <a:r>
              <a:rPr sz="1318">
                <a:solidFill>
                  <a:srgbClr val="F5FFFA">
                    <a:alpha val="99000"/>
                  </a:srgbClr>
                </a:solidFill>
                <a:latin typeface="Inter"/>
                <a:ea typeface="Inter"/>
                <a:cs typeface="Inter"/>
              </a:rPr>
              <a:t>Amount 100</a:t>
            </a:r>
            <a:endParaRPr sz="1318"/>
          </a:p>
        </p:txBody>
      </p:sp>
      <p:sp>
        <p:nvSpPr>
          <p:cNvPr id="20" name="Text 17">
            <a:extLst xmlns:a="http://schemas.openxmlformats.org/drawingml/2006/main">
              <a:ext uri="{FF2B5EF4-FFF2-40B4-BE49-F238E27FC236}">
                <a16:creationId xmlns:a16="http://schemas.microsoft.com/office/drawing/2014/main" id="{FF0E02A4-B59D-452A-A680-E842B06E0E17}"/>
              </a:ext>
            </a:extLst>
          </p:cNvPr>
          <p:cNvSpPr>
            <a:spLocks xmlns:a="http://schemas.openxmlformats.org/drawingml/2006/main" noGrp="1"/>
          </p:cNvSpPr>
          <p:nvPr/>
        </p:nvSpPr>
        <p:spPr>
          <a:xfrm xmlns:a="http://schemas.openxmlformats.org/drawingml/2006/main">
            <a:off x="2390775" y="3181350"/>
            <a:ext cx="3929063" cy="2190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48"/>
              </a:lnSpc>
              <a:buNone/>
            </a:pPr>
            <a:r>
              <a:rPr sz="1318">
                <a:solidFill>
                  <a:srgbClr val="F5FFFA">
                    <a:alpha val="99000"/>
                  </a:srgbClr>
                </a:solidFill>
                <a:latin typeface="Inter"/>
                <a:ea typeface="Inter"/>
                <a:cs typeface="Inter"/>
              </a:rPr>
              <a:t>Tool error; Application state unchanged</a:t>
            </a:r>
            <a:endParaRPr sz="1318"/>
          </a:p>
        </p:txBody>
      </p:sp>
      <p:sp>
        <p:nvSpPr>
          <p:cNvPr id="21" name="Text 18">
            <a:extLst xmlns:a="http://schemas.openxmlformats.org/drawingml/2006/main">
              <a:ext uri="{FF2B5EF4-FFF2-40B4-BE49-F238E27FC236}">
                <a16:creationId xmlns:a16="http://schemas.microsoft.com/office/drawing/2014/main" id="{FFC1852A-70CC-42E1-9EDE-0E33270252BF}"/>
              </a:ext>
            </a:extLst>
          </p:cNvPr>
          <p:cNvSpPr>
            <a:spLocks xmlns:a="http://schemas.openxmlformats.org/drawingml/2006/main" noGrp="1"/>
          </p:cNvSpPr>
          <p:nvPr/>
        </p:nvSpPr>
        <p:spPr>
          <a:xfrm xmlns:a="http://schemas.openxmlformats.org/drawingml/2006/main">
            <a:off x="6810375" y="1333500"/>
            <a:ext cx="1833563" cy="8572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03"/>
              </a:lnSpc>
              <a:buNone/>
            </a:pPr>
            <a:r>
              <a:rPr sz="1283" b="1">
                <a:solidFill>
                  <a:srgbClr val="F5FFFA">
                    <a:alpha val="99000"/>
                  </a:srgbClr>
                </a:solidFill>
                <a:latin typeface="Inter"/>
                <a:ea typeface="Inter"/>
                <a:cs typeface="Inter"/>
              </a:rPr>
              <a:t>When the valid call</a:t>
            </a:r>
            <a:endParaRPr sz="1283"/>
          </a:p>
          <a:p xmlns:a="http://schemas.openxmlformats.org/drawingml/2006/main">
            <a:pPr marL="0" indent="0" algn="l">
              <a:lnSpc>
                <a:spcPts val="1603"/>
              </a:lnSpc>
              <a:buNone/>
            </a:pPr>
            <a:r>
              <a:rPr sz="1283" b="1">
                <a:solidFill>
                  <a:srgbClr val="F5FFFA">
                    <a:alpha val="99000"/>
                  </a:srgbClr>
                </a:solidFill>
                <a:latin typeface="Inter"/>
                <a:ea typeface="Inter"/>
                <a:cs typeface="Inter"/>
              </a:rPr>
              <a:t>AND the rejected call</a:t>
            </a:r>
            <a:endParaRPr sz="1283"/>
          </a:p>
          <a:p xmlns:a="http://schemas.openxmlformats.org/drawingml/2006/main">
            <a:pPr marL="0" indent="0" algn="l">
              <a:lnSpc>
                <a:spcPts val="1603"/>
              </a:lnSpc>
              <a:buNone/>
            </a:pPr>
            <a:r>
              <a:rPr sz="1283" b="1">
                <a:solidFill>
                  <a:srgbClr val="F5FFFA">
                    <a:alpha val="99000"/>
                  </a:srgbClr>
                </a:solidFill>
                <a:latin typeface="Inter"/>
                <a:ea typeface="Inter"/>
                <a:cs typeface="Inter"/>
              </a:rPr>
              <a:t>both behave correctly.</a:t>
            </a:r>
            <a:endParaRPr sz="1283"/>
          </a:p>
        </p:txBody>
      </p:sp>
      <p:pic>
        <p:nvPicPr>
          <p:cNvPr id="22" name="Image 0">
            <a:extLst xmlns:a="http://schemas.openxmlformats.org/drawingml/2006/main">
              <a:ext uri="{FF2B5EF4-FFF2-40B4-BE49-F238E27FC236}">
                <a16:creationId xmlns:a16="http://schemas.microsoft.com/office/drawing/2014/main" id="{9B3816B9-45A9-4CCF-AD4B-7B2B7A3B9CA5}"/>
              </a:ext>
            </a:extLst>
          </p:cNvPr>
          <p:cNvPicPr>
            <a:picLocks xmlns:a="http://schemas.openxmlformats.org/drawingml/2006/main" noChangeAspect="1"/>
          </p:cNvPicPr>
          <p:nvPr/>
        </p:nvPicPr>
        <p:blipFill>
          <a:blip xmlns:r="http://schemas.openxmlformats.org/officeDocument/2006/relationships" xmlns:a="http://schemas.openxmlformats.org/drawingml/2006/main" r:embed="R2881c6d0b7054fc2"/>
          <a:srcRect xmlns:a="http://schemas.openxmlformats.org/drawingml/2006/main" l="0" t="0" r="0" b="0"/>
          <a:stretch xmlns:a="http://schemas.openxmlformats.org/drawingml/2006/main"/>
        </p:blipFill>
        <p:spPr>
          <a:xfrm xmlns:a="http://schemas.openxmlformats.org/drawingml/2006/main">
            <a:off x="6786563" y="2405063"/>
            <a:ext cx="1857375" cy="1385888"/>
          </a:xfrm>
          <a:prstGeom xmlns:a="http://schemas.openxmlformats.org/drawingml/2006/main" prst="rect">
            <a:avLst/>
          </a:prstGeom>
        </p:spPr>
      </p:pic>
      <p:sp>
        <p:nvSpPr>
          <p:cNvPr id="23" name="Text 19">
            <a:extLst xmlns:a="http://schemas.openxmlformats.org/drawingml/2006/main">
              <a:ext uri="{FF2B5EF4-FFF2-40B4-BE49-F238E27FC236}">
                <a16:creationId xmlns:a16="http://schemas.microsoft.com/office/drawing/2014/main" id="{C02774F5-3F19-41FA-8E5A-0AA7389E8EBE}"/>
              </a:ext>
            </a:extLst>
          </p:cNvPr>
          <p:cNvSpPr>
            <a:spLocks xmlns:a="http://schemas.openxmlformats.org/drawingml/2006/main" noGrp="1"/>
          </p:cNvSpPr>
          <p:nvPr/>
        </p:nvSpPr>
        <p:spPr>
          <a:xfrm xmlns:a="http://schemas.openxmlformats.org/drawingml/2006/main">
            <a:off x="6786563" y="4000500"/>
            <a:ext cx="1857375" cy="19526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70"/>
              </a:lnSpc>
              <a:buNone/>
            </a:pPr>
            <a:r>
              <a:rPr sz="1176" b="1">
                <a:solidFill>
                  <a:srgbClr val="4FE3BD">
                    <a:alpha val="99000"/>
                  </a:srgbClr>
                </a:solidFill>
                <a:latin typeface="Inter"/>
                <a:ea typeface="Inter"/>
                <a:cs typeface="Inter"/>
              </a:rPr>
              <a:t>Absolute verification.</a:t>
            </a:r>
            <a:endParaRPr sz="1176"/>
          </a:p>
        </p:txBody>
      </p:sp>
      <p:sp>
        <p:nvSpPr>
          <p:cNvPr id="24" name="Text 20">
            <a:extLst xmlns:a="http://schemas.openxmlformats.org/drawingml/2006/main">
              <a:ext uri="{FF2B5EF4-FFF2-40B4-BE49-F238E27FC236}">
                <a16:creationId xmlns:a16="http://schemas.microsoft.com/office/drawing/2014/main" id="{1FD1C9FD-9AB1-42FF-A44B-91D9EEF708EF}"/>
              </a:ext>
            </a:extLst>
          </p:cNvPr>
          <p:cNvSpPr>
            <a:spLocks xmlns:a="http://schemas.openxmlformats.org/drawingml/2006/main" noGrp="1"/>
          </p:cNvSpPr>
          <p:nvPr/>
        </p:nvSpPr>
        <p:spPr>
          <a:xfrm xmlns:a="http://schemas.openxmlformats.org/drawingml/2006/main">
            <a:off x="8310562" y="4862513"/>
            <a:ext cx="619125" cy="1428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69"/>
              </a:lnSpc>
              <a:buNone/>
            </a:pPr>
            <a:r>
              <a:rPr sz="855">
                <a:solidFill>
                  <a:srgbClr val="BAD9CF">
                    <a:alpha val="99000"/>
                  </a:srgbClr>
                </a:solidFill>
                <a:latin typeface="Inter"/>
                <a:ea typeface="Inter"/>
                <a:cs typeface="Inter"/>
              </a:rPr>
              <a:t>23 / 29</a:t>
            </a:r>
            <a:endParaRPr sz="855"/>
          </a:p>
        </p:txBody>
      </p:sp>
      <p:sp>
        <p:nvSpPr>
          <p:cNvPr id="25" name="Shape 21">
            <a:extLst xmlns:a="http://schemas.openxmlformats.org/drawingml/2006/main">
              <a:ext uri="{FF2B5EF4-FFF2-40B4-BE49-F238E27FC236}">
                <a16:creationId xmlns:a16="http://schemas.microsoft.com/office/drawing/2014/main" id="{2DD4A953-AC90-4543-B966-31138BD26014}"/>
              </a:ext>
            </a:extLst>
          </p:cNvPr>
          <p:cNvSpPr>
            <a:spLocks xmlns:a="http://schemas.openxmlformats.org/drawingml/2006/main" noGrp="1"/>
          </p:cNvSpPr>
          <p:nvPr/>
        </p:nvSpPr>
        <p:spPr>
          <a:xfrm xmlns:a="http://schemas.openxmlformats.org/drawingml/2006/main">
            <a:off x="571500" y="3976687"/>
            <a:ext cx="5857875" cy="714375"/>
          </a:xfrm>
          <a:prstGeom xmlns:a="http://schemas.openxmlformats.org/drawingml/2006/main" prst="roundRect">
            <a:avLst>
              <a:gd name="adj" fmla="val 15360"/>
            </a:avLst>
          </a:prstGeom>
          <a:solidFill xmlns:a="http://schemas.openxmlformats.org/drawingml/2006/main">
            <a:srgbClr val="092925"/>
          </a:solidFill>
        </p:spPr>
      </p:sp>
      <p:sp>
        <p:nvSpPr>
          <p:cNvPr id="26" name="Text 22">
            <a:extLst xmlns:a="http://schemas.openxmlformats.org/drawingml/2006/main">
              <a:ext uri="{FF2B5EF4-FFF2-40B4-BE49-F238E27FC236}">
                <a16:creationId xmlns:a16="http://schemas.microsoft.com/office/drawing/2014/main" id="{0146F5DD-74B3-418B-AB63-96112141653D}"/>
              </a:ext>
            </a:extLst>
          </p:cNvPr>
          <p:cNvSpPr>
            <a:spLocks xmlns:a="http://schemas.openxmlformats.org/drawingml/2006/main" noGrp="1"/>
          </p:cNvSpPr>
          <p:nvPr/>
        </p:nvSpPr>
        <p:spPr>
          <a:xfrm xmlns:a="http://schemas.openxmlformats.org/drawingml/2006/main">
            <a:off x="666750" y="4033837"/>
            <a:ext cx="5667375" cy="1285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49"/>
              </a:lnSpc>
              <a:buNone/>
            </a:pPr>
            <a:r>
              <a:rPr sz="784" b="1">
                <a:solidFill>
                  <a:srgbClr val="5CE5BD">
                    <a:alpha val="99000"/>
                  </a:srgbClr>
                </a:solidFill>
                <a:latin typeface="Inter"/>
                <a:ea typeface="Inter"/>
                <a:cs typeface="Inter"/>
              </a:rPr>
              <a:t>3 / 3 · PRIZE QUESTION  ·  Hands up!</a:t>
            </a:r>
            <a:endParaRPr sz="784"/>
          </a:p>
        </p:txBody>
      </p:sp>
      <p:sp>
        <p:nvSpPr>
          <p:cNvPr id="27" name="Text 23">
            <a:extLst xmlns:a="http://schemas.openxmlformats.org/drawingml/2006/main">
              <a:ext uri="{FF2B5EF4-FFF2-40B4-BE49-F238E27FC236}">
                <a16:creationId xmlns:a16="http://schemas.microsoft.com/office/drawing/2014/main" id="{019C2CF4-7BC6-4457-832C-27FBB0D8D728}"/>
              </a:ext>
            </a:extLst>
          </p:cNvPr>
          <p:cNvSpPr>
            <a:spLocks xmlns:a="http://schemas.openxmlformats.org/drawingml/2006/main" noGrp="1"/>
          </p:cNvSpPr>
          <p:nvPr/>
        </p:nvSpPr>
        <p:spPr>
          <a:xfrm xmlns:a="http://schemas.openxmlformats.org/drawingml/2006/main">
            <a:off x="666750" y="4191000"/>
            <a:ext cx="5667375" cy="18573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80"/>
              </a:lnSpc>
              <a:buNone/>
            </a:pPr>
            <a:r>
              <a:rPr sz="1140">
                <a:solidFill>
                  <a:srgbClr val="F2FAF5">
                    <a:alpha val="99000"/>
                  </a:srgbClr>
                </a:solidFill>
                <a:latin typeface="Inter"/>
                <a:ea typeface="Inter"/>
                <a:cs typeface="Inter"/>
              </a:rPr>
              <a:t>Does “queued” prove the music changed?</a:t>
            </a:r>
            <a:endParaRPr sz="1140"/>
          </a:p>
        </p:txBody>
      </p:sp>
      <p:sp>
        <p:nvSpPr>
          <p:cNvPr id="28" name="Text 24">
            <a:extLst xmlns:a="http://schemas.openxmlformats.org/drawingml/2006/main">
              <a:ext uri="{FF2B5EF4-FFF2-40B4-BE49-F238E27FC236}">
                <a16:creationId xmlns:a16="http://schemas.microsoft.com/office/drawing/2014/main" id="{8AF11F34-4B2F-4E62-B9F1-2F4BB236ACFB}"/>
              </a:ext>
            </a:extLst>
          </p:cNvPr>
          <p:cNvSpPr>
            <a:spLocks xmlns:a="http://schemas.openxmlformats.org/drawingml/2006/main" noGrp="1"/>
          </p:cNvSpPr>
          <p:nvPr/>
        </p:nvSpPr>
        <p:spPr>
          <a:xfrm xmlns:a="http://schemas.openxmlformats.org/drawingml/2006/main">
            <a:off x="666750" y="4405313"/>
            <a:ext cx="5667375" cy="15716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64"/>
              </a:lnSpc>
              <a:buNone/>
            </a:pPr>
            <a:r>
              <a:rPr sz="962">
                <a:solidFill>
                  <a:srgbClr val="F2FAF5">
                    <a:alpha val="99000"/>
                  </a:srgbClr>
                </a:solidFill>
                <a:latin typeface="Inter"/>
                <a:ea typeface="Inter"/>
                <a:cs typeface="Inter"/>
              </a:rPr>
              <a:t>A  Yes       B  No</a:t>
            </a:r>
            <a:endParaRPr sz="962"/>
          </a:p>
        </p:txBody>
      </p:sp>
    </p:spTree>
    <p:extLst>
      <p:ext uri="{BB962C8B-B14F-4D97-AF65-F5344CB8AC3E}">
        <p14:creationId xmlns:p14="http://schemas.microsoft.com/office/powerpoint/2010/main" val="1901538539"/>
      </p:ext>
    </p:extLst>
  </p:cSld>
</p:sld>
</file>

<file path=ppt/slides/slide24.xml><?xml version="1.0" encoding="utf-8"?>
<p:sld xmlns:p="http://schemas.openxmlformats.org/presentationml/2006/main">
  <p:cSld>
    <p:bg>
      <p:bgPr>
        <a:blipFill xmlns:a="http://schemas.openxmlformats.org/drawingml/2006/main" rotWithShape="1">
          <a:blip xmlns:r="http://schemas.openxmlformats.org/officeDocument/2006/relationships" r:embed="R4eecf70c9a224149">
            <a:lum/>
          </a:blip>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F0F72831-0A71-4F08-B64A-2853CC31C5B8}"/>
              </a:ext>
            </a:extLst>
          </p:cNvPr>
          <p:cNvSpPr>
            <a:spLocks xmlns:a="http://schemas.openxmlformats.org/drawingml/2006/main" noGrp="1"/>
          </p:cNvSpPr>
          <p:nvPr/>
        </p:nvSpPr>
        <p:spPr>
          <a:xfrm xmlns:a="http://schemas.openxmlformats.org/drawingml/2006/main">
            <a:off x="571500" y="304800"/>
            <a:ext cx="8001000" cy="4191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117"/>
              </a:lnSpc>
              <a:buNone/>
            </a:pPr>
            <a:r>
              <a:rPr sz="2494" b="1">
                <a:solidFill>
                  <a:srgbClr val="F5FFFA">
                    <a:alpha val="99000"/>
                  </a:srgbClr>
                </a:solidFill>
                <a:latin typeface="Inter"/>
                <a:ea typeface="Inter"/>
                <a:cs typeface="Inter"/>
              </a:rPr>
              <a:t>The security risks behind a tool call</a:t>
            </a:r>
            <a:endParaRPr sz="2494"/>
          </a:p>
        </p:txBody>
      </p:sp>
      <p:sp>
        <p:nvSpPr>
          <p:cNvPr id="4" name="Shape 1">
            <a:extLst xmlns:a="http://schemas.openxmlformats.org/drawingml/2006/main">
              <a:ext uri="{FF2B5EF4-FFF2-40B4-BE49-F238E27FC236}">
                <a16:creationId xmlns:a16="http://schemas.microsoft.com/office/drawing/2014/main" id="{8D8C453A-1719-442F-ACFC-A6D0D2F9D494}"/>
              </a:ext>
            </a:extLst>
          </p:cNvPr>
          <p:cNvSpPr>
            <a:spLocks xmlns:a="http://schemas.openxmlformats.org/drawingml/2006/main" noGrp="1"/>
          </p:cNvSpPr>
          <p:nvPr/>
        </p:nvSpPr>
        <p:spPr>
          <a:xfrm xmlns:a="http://schemas.openxmlformats.org/drawingml/2006/main">
            <a:off x="581025" y="838200"/>
            <a:ext cx="523875" cy="33338"/>
          </a:xfrm>
          <a:prstGeom xmlns:a="http://schemas.openxmlformats.org/drawingml/2006/main" prst="rect">
            <a:avLst/>
          </a:prstGeom>
          <a:solidFill xmlns:a="http://schemas.openxmlformats.org/drawingml/2006/main">
            <a:srgbClr val="4FE3BD"/>
          </a:solidFill>
        </p:spPr>
      </p:sp>
      <p:sp>
        <p:nvSpPr>
          <p:cNvPr id="5" name="Shape 2">
            <a:extLst xmlns:a="http://schemas.openxmlformats.org/drawingml/2006/main">
              <a:ext uri="{FF2B5EF4-FFF2-40B4-BE49-F238E27FC236}">
                <a16:creationId xmlns:a16="http://schemas.microsoft.com/office/drawing/2014/main" id="{9386DB08-6508-47C7-B106-E603EF0BC79B}"/>
              </a:ext>
            </a:extLst>
          </p:cNvPr>
          <p:cNvSpPr>
            <a:spLocks xmlns:a="http://schemas.openxmlformats.org/drawingml/2006/main" noGrp="1"/>
          </p:cNvSpPr>
          <p:nvPr/>
        </p:nvSpPr>
        <p:spPr>
          <a:xfrm xmlns:a="http://schemas.openxmlformats.org/drawingml/2006/main">
            <a:off x="571500" y="1357313"/>
            <a:ext cx="2562225" cy="1590675"/>
          </a:xfrm>
          <a:prstGeom xmlns:a="http://schemas.openxmlformats.org/drawingml/2006/main" prst="roundRect">
            <a:avLst>
              <a:gd name="adj" fmla="val 12647"/>
            </a:avLst>
          </a:prstGeom>
          <a:solidFill xmlns:a="http://schemas.openxmlformats.org/drawingml/2006/main">
            <a:srgbClr val="092925">
              <a:alpha val="96000"/>
            </a:srgbClr>
          </a:solidFill>
          <a:ln xmlns:a="http://schemas.openxmlformats.org/drawingml/2006/main" w="4524">
            <a:solidFill>
              <a:srgbClr val="267863"/>
            </a:solidFill>
            <a:prstDash val="solid"/>
          </a:ln>
        </p:spPr>
      </p:sp>
      <p:sp>
        <p:nvSpPr>
          <p:cNvPr id="6" name="Text 3">
            <a:extLst xmlns:a="http://schemas.openxmlformats.org/drawingml/2006/main">
              <a:ext uri="{FF2B5EF4-FFF2-40B4-BE49-F238E27FC236}">
                <a16:creationId xmlns:a16="http://schemas.microsoft.com/office/drawing/2014/main" id="{76FF9FF2-51E0-4585-8737-DEB816FDCDDA}"/>
              </a:ext>
            </a:extLst>
          </p:cNvPr>
          <p:cNvSpPr>
            <a:spLocks xmlns:a="http://schemas.openxmlformats.org/drawingml/2006/main" noGrp="1"/>
          </p:cNvSpPr>
          <p:nvPr/>
        </p:nvSpPr>
        <p:spPr>
          <a:xfrm xmlns:a="http://schemas.openxmlformats.org/drawingml/2006/main">
            <a:off x="728663" y="1514475"/>
            <a:ext cx="2257425" cy="4762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1"/>
              </a:lnSpc>
              <a:buNone/>
            </a:pPr>
            <a:r>
              <a:rPr sz="1425" b="1">
                <a:solidFill>
                  <a:srgbClr val="4FE3BD">
                    <a:alpha val="99000"/>
                  </a:srgbClr>
                </a:solidFill>
                <a:latin typeface="Inter"/>
                <a:ea typeface="Inter"/>
                <a:cs typeface="Inter"/>
              </a:rPr>
              <a:t>UNAUTHORIZED ACCESS</a:t>
            </a:r>
            <a:endParaRPr sz="1425"/>
          </a:p>
        </p:txBody>
      </p:sp>
      <p:sp>
        <p:nvSpPr>
          <p:cNvPr id="7" name="Text 4">
            <a:extLst xmlns:a="http://schemas.openxmlformats.org/drawingml/2006/main">
              <a:ext uri="{FF2B5EF4-FFF2-40B4-BE49-F238E27FC236}">
                <a16:creationId xmlns:a16="http://schemas.microsoft.com/office/drawing/2014/main" id="{73EF164C-061B-44D5-AC44-0995343CC2BB}"/>
              </a:ext>
            </a:extLst>
          </p:cNvPr>
          <p:cNvSpPr>
            <a:spLocks xmlns:a="http://schemas.openxmlformats.org/drawingml/2006/main" noGrp="1"/>
          </p:cNvSpPr>
          <p:nvPr/>
        </p:nvSpPr>
        <p:spPr>
          <a:xfrm xmlns:a="http://schemas.openxmlformats.org/drawingml/2006/main">
            <a:off x="728663" y="2105025"/>
            <a:ext cx="2257425"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2"/>
              </a:lnSpc>
              <a:buNone/>
            </a:pPr>
            <a:r>
              <a:rPr sz="1354">
                <a:solidFill>
                  <a:srgbClr val="F5FFFA">
                    <a:alpha val="99000"/>
                  </a:srgbClr>
                </a:solidFill>
                <a:latin typeface="Inter"/>
                <a:ea typeface="Inter"/>
                <a:cs typeface="Inter"/>
              </a:rPr>
              <a:t>Tools or records exposed to a caller who should not have access.</a:t>
            </a:r>
            <a:endParaRPr sz="1354"/>
          </a:p>
        </p:txBody>
      </p:sp>
      <p:sp>
        <p:nvSpPr>
          <p:cNvPr id="8" name="Shape 5">
            <a:extLst xmlns:a="http://schemas.openxmlformats.org/drawingml/2006/main">
              <a:ext uri="{FF2B5EF4-FFF2-40B4-BE49-F238E27FC236}">
                <a16:creationId xmlns:a16="http://schemas.microsoft.com/office/drawing/2014/main" id="{7EF30FB6-A448-49C6-AAC5-BA1372D10EDD}"/>
              </a:ext>
            </a:extLst>
          </p:cNvPr>
          <p:cNvSpPr>
            <a:spLocks xmlns:a="http://schemas.openxmlformats.org/drawingml/2006/main" noGrp="1"/>
          </p:cNvSpPr>
          <p:nvPr/>
        </p:nvSpPr>
        <p:spPr>
          <a:xfrm xmlns:a="http://schemas.openxmlformats.org/drawingml/2006/main">
            <a:off x="3286125" y="1357313"/>
            <a:ext cx="2562225" cy="1590675"/>
          </a:xfrm>
          <a:prstGeom xmlns:a="http://schemas.openxmlformats.org/drawingml/2006/main" prst="roundRect">
            <a:avLst>
              <a:gd name="adj" fmla="val 12647"/>
            </a:avLst>
          </a:prstGeom>
          <a:solidFill xmlns:a="http://schemas.openxmlformats.org/drawingml/2006/main">
            <a:srgbClr val="092925">
              <a:alpha val="96000"/>
            </a:srgbClr>
          </a:solidFill>
          <a:ln xmlns:a="http://schemas.openxmlformats.org/drawingml/2006/main" w="4524">
            <a:solidFill>
              <a:srgbClr val="267863"/>
            </a:solidFill>
            <a:prstDash val="solid"/>
          </a:ln>
        </p:spPr>
      </p:sp>
      <p:sp>
        <p:nvSpPr>
          <p:cNvPr id="9" name="Text 6">
            <a:extLst xmlns:a="http://schemas.openxmlformats.org/drawingml/2006/main">
              <a:ext uri="{FF2B5EF4-FFF2-40B4-BE49-F238E27FC236}">
                <a16:creationId xmlns:a16="http://schemas.microsoft.com/office/drawing/2014/main" id="{40138EAE-B8BB-44FE-8E84-FD4BCB9D6FA7}"/>
              </a:ext>
            </a:extLst>
          </p:cNvPr>
          <p:cNvSpPr>
            <a:spLocks xmlns:a="http://schemas.openxmlformats.org/drawingml/2006/main" noGrp="1"/>
          </p:cNvSpPr>
          <p:nvPr/>
        </p:nvSpPr>
        <p:spPr>
          <a:xfrm xmlns:a="http://schemas.openxmlformats.org/drawingml/2006/main">
            <a:off x="3443288" y="1514475"/>
            <a:ext cx="2257425" cy="4762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1"/>
              </a:lnSpc>
              <a:buNone/>
            </a:pPr>
            <a:r>
              <a:rPr sz="1425" b="1">
                <a:solidFill>
                  <a:srgbClr val="4FE3BD">
                    <a:alpha val="99000"/>
                  </a:srgbClr>
                </a:solidFill>
                <a:latin typeface="Inter"/>
                <a:ea typeface="Inter"/>
                <a:cs typeface="Inter"/>
              </a:rPr>
              <a:t>EXCESSIVE PERMISSIONS</a:t>
            </a:r>
            <a:endParaRPr sz="1425"/>
          </a:p>
        </p:txBody>
      </p:sp>
      <p:sp>
        <p:nvSpPr>
          <p:cNvPr id="10" name="Text 7">
            <a:extLst xmlns:a="http://schemas.openxmlformats.org/drawingml/2006/main">
              <a:ext uri="{FF2B5EF4-FFF2-40B4-BE49-F238E27FC236}">
                <a16:creationId xmlns:a16="http://schemas.microsoft.com/office/drawing/2014/main" id="{9F02EF7E-6DC4-479A-A6B7-3E54735CDDA4}"/>
              </a:ext>
            </a:extLst>
          </p:cNvPr>
          <p:cNvSpPr>
            <a:spLocks xmlns:a="http://schemas.openxmlformats.org/drawingml/2006/main" noGrp="1"/>
          </p:cNvSpPr>
          <p:nvPr/>
        </p:nvSpPr>
        <p:spPr>
          <a:xfrm xmlns:a="http://schemas.openxmlformats.org/drawingml/2006/main">
            <a:off x="3443288" y="2105025"/>
            <a:ext cx="2257425"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2"/>
              </a:lnSpc>
              <a:buNone/>
            </a:pPr>
            <a:r>
              <a:rPr sz="1354">
                <a:solidFill>
                  <a:srgbClr val="F5FFFA">
                    <a:alpha val="99000"/>
                  </a:srgbClr>
                </a:solidFill>
                <a:latin typeface="Inter"/>
                <a:ea typeface="Inter"/>
                <a:cs typeface="Inter"/>
              </a:rPr>
              <a:t>A tool or backend account can do more than the task requires.</a:t>
            </a:r>
            <a:endParaRPr sz="1354"/>
          </a:p>
        </p:txBody>
      </p:sp>
      <p:sp>
        <p:nvSpPr>
          <p:cNvPr id="11" name="Shape 8">
            <a:extLst xmlns:a="http://schemas.openxmlformats.org/drawingml/2006/main">
              <a:ext uri="{FF2B5EF4-FFF2-40B4-BE49-F238E27FC236}">
                <a16:creationId xmlns:a16="http://schemas.microsoft.com/office/drawing/2014/main" id="{6D3F4B68-51C9-4423-837C-C82A5AC8FF3A}"/>
              </a:ext>
            </a:extLst>
          </p:cNvPr>
          <p:cNvSpPr>
            <a:spLocks xmlns:a="http://schemas.openxmlformats.org/drawingml/2006/main" noGrp="1"/>
          </p:cNvSpPr>
          <p:nvPr/>
        </p:nvSpPr>
        <p:spPr>
          <a:xfrm xmlns:a="http://schemas.openxmlformats.org/drawingml/2006/main">
            <a:off x="6000750" y="1357313"/>
            <a:ext cx="2562225" cy="1352550"/>
          </a:xfrm>
          <a:prstGeom xmlns:a="http://schemas.openxmlformats.org/drawingml/2006/main" prst="roundRect">
            <a:avLst>
              <a:gd name="adj" fmla="val 14873"/>
            </a:avLst>
          </a:prstGeom>
          <a:solidFill xmlns:a="http://schemas.openxmlformats.org/drawingml/2006/main">
            <a:srgbClr val="092925">
              <a:alpha val="96000"/>
            </a:srgbClr>
          </a:solidFill>
          <a:ln xmlns:a="http://schemas.openxmlformats.org/drawingml/2006/main" w="4524">
            <a:solidFill>
              <a:srgbClr val="267863"/>
            </a:solidFill>
            <a:prstDash val="solid"/>
          </a:ln>
        </p:spPr>
      </p:sp>
      <p:sp>
        <p:nvSpPr>
          <p:cNvPr id="12" name="Text 9">
            <a:extLst xmlns:a="http://schemas.openxmlformats.org/drawingml/2006/main">
              <a:ext uri="{FF2B5EF4-FFF2-40B4-BE49-F238E27FC236}">
                <a16:creationId xmlns:a16="http://schemas.microsoft.com/office/drawing/2014/main" id="{1C032CD3-9E21-4B5A-853F-69A26759A2D0}"/>
              </a:ext>
            </a:extLst>
          </p:cNvPr>
          <p:cNvSpPr>
            <a:spLocks xmlns:a="http://schemas.openxmlformats.org/drawingml/2006/main" noGrp="1"/>
          </p:cNvSpPr>
          <p:nvPr/>
        </p:nvSpPr>
        <p:spPr>
          <a:xfrm xmlns:a="http://schemas.openxmlformats.org/drawingml/2006/main">
            <a:off x="6157913" y="1514475"/>
            <a:ext cx="2257425"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1"/>
              </a:lnSpc>
              <a:buNone/>
            </a:pPr>
            <a:r>
              <a:rPr sz="1425" b="1">
                <a:solidFill>
                  <a:srgbClr val="4FE3BD">
                    <a:alpha val="99000"/>
                  </a:srgbClr>
                </a:solidFill>
                <a:latin typeface="Inter"/>
                <a:ea typeface="Inter"/>
                <a:cs typeface="Inter"/>
              </a:rPr>
              <a:t>INDIRECT INJECTION</a:t>
            </a:r>
            <a:endParaRPr sz="1425"/>
          </a:p>
        </p:txBody>
      </p:sp>
      <p:sp>
        <p:nvSpPr>
          <p:cNvPr id="13" name="Text 10">
            <a:extLst xmlns:a="http://schemas.openxmlformats.org/drawingml/2006/main">
              <a:ext uri="{FF2B5EF4-FFF2-40B4-BE49-F238E27FC236}">
                <a16:creationId xmlns:a16="http://schemas.microsoft.com/office/drawing/2014/main" id="{F723B8E8-DB64-42D0-B1FE-28BB170FE7D2}"/>
              </a:ext>
            </a:extLst>
          </p:cNvPr>
          <p:cNvSpPr>
            <a:spLocks xmlns:a="http://schemas.openxmlformats.org/drawingml/2006/main" noGrp="1"/>
          </p:cNvSpPr>
          <p:nvPr/>
        </p:nvSpPr>
        <p:spPr>
          <a:xfrm xmlns:a="http://schemas.openxmlformats.org/drawingml/2006/main">
            <a:off x="6157913" y="1866900"/>
            <a:ext cx="2257425"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2"/>
              </a:lnSpc>
              <a:buNone/>
            </a:pPr>
            <a:r>
              <a:rPr sz="1354">
                <a:solidFill>
                  <a:srgbClr val="F5FFFA">
                    <a:alpha val="99000"/>
                  </a:srgbClr>
                </a:solidFill>
                <a:latin typeface="Inter"/>
                <a:ea typeface="Inter"/>
                <a:cs typeface="Inter"/>
              </a:rPr>
              <a:t>Malicious instructions hidden in documents or tool results.</a:t>
            </a:r>
            <a:endParaRPr sz="1354"/>
          </a:p>
        </p:txBody>
      </p:sp>
      <p:sp>
        <p:nvSpPr>
          <p:cNvPr id="14" name="Text 11">
            <a:extLst xmlns:a="http://schemas.openxmlformats.org/drawingml/2006/main">
              <a:ext uri="{FF2B5EF4-FFF2-40B4-BE49-F238E27FC236}">
                <a16:creationId xmlns:a16="http://schemas.microsoft.com/office/drawing/2014/main" id="{FEE997EC-C51C-4BA2-932A-1834D867D5DA}"/>
              </a:ext>
            </a:extLst>
          </p:cNvPr>
          <p:cNvSpPr>
            <a:spLocks xmlns:a="http://schemas.openxmlformats.org/drawingml/2006/main" noGrp="1"/>
          </p:cNvSpPr>
          <p:nvPr/>
        </p:nvSpPr>
        <p:spPr>
          <a:xfrm xmlns:a="http://schemas.openxmlformats.org/drawingml/2006/main">
            <a:off x="3524250" y="3524250"/>
            <a:ext cx="5000625" cy="7143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1"/>
              </a:lnSpc>
              <a:buNone/>
            </a:pPr>
            <a:r>
              <a:rPr sz="1425" b="1">
                <a:solidFill>
                  <a:srgbClr val="4FE3BD">
                    <a:alpha val="99000"/>
                  </a:srgbClr>
                </a:solidFill>
                <a:latin typeface="Inter"/>
                <a:ea typeface="Inter"/>
                <a:cs typeface="Inter"/>
              </a:rPr>
              <a:t>Range validation checks the value.</a:t>
            </a:r>
            <a:endParaRPr sz="1425"/>
          </a:p>
          <a:p xmlns:a="http://schemas.openxmlformats.org/drawingml/2006/main">
            <a:pPr marL="0" indent="0" algn="l">
              <a:lnSpc>
                <a:spcPts val="1781"/>
              </a:lnSpc>
              <a:buNone/>
            </a:pPr>
            <a:r>
              <a:rPr sz="1425" b="1">
                <a:solidFill>
                  <a:srgbClr val="4FE3BD">
                    <a:alpha val="99000"/>
                  </a:srgbClr>
                </a:solidFill>
                <a:latin typeface="Inter"/>
                <a:ea typeface="Inter"/>
                <a:cs typeface="Inter"/>
              </a:rPr>
              <a:t>Authorization checks whether the caller may perform the action.</a:t>
            </a:r>
            <a:endParaRPr sz="1425"/>
          </a:p>
        </p:txBody>
      </p:sp>
      <p:sp>
        <p:nvSpPr>
          <p:cNvPr id="15" name="Text 12">
            <a:extLst xmlns:a="http://schemas.openxmlformats.org/drawingml/2006/main">
              <a:ext uri="{FF2B5EF4-FFF2-40B4-BE49-F238E27FC236}">
                <a16:creationId xmlns:a16="http://schemas.microsoft.com/office/drawing/2014/main" id="{9CA65162-E285-4D7A-839C-4495C0CF5A7E}"/>
              </a:ext>
            </a:extLst>
          </p:cNvPr>
          <p:cNvSpPr>
            <a:spLocks xmlns:a="http://schemas.openxmlformats.org/drawingml/2006/main" noGrp="1"/>
          </p:cNvSpPr>
          <p:nvPr/>
        </p:nvSpPr>
        <p:spPr>
          <a:xfrm xmlns:a="http://schemas.openxmlformats.org/drawingml/2006/main">
            <a:off x="8310562" y="4862513"/>
            <a:ext cx="619125" cy="1428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69"/>
              </a:lnSpc>
              <a:buNone/>
            </a:pPr>
            <a:r>
              <a:rPr sz="855">
                <a:solidFill>
                  <a:srgbClr val="BAD9CF">
                    <a:alpha val="99000"/>
                  </a:srgbClr>
                </a:solidFill>
                <a:latin typeface="Inter"/>
                <a:ea typeface="Inter"/>
                <a:cs typeface="Inter"/>
              </a:rPr>
              <a:t>24 / 29</a:t>
            </a:r>
            <a:endParaRPr sz="855"/>
          </a:p>
        </p:txBody>
      </p:sp>
      <p:pic>
        <p:nvPicPr>
          <p:cNvPr id="16" name="Image 0">
            <a:extLst xmlns:a="http://schemas.openxmlformats.org/drawingml/2006/main">
              <a:ext uri="{FF2B5EF4-FFF2-40B4-BE49-F238E27FC236}">
                <a16:creationId xmlns:a16="http://schemas.microsoft.com/office/drawing/2014/main" id="{DD49E65E-27B2-459E-B776-60DC84FD4A35}"/>
              </a:ext>
            </a:extLst>
          </p:cNvPr>
          <p:cNvPicPr>
            <a:picLocks xmlns:a="http://schemas.openxmlformats.org/drawingml/2006/main" noChangeAspect="1"/>
          </p:cNvPicPr>
          <p:nvPr/>
        </p:nvPicPr>
        <p:blipFill>
          <a:blip xmlns:r="http://schemas.openxmlformats.org/officeDocument/2006/relationships" xmlns:a="http://schemas.openxmlformats.org/drawingml/2006/main" r:embed="R726d82b11dbf424d"/>
          <a:srcRect xmlns:a="http://schemas.openxmlformats.org/drawingml/2006/main" l="0" t="0" r="0" b="0"/>
          <a:stretch xmlns:a="http://schemas.openxmlformats.org/drawingml/2006/main"/>
        </p:blipFill>
        <p:spPr>
          <a:xfrm xmlns:a="http://schemas.openxmlformats.org/drawingml/2006/main">
            <a:off x="571500" y="3286125"/>
            <a:ext cx="2571750" cy="1252538"/>
          </a:xfrm>
          <a:prstGeom xmlns:a="http://schemas.openxmlformats.org/drawingml/2006/main" prst="rect">
            <a:avLst/>
          </a:prstGeom>
        </p:spPr>
      </p:pic>
      <p:sp>
        <p:nvSpPr>
          <p:cNvPr id="17" name="Text 13">
            <a:extLst xmlns:a="http://schemas.openxmlformats.org/drawingml/2006/main">
              <a:ext uri="{FF2B5EF4-FFF2-40B4-BE49-F238E27FC236}">
                <a16:creationId xmlns:a16="http://schemas.microsoft.com/office/drawing/2014/main" id="{CE99B3E6-3A97-44DC-B751-63F7DBD33D22}"/>
              </a:ext>
            </a:extLst>
          </p:cNvPr>
          <p:cNvSpPr>
            <a:spLocks xmlns:a="http://schemas.openxmlformats.org/drawingml/2006/main" noGrp="1"/>
          </p:cNvSpPr>
          <p:nvPr/>
        </p:nvSpPr>
        <p:spPr>
          <a:xfrm xmlns:a="http://schemas.openxmlformats.org/drawingml/2006/main">
            <a:off x="571500" y="3033713"/>
            <a:ext cx="5095875" cy="21431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03"/>
              </a:lnSpc>
              <a:buNone/>
            </a:pPr>
            <a:r>
              <a:rPr sz="1283">
                <a:solidFill>
                  <a:srgbClr val="BAD9CF">
                    <a:alpha val="99000"/>
                  </a:srgbClr>
                </a:solidFill>
                <a:latin typeface="Inter"/>
                <a:ea typeface="Inter"/>
                <a:cs typeface="Inter"/>
              </a:rPr>
              <a:t>“Just give every tool admin access.”</a:t>
            </a:r>
            <a:endParaRPr sz="1283"/>
          </a:p>
        </p:txBody>
      </p:sp>
    </p:spTree>
    <p:extLst>
      <p:ext uri="{BB962C8B-B14F-4D97-AF65-F5344CB8AC3E}">
        <p14:creationId xmlns:p14="http://schemas.microsoft.com/office/powerpoint/2010/main" val="752344875"/>
      </p:ext>
    </p:extLst>
  </p:cSld>
</p:sld>
</file>

<file path=ppt/slides/slide25.xml><?xml version="1.0" encoding="utf-8"?>
<p:sld xmlns:p="http://schemas.openxmlformats.org/presentationml/2006/main">
  <p:cSld>
    <p:bg>
      <p:bgPr>
        <a:blipFill xmlns:a="http://schemas.openxmlformats.org/drawingml/2006/main" rotWithShape="1">
          <a:blip xmlns:r="http://schemas.openxmlformats.org/officeDocument/2006/relationships" r:embed="Rf0a536252e274fd7">
            <a:lum/>
          </a:blip>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BA7CEFF8-8A03-43A5-8C87-4A2E777945F6}"/>
              </a:ext>
            </a:extLst>
          </p:cNvPr>
          <p:cNvSpPr>
            <a:spLocks xmlns:a="http://schemas.openxmlformats.org/drawingml/2006/main" noGrp="1"/>
          </p:cNvSpPr>
          <p:nvPr/>
        </p:nvSpPr>
        <p:spPr>
          <a:xfrm xmlns:a="http://schemas.openxmlformats.org/drawingml/2006/main">
            <a:off x="571500" y="304800"/>
            <a:ext cx="8001000" cy="4191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117"/>
              </a:lnSpc>
              <a:buNone/>
            </a:pPr>
            <a:r>
              <a:rPr sz="2494" b="1">
                <a:solidFill>
                  <a:srgbClr val="F5FFFA">
                    <a:alpha val="99000"/>
                  </a:srgbClr>
                </a:solidFill>
                <a:latin typeface="Inter"/>
                <a:ea typeface="Inter"/>
                <a:cs typeface="Inter"/>
              </a:rPr>
              <a:t>Tool poisoning and rug pulls</a:t>
            </a:r>
            <a:endParaRPr sz="2494"/>
          </a:p>
        </p:txBody>
      </p:sp>
      <p:sp>
        <p:nvSpPr>
          <p:cNvPr id="4" name="Shape 1">
            <a:extLst xmlns:a="http://schemas.openxmlformats.org/drawingml/2006/main">
              <a:ext uri="{FF2B5EF4-FFF2-40B4-BE49-F238E27FC236}">
                <a16:creationId xmlns:a16="http://schemas.microsoft.com/office/drawing/2014/main" id="{85DC8FF6-0A51-4B02-9BF8-9DE5E27191E5}"/>
              </a:ext>
            </a:extLst>
          </p:cNvPr>
          <p:cNvSpPr>
            <a:spLocks xmlns:a="http://schemas.openxmlformats.org/drawingml/2006/main" noGrp="1"/>
          </p:cNvSpPr>
          <p:nvPr/>
        </p:nvSpPr>
        <p:spPr>
          <a:xfrm xmlns:a="http://schemas.openxmlformats.org/drawingml/2006/main">
            <a:off x="581025" y="838200"/>
            <a:ext cx="523875" cy="33338"/>
          </a:xfrm>
          <a:prstGeom xmlns:a="http://schemas.openxmlformats.org/drawingml/2006/main" prst="rect">
            <a:avLst/>
          </a:prstGeom>
          <a:solidFill xmlns:a="http://schemas.openxmlformats.org/drawingml/2006/main">
            <a:srgbClr val="4FE3BD"/>
          </a:solidFill>
        </p:spPr>
      </p:sp>
      <p:sp>
        <p:nvSpPr>
          <p:cNvPr id="5" name="Shape 2">
            <a:extLst xmlns:a="http://schemas.openxmlformats.org/drawingml/2006/main">
              <a:ext uri="{FF2B5EF4-FFF2-40B4-BE49-F238E27FC236}">
                <a16:creationId xmlns:a16="http://schemas.microsoft.com/office/drawing/2014/main" id="{AF92BED0-D43A-4B9A-ABF5-B29332994615}"/>
              </a:ext>
            </a:extLst>
          </p:cNvPr>
          <p:cNvSpPr>
            <a:spLocks xmlns:a="http://schemas.openxmlformats.org/drawingml/2006/main" noGrp="1"/>
          </p:cNvSpPr>
          <p:nvPr/>
        </p:nvSpPr>
        <p:spPr>
          <a:xfrm xmlns:a="http://schemas.openxmlformats.org/drawingml/2006/main">
            <a:off x="571500" y="1457325"/>
            <a:ext cx="3924300" cy="1352550"/>
          </a:xfrm>
          <a:prstGeom xmlns:a="http://schemas.openxmlformats.org/drawingml/2006/main" prst="roundRect">
            <a:avLst>
              <a:gd name="adj" fmla="val 14873"/>
            </a:avLst>
          </a:prstGeom>
          <a:solidFill xmlns:a="http://schemas.openxmlformats.org/drawingml/2006/main">
            <a:srgbClr val="092925">
              <a:alpha val="96000"/>
            </a:srgbClr>
          </a:solidFill>
          <a:ln xmlns:a="http://schemas.openxmlformats.org/drawingml/2006/main" w="4524">
            <a:solidFill>
              <a:srgbClr val="267863"/>
            </a:solidFill>
            <a:prstDash val="solid"/>
          </a:ln>
        </p:spPr>
      </p:sp>
      <p:sp>
        <p:nvSpPr>
          <p:cNvPr id="6" name="Text 3">
            <a:extLst xmlns:a="http://schemas.openxmlformats.org/drawingml/2006/main">
              <a:ext uri="{FF2B5EF4-FFF2-40B4-BE49-F238E27FC236}">
                <a16:creationId xmlns:a16="http://schemas.microsoft.com/office/drawing/2014/main" id="{AE030B21-1F86-4C6E-A71E-BBFEB0E29F99}"/>
              </a:ext>
            </a:extLst>
          </p:cNvPr>
          <p:cNvSpPr>
            <a:spLocks xmlns:a="http://schemas.openxmlformats.org/drawingml/2006/main" noGrp="1"/>
          </p:cNvSpPr>
          <p:nvPr/>
        </p:nvSpPr>
        <p:spPr>
          <a:xfrm xmlns:a="http://schemas.openxmlformats.org/drawingml/2006/main">
            <a:off x="728663" y="1614488"/>
            <a:ext cx="361950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1"/>
              </a:lnSpc>
              <a:buNone/>
            </a:pPr>
            <a:r>
              <a:rPr sz="1425" b="1">
                <a:solidFill>
                  <a:srgbClr val="4FE3BD">
                    <a:alpha val="99000"/>
                  </a:srgbClr>
                </a:solidFill>
                <a:latin typeface="Inter"/>
                <a:ea typeface="Inter"/>
                <a:cs typeface="Inter"/>
              </a:rPr>
              <a:t>TOOL POISONING</a:t>
            </a:r>
            <a:endParaRPr sz="1425"/>
          </a:p>
        </p:txBody>
      </p:sp>
      <p:sp>
        <p:nvSpPr>
          <p:cNvPr id="7" name="Text 4">
            <a:extLst xmlns:a="http://schemas.openxmlformats.org/drawingml/2006/main">
              <a:ext uri="{FF2B5EF4-FFF2-40B4-BE49-F238E27FC236}">
                <a16:creationId xmlns:a16="http://schemas.microsoft.com/office/drawing/2014/main" id="{3A73419E-FF88-4FEF-A5BE-A9CBD0B11F9E}"/>
              </a:ext>
            </a:extLst>
          </p:cNvPr>
          <p:cNvSpPr>
            <a:spLocks xmlns:a="http://schemas.openxmlformats.org/drawingml/2006/main" noGrp="1"/>
          </p:cNvSpPr>
          <p:nvPr/>
        </p:nvSpPr>
        <p:spPr>
          <a:xfrm xmlns:a="http://schemas.openxmlformats.org/drawingml/2006/main">
            <a:off x="728663" y="1966912"/>
            <a:ext cx="36195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2"/>
              </a:lnSpc>
              <a:buNone/>
            </a:pPr>
            <a:r>
              <a:rPr sz="1354">
                <a:solidFill>
                  <a:srgbClr val="F5FFFA">
                    <a:alpha val="99000"/>
                  </a:srgbClr>
                </a:solidFill>
                <a:latin typeface="Inter"/>
                <a:ea typeface="Inter"/>
                <a:cs typeface="Inter"/>
              </a:rPr>
              <a:t>Malicious instructions in a tool description try to manipulate the model or its workflow.</a:t>
            </a:r>
            <a:endParaRPr sz="1354"/>
          </a:p>
        </p:txBody>
      </p:sp>
      <p:sp>
        <p:nvSpPr>
          <p:cNvPr id="8" name="Shape 5">
            <a:extLst xmlns:a="http://schemas.openxmlformats.org/drawingml/2006/main">
              <a:ext uri="{FF2B5EF4-FFF2-40B4-BE49-F238E27FC236}">
                <a16:creationId xmlns:a16="http://schemas.microsoft.com/office/drawing/2014/main" id="{6A3A7B36-418E-46E7-BAA7-B9EE2026D328}"/>
              </a:ext>
            </a:extLst>
          </p:cNvPr>
          <p:cNvSpPr>
            <a:spLocks xmlns:a="http://schemas.openxmlformats.org/drawingml/2006/main" noGrp="1"/>
          </p:cNvSpPr>
          <p:nvPr/>
        </p:nvSpPr>
        <p:spPr>
          <a:xfrm xmlns:a="http://schemas.openxmlformats.org/drawingml/2006/main">
            <a:off x="4648200" y="1457325"/>
            <a:ext cx="3924300" cy="1123950"/>
          </a:xfrm>
          <a:prstGeom xmlns:a="http://schemas.openxmlformats.org/drawingml/2006/main" prst="roundRect">
            <a:avLst>
              <a:gd name="adj" fmla="val 17898"/>
            </a:avLst>
          </a:prstGeom>
          <a:solidFill xmlns:a="http://schemas.openxmlformats.org/drawingml/2006/main">
            <a:srgbClr val="092925">
              <a:alpha val="96000"/>
            </a:srgbClr>
          </a:solidFill>
          <a:ln xmlns:a="http://schemas.openxmlformats.org/drawingml/2006/main" w="4524">
            <a:solidFill>
              <a:srgbClr val="267863"/>
            </a:solidFill>
            <a:prstDash val="solid"/>
          </a:ln>
        </p:spPr>
      </p:sp>
      <p:sp>
        <p:nvSpPr>
          <p:cNvPr id="9" name="Text 6">
            <a:extLst xmlns:a="http://schemas.openxmlformats.org/drawingml/2006/main">
              <a:ext uri="{FF2B5EF4-FFF2-40B4-BE49-F238E27FC236}">
                <a16:creationId xmlns:a16="http://schemas.microsoft.com/office/drawing/2014/main" id="{7A948F2D-62B3-4059-BA97-2921EC61A481}"/>
              </a:ext>
            </a:extLst>
          </p:cNvPr>
          <p:cNvSpPr>
            <a:spLocks xmlns:a="http://schemas.openxmlformats.org/drawingml/2006/main" noGrp="1"/>
          </p:cNvSpPr>
          <p:nvPr/>
        </p:nvSpPr>
        <p:spPr>
          <a:xfrm xmlns:a="http://schemas.openxmlformats.org/drawingml/2006/main">
            <a:off x="4805363" y="1614488"/>
            <a:ext cx="361950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1"/>
              </a:lnSpc>
              <a:buNone/>
            </a:pPr>
            <a:r>
              <a:rPr sz="1425" b="1">
                <a:solidFill>
                  <a:srgbClr val="4FE3BD">
                    <a:alpha val="99000"/>
                  </a:srgbClr>
                </a:solidFill>
                <a:latin typeface="Inter"/>
                <a:ea typeface="Inter"/>
                <a:cs typeface="Inter"/>
              </a:rPr>
              <a:t>RUG PULLS</a:t>
            </a:r>
            <a:endParaRPr sz="1425"/>
          </a:p>
        </p:txBody>
      </p:sp>
      <p:sp>
        <p:nvSpPr>
          <p:cNvPr id="10" name="Text 7">
            <a:extLst xmlns:a="http://schemas.openxmlformats.org/drawingml/2006/main">
              <a:ext uri="{FF2B5EF4-FFF2-40B4-BE49-F238E27FC236}">
                <a16:creationId xmlns:a16="http://schemas.microsoft.com/office/drawing/2014/main" id="{24DA51BB-30DE-415B-89A7-7545425F773B}"/>
              </a:ext>
            </a:extLst>
          </p:cNvPr>
          <p:cNvSpPr>
            <a:spLocks xmlns:a="http://schemas.openxmlformats.org/drawingml/2006/main" noGrp="1"/>
          </p:cNvSpPr>
          <p:nvPr/>
        </p:nvSpPr>
        <p:spPr>
          <a:xfrm xmlns:a="http://schemas.openxmlformats.org/drawingml/2006/main">
            <a:off x="4805363" y="1966912"/>
            <a:ext cx="36195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2"/>
              </a:lnSpc>
              <a:buNone/>
            </a:pPr>
            <a:r>
              <a:rPr sz="1354">
                <a:solidFill>
                  <a:srgbClr val="F5FFFA">
                    <a:alpha val="99000"/>
                  </a:srgbClr>
                </a:solidFill>
                <a:latin typeface="Inter"/>
                <a:ea typeface="Inter"/>
                <a:cs typeface="Inter"/>
              </a:rPr>
              <a:t>A previously trusted tool changes its description or behavior after approval.</a:t>
            </a:r>
            <a:endParaRPr sz="1354"/>
          </a:p>
        </p:txBody>
      </p:sp>
      <p:sp>
        <p:nvSpPr>
          <p:cNvPr id="11" name="Text 8">
            <a:extLst xmlns:a="http://schemas.openxmlformats.org/drawingml/2006/main">
              <a:ext uri="{FF2B5EF4-FFF2-40B4-BE49-F238E27FC236}">
                <a16:creationId xmlns:a16="http://schemas.microsoft.com/office/drawing/2014/main" id="{FA488076-2910-4089-889F-AEA4440C3106}"/>
              </a:ext>
            </a:extLst>
          </p:cNvPr>
          <p:cNvSpPr>
            <a:spLocks xmlns:a="http://schemas.openxmlformats.org/drawingml/2006/main" noGrp="1"/>
          </p:cNvSpPr>
          <p:nvPr/>
        </p:nvSpPr>
        <p:spPr>
          <a:xfrm xmlns:a="http://schemas.openxmlformats.org/drawingml/2006/main">
            <a:off x="571500" y="4248150"/>
            <a:ext cx="8001000" cy="2762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048"/>
              </a:lnSpc>
              <a:buNone/>
            </a:pPr>
            <a:r>
              <a:rPr sz="1639" b="1">
                <a:solidFill>
                  <a:srgbClr val="4FE3BD">
                    <a:alpha val="99000"/>
                  </a:srgbClr>
                </a:solidFill>
                <a:latin typeface="Inter"/>
                <a:ea typeface="Inter"/>
                <a:cs typeface="Inter"/>
              </a:rPr>
              <a:t>Review what you connect—and review what changes.</a:t>
            </a:r>
            <a:endParaRPr sz="1639"/>
          </a:p>
        </p:txBody>
      </p:sp>
      <p:sp>
        <p:nvSpPr>
          <p:cNvPr id="12" name="Text 9">
            <a:extLst xmlns:a="http://schemas.openxmlformats.org/drawingml/2006/main">
              <a:ext uri="{FF2B5EF4-FFF2-40B4-BE49-F238E27FC236}">
                <a16:creationId xmlns:a16="http://schemas.microsoft.com/office/drawing/2014/main" id="{CF06E1F8-CE85-459E-B188-8D2E4EF19B67}"/>
              </a:ext>
            </a:extLst>
          </p:cNvPr>
          <p:cNvSpPr>
            <a:spLocks xmlns:a="http://schemas.openxmlformats.org/drawingml/2006/main" noGrp="1"/>
          </p:cNvSpPr>
          <p:nvPr/>
        </p:nvSpPr>
        <p:spPr>
          <a:xfrm xmlns:a="http://schemas.openxmlformats.org/drawingml/2006/main">
            <a:off x="8310562" y="4862513"/>
            <a:ext cx="619125" cy="1428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69"/>
              </a:lnSpc>
              <a:buNone/>
            </a:pPr>
            <a:r>
              <a:rPr sz="855">
                <a:solidFill>
                  <a:srgbClr val="BAD9CF">
                    <a:alpha val="99000"/>
                  </a:srgbClr>
                </a:solidFill>
                <a:latin typeface="Inter"/>
                <a:ea typeface="Inter"/>
                <a:cs typeface="Inter"/>
              </a:rPr>
              <a:t>25 / 29</a:t>
            </a:r>
            <a:endParaRPr sz="855"/>
          </a:p>
        </p:txBody>
      </p:sp>
      <p:pic>
        <p:nvPicPr>
          <p:cNvPr id="13" name="Image 0">
            <a:extLst xmlns:a="http://schemas.openxmlformats.org/drawingml/2006/main">
              <a:ext uri="{FF2B5EF4-FFF2-40B4-BE49-F238E27FC236}">
                <a16:creationId xmlns:a16="http://schemas.microsoft.com/office/drawing/2014/main" id="{BD44D151-F973-4054-A9CC-7F3696E2A742}"/>
              </a:ext>
            </a:extLst>
          </p:cNvPr>
          <p:cNvPicPr>
            <a:picLocks xmlns:a="http://schemas.openxmlformats.org/drawingml/2006/main" noChangeAspect="1"/>
          </p:cNvPicPr>
          <p:nvPr/>
        </p:nvPicPr>
        <p:blipFill>
          <a:blip xmlns:r="http://schemas.openxmlformats.org/officeDocument/2006/relationships" xmlns:a="http://schemas.openxmlformats.org/drawingml/2006/main" r:embed="Rbc8ec108d81f4cfe"/>
          <a:srcRect xmlns:a="http://schemas.openxmlformats.org/drawingml/2006/main" l="0" t="0" r="0" b="0"/>
          <a:stretch xmlns:a="http://schemas.openxmlformats.org/drawingml/2006/main"/>
        </p:blipFill>
        <p:spPr>
          <a:xfrm xmlns:a="http://schemas.openxmlformats.org/drawingml/2006/main">
            <a:off x="6615113" y="2957513"/>
            <a:ext cx="1762125" cy="1509713"/>
          </a:xfrm>
          <a:prstGeom xmlns:a="http://schemas.openxmlformats.org/drawingml/2006/main" prst="rect">
            <a:avLst/>
          </a:prstGeom>
        </p:spPr>
      </p:pic>
    </p:spTree>
    <p:extLst>
      <p:ext uri="{BB962C8B-B14F-4D97-AF65-F5344CB8AC3E}">
        <p14:creationId xmlns:p14="http://schemas.microsoft.com/office/powerpoint/2010/main" val="1392220702"/>
      </p:ext>
    </p:extLst>
  </p:cSld>
</p:sld>
</file>

<file path=ppt/slides/slide26.xml><?xml version="1.0" encoding="utf-8"?>
<p:sld xmlns:p="http://schemas.openxmlformats.org/presentationml/2006/main">
  <p:cSld>
    <p:bg>
      <p:bgPr>
        <a:blipFill xmlns:a="http://schemas.openxmlformats.org/drawingml/2006/main" rotWithShape="1">
          <a:blip xmlns:r="http://schemas.openxmlformats.org/officeDocument/2006/relationships" r:embed="Rdb451a0b27084f40">
            <a:lum/>
          </a:blip>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0D525B0F-F078-44DA-8C01-5E64C61D8C55}"/>
              </a:ext>
            </a:extLst>
          </p:cNvPr>
          <p:cNvSpPr>
            <a:spLocks xmlns:a="http://schemas.openxmlformats.org/drawingml/2006/main" noGrp="1"/>
          </p:cNvSpPr>
          <p:nvPr/>
        </p:nvSpPr>
        <p:spPr>
          <a:xfrm xmlns:a="http://schemas.openxmlformats.org/drawingml/2006/main">
            <a:off x="571500" y="304800"/>
            <a:ext cx="8001000" cy="4191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117"/>
              </a:lnSpc>
              <a:buNone/>
            </a:pPr>
            <a:r>
              <a:rPr sz="2494" b="1">
                <a:solidFill>
                  <a:srgbClr val="F5FFFA">
                    <a:alpha val="99000"/>
                  </a:srgbClr>
                </a:solidFill>
                <a:latin typeface="Inter"/>
                <a:ea typeface="Inter"/>
                <a:cs typeface="Inter"/>
              </a:rPr>
              <a:t>Security controls for MCP tools</a:t>
            </a:r>
            <a:endParaRPr sz="2494"/>
          </a:p>
        </p:txBody>
      </p:sp>
      <p:sp>
        <p:nvSpPr>
          <p:cNvPr id="4" name="Shape 1">
            <a:extLst xmlns:a="http://schemas.openxmlformats.org/drawingml/2006/main">
              <a:ext uri="{FF2B5EF4-FFF2-40B4-BE49-F238E27FC236}">
                <a16:creationId xmlns:a16="http://schemas.microsoft.com/office/drawing/2014/main" id="{842F9664-FDED-4058-80DB-9552E8E99145}"/>
              </a:ext>
            </a:extLst>
          </p:cNvPr>
          <p:cNvSpPr>
            <a:spLocks xmlns:a="http://schemas.openxmlformats.org/drawingml/2006/main" noGrp="1"/>
          </p:cNvSpPr>
          <p:nvPr/>
        </p:nvSpPr>
        <p:spPr>
          <a:xfrm xmlns:a="http://schemas.openxmlformats.org/drawingml/2006/main">
            <a:off x="581025" y="838200"/>
            <a:ext cx="523875" cy="33338"/>
          </a:xfrm>
          <a:prstGeom xmlns:a="http://schemas.openxmlformats.org/drawingml/2006/main" prst="rect">
            <a:avLst/>
          </a:prstGeom>
          <a:solidFill xmlns:a="http://schemas.openxmlformats.org/drawingml/2006/main">
            <a:srgbClr val="4FE3BD"/>
          </a:solidFill>
        </p:spPr>
      </p:sp>
      <p:sp>
        <p:nvSpPr>
          <p:cNvPr id="5" name="Shape 2">
            <a:extLst xmlns:a="http://schemas.openxmlformats.org/drawingml/2006/main">
              <a:ext uri="{FF2B5EF4-FFF2-40B4-BE49-F238E27FC236}">
                <a16:creationId xmlns:a16="http://schemas.microsoft.com/office/drawing/2014/main" id="{A256FB1E-8044-4A7C-BE03-30011E025867}"/>
              </a:ext>
            </a:extLst>
          </p:cNvPr>
          <p:cNvSpPr>
            <a:spLocks xmlns:a="http://schemas.openxmlformats.org/drawingml/2006/main" noGrp="1"/>
          </p:cNvSpPr>
          <p:nvPr/>
        </p:nvSpPr>
        <p:spPr>
          <a:xfrm xmlns:a="http://schemas.openxmlformats.org/drawingml/2006/main">
            <a:off x="571500" y="1195388"/>
            <a:ext cx="8001000" cy="2100263"/>
          </a:xfrm>
          <a:prstGeom xmlns:a="http://schemas.openxmlformats.org/drawingml/2006/main" prst="rect">
            <a:avLst/>
          </a:prstGeom>
          <a:noFill xmlns:a="http://schemas.openxmlformats.org/drawingml/2006/main"/>
        </p:spPr>
      </p:sp>
      <p:sp>
        <p:nvSpPr>
          <p:cNvPr id="6" name="Text 3">
            <a:extLst xmlns:a="http://schemas.openxmlformats.org/drawingml/2006/main">
              <a:ext uri="{FF2B5EF4-FFF2-40B4-BE49-F238E27FC236}">
                <a16:creationId xmlns:a16="http://schemas.microsoft.com/office/drawing/2014/main" id="{E9408A86-26C8-4CB0-A263-348CEDBFF2CB}"/>
              </a:ext>
            </a:extLst>
          </p:cNvPr>
          <p:cNvSpPr>
            <a:spLocks xmlns:a="http://schemas.openxmlformats.org/drawingml/2006/main" noGrp="1"/>
          </p:cNvSpPr>
          <p:nvPr/>
        </p:nvSpPr>
        <p:spPr>
          <a:xfrm xmlns:a="http://schemas.openxmlformats.org/drawingml/2006/main">
            <a:off x="571500" y="1195388"/>
            <a:ext cx="8001000" cy="2667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004"/>
              </a:lnSpc>
              <a:buNone/>
            </a:pPr>
            <a:r>
              <a:rPr sz="1603">
                <a:solidFill>
                  <a:srgbClr val="F5FFFA">
                    <a:alpha val="99000"/>
                  </a:srgbClr>
                </a:solidFill>
                <a:latin typeface="Inter"/>
                <a:ea typeface="Inter"/>
                <a:cs typeface="Inter"/>
              </a:rPr>
              <a:t>✓  Check access: identity, token audience, and permission for the action.</a:t>
            </a:r>
            <a:endParaRPr sz="1603"/>
          </a:p>
        </p:txBody>
      </p:sp>
      <p:sp>
        <p:nvSpPr>
          <p:cNvPr id="7" name="Text 4">
            <a:extLst xmlns:a="http://schemas.openxmlformats.org/drawingml/2006/main">
              <a:ext uri="{FF2B5EF4-FFF2-40B4-BE49-F238E27FC236}">
                <a16:creationId xmlns:a16="http://schemas.microsoft.com/office/drawing/2014/main" id="{E81DF623-19F0-4796-8107-5C88A9CE1620}"/>
              </a:ext>
            </a:extLst>
          </p:cNvPr>
          <p:cNvSpPr>
            <a:spLocks xmlns:a="http://schemas.openxmlformats.org/drawingml/2006/main" noGrp="1"/>
          </p:cNvSpPr>
          <p:nvPr/>
        </p:nvSpPr>
        <p:spPr>
          <a:xfrm xmlns:a="http://schemas.openxmlformats.org/drawingml/2006/main">
            <a:off x="571500" y="1628775"/>
            <a:ext cx="8001000" cy="2667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004"/>
              </a:lnSpc>
              <a:buNone/>
            </a:pPr>
            <a:r>
              <a:rPr sz="1603">
                <a:solidFill>
                  <a:srgbClr val="F5FFFA">
                    <a:alpha val="99000"/>
                  </a:srgbClr>
                </a:solidFill>
                <a:latin typeface="Inter"/>
                <a:ea typeface="Inter"/>
                <a:cs typeface="Inter"/>
              </a:rPr>
              <a:t>↓  Limit permissions: tools and backend accounts get only what they need.</a:t>
            </a:r>
            <a:endParaRPr sz="1603"/>
          </a:p>
        </p:txBody>
      </p:sp>
      <p:sp>
        <p:nvSpPr>
          <p:cNvPr id="8" name="Text 5">
            <a:extLst xmlns:a="http://schemas.openxmlformats.org/drawingml/2006/main">
              <a:ext uri="{FF2B5EF4-FFF2-40B4-BE49-F238E27FC236}">
                <a16:creationId xmlns:a16="http://schemas.microsoft.com/office/drawing/2014/main" id="{A7E7E26B-CD62-4C0A-8FF1-D17CF77C2313}"/>
              </a:ext>
            </a:extLst>
          </p:cNvPr>
          <p:cNvSpPr>
            <a:spLocks xmlns:a="http://schemas.openxmlformats.org/drawingml/2006/main" noGrp="1"/>
          </p:cNvSpPr>
          <p:nvPr/>
        </p:nvSpPr>
        <p:spPr>
          <a:xfrm xmlns:a="http://schemas.openxmlformats.org/drawingml/2006/main">
            <a:off x="571500" y="2062163"/>
            <a:ext cx="800100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004"/>
              </a:lnSpc>
              <a:buNone/>
            </a:pPr>
            <a:r>
              <a:rPr sz="1603">
                <a:solidFill>
                  <a:srgbClr val="F5FFFA">
                    <a:alpha val="99000"/>
                  </a:srgbClr>
                </a:solidFill>
                <a:latin typeface="Inter"/>
                <a:ea typeface="Inter"/>
                <a:cs typeface="Inter"/>
              </a:rPr>
              <a:t>!  Treat external content as untrusted: documents and tool results can contain malicious instructions.</a:t>
            </a:r>
            <a:endParaRPr sz="1603"/>
          </a:p>
        </p:txBody>
      </p:sp>
      <p:sp>
        <p:nvSpPr>
          <p:cNvPr id="9" name="Text 6">
            <a:extLst xmlns:a="http://schemas.openxmlformats.org/drawingml/2006/main">
              <a:ext uri="{FF2B5EF4-FFF2-40B4-BE49-F238E27FC236}">
                <a16:creationId xmlns:a16="http://schemas.microsoft.com/office/drawing/2014/main" id="{48997F74-32AF-406C-B3BC-5099D4120AA5}"/>
              </a:ext>
            </a:extLst>
          </p:cNvPr>
          <p:cNvSpPr>
            <a:spLocks xmlns:a="http://schemas.openxmlformats.org/drawingml/2006/main" noGrp="1"/>
          </p:cNvSpPr>
          <p:nvPr/>
        </p:nvSpPr>
        <p:spPr>
          <a:xfrm xmlns:a="http://schemas.openxmlformats.org/drawingml/2006/main">
            <a:off x="571500" y="2762250"/>
            <a:ext cx="800100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004"/>
              </a:lnSpc>
              <a:buNone/>
            </a:pPr>
            <a:r>
              <a:rPr sz="1603">
                <a:solidFill>
                  <a:srgbClr val="F5FFFA">
                    <a:alpha val="99000"/>
                  </a:srgbClr>
                </a:solidFill>
                <a:latin typeface="Inter"/>
                <a:ea typeface="Inter"/>
                <a:cs typeface="Inter"/>
              </a:rPr>
              <a:t>↻  Review code and updates: server sources, dependencies, and tool descriptions.</a:t>
            </a:r>
            <a:endParaRPr sz="1603"/>
          </a:p>
        </p:txBody>
      </p:sp>
      <p:sp>
        <p:nvSpPr>
          <p:cNvPr id="10" name="Text 7">
            <a:extLst xmlns:a="http://schemas.openxmlformats.org/drawingml/2006/main">
              <a:ext uri="{FF2B5EF4-FFF2-40B4-BE49-F238E27FC236}">
                <a16:creationId xmlns:a16="http://schemas.microsoft.com/office/drawing/2014/main" id="{C3333AFB-7E61-45BA-B83D-371591BE69AB}"/>
              </a:ext>
            </a:extLst>
          </p:cNvPr>
          <p:cNvSpPr>
            <a:spLocks xmlns:a="http://schemas.openxmlformats.org/drawingml/2006/main" noGrp="1"/>
          </p:cNvSpPr>
          <p:nvPr/>
        </p:nvSpPr>
        <p:spPr>
          <a:xfrm xmlns:a="http://schemas.openxmlformats.org/drawingml/2006/main">
            <a:off x="8310562" y="4862513"/>
            <a:ext cx="619125" cy="1428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69"/>
              </a:lnSpc>
              <a:buNone/>
            </a:pPr>
            <a:r>
              <a:rPr sz="855">
                <a:solidFill>
                  <a:srgbClr val="BAD9CF">
                    <a:alpha val="99000"/>
                  </a:srgbClr>
                </a:solidFill>
                <a:latin typeface="Inter"/>
                <a:ea typeface="Inter"/>
                <a:cs typeface="Inter"/>
              </a:rPr>
              <a:t>26 / 29</a:t>
            </a:r>
            <a:endParaRPr sz="855"/>
          </a:p>
        </p:txBody>
      </p:sp>
    </p:spTree>
    <p:extLst>
      <p:ext uri="{BB962C8B-B14F-4D97-AF65-F5344CB8AC3E}">
        <p14:creationId xmlns:p14="http://schemas.microsoft.com/office/powerpoint/2010/main" val="532618946"/>
      </p:ext>
    </p:extLst>
  </p:cSld>
</p:sld>
</file>

<file path=ppt/slides/slide27.xml><?xml version="1.0" encoding="utf-8"?>
<p:sld xmlns:p="http://schemas.openxmlformats.org/presentationml/2006/main">
  <p:cSld>
    <p:bg>
      <p:bgPr>
        <a:blipFill xmlns:a="http://schemas.openxmlformats.org/drawingml/2006/main" rotWithShape="1">
          <a:blip xmlns:r="http://schemas.openxmlformats.org/officeDocument/2006/relationships" r:embed="Race8b5dc64e340a9">
            <a:lum/>
          </a:blip>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EBE1971E-2075-4B64-BCD4-64F955AEF0F7}"/>
              </a:ext>
            </a:extLst>
          </p:cNvPr>
          <p:cNvSpPr>
            <a:spLocks xmlns:a="http://schemas.openxmlformats.org/drawingml/2006/main" noGrp="1"/>
          </p:cNvSpPr>
          <p:nvPr/>
        </p:nvSpPr>
        <p:spPr>
          <a:xfrm xmlns:a="http://schemas.openxmlformats.org/drawingml/2006/main">
            <a:off x="571500" y="304800"/>
            <a:ext cx="8001000" cy="4191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117"/>
              </a:lnSpc>
              <a:buNone/>
            </a:pPr>
            <a:r>
              <a:rPr sz="2494" b="1">
                <a:solidFill>
                  <a:srgbClr val="F5FFFA">
                    <a:alpha val="99000"/>
                  </a:srgbClr>
                </a:solidFill>
                <a:latin typeface="Inter"/>
                <a:ea typeface="Inter"/>
                <a:cs typeface="Inter"/>
              </a:rPr>
              <a:t>Copilot music: prompt → tools → MP3</a:t>
            </a:r>
            <a:endParaRPr sz="2494"/>
          </a:p>
        </p:txBody>
      </p:sp>
      <p:sp>
        <p:nvSpPr>
          <p:cNvPr id="4" name="Shape 1">
            <a:extLst xmlns:a="http://schemas.openxmlformats.org/drawingml/2006/main">
              <a:ext uri="{FF2B5EF4-FFF2-40B4-BE49-F238E27FC236}">
                <a16:creationId xmlns:a16="http://schemas.microsoft.com/office/drawing/2014/main" id="{F4357BC2-329A-4358-A197-9CDB863FFB96}"/>
              </a:ext>
            </a:extLst>
          </p:cNvPr>
          <p:cNvSpPr>
            <a:spLocks xmlns:a="http://schemas.openxmlformats.org/drawingml/2006/main" noGrp="1"/>
          </p:cNvSpPr>
          <p:nvPr/>
        </p:nvSpPr>
        <p:spPr>
          <a:xfrm xmlns:a="http://schemas.openxmlformats.org/drawingml/2006/main">
            <a:off x="581025" y="838200"/>
            <a:ext cx="523875" cy="33338"/>
          </a:xfrm>
          <a:prstGeom xmlns:a="http://schemas.openxmlformats.org/drawingml/2006/main" prst="rect">
            <a:avLst/>
          </a:prstGeom>
          <a:solidFill xmlns:a="http://schemas.openxmlformats.org/drawingml/2006/main">
            <a:srgbClr val="4FE3BD"/>
          </a:solidFill>
        </p:spPr>
      </p:sp>
      <p:sp>
        <p:nvSpPr>
          <p:cNvPr id="5" name="Shape 2">
            <a:extLst xmlns:a="http://schemas.openxmlformats.org/drawingml/2006/main">
              <a:ext uri="{FF2B5EF4-FFF2-40B4-BE49-F238E27FC236}">
                <a16:creationId xmlns:a16="http://schemas.microsoft.com/office/drawing/2014/main" id="{2A3B0663-2FCF-4E63-B5E4-68BD362A7916}"/>
              </a:ext>
            </a:extLst>
          </p:cNvPr>
          <p:cNvSpPr>
            <a:spLocks xmlns:a="http://schemas.openxmlformats.org/drawingml/2006/main" noGrp="1"/>
          </p:cNvSpPr>
          <p:nvPr/>
        </p:nvSpPr>
        <p:spPr>
          <a:xfrm xmlns:a="http://schemas.openxmlformats.org/drawingml/2006/main">
            <a:off x="571500" y="1190625"/>
            <a:ext cx="8001000" cy="1566863"/>
          </a:xfrm>
          <a:prstGeom xmlns:a="http://schemas.openxmlformats.org/drawingml/2006/main" prst="rect">
            <a:avLst/>
          </a:prstGeom>
          <a:noFill xmlns:a="http://schemas.openxmlformats.org/drawingml/2006/main"/>
        </p:spPr>
      </p:sp>
      <p:sp>
        <p:nvSpPr>
          <p:cNvPr id="6" name="Text 3">
            <a:extLst xmlns:a="http://schemas.openxmlformats.org/drawingml/2006/main">
              <a:ext uri="{FF2B5EF4-FFF2-40B4-BE49-F238E27FC236}">
                <a16:creationId xmlns:a16="http://schemas.microsoft.com/office/drawing/2014/main" id="{9605F5DF-7B61-473A-9E7A-9BEEA6D29C3F}"/>
              </a:ext>
            </a:extLst>
          </p:cNvPr>
          <p:cNvSpPr>
            <a:spLocks xmlns:a="http://schemas.openxmlformats.org/drawingml/2006/main" noGrp="1"/>
          </p:cNvSpPr>
          <p:nvPr/>
        </p:nvSpPr>
        <p:spPr>
          <a:xfrm xmlns:a="http://schemas.openxmlformats.org/drawingml/2006/main">
            <a:off x="571500" y="1190625"/>
            <a:ext cx="8001000" cy="2809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093"/>
              </a:lnSpc>
              <a:buNone/>
            </a:pPr>
            <a:r>
              <a:rPr sz="1674">
                <a:solidFill>
                  <a:srgbClr val="F5FFFA">
                    <a:alpha val="99000"/>
                  </a:srgbClr>
                </a:solidFill>
                <a:latin typeface="Inter"/>
                <a:ea typeface="Inter"/>
                <a:cs typeface="Inter"/>
              </a:rPr>
              <a:t>1  Music config: args → mcp_server_music.py.</a:t>
            </a:r>
            <a:endParaRPr sz="1674"/>
          </a:p>
        </p:txBody>
      </p:sp>
      <p:sp>
        <p:nvSpPr>
          <p:cNvPr id="7" name="Text 4">
            <a:extLst xmlns:a="http://schemas.openxmlformats.org/drawingml/2006/main">
              <a:ext uri="{FF2B5EF4-FFF2-40B4-BE49-F238E27FC236}">
                <a16:creationId xmlns:a16="http://schemas.microsoft.com/office/drawing/2014/main" id="{58CD2A10-45AB-4FF3-9152-E2402B0DBDAC}"/>
              </a:ext>
            </a:extLst>
          </p:cNvPr>
          <p:cNvSpPr>
            <a:spLocks xmlns:a="http://schemas.openxmlformats.org/drawingml/2006/main" noGrp="1"/>
          </p:cNvSpPr>
          <p:nvPr/>
        </p:nvSpPr>
        <p:spPr>
          <a:xfrm xmlns:a="http://schemas.openxmlformats.org/drawingml/2006/main">
            <a:off x="571500" y="1619250"/>
            <a:ext cx="8001000" cy="2809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093"/>
              </a:lnSpc>
              <a:buNone/>
            </a:pPr>
            <a:r>
              <a:rPr sz="1674">
                <a:solidFill>
                  <a:srgbClr val="F5FFFA">
                    <a:alpha val="99000"/>
                  </a:srgbClr>
                </a:solidFill>
                <a:latin typeface="Inter"/>
                <a:ea typeface="Inter"/>
                <a:cs typeface="Inter"/>
              </a:rPr>
              <a:t>2  In chat, type / and select compose_music.</a:t>
            </a:r>
            <a:endParaRPr sz="1674"/>
          </a:p>
        </p:txBody>
      </p:sp>
      <p:sp>
        <p:nvSpPr>
          <p:cNvPr id="8" name="Text 5">
            <a:extLst xmlns:a="http://schemas.openxmlformats.org/drawingml/2006/main">
              <a:ext uri="{FF2B5EF4-FFF2-40B4-BE49-F238E27FC236}">
                <a16:creationId xmlns:a16="http://schemas.microsoft.com/office/drawing/2014/main" id="{84CE338C-7420-4992-AABD-0CA24DA097FD}"/>
              </a:ext>
            </a:extLst>
          </p:cNvPr>
          <p:cNvSpPr>
            <a:spLocks xmlns:a="http://schemas.openxmlformats.org/drawingml/2006/main" noGrp="1"/>
          </p:cNvSpPr>
          <p:nvPr/>
        </p:nvSpPr>
        <p:spPr>
          <a:xfrm xmlns:a="http://schemas.openxmlformats.org/drawingml/2006/main">
            <a:off x="571500" y="2047875"/>
            <a:ext cx="8001000" cy="2809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093"/>
              </a:lnSpc>
              <a:buNone/>
            </a:pPr>
            <a:r>
              <a:rPr sz="1674">
                <a:solidFill>
                  <a:srgbClr val="F5FFFA">
                    <a:alpha val="99000"/>
                  </a:srgbClr>
                </a:solidFill>
                <a:latin typeface="Inter"/>
                <a:ea typeface="Inter"/>
                <a:cs typeface="Inter"/>
              </a:rPr>
              <a:t>3  Description → web research* → catalog → score.</a:t>
            </a:r>
            <a:endParaRPr sz="1674"/>
          </a:p>
        </p:txBody>
      </p:sp>
      <p:sp>
        <p:nvSpPr>
          <p:cNvPr id="9" name="Text 6">
            <a:extLst xmlns:a="http://schemas.openxmlformats.org/drawingml/2006/main">
              <a:ext uri="{FF2B5EF4-FFF2-40B4-BE49-F238E27FC236}">
                <a16:creationId xmlns:a16="http://schemas.microsoft.com/office/drawing/2014/main" id="{F83B346F-5AF7-461C-8A38-A2A0CE43F4F1}"/>
              </a:ext>
            </a:extLst>
          </p:cNvPr>
          <p:cNvSpPr>
            <a:spLocks xmlns:a="http://schemas.openxmlformats.org/drawingml/2006/main" noGrp="1"/>
          </p:cNvSpPr>
          <p:nvPr/>
        </p:nvSpPr>
        <p:spPr>
          <a:xfrm xmlns:a="http://schemas.openxmlformats.org/drawingml/2006/main">
            <a:off x="571500" y="2476500"/>
            <a:ext cx="8001000" cy="2809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093"/>
              </a:lnSpc>
              <a:buNone/>
            </a:pPr>
            <a:r>
              <a:rPr sz="1674">
                <a:solidFill>
                  <a:srgbClr val="F5FFFA">
                    <a:alpha val="99000"/>
                  </a:srgbClr>
                </a:solidFill>
                <a:latin typeface="Inter"/>
                <a:ea typeface="Inter"/>
                <a:cs typeface="Inter"/>
              </a:rPr>
              <a:t>4  Receive a 30-second MP3 path; open when ready.</a:t>
            </a:r>
            <a:endParaRPr sz="1674"/>
          </a:p>
        </p:txBody>
      </p:sp>
      <p:sp>
        <p:nvSpPr>
          <p:cNvPr id="10" name="Text 7">
            <a:extLst xmlns:a="http://schemas.openxmlformats.org/drawingml/2006/main">
              <a:ext uri="{FF2B5EF4-FFF2-40B4-BE49-F238E27FC236}">
                <a16:creationId xmlns:a16="http://schemas.microsoft.com/office/drawing/2014/main" id="{D596EF6A-70A2-4CD6-8992-A7D39A554AA6}"/>
              </a:ext>
            </a:extLst>
          </p:cNvPr>
          <p:cNvSpPr>
            <a:spLocks xmlns:a="http://schemas.openxmlformats.org/drawingml/2006/main" noGrp="1"/>
          </p:cNvSpPr>
          <p:nvPr/>
        </p:nvSpPr>
        <p:spPr>
          <a:xfrm xmlns:a="http://schemas.openxmlformats.org/drawingml/2006/main">
            <a:off x="571500" y="4067175"/>
            <a:ext cx="8001000" cy="4667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37"/>
              </a:lnSpc>
              <a:buNone/>
            </a:pPr>
            <a:r>
              <a:rPr sz="1389" b="1">
                <a:solidFill>
                  <a:srgbClr val="4FE3BD">
                    <a:alpha val="99000"/>
                  </a:srgbClr>
                </a:solidFill>
                <a:latin typeface="Inter"/>
                <a:ea typeface="Inter"/>
                <a:cs typeface="Inter"/>
              </a:rPr>
              <a:t>*Web access depends on enabled tools; a source URL can be fetched.</a:t>
            </a:r>
            <a:endParaRPr sz="1389"/>
          </a:p>
          <a:p xmlns:a="http://schemas.openxmlformats.org/drawingml/2006/main">
            <a:pPr marL="0" indent="0" algn="l">
              <a:lnSpc>
                <a:spcPts val="1737"/>
              </a:lnSpc>
              <a:buNone/>
            </a:pPr>
            <a:r>
              <a:rPr sz="1389" b="1">
                <a:solidFill>
                  <a:srgbClr val="4FE3BD">
                    <a:alpha val="99000"/>
                  </a:srgbClr>
                </a:solidFill>
                <a:latin typeface="Inter"/>
                <a:ea typeface="Inter"/>
                <a:cs typeface="Inter"/>
              </a:rPr>
              <a:t>Local stdio / remote HTTP · bounded calls · verify results · no autoplay.</a:t>
            </a:r>
            <a:endParaRPr sz="1389"/>
          </a:p>
        </p:txBody>
      </p:sp>
      <p:sp>
        <p:nvSpPr>
          <p:cNvPr id="11" name="Text 8">
            <a:extLst xmlns:a="http://schemas.openxmlformats.org/drawingml/2006/main">
              <a:ext uri="{FF2B5EF4-FFF2-40B4-BE49-F238E27FC236}">
                <a16:creationId xmlns:a16="http://schemas.microsoft.com/office/drawing/2014/main" id="{E145986B-3032-431C-A42B-2740455029F8}"/>
              </a:ext>
            </a:extLst>
          </p:cNvPr>
          <p:cNvSpPr>
            <a:spLocks xmlns:a="http://schemas.openxmlformats.org/drawingml/2006/main" noGrp="1"/>
          </p:cNvSpPr>
          <p:nvPr/>
        </p:nvSpPr>
        <p:spPr>
          <a:xfrm xmlns:a="http://schemas.openxmlformats.org/drawingml/2006/main">
            <a:off x="8310562" y="4862513"/>
            <a:ext cx="619125" cy="1428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69"/>
              </a:lnSpc>
              <a:buNone/>
            </a:pPr>
            <a:r>
              <a:rPr sz="855">
                <a:solidFill>
                  <a:srgbClr val="BAD9CF">
                    <a:alpha val="99000"/>
                  </a:srgbClr>
                </a:solidFill>
                <a:latin typeface="Inter"/>
                <a:ea typeface="Inter"/>
                <a:cs typeface="Inter"/>
              </a:rPr>
              <a:t>27 / 29</a:t>
            </a:r>
            <a:endParaRPr sz="855"/>
          </a:p>
        </p:txBody>
      </p:sp>
    </p:spTree>
    <p:extLst>
      <p:ext uri="{BB962C8B-B14F-4D97-AF65-F5344CB8AC3E}">
        <p14:creationId xmlns:p14="http://schemas.microsoft.com/office/powerpoint/2010/main" val="1672608861"/>
      </p:ext>
    </p:extLst>
  </p:cSld>
</p:sld>
</file>

<file path=ppt/slides/slide28.xml><?xml version="1.0" encoding="utf-8"?>
<p:sld xmlns:p="http://schemas.openxmlformats.org/presentationml/2006/main">
  <p:cSld>
    <p:bg>
      <p:bgPr>
        <a:blipFill xmlns:a="http://schemas.openxmlformats.org/drawingml/2006/main" rotWithShape="1">
          <a:blip xmlns:r="http://schemas.openxmlformats.org/officeDocument/2006/relationships" r:embed="R13cd04d86804433d">
            <a:lum/>
          </a:blip>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76E19DA6-D9FA-4B7F-9CCE-93456352F56C}"/>
              </a:ext>
            </a:extLst>
          </p:cNvPr>
          <p:cNvSpPr>
            <a:spLocks xmlns:a="http://schemas.openxmlformats.org/drawingml/2006/main" noGrp="1"/>
          </p:cNvSpPr>
          <p:nvPr/>
        </p:nvSpPr>
        <p:spPr>
          <a:xfrm xmlns:a="http://schemas.openxmlformats.org/drawingml/2006/main">
            <a:off x="571500" y="304800"/>
            <a:ext cx="8001000" cy="4191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117"/>
              </a:lnSpc>
              <a:buNone/>
            </a:pPr>
            <a:r>
              <a:rPr sz="2494" b="1">
                <a:solidFill>
                  <a:srgbClr val="F5FFFA">
                    <a:alpha val="99000"/>
                  </a:srgbClr>
                </a:solidFill>
                <a:latin typeface="Inter"/>
                <a:ea typeface="Inter"/>
                <a:cs typeface="Inter"/>
              </a:rPr>
              <a:t>Enterprise: identity + production rules</a:t>
            </a:r>
            <a:endParaRPr sz="2494"/>
          </a:p>
        </p:txBody>
      </p:sp>
      <p:sp>
        <p:nvSpPr>
          <p:cNvPr id="4" name="Shape 1">
            <a:extLst xmlns:a="http://schemas.openxmlformats.org/drawingml/2006/main">
              <a:ext uri="{FF2B5EF4-FFF2-40B4-BE49-F238E27FC236}">
                <a16:creationId xmlns:a16="http://schemas.microsoft.com/office/drawing/2014/main" id="{31359E4A-43F5-41F9-A936-375500A400B7}"/>
              </a:ext>
            </a:extLst>
          </p:cNvPr>
          <p:cNvSpPr>
            <a:spLocks xmlns:a="http://schemas.openxmlformats.org/drawingml/2006/main" noGrp="1"/>
          </p:cNvSpPr>
          <p:nvPr/>
        </p:nvSpPr>
        <p:spPr>
          <a:xfrm xmlns:a="http://schemas.openxmlformats.org/drawingml/2006/main">
            <a:off x="581025" y="838200"/>
            <a:ext cx="523875" cy="33338"/>
          </a:xfrm>
          <a:prstGeom xmlns:a="http://schemas.openxmlformats.org/drawingml/2006/main" prst="rect">
            <a:avLst/>
          </a:prstGeom>
          <a:solidFill xmlns:a="http://schemas.openxmlformats.org/drawingml/2006/main">
            <a:srgbClr val="4FE3BD"/>
          </a:solidFill>
        </p:spPr>
      </p:sp>
      <p:sp>
        <p:nvSpPr>
          <p:cNvPr id="5" name="Shape 2">
            <a:extLst xmlns:a="http://schemas.openxmlformats.org/drawingml/2006/main">
              <a:ext uri="{FF2B5EF4-FFF2-40B4-BE49-F238E27FC236}">
                <a16:creationId xmlns:a16="http://schemas.microsoft.com/office/drawing/2014/main" id="{B3231EE0-173F-4757-AB36-7199A0B15AAE}"/>
              </a:ext>
            </a:extLst>
          </p:cNvPr>
          <p:cNvSpPr>
            <a:spLocks xmlns:a="http://schemas.openxmlformats.org/drawingml/2006/main" noGrp="1"/>
          </p:cNvSpPr>
          <p:nvPr/>
        </p:nvSpPr>
        <p:spPr>
          <a:xfrm xmlns:a="http://schemas.openxmlformats.org/drawingml/2006/main">
            <a:off x="571500" y="1190625"/>
            <a:ext cx="3619500" cy="1138238"/>
          </a:xfrm>
          <a:prstGeom xmlns:a="http://schemas.openxmlformats.org/drawingml/2006/main" prst="roundRect">
            <a:avLst>
              <a:gd name="adj" fmla="val 17674"/>
            </a:avLst>
          </a:prstGeom>
          <a:solidFill xmlns:a="http://schemas.openxmlformats.org/drawingml/2006/main">
            <a:srgbClr val="092925">
              <a:alpha val="96000"/>
            </a:srgbClr>
          </a:solidFill>
          <a:ln xmlns:a="http://schemas.openxmlformats.org/drawingml/2006/main" w="4524">
            <a:solidFill>
              <a:srgbClr val="267863"/>
            </a:solidFill>
            <a:prstDash val="solid"/>
          </a:ln>
        </p:spPr>
      </p:sp>
      <p:sp>
        <p:nvSpPr>
          <p:cNvPr id="6" name="Text 3">
            <a:extLst xmlns:a="http://schemas.openxmlformats.org/drawingml/2006/main">
              <a:ext uri="{FF2B5EF4-FFF2-40B4-BE49-F238E27FC236}">
                <a16:creationId xmlns:a16="http://schemas.microsoft.com/office/drawing/2014/main" id="{2C70D47A-F514-46FD-9B0F-C1181251F196}"/>
              </a:ext>
            </a:extLst>
          </p:cNvPr>
          <p:cNvSpPr>
            <a:spLocks xmlns:a="http://schemas.openxmlformats.org/drawingml/2006/main" noGrp="1"/>
          </p:cNvSpPr>
          <p:nvPr/>
        </p:nvSpPr>
        <p:spPr>
          <a:xfrm xmlns:a="http://schemas.openxmlformats.org/drawingml/2006/main">
            <a:off x="728663" y="1347788"/>
            <a:ext cx="3314700" cy="25241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70"/>
              </a:lnSpc>
              <a:buNone/>
            </a:pPr>
            <a:r>
              <a:rPr sz="1496" b="1">
                <a:solidFill>
                  <a:srgbClr val="4FE3BD">
                    <a:alpha val="99000"/>
                  </a:srgbClr>
                </a:solidFill>
                <a:latin typeface="Inter"/>
                <a:ea typeface="Inter"/>
                <a:cs typeface="Inter"/>
              </a:rPr>
              <a:t>IDENTITY PROVIDER</a:t>
            </a:r>
            <a:endParaRPr sz="1496"/>
          </a:p>
        </p:txBody>
      </p:sp>
      <p:sp>
        <p:nvSpPr>
          <p:cNvPr id="7" name="Text 4">
            <a:extLst xmlns:a="http://schemas.openxmlformats.org/drawingml/2006/main">
              <a:ext uri="{FF2B5EF4-FFF2-40B4-BE49-F238E27FC236}">
                <a16:creationId xmlns:a16="http://schemas.microsoft.com/office/drawing/2014/main" id="{8F28B640-46F6-4021-9AA3-57C63410B54F}"/>
              </a:ext>
            </a:extLst>
          </p:cNvPr>
          <p:cNvSpPr>
            <a:spLocks xmlns:a="http://schemas.openxmlformats.org/drawingml/2006/main" noGrp="1"/>
          </p:cNvSpPr>
          <p:nvPr/>
        </p:nvSpPr>
        <p:spPr>
          <a:xfrm xmlns:a="http://schemas.openxmlformats.org/drawingml/2006/main">
            <a:off x="728663" y="1695450"/>
            <a:ext cx="3314700" cy="4762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1"/>
              </a:lnSpc>
              <a:buNone/>
            </a:pPr>
            <a:r>
              <a:rPr sz="1425">
                <a:solidFill>
                  <a:srgbClr val="F5FFFA">
                    <a:alpha val="99000"/>
                  </a:srgbClr>
                </a:solidFill>
                <a:latin typeface="Inter"/>
                <a:ea typeface="Inter"/>
                <a:cs typeface="Inter"/>
              </a:rPr>
              <a:t>Establishes identity</a:t>
            </a:r>
            <a:endParaRPr sz="1425"/>
          </a:p>
          <a:p xmlns:a="http://schemas.openxmlformats.org/drawingml/2006/main">
            <a:pPr marL="0" indent="0" algn="l">
              <a:lnSpc>
                <a:spcPts val="1781"/>
              </a:lnSpc>
              <a:buNone/>
            </a:pPr>
            <a:r>
              <a:rPr sz="1425">
                <a:solidFill>
                  <a:srgbClr val="F5FFFA">
                    <a:alpha val="99000"/>
                  </a:srgbClr>
                </a:solidFill>
                <a:latin typeface="Inter"/>
                <a:ea typeface="Inter"/>
                <a:cs typeface="Inter"/>
              </a:rPr>
              <a:t>Example: Entra ID</a:t>
            </a:r>
            <a:endParaRPr sz="1425"/>
          </a:p>
        </p:txBody>
      </p:sp>
      <p:sp>
        <p:nvSpPr>
          <p:cNvPr id="8" name="Text 5">
            <a:extLst xmlns:a="http://schemas.openxmlformats.org/drawingml/2006/main">
              <a:ext uri="{FF2B5EF4-FFF2-40B4-BE49-F238E27FC236}">
                <a16:creationId xmlns:a16="http://schemas.microsoft.com/office/drawing/2014/main" id="{65C4BF4B-D35B-471F-8D19-B7227A1AE3FA}"/>
              </a:ext>
            </a:extLst>
          </p:cNvPr>
          <p:cNvSpPr>
            <a:spLocks xmlns:a="http://schemas.openxmlformats.org/drawingml/2006/main" noGrp="1"/>
          </p:cNvSpPr>
          <p:nvPr/>
        </p:nvSpPr>
        <p:spPr>
          <a:xfrm xmlns:a="http://schemas.openxmlformats.org/drawingml/2006/main">
            <a:off x="4619625" y="1357313"/>
            <a:ext cx="3714750" cy="5143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15"/>
              </a:lnSpc>
              <a:buNone/>
            </a:pPr>
            <a:r>
              <a:rPr sz="1532" b="1">
                <a:solidFill>
                  <a:srgbClr val="4FE3BD">
                    <a:alpha val="99000"/>
                  </a:srgbClr>
                </a:solidFill>
                <a:latin typeface="Inter"/>
                <a:ea typeface="Inter"/>
                <a:cs typeface="Inter"/>
              </a:rPr>
              <a:t>Identity / token issuance</a:t>
            </a:r>
            <a:endParaRPr sz="1532"/>
          </a:p>
          <a:p xmlns:a="http://schemas.openxmlformats.org/drawingml/2006/main">
            <a:pPr marL="0" indent="0" algn="l">
              <a:lnSpc>
                <a:spcPts val="1915"/>
              </a:lnSpc>
              <a:buNone/>
            </a:pPr>
            <a:r>
              <a:rPr sz="1532" b="1">
                <a:solidFill>
                  <a:srgbClr val="4FE3BD">
                    <a:alpha val="99000"/>
                  </a:srgbClr>
                </a:solidFill>
                <a:latin typeface="Inter"/>
                <a:ea typeface="Inter"/>
                <a:cs typeface="Inter"/>
              </a:rPr>
              <a:t>to the client</a:t>
            </a:r>
            <a:endParaRPr sz="1532"/>
          </a:p>
        </p:txBody>
      </p:sp>
      <p:sp>
        <p:nvSpPr>
          <p:cNvPr id="9" name="Shape 6">
            <a:extLst xmlns:a="http://schemas.openxmlformats.org/drawingml/2006/main">
              <a:ext uri="{FF2B5EF4-FFF2-40B4-BE49-F238E27FC236}">
                <a16:creationId xmlns:a16="http://schemas.microsoft.com/office/drawing/2014/main" id="{AD2CE582-E2F0-40D3-A75A-B8DF293416F8}"/>
              </a:ext>
            </a:extLst>
          </p:cNvPr>
          <p:cNvSpPr>
            <a:spLocks xmlns:a="http://schemas.openxmlformats.org/drawingml/2006/main" noGrp="1"/>
          </p:cNvSpPr>
          <p:nvPr/>
        </p:nvSpPr>
        <p:spPr>
          <a:xfrm xmlns:a="http://schemas.openxmlformats.org/drawingml/2006/main">
            <a:off x="571500" y="2809875"/>
            <a:ext cx="2562225" cy="1123950"/>
          </a:xfrm>
          <a:prstGeom xmlns:a="http://schemas.openxmlformats.org/drawingml/2006/main" prst="roundRect">
            <a:avLst>
              <a:gd name="adj" fmla="val 17898"/>
            </a:avLst>
          </a:prstGeom>
          <a:solidFill xmlns:a="http://schemas.openxmlformats.org/drawingml/2006/main">
            <a:srgbClr val="092925">
              <a:alpha val="96000"/>
            </a:srgbClr>
          </a:solidFill>
          <a:ln xmlns:a="http://schemas.openxmlformats.org/drawingml/2006/main" w="4524">
            <a:solidFill>
              <a:srgbClr val="267863"/>
            </a:solidFill>
            <a:prstDash val="solid"/>
          </a:ln>
        </p:spPr>
      </p:sp>
      <p:sp>
        <p:nvSpPr>
          <p:cNvPr id="10" name="Text 7">
            <a:extLst xmlns:a="http://schemas.openxmlformats.org/drawingml/2006/main">
              <a:ext uri="{FF2B5EF4-FFF2-40B4-BE49-F238E27FC236}">
                <a16:creationId xmlns:a16="http://schemas.microsoft.com/office/drawing/2014/main" id="{9A379854-22D1-40E4-9796-AF8957C67276}"/>
              </a:ext>
            </a:extLst>
          </p:cNvPr>
          <p:cNvSpPr>
            <a:spLocks xmlns:a="http://schemas.openxmlformats.org/drawingml/2006/main" noGrp="1"/>
          </p:cNvSpPr>
          <p:nvPr/>
        </p:nvSpPr>
        <p:spPr>
          <a:xfrm xmlns:a="http://schemas.openxmlformats.org/drawingml/2006/main">
            <a:off x="728663" y="2967038"/>
            <a:ext cx="2257425"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1"/>
              </a:lnSpc>
              <a:buNone/>
            </a:pPr>
            <a:r>
              <a:rPr sz="1425" b="1">
                <a:solidFill>
                  <a:srgbClr val="4FE3BD">
                    <a:alpha val="99000"/>
                  </a:srgbClr>
                </a:solidFill>
                <a:latin typeface="Inter"/>
                <a:ea typeface="Inter"/>
                <a:cs typeface="Inter"/>
              </a:rPr>
              <a:t>OPTIONAL GATEWAY</a:t>
            </a:r>
            <a:endParaRPr sz="1425"/>
          </a:p>
        </p:txBody>
      </p:sp>
      <p:sp>
        <p:nvSpPr>
          <p:cNvPr id="11" name="Text 8">
            <a:extLst xmlns:a="http://schemas.openxmlformats.org/drawingml/2006/main">
              <a:ext uri="{FF2B5EF4-FFF2-40B4-BE49-F238E27FC236}">
                <a16:creationId xmlns:a16="http://schemas.microsoft.com/office/drawing/2014/main" id="{099C2F94-8A0B-4C08-8D46-A2A4D9C3AFD9}"/>
              </a:ext>
            </a:extLst>
          </p:cNvPr>
          <p:cNvSpPr>
            <a:spLocks xmlns:a="http://schemas.openxmlformats.org/drawingml/2006/main" noGrp="1"/>
          </p:cNvSpPr>
          <p:nvPr/>
        </p:nvSpPr>
        <p:spPr>
          <a:xfrm xmlns:a="http://schemas.openxmlformats.org/drawingml/2006/main">
            <a:off x="728663" y="3319463"/>
            <a:ext cx="225742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2"/>
              </a:lnSpc>
              <a:buNone/>
            </a:pPr>
            <a:r>
              <a:rPr sz="1354">
                <a:solidFill>
                  <a:srgbClr val="F5FFFA">
                    <a:alpha val="99000"/>
                  </a:srgbClr>
                </a:solidFill>
                <a:latin typeface="Inter"/>
                <a:ea typeface="Inter"/>
                <a:cs typeface="Inter"/>
              </a:rPr>
              <a:t>Traffic policies and monitoring</a:t>
            </a:r>
            <a:endParaRPr sz="1354"/>
          </a:p>
        </p:txBody>
      </p:sp>
      <p:sp>
        <p:nvSpPr>
          <p:cNvPr id="12" name="Shape 9">
            <a:extLst xmlns:a="http://schemas.openxmlformats.org/drawingml/2006/main">
              <a:ext uri="{FF2B5EF4-FFF2-40B4-BE49-F238E27FC236}">
                <a16:creationId xmlns:a16="http://schemas.microsoft.com/office/drawing/2014/main" id="{2CDE8815-712B-40A8-980D-6DB9AF125428}"/>
              </a:ext>
            </a:extLst>
          </p:cNvPr>
          <p:cNvSpPr>
            <a:spLocks xmlns:a="http://schemas.openxmlformats.org/drawingml/2006/main" noGrp="1"/>
          </p:cNvSpPr>
          <p:nvPr/>
        </p:nvSpPr>
        <p:spPr>
          <a:xfrm xmlns:a="http://schemas.openxmlformats.org/drawingml/2006/main">
            <a:off x="3286125" y="2809875"/>
            <a:ext cx="2562225" cy="1123950"/>
          </a:xfrm>
          <a:prstGeom xmlns:a="http://schemas.openxmlformats.org/drawingml/2006/main" prst="roundRect">
            <a:avLst>
              <a:gd name="adj" fmla="val 17898"/>
            </a:avLst>
          </a:prstGeom>
          <a:solidFill xmlns:a="http://schemas.openxmlformats.org/drawingml/2006/main">
            <a:srgbClr val="092925">
              <a:alpha val="96000"/>
            </a:srgbClr>
          </a:solidFill>
          <a:ln xmlns:a="http://schemas.openxmlformats.org/drawingml/2006/main" w="4524">
            <a:solidFill>
              <a:srgbClr val="267863"/>
            </a:solidFill>
            <a:prstDash val="solid"/>
          </a:ln>
        </p:spPr>
      </p:sp>
      <p:sp>
        <p:nvSpPr>
          <p:cNvPr id="13" name="Text 10">
            <a:extLst xmlns:a="http://schemas.openxmlformats.org/drawingml/2006/main">
              <a:ext uri="{FF2B5EF4-FFF2-40B4-BE49-F238E27FC236}">
                <a16:creationId xmlns:a16="http://schemas.microsoft.com/office/drawing/2014/main" id="{27897653-0943-4845-A6FB-555D04221AAD}"/>
              </a:ext>
            </a:extLst>
          </p:cNvPr>
          <p:cNvSpPr>
            <a:spLocks xmlns:a="http://schemas.openxmlformats.org/drawingml/2006/main" noGrp="1"/>
          </p:cNvSpPr>
          <p:nvPr/>
        </p:nvSpPr>
        <p:spPr>
          <a:xfrm xmlns:a="http://schemas.openxmlformats.org/drawingml/2006/main">
            <a:off x="3443288" y="2967038"/>
            <a:ext cx="2257425"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1"/>
              </a:lnSpc>
              <a:buNone/>
            </a:pPr>
            <a:r>
              <a:rPr sz="1425" b="1">
                <a:solidFill>
                  <a:srgbClr val="4FE3BD">
                    <a:alpha val="99000"/>
                  </a:srgbClr>
                </a:solidFill>
                <a:latin typeface="Inter"/>
                <a:ea typeface="Inter"/>
                <a:cs typeface="Inter"/>
              </a:rPr>
              <a:t>MCP SERVER</a:t>
            </a:r>
            <a:endParaRPr sz="1425"/>
          </a:p>
        </p:txBody>
      </p:sp>
      <p:sp>
        <p:nvSpPr>
          <p:cNvPr id="14" name="Text 11">
            <a:extLst xmlns:a="http://schemas.openxmlformats.org/drawingml/2006/main">
              <a:ext uri="{FF2B5EF4-FFF2-40B4-BE49-F238E27FC236}">
                <a16:creationId xmlns:a16="http://schemas.microsoft.com/office/drawing/2014/main" id="{DE6845FC-A5E4-4589-8D53-D3570C587111}"/>
              </a:ext>
            </a:extLst>
          </p:cNvPr>
          <p:cNvSpPr>
            <a:spLocks xmlns:a="http://schemas.openxmlformats.org/drawingml/2006/main" noGrp="1"/>
          </p:cNvSpPr>
          <p:nvPr/>
        </p:nvSpPr>
        <p:spPr>
          <a:xfrm xmlns:a="http://schemas.openxmlformats.org/drawingml/2006/main">
            <a:off x="3443288" y="3319463"/>
            <a:ext cx="225742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2"/>
              </a:lnSpc>
              <a:buNone/>
            </a:pPr>
            <a:r>
              <a:rPr sz="1354">
                <a:solidFill>
                  <a:srgbClr val="F5FFFA">
                    <a:alpha val="99000"/>
                  </a:srgbClr>
                </a:solidFill>
                <a:latin typeface="Inter"/>
                <a:ea typeface="Inter"/>
                <a:cs typeface="Inter"/>
              </a:rPr>
              <a:t>Checks access to tools and data</a:t>
            </a:r>
            <a:endParaRPr sz="1354"/>
          </a:p>
        </p:txBody>
      </p:sp>
      <p:sp>
        <p:nvSpPr>
          <p:cNvPr id="15" name="Shape 12">
            <a:extLst xmlns:a="http://schemas.openxmlformats.org/drawingml/2006/main">
              <a:ext uri="{FF2B5EF4-FFF2-40B4-BE49-F238E27FC236}">
                <a16:creationId xmlns:a16="http://schemas.microsoft.com/office/drawing/2014/main" id="{B976651C-C091-4018-806C-82E750AF30E8}"/>
              </a:ext>
            </a:extLst>
          </p:cNvPr>
          <p:cNvSpPr>
            <a:spLocks xmlns:a="http://schemas.openxmlformats.org/drawingml/2006/main" noGrp="1"/>
          </p:cNvSpPr>
          <p:nvPr/>
        </p:nvSpPr>
        <p:spPr>
          <a:xfrm xmlns:a="http://schemas.openxmlformats.org/drawingml/2006/main">
            <a:off x="6000750" y="2809875"/>
            <a:ext cx="2562225" cy="1123950"/>
          </a:xfrm>
          <a:prstGeom xmlns:a="http://schemas.openxmlformats.org/drawingml/2006/main" prst="roundRect">
            <a:avLst>
              <a:gd name="adj" fmla="val 17898"/>
            </a:avLst>
          </a:prstGeom>
          <a:solidFill xmlns:a="http://schemas.openxmlformats.org/drawingml/2006/main">
            <a:srgbClr val="092925">
              <a:alpha val="96000"/>
            </a:srgbClr>
          </a:solidFill>
          <a:ln xmlns:a="http://schemas.openxmlformats.org/drawingml/2006/main" w="4524">
            <a:solidFill>
              <a:srgbClr val="267863"/>
            </a:solidFill>
            <a:prstDash val="solid"/>
          </a:ln>
        </p:spPr>
      </p:sp>
      <p:sp>
        <p:nvSpPr>
          <p:cNvPr id="16" name="Text 13">
            <a:extLst xmlns:a="http://schemas.openxmlformats.org/drawingml/2006/main">
              <a:ext uri="{FF2B5EF4-FFF2-40B4-BE49-F238E27FC236}">
                <a16:creationId xmlns:a16="http://schemas.microsoft.com/office/drawing/2014/main" id="{4DEA6F7A-BF49-4AA3-B410-08E879E460E2}"/>
              </a:ext>
            </a:extLst>
          </p:cNvPr>
          <p:cNvSpPr>
            <a:spLocks xmlns:a="http://schemas.openxmlformats.org/drawingml/2006/main" noGrp="1"/>
          </p:cNvSpPr>
          <p:nvPr/>
        </p:nvSpPr>
        <p:spPr>
          <a:xfrm xmlns:a="http://schemas.openxmlformats.org/drawingml/2006/main">
            <a:off x="6157913" y="2967038"/>
            <a:ext cx="2257425"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1"/>
              </a:lnSpc>
              <a:buNone/>
            </a:pPr>
            <a:r>
              <a:rPr sz="1425" b="1">
                <a:solidFill>
                  <a:srgbClr val="4FE3BD">
                    <a:alpha val="99000"/>
                  </a:srgbClr>
                </a:solidFill>
                <a:latin typeface="Inter"/>
                <a:ea typeface="Inter"/>
                <a:cs typeface="Inter"/>
              </a:rPr>
              <a:t>BACKEND</a:t>
            </a:r>
            <a:endParaRPr sz="1425"/>
          </a:p>
        </p:txBody>
      </p:sp>
      <p:sp>
        <p:nvSpPr>
          <p:cNvPr id="17" name="Text 14">
            <a:extLst xmlns:a="http://schemas.openxmlformats.org/drawingml/2006/main">
              <a:ext uri="{FF2B5EF4-FFF2-40B4-BE49-F238E27FC236}">
                <a16:creationId xmlns:a16="http://schemas.microsoft.com/office/drawing/2014/main" id="{940A9AC5-0240-459C-9F98-DA3C01DE6E81}"/>
              </a:ext>
            </a:extLst>
          </p:cNvPr>
          <p:cNvSpPr>
            <a:spLocks xmlns:a="http://schemas.openxmlformats.org/drawingml/2006/main" noGrp="1"/>
          </p:cNvSpPr>
          <p:nvPr/>
        </p:nvSpPr>
        <p:spPr>
          <a:xfrm xmlns:a="http://schemas.openxmlformats.org/drawingml/2006/main">
            <a:off x="6157913" y="3319463"/>
            <a:ext cx="225742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2"/>
              </a:lnSpc>
              <a:buNone/>
            </a:pPr>
            <a:r>
              <a:rPr sz="1354">
                <a:solidFill>
                  <a:srgbClr val="F5FFFA">
                    <a:alpha val="99000"/>
                  </a:srgbClr>
                </a:solidFill>
                <a:latin typeface="Inter"/>
                <a:ea typeface="Inter"/>
                <a:cs typeface="Inter"/>
              </a:rPr>
              <a:t>Enforces Application business rules</a:t>
            </a:r>
            <a:endParaRPr sz="1354"/>
          </a:p>
        </p:txBody>
      </p:sp>
      <p:sp>
        <p:nvSpPr>
          <p:cNvPr id="18" name="Text 15">
            <a:extLst xmlns:a="http://schemas.openxmlformats.org/drawingml/2006/main">
              <a:ext uri="{FF2B5EF4-FFF2-40B4-BE49-F238E27FC236}">
                <a16:creationId xmlns:a16="http://schemas.microsoft.com/office/drawing/2014/main" id="{68F2ED00-E21A-40D4-BA44-E7D573AC094C}"/>
              </a:ext>
            </a:extLst>
          </p:cNvPr>
          <p:cNvSpPr>
            <a:spLocks xmlns:a="http://schemas.openxmlformats.org/drawingml/2006/main" noGrp="1"/>
          </p:cNvSpPr>
          <p:nvPr/>
        </p:nvSpPr>
        <p:spPr>
          <a:xfrm xmlns:a="http://schemas.openxmlformats.org/drawingml/2006/main">
            <a:off x="857250" y="2476500"/>
            <a:ext cx="2095500" cy="21431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03"/>
              </a:lnSpc>
              <a:buNone/>
            </a:pPr>
            <a:r>
              <a:rPr sz="1283">
                <a:solidFill>
                  <a:srgbClr val="4FE3BD">
                    <a:alpha val="99000"/>
                  </a:srgbClr>
                </a:solidFill>
                <a:latin typeface="Inter"/>
                <a:ea typeface="Inter"/>
                <a:cs typeface="Inter"/>
              </a:rPr>
              <a:t>Tool request →</a:t>
            </a:r>
            <a:endParaRPr sz="1283"/>
          </a:p>
        </p:txBody>
      </p:sp>
      <p:sp>
        <p:nvSpPr>
          <p:cNvPr id="19" name="Text 16">
            <a:extLst xmlns:a="http://schemas.openxmlformats.org/drawingml/2006/main">
              <a:ext uri="{FF2B5EF4-FFF2-40B4-BE49-F238E27FC236}">
                <a16:creationId xmlns:a16="http://schemas.microsoft.com/office/drawing/2014/main" id="{F7A63D85-0CB3-4168-8C69-A765B9367E12}"/>
              </a:ext>
            </a:extLst>
          </p:cNvPr>
          <p:cNvSpPr>
            <a:spLocks xmlns:a="http://schemas.openxmlformats.org/drawingml/2006/main" noGrp="1"/>
          </p:cNvSpPr>
          <p:nvPr/>
        </p:nvSpPr>
        <p:spPr>
          <a:xfrm xmlns:a="http://schemas.openxmlformats.org/drawingml/2006/main">
            <a:off x="3705225" y="2476500"/>
            <a:ext cx="1571625" cy="21431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03"/>
              </a:lnSpc>
              <a:buNone/>
            </a:pPr>
            <a:r>
              <a:rPr sz="1283">
                <a:solidFill>
                  <a:srgbClr val="4FE3BD">
                    <a:alpha val="99000"/>
                  </a:srgbClr>
                </a:solidFill>
                <a:latin typeface="Inter"/>
                <a:ea typeface="Inter"/>
                <a:cs typeface="Inter"/>
              </a:rPr>
              <a:t>MCP →</a:t>
            </a:r>
            <a:endParaRPr sz="1283"/>
          </a:p>
        </p:txBody>
      </p:sp>
      <p:sp>
        <p:nvSpPr>
          <p:cNvPr id="20" name="Text 17">
            <a:extLst xmlns:a="http://schemas.openxmlformats.org/drawingml/2006/main">
              <a:ext uri="{FF2B5EF4-FFF2-40B4-BE49-F238E27FC236}">
                <a16:creationId xmlns:a16="http://schemas.microsoft.com/office/drawing/2014/main" id="{CBDB5158-D938-40CA-B872-A0DAA7B10743}"/>
              </a:ext>
            </a:extLst>
          </p:cNvPr>
          <p:cNvSpPr>
            <a:spLocks xmlns:a="http://schemas.openxmlformats.org/drawingml/2006/main" noGrp="1"/>
          </p:cNvSpPr>
          <p:nvPr/>
        </p:nvSpPr>
        <p:spPr>
          <a:xfrm xmlns:a="http://schemas.openxmlformats.org/drawingml/2006/main">
            <a:off x="6310313" y="2476500"/>
            <a:ext cx="2095500" cy="21431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03"/>
              </a:lnSpc>
              <a:buNone/>
            </a:pPr>
            <a:r>
              <a:rPr sz="1283">
                <a:solidFill>
                  <a:srgbClr val="4FE3BD">
                    <a:alpha val="99000"/>
                  </a:srgbClr>
                </a:solidFill>
                <a:latin typeface="Inter"/>
                <a:ea typeface="Inter"/>
                <a:cs typeface="Inter"/>
              </a:rPr>
              <a:t>Application call →</a:t>
            </a:r>
            <a:endParaRPr sz="1283"/>
          </a:p>
        </p:txBody>
      </p:sp>
      <p:sp>
        <p:nvSpPr>
          <p:cNvPr id="21" name="Text 18">
            <a:extLst xmlns:a="http://schemas.openxmlformats.org/drawingml/2006/main">
              <a:ext uri="{FF2B5EF4-FFF2-40B4-BE49-F238E27FC236}">
                <a16:creationId xmlns:a16="http://schemas.microsoft.com/office/drawing/2014/main" id="{3D6BAE99-0EAD-47F6-BD80-9D8ED5814439}"/>
              </a:ext>
            </a:extLst>
          </p:cNvPr>
          <p:cNvSpPr>
            <a:spLocks xmlns:a="http://schemas.openxmlformats.org/drawingml/2006/main" noGrp="1"/>
          </p:cNvSpPr>
          <p:nvPr/>
        </p:nvSpPr>
        <p:spPr>
          <a:xfrm xmlns:a="http://schemas.openxmlformats.org/drawingml/2006/main">
            <a:off x="571500" y="4419600"/>
            <a:ext cx="8001000" cy="2190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48"/>
              </a:lnSpc>
              <a:buNone/>
            </a:pPr>
            <a:r>
              <a:rPr sz="1318" b="1">
                <a:solidFill>
                  <a:srgbClr val="4FE3BD">
                    <a:alpha val="99000"/>
                  </a:srgbClr>
                </a:solidFill>
                <a:latin typeface="Inter"/>
                <a:ea typeface="Inter"/>
                <a:cs typeface="Inter"/>
              </a:rPr>
              <a:t>Production: per-tool authorization · audit logs · safe retries · verified outcomes.</a:t>
            </a:r>
            <a:endParaRPr sz="1318"/>
          </a:p>
        </p:txBody>
      </p:sp>
      <p:sp>
        <p:nvSpPr>
          <p:cNvPr id="22" name="Text 19">
            <a:extLst xmlns:a="http://schemas.openxmlformats.org/drawingml/2006/main">
              <a:ext uri="{FF2B5EF4-FFF2-40B4-BE49-F238E27FC236}">
                <a16:creationId xmlns:a16="http://schemas.microsoft.com/office/drawing/2014/main" id="{2EDC614C-71B7-4946-9E1F-9A705B934D6B}"/>
              </a:ext>
            </a:extLst>
          </p:cNvPr>
          <p:cNvSpPr>
            <a:spLocks xmlns:a="http://schemas.openxmlformats.org/drawingml/2006/main" noGrp="1"/>
          </p:cNvSpPr>
          <p:nvPr/>
        </p:nvSpPr>
        <p:spPr>
          <a:xfrm xmlns:a="http://schemas.openxmlformats.org/drawingml/2006/main">
            <a:off x="8310562" y="4862513"/>
            <a:ext cx="619125" cy="1428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69"/>
              </a:lnSpc>
              <a:buNone/>
            </a:pPr>
            <a:r>
              <a:rPr sz="855">
                <a:solidFill>
                  <a:srgbClr val="BAD9CF">
                    <a:alpha val="99000"/>
                  </a:srgbClr>
                </a:solidFill>
                <a:latin typeface="Inter"/>
                <a:ea typeface="Inter"/>
                <a:cs typeface="Inter"/>
              </a:rPr>
              <a:t>28 / 29</a:t>
            </a:r>
            <a:endParaRPr sz="855"/>
          </a:p>
        </p:txBody>
      </p:sp>
    </p:spTree>
    <p:extLst>
      <p:ext uri="{BB962C8B-B14F-4D97-AF65-F5344CB8AC3E}">
        <p14:creationId xmlns:p14="http://schemas.microsoft.com/office/powerpoint/2010/main" val="939923847"/>
      </p:ext>
    </p:extLst>
  </p:cSld>
</p:sld>
</file>

<file path=ppt/slides/slide29.xml><?xml version="1.0" encoding="utf-8"?>
<p:sld xmlns:p="http://schemas.openxmlformats.org/presentationml/2006/main">
  <p:cSld>
    <p:bg>
      <p:bgPr>
        <a:blipFill xmlns:a="http://schemas.openxmlformats.org/drawingml/2006/main" rotWithShape="1">
          <a:blip xmlns:r="http://schemas.openxmlformats.org/officeDocument/2006/relationships" r:embed="Ra65f6bb5441b4075">
            <a:lum/>
          </a:blip>
          <a:srcRect l="0" t="0" r="0" b="0"/>
          <a:stretch>
            <a:fillRect l="0" t="0" r="0" b="0"/>
          </a:stretch>
        </a:blip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BCB913D3-77AA-43AB-AC91-F530BDC4781C}"/>
              </a:ext>
            </a:extLst>
          </p:cNvPr>
          <p:cNvSpPr>
            <a:spLocks xmlns:a="http://schemas.openxmlformats.org/drawingml/2006/main" noGrp="1"/>
          </p:cNvSpPr>
          <p:nvPr/>
        </p:nvSpPr>
        <p:spPr>
          <a:xfrm xmlns:a="http://schemas.openxmlformats.org/drawingml/2006/main">
            <a:off x="571500" y="304800"/>
            <a:ext cx="8001000" cy="4191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117"/>
              </a:lnSpc>
              <a:buNone/>
            </a:pPr>
            <a:r>
              <a:rPr sz="2494" b="1">
                <a:solidFill>
                  <a:srgbClr val="F5FFFA">
                    <a:alpha val="99000"/>
                  </a:srgbClr>
                </a:solidFill>
                <a:latin typeface="Inter"/>
                <a:ea typeface="Inter"/>
                <a:cs typeface="Inter"/>
              </a:rPr>
              <a:t>Where can I use this at the hackathon?</a:t>
            </a:r>
            <a:endParaRPr sz="2494"/>
          </a:p>
        </p:txBody>
      </p:sp>
      <p:sp>
        <p:nvSpPr>
          <p:cNvPr id="4" name="Shape 1">
            <a:extLst xmlns:a="http://schemas.openxmlformats.org/drawingml/2006/main">
              <a:ext uri="{FF2B5EF4-FFF2-40B4-BE49-F238E27FC236}">
                <a16:creationId xmlns:a16="http://schemas.microsoft.com/office/drawing/2014/main" id="{C9F5325C-DB63-4342-ABC8-542723FFBB3F}"/>
              </a:ext>
            </a:extLst>
          </p:cNvPr>
          <p:cNvSpPr>
            <a:spLocks xmlns:a="http://schemas.openxmlformats.org/drawingml/2006/main" noGrp="1"/>
          </p:cNvSpPr>
          <p:nvPr/>
        </p:nvSpPr>
        <p:spPr>
          <a:xfrm xmlns:a="http://schemas.openxmlformats.org/drawingml/2006/main">
            <a:off x="581025" y="838200"/>
            <a:ext cx="523875" cy="33338"/>
          </a:xfrm>
          <a:prstGeom xmlns:a="http://schemas.openxmlformats.org/drawingml/2006/main" prst="rect">
            <a:avLst/>
          </a:prstGeom>
          <a:solidFill xmlns:a="http://schemas.openxmlformats.org/drawingml/2006/main">
            <a:srgbClr val="4FE3BD"/>
          </a:solidFill>
        </p:spPr>
      </p:sp>
      <p:sp>
        <p:nvSpPr>
          <p:cNvPr id="5" name="Shape 2">
            <a:extLst xmlns:a="http://schemas.openxmlformats.org/drawingml/2006/main">
              <a:ext uri="{FF2B5EF4-FFF2-40B4-BE49-F238E27FC236}">
                <a16:creationId xmlns:a16="http://schemas.microsoft.com/office/drawing/2014/main" id="{00528F3C-F19B-4473-B126-0166D17E9B7B}"/>
              </a:ext>
            </a:extLst>
          </p:cNvPr>
          <p:cNvSpPr>
            <a:spLocks xmlns:a="http://schemas.openxmlformats.org/drawingml/2006/main" noGrp="1"/>
          </p:cNvSpPr>
          <p:nvPr/>
        </p:nvSpPr>
        <p:spPr>
          <a:xfrm xmlns:a="http://schemas.openxmlformats.org/drawingml/2006/main">
            <a:off x="571500" y="1381125"/>
            <a:ext cx="2562225" cy="1123950"/>
          </a:xfrm>
          <a:prstGeom xmlns:a="http://schemas.openxmlformats.org/drawingml/2006/main" prst="roundRect">
            <a:avLst>
              <a:gd name="adj" fmla="val 17898"/>
            </a:avLst>
          </a:prstGeom>
          <a:solidFill xmlns:a="http://schemas.openxmlformats.org/drawingml/2006/main">
            <a:srgbClr val="092925">
              <a:alpha val="96000"/>
            </a:srgbClr>
          </a:solidFill>
          <a:ln xmlns:a="http://schemas.openxmlformats.org/drawingml/2006/main" w="4524">
            <a:solidFill>
              <a:srgbClr val="267863"/>
            </a:solidFill>
            <a:prstDash val="solid"/>
          </a:ln>
        </p:spPr>
      </p:sp>
      <p:sp>
        <p:nvSpPr>
          <p:cNvPr id="6" name="Text 3">
            <a:extLst xmlns:a="http://schemas.openxmlformats.org/drawingml/2006/main">
              <a:ext uri="{FF2B5EF4-FFF2-40B4-BE49-F238E27FC236}">
                <a16:creationId xmlns:a16="http://schemas.microsoft.com/office/drawing/2014/main" id="{7E7D8334-D3F7-4FA1-8AAE-7D459D671B0A}"/>
              </a:ext>
            </a:extLst>
          </p:cNvPr>
          <p:cNvSpPr>
            <a:spLocks xmlns:a="http://schemas.openxmlformats.org/drawingml/2006/main" noGrp="1"/>
          </p:cNvSpPr>
          <p:nvPr/>
        </p:nvSpPr>
        <p:spPr>
          <a:xfrm xmlns:a="http://schemas.openxmlformats.org/drawingml/2006/main">
            <a:off x="728663" y="1538288"/>
            <a:ext cx="2257425"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1"/>
              </a:lnSpc>
              <a:buNone/>
            </a:pPr>
            <a:r>
              <a:rPr sz="1425" b="1">
                <a:solidFill>
                  <a:srgbClr val="4FE3BD">
                    <a:alpha val="99000"/>
                  </a:srgbClr>
                </a:solidFill>
                <a:latin typeface="Inter"/>
                <a:ea typeface="Inter"/>
                <a:cs typeface="Inter"/>
              </a:rPr>
              <a:t>ONE USEFUL ACTION</a:t>
            </a:r>
            <a:endParaRPr sz="1425"/>
          </a:p>
        </p:txBody>
      </p:sp>
      <p:sp>
        <p:nvSpPr>
          <p:cNvPr id="7" name="Text 4">
            <a:extLst xmlns:a="http://schemas.openxmlformats.org/drawingml/2006/main">
              <a:ext uri="{FF2B5EF4-FFF2-40B4-BE49-F238E27FC236}">
                <a16:creationId xmlns:a16="http://schemas.microsoft.com/office/drawing/2014/main" id="{296C1A97-61DA-49E3-940D-8A49F08F1A1D}"/>
              </a:ext>
            </a:extLst>
          </p:cNvPr>
          <p:cNvSpPr>
            <a:spLocks xmlns:a="http://schemas.openxmlformats.org/drawingml/2006/main" noGrp="1"/>
          </p:cNvSpPr>
          <p:nvPr/>
        </p:nvSpPr>
        <p:spPr>
          <a:xfrm xmlns:a="http://schemas.openxmlformats.org/drawingml/2006/main">
            <a:off x="728663" y="1890713"/>
            <a:ext cx="225742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2"/>
              </a:lnSpc>
              <a:buNone/>
            </a:pPr>
            <a:r>
              <a:rPr sz="1354">
                <a:solidFill>
                  <a:srgbClr val="F5FFFA">
                    <a:alpha val="99000"/>
                  </a:srgbClr>
                </a:solidFill>
                <a:latin typeface="Inter"/>
                <a:ea typeface="Inter"/>
                <a:cs typeface="Inter"/>
              </a:rPr>
              <a:t>Search inventory or create a draft ticket</a:t>
            </a:r>
            <a:endParaRPr sz="1354"/>
          </a:p>
        </p:txBody>
      </p:sp>
      <p:sp>
        <p:nvSpPr>
          <p:cNvPr id="8" name="Shape 5">
            <a:extLst xmlns:a="http://schemas.openxmlformats.org/drawingml/2006/main">
              <a:ext uri="{FF2B5EF4-FFF2-40B4-BE49-F238E27FC236}">
                <a16:creationId xmlns:a16="http://schemas.microsoft.com/office/drawing/2014/main" id="{85B8D883-FD7F-483B-94E3-96A25611A447}"/>
              </a:ext>
            </a:extLst>
          </p:cNvPr>
          <p:cNvSpPr>
            <a:spLocks xmlns:a="http://schemas.openxmlformats.org/drawingml/2006/main" noGrp="1"/>
          </p:cNvSpPr>
          <p:nvPr/>
        </p:nvSpPr>
        <p:spPr>
          <a:xfrm xmlns:a="http://schemas.openxmlformats.org/drawingml/2006/main">
            <a:off x="3286125" y="1381125"/>
            <a:ext cx="2562225" cy="1123950"/>
          </a:xfrm>
          <a:prstGeom xmlns:a="http://schemas.openxmlformats.org/drawingml/2006/main" prst="roundRect">
            <a:avLst>
              <a:gd name="adj" fmla="val 17898"/>
            </a:avLst>
          </a:prstGeom>
          <a:solidFill xmlns:a="http://schemas.openxmlformats.org/drawingml/2006/main">
            <a:srgbClr val="092925">
              <a:alpha val="96000"/>
            </a:srgbClr>
          </a:solidFill>
          <a:ln xmlns:a="http://schemas.openxmlformats.org/drawingml/2006/main" w="4524">
            <a:solidFill>
              <a:srgbClr val="267863"/>
            </a:solidFill>
            <a:prstDash val="solid"/>
          </a:ln>
        </p:spPr>
      </p:sp>
      <p:sp>
        <p:nvSpPr>
          <p:cNvPr id="9" name="Text 6">
            <a:extLst xmlns:a="http://schemas.openxmlformats.org/drawingml/2006/main">
              <a:ext uri="{FF2B5EF4-FFF2-40B4-BE49-F238E27FC236}">
                <a16:creationId xmlns:a16="http://schemas.microsoft.com/office/drawing/2014/main" id="{1A305CB7-959C-4339-8776-0F102AE787BA}"/>
              </a:ext>
            </a:extLst>
          </p:cNvPr>
          <p:cNvSpPr>
            <a:spLocks xmlns:a="http://schemas.openxmlformats.org/drawingml/2006/main" noGrp="1"/>
          </p:cNvSpPr>
          <p:nvPr/>
        </p:nvSpPr>
        <p:spPr>
          <a:xfrm xmlns:a="http://schemas.openxmlformats.org/drawingml/2006/main">
            <a:off x="3443288" y="1538288"/>
            <a:ext cx="2257425"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1"/>
              </a:lnSpc>
              <a:buNone/>
            </a:pPr>
            <a:r>
              <a:rPr sz="1425" b="1">
                <a:solidFill>
                  <a:srgbClr val="4FE3BD">
                    <a:alpha val="99000"/>
                  </a:srgbClr>
                </a:solidFill>
                <a:latin typeface="Inter"/>
                <a:ea typeface="Inter"/>
                <a:cs typeface="Inter"/>
              </a:rPr>
              <a:t>ONE STATE CHECK</a:t>
            </a:r>
            <a:endParaRPr sz="1425"/>
          </a:p>
        </p:txBody>
      </p:sp>
      <p:sp>
        <p:nvSpPr>
          <p:cNvPr id="10" name="Text 7">
            <a:extLst xmlns:a="http://schemas.openxmlformats.org/drawingml/2006/main">
              <a:ext uri="{FF2B5EF4-FFF2-40B4-BE49-F238E27FC236}">
                <a16:creationId xmlns:a16="http://schemas.microsoft.com/office/drawing/2014/main" id="{3763F2AB-4194-431B-A308-69B33E12CE73}"/>
              </a:ext>
            </a:extLst>
          </p:cNvPr>
          <p:cNvSpPr>
            <a:spLocks xmlns:a="http://schemas.openxmlformats.org/drawingml/2006/main" noGrp="1"/>
          </p:cNvSpPr>
          <p:nvPr/>
        </p:nvSpPr>
        <p:spPr>
          <a:xfrm xmlns:a="http://schemas.openxmlformats.org/drawingml/2006/main">
            <a:off x="3443288" y="1890713"/>
            <a:ext cx="225742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2"/>
              </a:lnSpc>
              <a:buNone/>
            </a:pPr>
            <a:r>
              <a:rPr sz="1354">
                <a:solidFill>
                  <a:srgbClr val="F5FFFA">
                    <a:alpha val="99000"/>
                  </a:srgbClr>
                </a:solidFill>
                <a:latin typeface="Inter"/>
                <a:ea typeface="Inter"/>
                <a:cs typeface="Inter"/>
              </a:rPr>
              <a:t>Read the item / ticket and verify the result</a:t>
            </a:r>
            <a:endParaRPr sz="1354"/>
          </a:p>
        </p:txBody>
      </p:sp>
      <p:sp>
        <p:nvSpPr>
          <p:cNvPr id="11" name="Shape 8">
            <a:extLst xmlns:a="http://schemas.openxmlformats.org/drawingml/2006/main">
              <a:ext uri="{FF2B5EF4-FFF2-40B4-BE49-F238E27FC236}">
                <a16:creationId xmlns:a16="http://schemas.microsoft.com/office/drawing/2014/main" id="{5569400C-C626-4220-B98D-8DF60051F39D}"/>
              </a:ext>
            </a:extLst>
          </p:cNvPr>
          <p:cNvSpPr>
            <a:spLocks xmlns:a="http://schemas.openxmlformats.org/drawingml/2006/main" noGrp="1"/>
          </p:cNvSpPr>
          <p:nvPr/>
        </p:nvSpPr>
        <p:spPr>
          <a:xfrm xmlns:a="http://schemas.openxmlformats.org/drawingml/2006/main">
            <a:off x="6000750" y="1381125"/>
            <a:ext cx="2562225" cy="1352550"/>
          </a:xfrm>
          <a:prstGeom xmlns:a="http://schemas.openxmlformats.org/drawingml/2006/main" prst="roundRect">
            <a:avLst>
              <a:gd name="adj" fmla="val 14873"/>
            </a:avLst>
          </a:prstGeom>
          <a:solidFill xmlns:a="http://schemas.openxmlformats.org/drawingml/2006/main">
            <a:srgbClr val="092925">
              <a:alpha val="96000"/>
            </a:srgbClr>
          </a:solidFill>
          <a:ln xmlns:a="http://schemas.openxmlformats.org/drawingml/2006/main" w="4524">
            <a:solidFill>
              <a:srgbClr val="267863"/>
            </a:solidFill>
            <a:prstDash val="solid"/>
          </a:ln>
        </p:spPr>
      </p:sp>
      <p:sp>
        <p:nvSpPr>
          <p:cNvPr id="12" name="Text 9">
            <a:extLst xmlns:a="http://schemas.openxmlformats.org/drawingml/2006/main">
              <a:ext uri="{FF2B5EF4-FFF2-40B4-BE49-F238E27FC236}">
                <a16:creationId xmlns:a16="http://schemas.microsoft.com/office/drawing/2014/main" id="{8EF25175-64F0-4C8B-9D3B-424099E1B20B}"/>
              </a:ext>
            </a:extLst>
          </p:cNvPr>
          <p:cNvSpPr>
            <a:spLocks xmlns:a="http://schemas.openxmlformats.org/drawingml/2006/main" noGrp="1"/>
          </p:cNvSpPr>
          <p:nvPr/>
        </p:nvSpPr>
        <p:spPr>
          <a:xfrm xmlns:a="http://schemas.openxmlformats.org/drawingml/2006/main">
            <a:off x="6157913" y="1538288"/>
            <a:ext cx="2257425"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1"/>
              </a:lnSpc>
              <a:buNone/>
            </a:pPr>
            <a:r>
              <a:rPr sz="1425" b="1">
                <a:solidFill>
                  <a:srgbClr val="4FE3BD">
                    <a:alpha val="99000"/>
                  </a:srgbClr>
                </a:solidFill>
                <a:latin typeface="Inter"/>
                <a:ea typeface="Inter"/>
                <a:cs typeface="Inter"/>
              </a:rPr>
              <a:t>ONE CLEAR BOUNDARY</a:t>
            </a:r>
            <a:endParaRPr sz="1425"/>
          </a:p>
        </p:txBody>
      </p:sp>
      <p:sp>
        <p:nvSpPr>
          <p:cNvPr id="13" name="Text 10">
            <a:extLst xmlns:a="http://schemas.openxmlformats.org/drawingml/2006/main">
              <a:ext uri="{FF2B5EF4-FFF2-40B4-BE49-F238E27FC236}">
                <a16:creationId xmlns:a16="http://schemas.microsoft.com/office/drawing/2014/main" id="{B66F718C-AC9C-41BE-A766-36FB498E5C65}"/>
              </a:ext>
            </a:extLst>
          </p:cNvPr>
          <p:cNvSpPr>
            <a:spLocks xmlns:a="http://schemas.openxmlformats.org/drawingml/2006/main" noGrp="1"/>
          </p:cNvSpPr>
          <p:nvPr/>
        </p:nvSpPr>
        <p:spPr>
          <a:xfrm xmlns:a="http://schemas.openxmlformats.org/drawingml/2006/main">
            <a:off x="6157913" y="1890713"/>
            <a:ext cx="2257425"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92"/>
              </a:lnSpc>
              <a:buNone/>
            </a:pPr>
            <a:r>
              <a:rPr sz="1354">
                <a:solidFill>
                  <a:srgbClr val="F5FFFA">
                    <a:alpha val="99000"/>
                  </a:srgbClr>
                </a:solidFill>
                <a:latin typeface="Inter"/>
                <a:ea typeface="Inter"/>
                <a:cs typeface="Inter"/>
              </a:rPr>
              <a:t>Validate inputs; restrict access; approve risky writes</a:t>
            </a:r>
            <a:endParaRPr sz="1354"/>
          </a:p>
        </p:txBody>
      </p:sp>
      <p:sp>
        <p:nvSpPr>
          <p:cNvPr id="14" name="Text 11">
            <a:extLst xmlns:a="http://schemas.openxmlformats.org/drawingml/2006/main">
              <a:ext uri="{FF2B5EF4-FFF2-40B4-BE49-F238E27FC236}">
                <a16:creationId xmlns:a16="http://schemas.microsoft.com/office/drawing/2014/main" id="{F41D27DE-3865-40D5-9336-6D0EF53C7B75}"/>
              </a:ext>
            </a:extLst>
          </p:cNvPr>
          <p:cNvSpPr>
            <a:spLocks xmlns:a="http://schemas.openxmlformats.org/drawingml/2006/main" noGrp="1"/>
          </p:cNvSpPr>
          <p:nvPr/>
        </p:nvSpPr>
        <p:spPr>
          <a:xfrm xmlns:a="http://schemas.openxmlformats.org/drawingml/2006/main">
            <a:off x="571500" y="3738563"/>
            <a:ext cx="8001000" cy="6572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449"/>
              </a:lnSpc>
              <a:buNone/>
            </a:pPr>
            <a:r>
              <a:rPr sz="1959" b="1">
                <a:solidFill>
                  <a:srgbClr val="4FE3BD">
                    <a:alpha val="99000"/>
                  </a:srgbClr>
                </a:solidFill>
                <a:latin typeface="Inter"/>
                <a:ea typeface="Inter"/>
                <a:cs typeface="Inter"/>
              </a:rPr>
              <a:t>Exit check: name your tool, input, permission,</a:t>
            </a:r>
            <a:endParaRPr sz="1959"/>
          </a:p>
          <a:p xmlns:a="http://schemas.openxmlformats.org/drawingml/2006/main">
            <a:pPr marL="0" indent="0" algn="l">
              <a:lnSpc>
                <a:spcPts val="2449"/>
              </a:lnSpc>
              <a:buNone/>
            </a:pPr>
            <a:r>
              <a:rPr sz="1959" b="1">
                <a:solidFill>
                  <a:srgbClr val="4FE3BD">
                    <a:alpha val="99000"/>
                  </a:srgbClr>
                </a:solidFill>
                <a:latin typeface="Inter"/>
                <a:ea typeface="Inter"/>
                <a:cs typeface="Inter"/>
              </a:rPr>
              <a:t>and the evidence that proves it worked.</a:t>
            </a:r>
            <a:endParaRPr sz="1959"/>
          </a:p>
        </p:txBody>
      </p:sp>
      <p:sp>
        <p:nvSpPr>
          <p:cNvPr id="15" name="Text 12">
            <a:extLst xmlns:a="http://schemas.openxmlformats.org/drawingml/2006/main">
              <a:ext uri="{FF2B5EF4-FFF2-40B4-BE49-F238E27FC236}">
                <a16:creationId xmlns:a16="http://schemas.microsoft.com/office/drawing/2014/main" id="{961646D9-E5C8-4AE9-B590-A79A242FD3E5}"/>
              </a:ext>
            </a:extLst>
          </p:cNvPr>
          <p:cNvSpPr>
            <a:spLocks xmlns:a="http://schemas.openxmlformats.org/drawingml/2006/main" noGrp="1"/>
          </p:cNvSpPr>
          <p:nvPr/>
        </p:nvSpPr>
        <p:spPr>
          <a:xfrm xmlns:a="http://schemas.openxmlformats.org/drawingml/2006/main">
            <a:off x="8310562" y="4862513"/>
            <a:ext cx="619125" cy="1428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69"/>
              </a:lnSpc>
              <a:buNone/>
            </a:pPr>
            <a:r>
              <a:rPr sz="855">
                <a:solidFill>
                  <a:srgbClr val="BAD9CF">
                    <a:alpha val="99000"/>
                  </a:srgbClr>
                </a:solidFill>
                <a:latin typeface="Inter"/>
                <a:ea typeface="Inter"/>
                <a:cs typeface="Inter"/>
              </a:rPr>
              <a:t>29 / 29</a:t>
            </a:r>
            <a:endParaRPr sz="855"/>
          </a:p>
        </p:txBody>
      </p:sp>
      <p:pic>
        <p:nvPicPr>
          <p:cNvPr id="16" name="Image 0">
            <a:extLst xmlns:a="http://schemas.openxmlformats.org/drawingml/2006/main">
              <a:ext uri="{FF2B5EF4-FFF2-40B4-BE49-F238E27FC236}">
                <a16:creationId xmlns:a16="http://schemas.microsoft.com/office/drawing/2014/main" id="{25CA09D8-1804-4256-9E2C-B3B5AA069B88}"/>
              </a:ext>
            </a:extLst>
          </p:cNvPr>
          <p:cNvPicPr>
            <a:picLocks xmlns:a="http://schemas.openxmlformats.org/drawingml/2006/main" noChangeAspect="1"/>
          </p:cNvPicPr>
          <p:nvPr/>
        </p:nvPicPr>
        <p:blipFill>
          <a:blip xmlns:r="http://schemas.openxmlformats.org/officeDocument/2006/relationships" xmlns:a="http://schemas.openxmlformats.org/drawingml/2006/main" r:embed="Rb786504cfb894716"/>
          <a:srcRect xmlns:a="http://schemas.openxmlformats.org/drawingml/2006/main" l="0" t="0" r="0" b="0"/>
          <a:stretch xmlns:a="http://schemas.openxmlformats.org/drawingml/2006/main"/>
        </p:blipFill>
        <p:spPr>
          <a:xfrm xmlns:a="http://schemas.openxmlformats.org/drawingml/2006/main">
            <a:off x="1604963" y="2809875"/>
            <a:ext cx="514350" cy="514350"/>
          </a:xfrm>
          <a:prstGeom xmlns:a="http://schemas.openxmlformats.org/drawingml/2006/main" prst="rect">
            <a:avLst/>
          </a:prstGeom>
        </p:spPr>
      </p:pic>
      <p:pic>
        <p:nvPicPr>
          <p:cNvPr id="17" name="Image 1">
            <a:extLst xmlns:a="http://schemas.openxmlformats.org/drawingml/2006/main">
              <a:ext uri="{FF2B5EF4-FFF2-40B4-BE49-F238E27FC236}">
                <a16:creationId xmlns:a16="http://schemas.microsoft.com/office/drawing/2014/main" id="{F8FF0BC0-3FDE-4275-89CA-645907BD5080}"/>
              </a:ext>
            </a:extLst>
          </p:cNvPr>
          <p:cNvPicPr>
            <a:picLocks xmlns:a="http://schemas.openxmlformats.org/drawingml/2006/main" noChangeAspect="1"/>
          </p:cNvPicPr>
          <p:nvPr/>
        </p:nvPicPr>
        <p:blipFill>
          <a:blip xmlns:r="http://schemas.openxmlformats.org/officeDocument/2006/relationships" xmlns:a="http://schemas.openxmlformats.org/drawingml/2006/main" r:embed="R0b6833f763ef4db9"/>
          <a:srcRect xmlns:a="http://schemas.openxmlformats.org/drawingml/2006/main" l="0" t="0" r="0" b="0"/>
          <a:stretch xmlns:a="http://schemas.openxmlformats.org/drawingml/2006/main"/>
        </p:blipFill>
        <p:spPr>
          <a:xfrm xmlns:a="http://schemas.openxmlformats.org/drawingml/2006/main">
            <a:off x="4319588" y="2809875"/>
            <a:ext cx="514350" cy="514350"/>
          </a:xfrm>
          <a:prstGeom xmlns:a="http://schemas.openxmlformats.org/drawingml/2006/main" prst="rect">
            <a:avLst/>
          </a:prstGeom>
        </p:spPr>
      </p:pic>
      <p:pic>
        <p:nvPicPr>
          <p:cNvPr id="18" name="Image 2">
            <a:extLst xmlns:a="http://schemas.openxmlformats.org/drawingml/2006/main">
              <a:ext uri="{FF2B5EF4-FFF2-40B4-BE49-F238E27FC236}">
                <a16:creationId xmlns:a16="http://schemas.microsoft.com/office/drawing/2014/main" id="{6D292E9A-1A52-439E-BF08-F6F0BAED52C6}"/>
              </a:ext>
            </a:extLst>
          </p:cNvPr>
          <p:cNvPicPr>
            <a:picLocks xmlns:a="http://schemas.openxmlformats.org/drawingml/2006/main" noChangeAspect="1"/>
          </p:cNvPicPr>
          <p:nvPr/>
        </p:nvPicPr>
        <p:blipFill>
          <a:blip xmlns:r="http://schemas.openxmlformats.org/officeDocument/2006/relationships" xmlns:a="http://schemas.openxmlformats.org/drawingml/2006/main" r:embed="R5872edbc50b44495"/>
          <a:srcRect xmlns:a="http://schemas.openxmlformats.org/drawingml/2006/main" l="0" t="0" r="0" b="0"/>
          <a:stretch xmlns:a="http://schemas.openxmlformats.org/drawingml/2006/main"/>
        </p:blipFill>
        <p:spPr>
          <a:xfrm xmlns:a="http://schemas.openxmlformats.org/drawingml/2006/main">
            <a:off x="7034213" y="2809875"/>
            <a:ext cx="514350" cy="514350"/>
          </a:xfrm>
          <a:prstGeom xmlns:a="http://schemas.openxmlformats.org/drawingml/2006/main" prst="rect">
            <a:avLst/>
          </a:prstGeom>
        </p:spPr>
      </p:pic>
      <p:sp>
        <p:nvSpPr>
          <p:cNvPr id="19" name="Text 13">
            <a:extLst xmlns:a="http://schemas.openxmlformats.org/drawingml/2006/main">
              <a:ext uri="{FF2B5EF4-FFF2-40B4-BE49-F238E27FC236}">
                <a16:creationId xmlns:a16="http://schemas.microsoft.com/office/drawing/2014/main" id="{83AAD34D-8AA5-468F-B533-2CFA069A8E75}"/>
              </a:ext>
            </a:extLst>
          </p:cNvPr>
          <p:cNvSpPr>
            <a:spLocks xmlns:a="http://schemas.openxmlformats.org/drawingml/2006/main" noGrp="1"/>
          </p:cNvSpPr>
          <p:nvPr/>
        </p:nvSpPr>
        <p:spPr>
          <a:xfrm xmlns:a="http://schemas.openxmlformats.org/drawingml/2006/main">
            <a:off x="3071813" y="2857500"/>
            <a:ext cx="476250" cy="3952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939"/>
              </a:lnSpc>
              <a:buNone/>
            </a:pPr>
            <a:r>
              <a:rPr sz="2351">
                <a:solidFill>
                  <a:srgbClr val="4FE3BD">
                    <a:alpha val="99000"/>
                  </a:srgbClr>
                </a:solidFill>
                <a:latin typeface="Inter"/>
                <a:ea typeface="Inter"/>
                <a:cs typeface="Inter"/>
              </a:rPr>
              <a:t>→</a:t>
            </a:r>
            <a:endParaRPr sz="2351"/>
          </a:p>
        </p:txBody>
      </p:sp>
      <p:sp>
        <p:nvSpPr>
          <p:cNvPr id="20" name="Text 14">
            <a:extLst xmlns:a="http://schemas.openxmlformats.org/drawingml/2006/main">
              <a:ext uri="{FF2B5EF4-FFF2-40B4-BE49-F238E27FC236}">
                <a16:creationId xmlns:a16="http://schemas.microsoft.com/office/drawing/2014/main" id="{27CE1057-97F0-430F-AB89-D2EFC20E1275}"/>
              </a:ext>
            </a:extLst>
          </p:cNvPr>
          <p:cNvSpPr>
            <a:spLocks xmlns:a="http://schemas.openxmlformats.org/drawingml/2006/main" noGrp="1"/>
          </p:cNvSpPr>
          <p:nvPr/>
        </p:nvSpPr>
        <p:spPr>
          <a:xfrm xmlns:a="http://schemas.openxmlformats.org/drawingml/2006/main">
            <a:off x="5786438" y="2857500"/>
            <a:ext cx="476250" cy="3952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939"/>
              </a:lnSpc>
              <a:buNone/>
            </a:pPr>
            <a:r>
              <a:rPr sz="2351">
                <a:solidFill>
                  <a:srgbClr val="4FE3BD">
                    <a:alpha val="99000"/>
                  </a:srgbClr>
                </a:solidFill>
                <a:latin typeface="Inter"/>
                <a:ea typeface="Inter"/>
                <a:cs typeface="Inter"/>
              </a:rPr>
              <a:t>→</a:t>
            </a:r>
            <a:endParaRPr sz="2351"/>
          </a:p>
        </p:txBody>
      </p:sp>
    </p:spTree>
    <p:extLst>
      <p:ext uri="{BB962C8B-B14F-4D97-AF65-F5344CB8AC3E}">
        <p14:creationId xmlns:p14="http://schemas.microsoft.com/office/powerpoint/2010/main" val="145138895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2026-10-09T20:26:23.1650000Z</dcterms:created>
  <dcterms:modified xsi:type="dcterms:W3CDTF">2026-10-09T20:26:23.1650000Z</dcterms:modified>
</coreProperties>
</file>